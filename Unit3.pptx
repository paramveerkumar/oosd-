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48"/>
  </p:notesMasterIdLst>
  <p:sldIdLst>
    <p:sldId id="271" r:id="rId5"/>
    <p:sldId id="258" r:id="rId6"/>
    <p:sldId id="339" r:id="rId7"/>
    <p:sldId id="342" r:id="rId8"/>
    <p:sldId id="343" r:id="rId9"/>
    <p:sldId id="344" r:id="rId10"/>
    <p:sldId id="345" r:id="rId11"/>
    <p:sldId id="346" r:id="rId12"/>
    <p:sldId id="347" r:id="rId13"/>
    <p:sldId id="348" r:id="rId14"/>
    <p:sldId id="349" r:id="rId15"/>
    <p:sldId id="350" r:id="rId16"/>
    <p:sldId id="351" r:id="rId17"/>
    <p:sldId id="352" r:id="rId18"/>
    <p:sldId id="353" r:id="rId19"/>
    <p:sldId id="354" r:id="rId20"/>
    <p:sldId id="355" r:id="rId21"/>
    <p:sldId id="356" r:id="rId22"/>
    <p:sldId id="357" r:id="rId23"/>
    <p:sldId id="315" r:id="rId24"/>
    <p:sldId id="319" r:id="rId25"/>
    <p:sldId id="318" r:id="rId26"/>
    <p:sldId id="317" r:id="rId27"/>
    <p:sldId id="316" r:id="rId28"/>
    <p:sldId id="314" r:id="rId29"/>
    <p:sldId id="313" r:id="rId30"/>
    <p:sldId id="312" r:id="rId31"/>
    <p:sldId id="311" r:id="rId32"/>
    <p:sldId id="309" r:id="rId33"/>
    <p:sldId id="308" r:id="rId34"/>
    <p:sldId id="337" r:id="rId35"/>
    <p:sldId id="307" r:id="rId36"/>
    <p:sldId id="287" r:id="rId37"/>
    <p:sldId id="338" r:id="rId38"/>
    <p:sldId id="333" r:id="rId39"/>
    <p:sldId id="334" r:id="rId40"/>
    <p:sldId id="330" r:id="rId41"/>
    <p:sldId id="331" r:id="rId42"/>
    <p:sldId id="336" r:id="rId43"/>
    <p:sldId id="335" r:id="rId44"/>
    <p:sldId id="329" r:id="rId45"/>
    <p:sldId id="327" r:id="rId46"/>
    <p:sldId id="304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2F33"/>
    <a:srgbClr val="BA2532"/>
    <a:srgbClr val="FF9900"/>
    <a:srgbClr val="E84845"/>
    <a:srgbClr val="FAD2D2"/>
    <a:srgbClr val="F89E4C"/>
    <a:srgbClr val="A81E24"/>
    <a:srgbClr val="FFF2CC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85259" autoAdjust="0"/>
  </p:normalViewPr>
  <p:slideViewPr>
    <p:cSldViewPr snapToGrid="0">
      <p:cViewPr varScale="1">
        <p:scale>
          <a:sx n="70" d="100"/>
          <a:sy n="70" d="100"/>
        </p:scale>
        <p:origin x="1138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35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709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980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9556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927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567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2505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3171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4978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32150-DB70-BDAA-963A-FC31F049E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22D8F8-0D3E-23AA-8C5C-E812EBA704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EB7191-DCBB-9FE9-F100-4CA2A5A71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73B55A-B597-690E-228B-04485DC0EE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9763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2465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2966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8B803-AB4D-46CD-1DCE-C06C4501C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3198B-2CE2-815A-AB30-4CEB4BDCD1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2B07F0-F9E8-CE42-C554-DCCE97B1FF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9F3BD-0002-269D-D9CD-176D1D5CB9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8921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6330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1140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4917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867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734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0713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GB" dirty="0"/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258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1FD26-FA5A-09EC-1ABA-1B266ED4D4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51A147-FF03-2BD2-479F-08083257D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74540-2334-F108-95ED-9EF9D979A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73532-20D8-8D7B-82C1-E37A0402F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015C1-EB9F-3F58-D1B8-626B9C300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4221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40055-6B15-915E-8874-96A4A6426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6AB0C-A8A5-1667-D42A-6AE11176D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8D257-0049-55DF-D0E6-7ACAC60F2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97FB9-0AC6-11DE-7FF4-D55605D84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D6B73-EC15-1E12-6D91-256C760A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7117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7BBB0-5260-E8A7-9F8B-7A3CEC9CE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512500-5AFA-8AC9-4071-DEDB73119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1CEDE-18ED-DD88-E1BA-EA2CBE0F0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C1F3B-5964-4862-3987-A1680B98C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6FDD7-747C-CD5B-BF4E-14C6FE7EB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8860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A9D5E-826A-993E-FD97-38B0793E3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C99AA-6A02-1A3E-C457-22E7005D2E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E1300B-2F43-D6EF-A1AE-7AF428AEF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11A298-62A5-8D30-A9AB-CBD46C5D3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1CA54-7352-CD99-0296-D459279B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CD0BD-8627-106D-836A-9094B6031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571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586B4-303D-459C-F6AE-BFC26ACB1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D8B55-9334-6E02-CD87-D24B1A4AB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50989A-B01C-90EE-D42E-11DA68333F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2A8DED-EBF7-A0D6-4E9A-D6336B012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EE4D28-50F2-96D2-F42A-30885EE591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4D08DB-56C3-24DB-EAC1-758AC206E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DE86D2-32CE-349A-9589-362967DFC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5127DE-F312-3C8D-0A12-AE36199CC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7419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68816-1B61-BC95-F39D-C1FA267E1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D310D3-023A-F4DF-8E8F-5467CFE68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21F550-D5DC-9A90-1C24-EE64890DC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60F38-C5A9-4B29-3EA4-51C3ED401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860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37EE42-3DF8-743E-CD60-8988A1C25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F252EB-F71F-83A2-B5C5-988DA9ACF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720BE-5874-6B3F-DF84-1D27A9383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008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B7EFA-FB1C-252D-AACB-1DEA24C1F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9889E-A916-F948-23BD-A3EF308DD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BBBA75-921F-C4F2-16F5-8F540472F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5572A0-8E06-24CB-F9BC-D019A4B1C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D2AFD-F326-416C-9185-ED46DF586A78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E19E73-4B19-792A-BF87-30B232C82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CF7F4A-F0AB-8B0E-BCEA-FC8796A8D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18E34-280C-4418-B927-9743BBE775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8189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9C962-E174-FD4C-71EF-197499F5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321D06-519B-0C0E-43C6-B2B992D1E9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190BA6-82E1-4D10-89E7-AC65D5E446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A9CAE4-ECDA-0E96-A4C5-81AAA3363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8D1DD-1281-4A99-1CCB-BB57A23F9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BF1E0-358A-4C9F-BD22-D193FF23B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0059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E2A47-90A8-1824-5CA3-690A92BD0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858BBD-2818-DA8E-5377-17953A833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A09FF-92B0-8660-5A77-AEBF7F811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D2AFD-F326-416C-9185-ED46DF586A78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6DF38-1D75-0B7E-18B3-16DAAE367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05A3A-B6A7-BCF5-8F75-33059001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18E34-280C-4418-B927-9743BBE775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919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BABCD2-667F-8EB6-19EB-8917D5FF1F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71269-A32E-B3DB-709F-5E70769D9B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A3B48-CBCE-8A8B-F2A5-2480B64D1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3567B-9E42-EDAE-34C3-A01A7C22C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A58D5-E325-CD23-73A1-7E7C9D181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886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3836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6FED39-5038-6837-6BD7-E18E106D4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50A67-C334-0D6D-B7C7-E2EC6A3A4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67AB3-4A33-52F5-C301-FE95A08A27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0D2AFD-F326-416C-9185-ED46DF586A78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A06E8-5A4C-B4E0-762D-8751FE0D83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CC637-4FC0-8BC1-6164-D03EE13797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18E34-280C-4418-B927-9743BBE775DF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96FD4DEB-14C3-1FF7-103F-FCF2640DA47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2B6A2FA-9857-CC85-C85B-FC3ADF54062D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AF92FA-F29E-F2F6-B59A-DD12C5F91081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B734AD41-D64B-5301-6BDA-54DCE654BB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0B712A4-D4CD-98B3-9D14-6BB061CB513C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186538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8237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679438" y="5135487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 panose="00000500000000000000" pitchFamily="2" charset="0"/>
                <a:sym typeface="Calibri"/>
              </a:rPr>
              <a:t>Session - 3</a:t>
            </a:r>
            <a:endParaRPr sz="2400" dirty="0">
              <a:solidFill>
                <a:schemeClr val="lt1"/>
              </a:solidFill>
              <a:latin typeface="Cambria" panose="02040503050406030204" pitchFamily="18" charset="0"/>
              <a:ea typeface="Cambria" panose="02040503050406030204" pitchFamily="18" charset="0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9F0EB9-F8C1-62F4-DB05-3B7FAD226B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55" y="45718"/>
            <a:ext cx="2162175" cy="2114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745E9F-496B-6A85-1329-4BCA1B1E68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" y="84673"/>
            <a:ext cx="1081088" cy="10572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0B0AA1-F31C-F999-F53B-29BBE6AC93A0}"/>
              </a:ext>
            </a:extLst>
          </p:cNvPr>
          <p:cNvSpPr txBox="1"/>
          <p:nvPr/>
        </p:nvSpPr>
        <p:spPr>
          <a:xfrm>
            <a:off x="288758" y="2229853"/>
            <a:ext cx="1089371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Object-Oriented System Design</a:t>
            </a:r>
            <a:endParaRPr lang="en-GB" sz="3600" dirty="0"/>
          </a:p>
          <a:p>
            <a:r>
              <a:rPr lang="en-GB" sz="3600" b="1" dirty="0"/>
              <a:t>Unit III: From Analysis to Implementation</a:t>
            </a:r>
            <a:endParaRPr lang="en-GB" sz="3600" dirty="0"/>
          </a:p>
          <a:p>
            <a:r>
              <a:rPr lang="en-GB" sz="3600" i="1" dirty="0"/>
              <a:t>A Comprehensive Guide to Designing and Building OO </a:t>
            </a:r>
            <a:r>
              <a:rPr lang="en-GB" sz="4000" i="1" dirty="0"/>
              <a:t>Systems</a:t>
            </a:r>
            <a:endParaRPr lang="en-GB" sz="3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90523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7F742-7A91-44D0-B96B-622EA552D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9AC2C1AB-0704-AB3F-4202-056E2A383150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MAIN TOPICS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F8CC9E-F586-3A3C-90C2-5005A9F930F1}"/>
              </a:ext>
            </a:extLst>
          </p:cNvPr>
          <p:cNvSpPr txBox="1"/>
          <p:nvPr/>
        </p:nvSpPr>
        <p:spPr>
          <a:xfrm>
            <a:off x="1139483" y="984738"/>
            <a:ext cx="1022721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4A9766-1B41-B28E-020C-1624D261A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488"/>
            <a:ext cx="969607" cy="9482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8F2C679-C80A-9F0E-1615-2A076DDFFF45}"/>
              </a:ext>
            </a:extLst>
          </p:cNvPr>
          <p:cNvSpPr txBox="1"/>
          <p:nvPr/>
        </p:nvSpPr>
        <p:spPr>
          <a:xfrm>
            <a:off x="1532761" y="1568564"/>
            <a:ext cx="10227212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Part 1: The Object Design Process</a:t>
            </a:r>
            <a:endParaRPr lang="en-IN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Core Activities in Object Design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Combining Analysis Models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Designing Algorithms &amp; Optimizing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Implementing Control and Adjusting Inheritance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Physical Packaging</a:t>
            </a:r>
          </a:p>
          <a:p>
            <a:r>
              <a:rPr lang="en-IN" sz="2000" b="1" dirty="0"/>
              <a:t>Part 2: Bridging Paradigms</a:t>
            </a:r>
            <a:endParaRPr lang="en-IN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Structured Methodologies (SA/SD, JSD)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Mapping OO Concepts to Non-OO Languages</a:t>
            </a:r>
          </a:p>
          <a:p>
            <a:r>
              <a:rPr lang="en-IN" sz="2000" b="1" dirty="0"/>
              <a:t>Part 3: The Object-Oriented Programming Style</a:t>
            </a:r>
            <a:endParaRPr lang="en-IN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Key Characteristics of OOP Style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Procedural vs. Object-Oriented Programming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Deep Dive: Abstraction &amp; Encapsulation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71412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030AB-A057-3B11-647A-93F4535D3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81C0714D-439F-D09D-1DDF-03D5740D65DC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2000" dirty="0"/>
              <a:t>Object-Oriented Design (OOD)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0F4162-7D7E-FC78-6E03-F97750FE91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488"/>
            <a:ext cx="969607" cy="9482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B2553BB-3E0E-608E-8CB6-AFB2BF41C611}"/>
              </a:ext>
            </a:extLst>
          </p:cNvPr>
          <p:cNvSpPr txBox="1"/>
          <p:nvPr/>
        </p:nvSpPr>
        <p:spPr>
          <a:xfrm>
            <a:off x="1267326" y="1203157"/>
            <a:ext cx="9930063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sz="2000" dirty="0"/>
          </a:p>
          <a:p>
            <a:r>
              <a:rPr lang="en-GB" sz="2000" b="1" dirty="0"/>
              <a:t>Analysis</a:t>
            </a:r>
            <a:r>
              <a:rPr lang="en-GB" sz="2000" dirty="0"/>
              <a:t> is about </a:t>
            </a:r>
            <a:r>
              <a:rPr lang="en-GB" sz="2000" i="1" dirty="0"/>
              <a:t>understanding the problem</a:t>
            </a:r>
            <a:r>
              <a:rPr lang="en-GB" sz="2000" dirty="0"/>
              <a:t> — figuring out </a:t>
            </a:r>
            <a:r>
              <a:rPr lang="en-GB" sz="2000" i="1" dirty="0"/>
              <a:t>what</a:t>
            </a:r>
            <a:r>
              <a:rPr lang="en-GB" sz="2000" dirty="0"/>
              <a:t> the system should do.</a:t>
            </a:r>
          </a:p>
          <a:p>
            <a:r>
              <a:rPr lang="en-GB" sz="2000" b="1" dirty="0"/>
              <a:t>Design</a:t>
            </a:r>
            <a:r>
              <a:rPr lang="en-GB" sz="2000" dirty="0"/>
              <a:t> is about </a:t>
            </a:r>
            <a:r>
              <a:rPr lang="en-GB" sz="2000" i="1" dirty="0"/>
              <a:t>figuring out the solution</a:t>
            </a:r>
            <a:r>
              <a:rPr lang="en-GB" sz="2000" dirty="0"/>
              <a:t> — deciding </a:t>
            </a:r>
            <a:r>
              <a:rPr lang="en-GB" sz="2000" i="1" dirty="0"/>
              <a:t>how</a:t>
            </a:r>
            <a:r>
              <a:rPr lang="en-GB" sz="2000" dirty="0"/>
              <a:t> the system will do it.</a:t>
            </a:r>
          </a:p>
          <a:p>
            <a:endParaRPr lang="en-GB" sz="2000" dirty="0"/>
          </a:p>
          <a:p>
            <a:r>
              <a:rPr lang="en-GB" sz="2000" dirty="0"/>
              <a:t>So, </a:t>
            </a:r>
            <a:r>
              <a:rPr lang="en-GB" sz="2000" b="1" dirty="0"/>
              <a:t>Object-Oriented Design</a:t>
            </a:r>
            <a:r>
              <a:rPr lang="en-GB" sz="2000" dirty="0"/>
              <a:t> takes the results of analysis (objects, classes, relationships) and turns them into a </a:t>
            </a:r>
            <a:r>
              <a:rPr lang="en-GB" sz="2000" i="1" dirty="0"/>
              <a:t>blueprint</a:t>
            </a:r>
            <a:r>
              <a:rPr lang="en-GB" sz="2000" dirty="0"/>
              <a:t> for implementation.</a:t>
            </a:r>
          </a:p>
          <a:p>
            <a:endParaRPr lang="en-GB" sz="20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We refine the </a:t>
            </a:r>
            <a:r>
              <a:rPr lang="en-US" altLang="en-US" sz="2000" b="1" dirty="0">
                <a:latin typeface="Arial" panose="020B0604020202020204" pitchFamily="34" charset="0"/>
              </a:rPr>
              <a:t>analysis model</a:t>
            </a:r>
            <a:r>
              <a:rPr lang="en-US" altLang="en-US" sz="2000" dirty="0">
                <a:latin typeface="Arial" panose="020B0604020202020204" pitchFamily="34" charset="0"/>
              </a:rPr>
              <a:t> into a </a:t>
            </a:r>
            <a:r>
              <a:rPr lang="en-US" altLang="en-US" sz="2000" b="1" dirty="0">
                <a:latin typeface="Arial" panose="020B0604020202020204" pitchFamily="34" charset="0"/>
              </a:rPr>
              <a:t>design model</a:t>
            </a:r>
            <a:r>
              <a:rPr lang="en-US" altLang="en-US" sz="2000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This means adding </a:t>
            </a:r>
            <a:r>
              <a:rPr lang="en-US" altLang="en-US" sz="2000" i="1" dirty="0">
                <a:latin typeface="Arial" panose="020B0604020202020204" pitchFamily="34" charset="0"/>
              </a:rPr>
              <a:t>details</a:t>
            </a:r>
            <a:r>
              <a:rPr lang="en-US" altLang="en-US" sz="2000" dirty="0">
                <a:latin typeface="Arial" panose="020B0604020202020204" pitchFamily="34" charset="0"/>
              </a:rPr>
              <a:t> about data structures, algorithms, control flow, and packaging.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The goal: make the design precise enough that programmers can directly code it.</a:t>
            </a:r>
          </a:p>
          <a:p>
            <a:endParaRPr lang="en-GB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736556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45723-64C5-3F80-DB66-9711C84B4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2D31E24F-6A73-4F94-B212-64D656569C4E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2000" dirty="0"/>
              <a:t>Key elements in OOD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609F21-C5F9-649C-DC77-D4C719C220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488"/>
            <a:ext cx="969607" cy="9482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F8CD8A1-6E53-B660-BBBB-2E945990A49D}"/>
              </a:ext>
            </a:extLst>
          </p:cNvPr>
          <p:cNvSpPr txBox="1"/>
          <p:nvPr/>
        </p:nvSpPr>
        <p:spPr>
          <a:xfrm>
            <a:off x="1130968" y="2662989"/>
            <a:ext cx="993006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b="1" dirty="0">
                <a:latin typeface="Arial" panose="020B0604020202020204" pitchFamily="34" charset="0"/>
              </a:rPr>
              <a:t>Classes &amp; Objects</a:t>
            </a:r>
            <a:r>
              <a:rPr lang="en-US" altLang="en-US" sz="2000" dirty="0">
                <a:latin typeface="Arial" panose="020B0604020202020204" pitchFamily="34" charset="0"/>
              </a:rPr>
              <a:t> – refined with attributes, methods, and visibility.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b="1" dirty="0">
                <a:latin typeface="Arial" panose="020B0604020202020204" pitchFamily="34" charset="0"/>
              </a:rPr>
              <a:t>Inheritance &amp; Associations</a:t>
            </a:r>
            <a:r>
              <a:rPr lang="en-US" altLang="en-US" sz="2000" dirty="0">
                <a:latin typeface="Arial" panose="020B0604020202020204" pitchFamily="34" charset="0"/>
              </a:rPr>
              <a:t> – adjusted for efficiency and clarity.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b="1" dirty="0">
                <a:latin typeface="Arial" panose="020B0604020202020204" pitchFamily="34" charset="0"/>
              </a:rPr>
              <a:t>Algorithms</a:t>
            </a:r>
            <a:r>
              <a:rPr lang="en-US" altLang="en-US" sz="2000" dirty="0">
                <a:latin typeface="Arial" panose="020B0604020202020204" pitchFamily="34" charset="0"/>
              </a:rPr>
              <a:t> – specified for object behaviors.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b="1" dirty="0">
                <a:latin typeface="Arial" panose="020B0604020202020204" pitchFamily="34" charset="0"/>
              </a:rPr>
              <a:t>Control</a:t>
            </a:r>
            <a:r>
              <a:rPr lang="en-US" altLang="en-US" sz="2000" dirty="0">
                <a:latin typeface="Arial" panose="020B0604020202020204" pitchFamily="34" charset="0"/>
              </a:rPr>
              <a:t> – deciding which object is responsible for decisions.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b="1" dirty="0">
                <a:latin typeface="Arial" panose="020B0604020202020204" pitchFamily="34" charset="0"/>
              </a:rPr>
              <a:t>Packaging</a:t>
            </a:r>
            <a:r>
              <a:rPr lang="en-US" altLang="en-US" sz="2000" dirty="0">
                <a:latin typeface="Arial" panose="020B0604020202020204" pitchFamily="34" charset="0"/>
              </a:rPr>
              <a:t> – grouping related classes into modules or subsystems.</a:t>
            </a:r>
          </a:p>
          <a:p>
            <a:pPr marL="342900" indent="-342900">
              <a:buFont typeface="+mj-lt"/>
              <a:buAutoNum type="arabicPeriod"/>
            </a:pPr>
            <a:endParaRPr lang="en-GB" sz="2000" dirty="0"/>
          </a:p>
          <a:p>
            <a:pPr marL="342900" indent="-342900">
              <a:buFont typeface="+mj-lt"/>
              <a:buAutoNum type="arabicPeriod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026456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7F1F7-6ADD-939A-FFE2-1B3EE498A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5DBE5394-7340-80C1-BA84-4616927173FC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2000" dirty="0"/>
              <a:t>add the missing details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DE8D43-A714-7B1B-FB90-5FEAFB06F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488"/>
            <a:ext cx="969607" cy="9482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0567B16-B84A-C501-82CC-8D0415EA6D75}"/>
              </a:ext>
            </a:extLst>
          </p:cNvPr>
          <p:cNvSpPr txBox="1"/>
          <p:nvPr/>
        </p:nvSpPr>
        <p:spPr>
          <a:xfrm>
            <a:off x="969607" y="1844841"/>
            <a:ext cx="993006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in </a:t>
            </a:r>
            <a:r>
              <a:rPr lang="en-GB" b="1" dirty="0"/>
              <a:t>Object-Oriented Design</a:t>
            </a:r>
            <a:r>
              <a:rPr lang="en-GB" dirty="0"/>
              <a:t>, we use the </a:t>
            </a:r>
            <a:r>
              <a:rPr lang="en-GB" i="1" dirty="0"/>
              <a:t>same objects</a:t>
            </a:r>
            <a:r>
              <a:rPr lang="en-GB" dirty="0"/>
              <a:t> we identified during analysis, but we add the missing details: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How data is represented</a:t>
            </a:r>
            <a:r>
              <a:rPr lang="en-GB" dirty="0"/>
              <a:t> (e.g., arrays, linked lists, maps).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How operations are carried out</a:t>
            </a:r>
            <a:r>
              <a:rPr lang="en-GB" dirty="0"/>
              <a:t> (algorithms).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Which classes should inherit from which</a:t>
            </a:r>
            <a:r>
              <a:rPr lang="en-GB" dirty="0"/>
              <a:t> (sometimes we simplify or optimize).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How to group classes</a:t>
            </a:r>
            <a:r>
              <a:rPr lang="en-GB" dirty="0"/>
              <a:t> into subsystems or packages.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6050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8E39A-27D0-B583-C39F-B5947F1A8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18C84A37-2428-6D5C-51D1-EF26B3D36B1C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2000" dirty="0"/>
              <a:t>What is Object Design?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636B80-0D4A-D7F0-BAD8-0BA7DACB3B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488"/>
            <a:ext cx="969607" cy="9482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99506CF-9BEE-DEA0-9EBE-D2FBEB644735}"/>
              </a:ext>
            </a:extLst>
          </p:cNvPr>
          <p:cNvSpPr txBox="1"/>
          <p:nvPr/>
        </p:nvSpPr>
        <p:spPr>
          <a:xfrm>
            <a:off x="969607" y="1844841"/>
            <a:ext cx="993006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Object-Oriented Design</a:t>
            </a:r>
            <a:r>
              <a:rPr lang="en-US" altLang="en-US" dirty="0">
                <a:latin typeface="Arial" panose="020B0604020202020204" pitchFamily="34" charset="0"/>
              </a:rPr>
              <a:t> is broad — it covers the whole system’s blueprint.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Object Design</a:t>
            </a:r>
            <a:r>
              <a:rPr lang="en-US" altLang="en-US" dirty="0">
                <a:latin typeface="Arial" panose="020B0604020202020204" pitchFamily="34" charset="0"/>
              </a:rPr>
              <a:t> is more </a:t>
            </a:r>
            <a:r>
              <a:rPr lang="en-US" altLang="en-US" i="1" dirty="0">
                <a:latin typeface="Arial" panose="020B0604020202020204" pitchFamily="34" charset="0"/>
              </a:rPr>
              <a:t>focused</a:t>
            </a:r>
            <a:r>
              <a:rPr lang="en-US" altLang="en-US" dirty="0">
                <a:latin typeface="Arial" panose="020B0604020202020204" pitchFamily="34" charset="0"/>
              </a:rPr>
              <a:t>: it takes each class/object and </a:t>
            </a:r>
            <a:r>
              <a:rPr lang="en-US" altLang="en-US" b="1" dirty="0">
                <a:latin typeface="Arial" panose="020B0604020202020204" pitchFamily="34" charset="0"/>
              </a:rPr>
              <a:t>adds implementation details</a:t>
            </a:r>
            <a:r>
              <a:rPr lang="en-US" altLang="en-US" dirty="0">
                <a:latin typeface="Arial" panose="020B0604020202020204" pitchFamily="34" charset="0"/>
              </a:rPr>
              <a:t> so it can be coded.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dirty="0">
                <a:latin typeface="Arial" panose="020B0604020202020204" pitchFamily="34" charset="0"/>
              </a:rPr>
              <a:t>OOD = whole system design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dirty="0">
                <a:latin typeface="Arial" panose="020B0604020202020204" pitchFamily="34" charset="0"/>
              </a:rPr>
              <a:t>Object Design = per-class fine-tuning</a:t>
            </a: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583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2C1C7-405C-75A7-52B4-993C55030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9E5CA50A-B221-77BA-BA62-C9ED44A5D5E4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2000" dirty="0"/>
              <a:t>Activities in Object Design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F7B22B-5660-31F8-E291-3637943D64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488"/>
            <a:ext cx="969607" cy="9482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136700-102D-9DCB-2BFA-BEDFC4D06135}"/>
              </a:ext>
            </a:extLst>
          </p:cNvPr>
          <p:cNvSpPr txBox="1"/>
          <p:nvPr/>
        </p:nvSpPr>
        <p:spPr>
          <a:xfrm>
            <a:off x="969607" y="1199148"/>
            <a:ext cx="1075717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Define attributes clearly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Choose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types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visibility (public/private/protected), and constraints.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Example: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balance: double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instead of just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balance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Define operations precisely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parameters, return types, and pre/post conditions.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deposit(amount: double): void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Arial Unicode MS"/>
              </a:rPr>
              <a:t>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withdraw(amount: double):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boolean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Refine relationships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Decide whether associations should be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 references, arrays, lists, or maps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Add algorithms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Replace abstract actions like “sort books” with a concrete method, e.g., “merge sort on list of books.”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Optimize inheritance/encapsulation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Merge unnecessary classes, adjust hierarchy for reuse and clarity.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726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AB18F-F4EF-C24A-DFE0-FA3F3EBDC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8C2CE7F3-9F11-08E4-5A3B-96F061D29AD9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2000" dirty="0"/>
              <a:t>Example (Library Management System):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C8633F-FA59-6BD1-FFF1-DEA198F830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488"/>
            <a:ext cx="969607" cy="9482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2AE2F5-A701-3A75-8DDB-B24B490642CC}"/>
              </a:ext>
            </a:extLst>
          </p:cNvPr>
          <p:cNvSpPr txBox="1"/>
          <p:nvPr/>
        </p:nvSpPr>
        <p:spPr>
          <a:xfrm>
            <a:off x="2301101" y="1732547"/>
            <a:ext cx="30409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In </a:t>
            </a:r>
            <a:r>
              <a:rPr lang="en-US" altLang="en-US" b="1" dirty="0">
                <a:latin typeface="Arial" panose="020B0604020202020204" pitchFamily="34" charset="0"/>
              </a:rPr>
              <a:t>analysis</a:t>
            </a:r>
            <a:r>
              <a:rPr lang="en-US" altLang="en-US" dirty="0">
                <a:latin typeface="Arial" panose="020B0604020202020204" pitchFamily="34" charset="0"/>
              </a:rPr>
              <a:t>, we might say: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Class: </a:t>
            </a:r>
            <a:r>
              <a:rPr lang="en-US" altLang="en-US" sz="1000" dirty="0">
                <a:latin typeface="Arial Unicode MS"/>
              </a:rPr>
              <a:t>Book</a:t>
            </a:r>
            <a:endParaRPr lang="en-US" altLang="en-US" sz="8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Attributes: </a:t>
            </a:r>
            <a:r>
              <a:rPr lang="en-US" altLang="en-US" sz="1000" dirty="0">
                <a:latin typeface="Arial Unicode MS"/>
              </a:rPr>
              <a:t>title</a:t>
            </a:r>
            <a:r>
              <a:rPr lang="en-US" altLang="en-US" sz="800" dirty="0"/>
              <a:t>, </a:t>
            </a:r>
            <a:r>
              <a:rPr lang="en-US" altLang="en-US" sz="1000" dirty="0">
                <a:latin typeface="Arial Unicode MS"/>
              </a:rPr>
              <a:t>author</a:t>
            </a:r>
            <a:r>
              <a:rPr lang="en-US" altLang="en-US" sz="800" dirty="0"/>
              <a:t>, </a:t>
            </a:r>
            <a:r>
              <a:rPr lang="en-US" altLang="en-US" sz="1000" dirty="0">
                <a:latin typeface="Arial Unicode MS"/>
              </a:rPr>
              <a:t>ISBN</a:t>
            </a:r>
            <a:endParaRPr lang="en-US" altLang="en-US" sz="8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Operation: </a:t>
            </a:r>
            <a:r>
              <a:rPr lang="en-US" altLang="en-US" sz="1000" dirty="0">
                <a:latin typeface="Arial Unicode MS"/>
              </a:rPr>
              <a:t>borrow()</a:t>
            </a:r>
            <a:endParaRPr lang="en-US" altLang="en-US" sz="8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A98621-5690-0994-3944-28901F4984CF}"/>
              </a:ext>
            </a:extLst>
          </p:cNvPr>
          <p:cNvSpPr txBox="1"/>
          <p:nvPr/>
        </p:nvSpPr>
        <p:spPr>
          <a:xfrm>
            <a:off x="6464968" y="1732547"/>
            <a:ext cx="534202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</a:t>
            </a:r>
            <a:r>
              <a:rPr lang="en-US" b="1" dirty="0"/>
              <a:t>object design, </a:t>
            </a:r>
            <a:r>
              <a:rPr lang="en-US" dirty="0"/>
              <a:t>we refine:</a:t>
            </a:r>
          </a:p>
          <a:p>
            <a:endParaRPr lang="en-US" dirty="0"/>
          </a:p>
          <a:p>
            <a:r>
              <a:rPr lang="en-IN" dirty="0"/>
              <a:t>class Book {</a:t>
            </a:r>
          </a:p>
          <a:p>
            <a:r>
              <a:rPr lang="en-IN" dirty="0"/>
              <a:t>    private String title;</a:t>
            </a:r>
          </a:p>
          <a:p>
            <a:r>
              <a:rPr lang="en-IN" dirty="0"/>
              <a:t>    private String author;</a:t>
            </a:r>
          </a:p>
          <a:p>
            <a:r>
              <a:rPr lang="en-IN" dirty="0"/>
              <a:t>    private String ISBN;</a:t>
            </a:r>
          </a:p>
          <a:p>
            <a:r>
              <a:rPr lang="en-IN" dirty="0"/>
              <a:t>    private </a:t>
            </a:r>
            <a:r>
              <a:rPr lang="en-IN" dirty="0" err="1"/>
              <a:t>boolean</a:t>
            </a:r>
            <a:r>
              <a:rPr lang="en-IN" dirty="0"/>
              <a:t> </a:t>
            </a:r>
            <a:r>
              <a:rPr lang="en-IN" dirty="0" err="1"/>
              <a:t>isAvailable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    public </a:t>
            </a:r>
            <a:r>
              <a:rPr lang="en-IN" dirty="0" err="1"/>
              <a:t>boolean</a:t>
            </a:r>
            <a:r>
              <a:rPr lang="en-IN" dirty="0"/>
              <a:t> borrow() {</a:t>
            </a:r>
          </a:p>
          <a:p>
            <a:r>
              <a:rPr lang="en-IN" dirty="0"/>
              <a:t>        if (</a:t>
            </a:r>
            <a:r>
              <a:rPr lang="en-IN" dirty="0" err="1"/>
              <a:t>isAvailable</a:t>
            </a:r>
            <a:r>
              <a:rPr lang="en-IN" dirty="0"/>
              <a:t>) {</a:t>
            </a:r>
          </a:p>
          <a:p>
            <a:r>
              <a:rPr lang="en-IN" dirty="0"/>
              <a:t>            </a:t>
            </a:r>
            <a:r>
              <a:rPr lang="en-IN" dirty="0" err="1"/>
              <a:t>isAvailable</a:t>
            </a:r>
            <a:r>
              <a:rPr lang="en-IN" dirty="0"/>
              <a:t> = false;</a:t>
            </a:r>
          </a:p>
          <a:p>
            <a:r>
              <a:rPr lang="en-IN" dirty="0"/>
              <a:t>            return true;</a:t>
            </a:r>
          </a:p>
          <a:p>
            <a:r>
              <a:rPr lang="en-IN" dirty="0"/>
              <a:t>        }</a:t>
            </a:r>
          </a:p>
          <a:p>
            <a:r>
              <a:rPr lang="en-IN" dirty="0"/>
              <a:t>        return false;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1002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6826E-1DF9-920D-D5AE-0828A0E73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EB165EB-1695-1C79-A0EF-7F2C79357EDC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2000" dirty="0"/>
              <a:t>Combining the Three Models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AD9C0D-186E-C808-1991-741552E771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488"/>
            <a:ext cx="969607" cy="9482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8597742-ACFE-5161-BE08-080175D72318}"/>
              </a:ext>
            </a:extLst>
          </p:cNvPr>
          <p:cNvSpPr txBox="1"/>
          <p:nvPr/>
        </p:nvSpPr>
        <p:spPr>
          <a:xfrm>
            <a:off x="1657647" y="1456269"/>
            <a:ext cx="9361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Rumbaugh’s methodology (OMT — Object </a:t>
            </a:r>
            <a:r>
              <a:rPr lang="en-GB" dirty="0" err="1"/>
              <a:t>Modeling</a:t>
            </a:r>
            <a:r>
              <a:rPr lang="en-GB" dirty="0"/>
              <a:t> Technique) is built on </a:t>
            </a:r>
            <a:r>
              <a:rPr lang="en-GB" b="1" dirty="0"/>
              <a:t>three models</a:t>
            </a:r>
            <a:r>
              <a:rPr lang="en-GB" dirty="0"/>
              <a:t> that represent different views of a system: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76994F-88C7-1BA1-0151-9B95B8F6BB40}"/>
              </a:ext>
            </a:extLst>
          </p:cNvPr>
          <p:cNvSpPr txBox="1"/>
          <p:nvPr/>
        </p:nvSpPr>
        <p:spPr>
          <a:xfrm>
            <a:off x="969607" y="2102600"/>
            <a:ext cx="1073759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1. Object Model</a:t>
            </a:r>
            <a:r>
              <a:rPr lang="en-US" altLang="en-US" dirty="0">
                <a:latin typeface="Arial" panose="020B0604020202020204" pitchFamily="34" charset="0"/>
              </a:rPr>
              <a:t> → structure of the system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Classes, attributes, operations, associations, inheritance.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(Like your </a:t>
            </a:r>
            <a:r>
              <a:rPr lang="en-US" altLang="en-US" dirty="0">
                <a:latin typeface="Arial Unicode MS"/>
              </a:rPr>
              <a:t>Book</a:t>
            </a:r>
            <a:r>
              <a:rPr lang="en-US" altLang="en-US" sz="1400" dirty="0"/>
              <a:t> and </a:t>
            </a:r>
            <a:r>
              <a:rPr lang="en-US" altLang="en-US" dirty="0">
                <a:latin typeface="Arial Unicode MS"/>
              </a:rPr>
              <a:t>Member</a:t>
            </a:r>
            <a:r>
              <a:rPr lang="en-US" altLang="en-US" sz="1400" dirty="0"/>
              <a:t> diagrams/code</a:t>
            </a:r>
            <a:r>
              <a:rPr lang="en-US" altLang="en-US" dirty="0"/>
              <a:t>)</a:t>
            </a:r>
            <a:r>
              <a:rPr lang="en-US" altLang="en-US" sz="1400" dirty="0"/>
              <a:t>.</a:t>
            </a:r>
            <a:endParaRPr lang="en-US" altLang="en-US" sz="4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2. Dynamic Model</a:t>
            </a:r>
            <a:r>
              <a:rPr lang="en-US" altLang="en-US" dirty="0">
                <a:latin typeface="Arial" panose="020B0604020202020204" pitchFamily="34" charset="0"/>
              </a:rPr>
              <a:t> → behavior over time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State diagrams, events, transitions.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Describes how objects change states (e.g., a </a:t>
            </a:r>
            <a:r>
              <a:rPr lang="en-US" altLang="en-US" sz="1000" dirty="0">
                <a:latin typeface="Arial Unicode MS"/>
              </a:rPr>
              <a:t>Book</a:t>
            </a:r>
            <a:r>
              <a:rPr lang="en-US" altLang="en-US" sz="800" dirty="0"/>
              <a:t> </a:t>
            </a:r>
            <a:r>
              <a:rPr lang="en-US" altLang="en-US" sz="1400" dirty="0"/>
              <a:t>goes from </a:t>
            </a:r>
            <a:r>
              <a:rPr lang="en-US" altLang="en-US" i="1" dirty="0">
                <a:latin typeface="Arial" panose="020B0604020202020204" pitchFamily="34" charset="0"/>
              </a:rPr>
              <a:t>Available → Borrowed → Returned</a:t>
            </a:r>
            <a:r>
              <a:rPr lang="en-US" altLang="en-US" dirty="0">
                <a:latin typeface="Arial" panose="020B0604020202020204" pitchFamily="34" charset="0"/>
              </a:rPr>
              <a:t>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3. Functional Model</a:t>
            </a:r>
            <a:r>
              <a:rPr lang="en-US" altLang="en-US" dirty="0">
                <a:latin typeface="Arial" panose="020B0604020202020204" pitchFamily="34" charset="0"/>
              </a:rPr>
              <a:t> → data transformations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Data flow diagrams (DFDs).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Focuses on </a:t>
            </a:r>
            <a:r>
              <a:rPr lang="en-US" altLang="en-US" i="1" dirty="0">
                <a:latin typeface="Arial" panose="020B0604020202020204" pitchFamily="34" charset="0"/>
              </a:rPr>
              <a:t>what functions transform inputs to outputs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218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EBFBC-DD29-A8DA-929F-442B69BB7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73F7B938-1E05-8D21-14DD-9182D2CC9264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2000" dirty="0"/>
              <a:t>Combining the Three Models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F49841-943E-152A-7271-06E5C22FC8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488"/>
            <a:ext cx="969607" cy="9482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DBC05D4-E1FB-2047-2D01-996877AA88BC}"/>
              </a:ext>
            </a:extLst>
          </p:cNvPr>
          <p:cNvSpPr txBox="1"/>
          <p:nvPr/>
        </p:nvSpPr>
        <p:spPr>
          <a:xfrm>
            <a:off x="1529309" y="1261737"/>
            <a:ext cx="9361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Why combine them?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6A3D25-F8DB-B5C1-B132-634001E53B15}"/>
              </a:ext>
            </a:extLst>
          </p:cNvPr>
          <p:cNvSpPr txBox="1"/>
          <p:nvPr/>
        </p:nvSpPr>
        <p:spPr>
          <a:xfrm>
            <a:off x="1529308" y="2114144"/>
            <a:ext cx="878576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model answers a different question: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 Model =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the system is made of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Model =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it behaves over time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Functional Model =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transformations happen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design a complete system, we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them: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 with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 model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(the backbone).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model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show how objects react to events.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functional model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describe computations.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508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708F0-0D15-1670-AB5D-FFB1D63AB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C7DFFA48-EB94-1861-D7DF-0A5ACD6F4565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2000" dirty="0"/>
              <a:t>Designing Algorithms 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AB1FE9-4033-D6D6-C471-56C25DBA2C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488"/>
            <a:ext cx="969607" cy="9482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3841780-FC8A-9E58-CD3A-BFEEB0C71E23}"/>
              </a:ext>
            </a:extLst>
          </p:cNvPr>
          <p:cNvSpPr txBox="1"/>
          <p:nvPr/>
        </p:nvSpPr>
        <p:spPr>
          <a:xfrm>
            <a:off x="1529309" y="1261737"/>
            <a:ext cx="9361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When we move from </a:t>
            </a:r>
            <a:r>
              <a:rPr lang="en-GB" b="1" dirty="0"/>
              <a:t>object design</a:t>
            </a:r>
            <a:r>
              <a:rPr lang="en-GB" dirty="0"/>
              <a:t> to implementation, we need to decide </a:t>
            </a:r>
            <a:r>
              <a:rPr lang="en-GB" b="1" dirty="0"/>
              <a:t>how each operation will actually work</a:t>
            </a:r>
            <a:r>
              <a:rPr lang="en-GB" dirty="0"/>
              <a:t>. That’s where algorithms come in.</a:t>
            </a:r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025406-400E-0044-2326-3CE51B5DB4E2}"/>
              </a:ext>
            </a:extLst>
          </p:cNvPr>
          <p:cNvSpPr txBox="1"/>
          <p:nvPr/>
        </p:nvSpPr>
        <p:spPr>
          <a:xfrm>
            <a:off x="336884" y="2101516"/>
            <a:ext cx="54543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1. </a:t>
            </a:r>
            <a:r>
              <a:rPr lang="en-GB" b="1" dirty="0"/>
              <a:t>From Abstract to Concrete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 analysis, we say: Member borrows a book.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 object design, we say: Method </a:t>
            </a:r>
            <a:r>
              <a:rPr lang="en-GB" dirty="0" err="1"/>
              <a:t>borrowBook</a:t>
            </a:r>
            <a:r>
              <a:rPr lang="en-GB" dirty="0"/>
              <a:t>() exists.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 algorithm design, we answer: What exact steps should </a:t>
            </a:r>
            <a:r>
              <a:rPr lang="en-GB" dirty="0" err="1"/>
              <a:t>borrowBook</a:t>
            </a:r>
            <a:r>
              <a:rPr lang="en-GB" dirty="0"/>
              <a:t>() perform?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91B65E-D89E-5F0D-AB35-625BEB512768}"/>
              </a:ext>
            </a:extLst>
          </p:cNvPr>
          <p:cNvSpPr txBox="1"/>
          <p:nvPr/>
        </p:nvSpPr>
        <p:spPr>
          <a:xfrm>
            <a:off x="6240379" y="2101516"/>
            <a:ext cx="561473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2. Principles of Algorithm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Clarity</a:t>
            </a:r>
            <a:r>
              <a:rPr lang="en-GB" dirty="0"/>
              <a:t> → The algorithm must be unambiguous.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Correctness</a:t>
            </a:r>
            <a:r>
              <a:rPr lang="en-GB" dirty="0"/>
              <a:t> → It must achieve the intended effect (e.g., ensure a member cannot borrow more than 5 books).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Efficiency</a:t>
            </a:r>
            <a:r>
              <a:rPr lang="en-GB" dirty="0"/>
              <a:t> → Choose the right data structures (linked list, hash table, etc.) to make it fast.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Reusability</a:t>
            </a:r>
            <a:r>
              <a:rPr lang="en-GB" dirty="0"/>
              <a:t> → The algorithm should be general enough to be reused in other contexts if possible.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Modularity</a:t>
            </a:r>
            <a:r>
              <a:rPr lang="en-GB" dirty="0"/>
              <a:t> → Break large algorithms into smaller helper functions for readability.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9057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811B8-E724-497A-6D04-91B66BB2C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C1FB5B78-46DA-9512-542C-02A289CFAFD8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2000" dirty="0"/>
              <a:t>Designing Algorithms 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0559A-0426-E15F-B8FA-8CAAFB261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488"/>
            <a:ext cx="969607" cy="9482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A4883D-6B08-0BA6-AA63-929BFAF76A47}"/>
              </a:ext>
            </a:extLst>
          </p:cNvPr>
          <p:cNvSpPr txBox="1"/>
          <p:nvPr/>
        </p:nvSpPr>
        <p:spPr>
          <a:xfrm>
            <a:off x="336884" y="1270519"/>
            <a:ext cx="545431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3. Steps in Designing Algorithms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Specify </a:t>
            </a:r>
            <a:r>
              <a:rPr lang="en-GB" dirty="0" err="1"/>
              <a:t>behavior</a:t>
            </a:r>
            <a:r>
              <a:rPr lang="en-GB" dirty="0"/>
              <a:t> in plain language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Example: “Check if book is available. If yes, mark it as borrowed and update member record. Otherwise, deny request.”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Identify required data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What attributes/objects do we need to touch? (</a:t>
            </a:r>
            <a:r>
              <a:rPr lang="en-GB" dirty="0" err="1"/>
              <a:t>Book.isAvailable</a:t>
            </a:r>
            <a:r>
              <a:rPr lang="en-GB" dirty="0"/>
              <a:t>, </a:t>
            </a:r>
            <a:r>
              <a:rPr lang="en-GB" dirty="0" err="1"/>
              <a:t>Member.booksBorrowed</a:t>
            </a:r>
            <a:r>
              <a:rPr lang="en-GB" dirty="0"/>
              <a:t>).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Choose control structures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Conditionals (if), loops (for/while), error handling.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Refine into pseudocode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Before coding, write step-by-step instructions.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Optimize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Replace naive choices with better ones (e.g., searching a book by ISBN in a hash map instead of a linear list).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682DD0-4EAE-7562-19F2-2D73A1EC2DA7}"/>
              </a:ext>
            </a:extLst>
          </p:cNvPr>
          <p:cNvSpPr txBox="1"/>
          <p:nvPr/>
        </p:nvSpPr>
        <p:spPr>
          <a:xfrm>
            <a:off x="6240379" y="1270519"/>
            <a:ext cx="561473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4. OOD Twist</a:t>
            </a:r>
          </a:p>
          <a:p>
            <a:r>
              <a:rPr lang="en-GB" dirty="0"/>
              <a:t>Unlike traditional algorithm design (where you think in terms of global functions), in OOD we design algorithms inside classes. That means: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Algorithms operate on the object’s state (attributes).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They often involve collaboration between objects (a Member and a Book).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Responsibility matters → we ask which class should own the algorithm?</a:t>
            </a:r>
          </a:p>
          <a:p>
            <a:r>
              <a:rPr lang="en-GB" dirty="0"/>
              <a:t>Example in words: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Instead of a global function </a:t>
            </a:r>
            <a:r>
              <a:rPr lang="en-GB" dirty="0" err="1"/>
              <a:t>issueBook</a:t>
            </a:r>
            <a:r>
              <a:rPr lang="en-GB" dirty="0"/>
              <a:t>(book, member),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In OOD, we ask: Should Book handle the logic (borrow())? Or should Member handle it (</a:t>
            </a:r>
            <a:r>
              <a:rPr lang="en-GB" dirty="0" err="1"/>
              <a:t>borrowBook</a:t>
            </a:r>
            <a:r>
              <a:rPr lang="en-GB" dirty="0"/>
              <a:t>(book))?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The answer depends on who has the responsibility in our design.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6281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5B46E-8AF1-4731-A4AE-387B3E896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77EC78E-7DFE-D090-265B-247559FBC877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2000" dirty="0"/>
              <a:t>Optimize access paths to data / Design optimization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3E63DE-DFBA-A824-E170-F0492A19F7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488"/>
            <a:ext cx="969607" cy="9482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6A0BF8-D85A-1E87-E3B4-06BD4098DA00}"/>
              </a:ext>
            </a:extLst>
          </p:cNvPr>
          <p:cNvSpPr txBox="1"/>
          <p:nvPr/>
        </p:nvSpPr>
        <p:spPr>
          <a:xfrm>
            <a:off x="1443788" y="1655530"/>
            <a:ext cx="9496928" cy="4199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Basic design model uses analysis model which captures the logical information about the system, while design model must add details to support efficient information access.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Inefficient but semantically correct analysis model can be optimized to make the implementation more efficient.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During design optimization, designer must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Add redundant associations to minimize access cost and maximize convenience.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Rearrange the computation for greater efficiency.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Save derived attributes to avoid re-computation of complicated expression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07758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B88DA-971B-91F0-C91F-10CD1920F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CABB3C0-A91E-B86C-0ED0-5B4324011215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2000" dirty="0"/>
              <a:t>Implementation of control for external interactions 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6A19E3-83E2-E7E4-1C8D-8421D0C749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488"/>
            <a:ext cx="969607" cy="9482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37D7B3-A9EA-147C-71A1-A46766A406CE}"/>
              </a:ext>
            </a:extLst>
          </p:cNvPr>
          <p:cNvSpPr txBox="1"/>
          <p:nvPr/>
        </p:nvSpPr>
        <p:spPr>
          <a:xfrm>
            <a:off x="1443788" y="1655530"/>
            <a:ext cx="9496928" cy="2814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Designer must refine the strategy for implementing the state – event models present in the dynamic model.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Basic approaches to implement dynamic model are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Using a location within the program to hold state.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Direct implementation of a state – machine mechanism.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Control as concurrent tasks.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19473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72976-B61A-C4AD-7F05-EAF762840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F5E7E7FE-CE58-EAD4-3A02-971ABC230A2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2000" dirty="0"/>
              <a:t>Adjust class structure to increase inheritance 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0F452B-DD67-88C9-6471-41015C97A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488"/>
            <a:ext cx="969607" cy="9482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188422-FB0C-401D-1186-D699A02BF8A9}"/>
              </a:ext>
            </a:extLst>
          </p:cNvPr>
          <p:cNvSpPr txBox="1"/>
          <p:nvPr/>
        </p:nvSpPr>
        <p:spPr>
          <a:xfrm>
            <a:off x="1443788" y="1655530"/>
            <a:ext cx="9496928" cy="235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The designer should rearrange and adjust classes and operations to increase inheritance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The designer should abstract common behaviour out of group of classes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The designer should use delegation to share behaviour when inheritance is semantically invalid.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81581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937FE-62D4-4330-1112-03D718491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C59B24E5-C455-9502-DA8C-F3951C3FC73B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2000" dirty="0"/>
              <a:t>Design of associations 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FF12C0-55B2-26E5-BE87-C8F57CCFD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488"/>
            <a:ext cx="969607" cy="9482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66E3C8-5A63-D09D-309B-CDDE4838DD29}"/>
              </a:ext>
            </a:extLst>
          </p:cNvPr>
          <p:cNvSpPr txBox="1"/>
          <p:nvPr/>
        </p:nvSpPr>
        <p:spPr>
          <a:xfrm>
            <a:off x="1443788" y="1655530"/>
            <a:ext cx="9496928" cy="2814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Associations are the “glue” of object model, providing access paths between objects.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 The designer must formulate a strategy for implementing the associations in the object model.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Either choose a global strategy for implementing all associations uniformly or select a particular technique for each association based on the way it is used in the application.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Associations may be either one-way associations or two –way associations.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84271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CB795-AA6A-3D6F-F00F-40E7FA110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7F908D21-2A53-A3C9-EDC5-DBFEAB9BF0B7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2000" dirty="0"/>
              <a:t>Determine object representation 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2F564C-889B-CBB3-C869-5115146172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488"/>
            <a:ext cx="969607" cy="9482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D7EA9B-5894-EF75-9FEE-40683CE0EE17}"/>
              </a:ext>
            </a:extLst>
          </p:cNvPr>
          <p:cNvSpPr txBox="1"/>
          <p:nvPr/>
        </p:nvSpPr>
        <p:spPr>
          <a:xfrm>
            <a:off x="1443788" y="1655530"/>
            <a:ext cx="9496928" cy="2814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Designer must choose when to use primitive types in representing objects and when to combine groups of related objects.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Classes can be defined in terms of other classes, but eventually everything must be implemented in terms of built-in primitive datatypes, such as integers, strings and enumerated types.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Designer must often choose whether to combine groups of related objects.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17872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CB377-DD93-5540-8E6C-3F8F37793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6EF4485F-CA39-3349-0C6C-F8564BFC6165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2000" dirty="0"/>
              <a:t>Packing classes and associations into modules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46919F-311A-E162-EE14-443E0CDED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488"/>
            <a:ext cx="969607" cy="9482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C046ED-ACBC-E78B-F49D-1F31EE8CBB60}"/>
              </a:ext>
            </a:extLst>
          </p:cNvPr>
          <p:cNvSpPr txBox="1"/>
          <p:nvPr/>
        </p:nvSpPr>
        <p:spPr>
          <a:xfrm>
            <a:off x="1443788" y="1655530"/>
            <a:ext cx="9496928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Object oriented languages have various degrees of packaging.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In large project, careful partitioning of an implementation into packages is important to permit different persons to cooperatively work on a program.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Packaging involves the following issues: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Hiding internal information from outside view.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Coherence of entities.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Constructing physical modules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93952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3E7E5-FA88-08AA-61AC-E37293363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BA6B0640-89A6-1A2B-8F9F-381C6D08C252}"/>
              </a:ext>
            </a:extLst>
          </p:cNvPr>
          <p:cNvSpPr/>
          <p:nvPr/>
        </p:nvSpPr>
        <p:spPr>
          <a:xfrm>
            <a:off x="2326105" y="93980"/>
            <a:ext cx="8598569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Documenting Design Considerations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17FB50-35A4-2F34-605C-33C5EC01EBEA}"/>
              </a:ext>
            </a:extLst>
          </p:cNvPr>
          <p:cNvSpPr txBox="1"/>
          <p:nvPr/>
        </p:nvSpPr>
        <p:spPr>
          <a:xfrm>
            <a:off x="1083212" y="1252025"/>
            <a:ext cx="1008653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UML diagrams show </a:t>
            </a:r>
            <a:r>
              <a:rPr lang="en-GB" sz="2400" b="1" dirty="0"/>
              <a:t>WHAT</a:t>
            </a:r>
            <a:r>
              <a:rPr lang="en-GB" sz="2400" dirty="0"/>
              <a:t> you designed. Documentation explains </a:t>
            </a:r>
            <a:r>
              <a:rPr lang="en-GB" sz="2400" b="1" dirty="0"/>
              <a:t>WHY</a:t>
            </a:r>
            <a:r>
              <a:rPr lang="en-GB" sz="2400" dirty="0"/>
              <a:t>.</a:t>
            </a:r>
          </a:p>
          <a:p>
            <a:r>
              <a:rPr lang="en-GB" sz="2400" b="1" dirty="0"/>
              <a:t>Essential for Maintenance &amp; Teamwork:</a:t>
            </a:r>
            <a:endParaRPr lang="en-GB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/>
              <a:t>Document Trade-offs:</a:t>
            </a:r>
            <a:r>
              <a:rPr lang="en-GB" sz="2400" dirty="0"/>
              <a:t> </a:t>
            </a:r>
            <a:r>
              <a:rPr lang="en-GB" sz="2400" i="1" dirty="0"/>
              <a:t>"We chose Algorithm X for speed, accepting higher memory usage."</a:t>
            </a:r>
            <a:endParaRPr lang="en-GB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/>
              <a:t>Document Strategic Choices (Patterns):</a:t>
            </a:r>
            <a:r>
              <a:rPr lang="en-GB" sz="2400" dirty="0"/>
              <a:t> </a:t>
            </a:r>
            <a:r>
              <a:rPr lang="en-GB" sz="2400" i="1" dirty="0"/>
              <a:t>"We used the Singleton pattern for the database connection to ensure only one connection is ever made."</a:t>
            </a:r>
            <a:endParaRPr lang="en-GB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/>
              <a:t>Document Assumptions:</a:t>
            </a:r>
            <a:r>
              <a:rPr lang="en-GB" sz="2400" dirty="0"/>
              <a:t> </a:t>
            </a:r>
            <a:r>
              <a:rPr lang="en-GB" sz="2400" i="1" dirty="0"/>
              <a:t>"Assumed the third-party API will have a latency of less than 200ms."</a:t>
            </a:r>
            <a:endParaRPr lang="en-GB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/>
              <a:t>Document Interface Contracts:</a:t>
            </a:r>
            <a:r>
              <a:rPr lang="en-GB" sz="2400" dirty="0"/>
              <a:t> Clearly specify what public methods do, their parameters (pre-conditions), and what they return (post-conditions).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195127-E74E-B805-C472-BACBA1D3F5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3857" cy="94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2634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E8A98-47AA-3870-FE86-5D42694B3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706260A4-DED0-1AEB-049B-A83B9C561B94}"/>
              </a:ext>
            </a:extLst>
          </p:cNvPr>
          <p:cNvSpPr/>
          <p:nvPr/>
        </p:nvSpPr>
        <p:spPr>
          <a:xfrm>
            <a:off x="3771922" y="93980"/>
            <a:ext cx="5475773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 Alternative Design Methodologies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2A5DAB-E4AA-9C16-80A1-D8B8C8B3E5BE}"/>
              </a:ext>
            </a:extLst>
          </p:cNvPr>
          <p:cNvSpPr txBox="1"/>
          <p:nvPr/>
        </p:nvSpPr>
        <p:spPr>
          <a:xfrm>
            <a:off x="1052732" y="1536174"/>
            <a:ext cx="1008653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To fully appreciate the power of the Object-Oriented paradigm, we must understand what came before 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Reasons to study structured methodologies:</a:t>
            </a:r>
            <a:endParaRPr lang="en-GB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/>
              <a:t>To Understand Evolution:</a:t>
            </a:r>
            <a:r>
              <a:rPr lang="en-GB" sz="2400" dirty="0"/>
              <a:t> See how software design has evolved from a function-centric to an object-centric view.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/>
              <a:t>To Work with Legacy Systems:</a:t>
            </a:r>
            <a:r>
              <a:rPr lang="en-GB" sz="2400" dirty="0"/>
              <a:t> Many existing, critical systems were built using these techniques.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/>
              <a:t>To Appreciate OOD:</a:t>
            </a:r>
            <a:r>
              <a:rPr lang="en-GB" sz="2400" dirty="0"/>
              <a:t> Contrasting OOD with older methods highlights its strengths in managing complexity, promoting reuse, and creating stable systems.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DF6BAD-B850-5AC2-8026-0C375BB6D4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3857" cy="94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6539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5BDE6-6B17-9376-EF18-B0A6C84C0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C7EABC68-9499-B973-9B8B-D004FF0320E3}"/>
              </a:ext>
            </a:extLst>
          </p:cNvPr>
          <p:cNvSpPr/>
          <p:nvPr/>
        </p:nvSpPr>
        <p:spPr>
          <a:xfrm>
            <a:off x="3771922" y="93980"/>
            <a:ext cx="5475773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Structured Analysis &amp; Design (SA/SD)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EE4200-3EF6-B978-C891-18FD1E93F2EC}"/>
              </a:ext>
            </a:extLst>
          </p:cNvPr>
          <p:cNvSpPr txBox="1"/>
          <p:nvPr/>
        </p:nvSpPr>
        <p:spPr>
          <a:xfrm>
            <a:off x="1466540" y="2054131"/>
            <a:ext cx="100865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Paradigm:</a:t>
            </a:r>
            <a:r>
              <a:rPr lang="en-GB" sz="2400" dirty="0"/>
              <a:t> Top-Down, </a:t>
            </a:r>
            <a:r>
              <a:rPr lang="en-GB" sz="2400" b="1" dirty="0"/>
              <a:t>Functional Decomposition</a:t>
            </a:r>
            <a:r>
              <a:rPr lang="en-GB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Core Belief:</a:t>
            </a:r>
            <a:r>
              <a:rPr lang="en-GB" sz="2400" dirty="0"/>
              <a:t> A system is best understood as a set of </a:t>
            </a:r>
            <a:r>
              <a:rPr lang="en-GB" sz="2400" b="1" dirty="0"/>
              <a:t>processes</a:t>
            </a:r>
            <a:r>
              <a:rPr lang="en-GB" sz="2400" dirty="0"/>
              <a:t> that transform </a:t>
            </a:r>
            <a:r>
              <a:rPr lang="en-GB" sz="2400" b="1" dirty="0"/>
              <a:t>data</a:t>
            </a:r>
            <a:r>
              <a:rPr lang="en-GB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Key Feature:</a:t>
            </a:r>
            <a:r>
              <a:rPr lang="en-GB" sz="2400" dirty="0"/>
              <a:t> Strict </a:t>
            </a:r>
            <a:r>
              <a:rPr lang="en-GB" sz="2400" b="1" dirty="0"/>
              <a:t>separation of data from the functions</a:t>
            </a:r>
            <a:r>
              <a:rPr lang="en-GB" sz="2400" dirty="0"/>
              <a:t> that operate on it. Data is passive; functions are active.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F5A0BC-02DB-E114-6627-5B409014D2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3857" cy="94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7563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2F923-3707-6D4A-A33F-E8D53C59A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521257ED-C375-1274-1EEF-FE95F38080EA}"/>
              </a:ext>
            </a:extLst>
          </p:cNvPr>
          <p:cNvSpPr/>
          <p:nvPr/>
        </p:nvSpPr>
        <p:spPr>
          <a:xfrm>
            <a:off x="3771922" y="93980"/>
            <a:ext cx="5475773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/>
              <a:t>SA/SD - The Tools of Analysis</a:t>
            </a:r>
            <a:endParaRPr lang="en-GB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60623F-73B6-9E40-D2AD-FB9B35788010}"/>
              </a:ext>
            </a:extLst>
          </p:cNvPr>
          <p:cNvSpPr txBox="1"/>
          <p:nvPr/>
        </p:nvSpPr>
        <p:spPr>
          <a:xfrm>
            <a:off x="1083212" y="1252025"/>
            <a:ext cx="100865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SA/SD - The Tools of Analysis</a:t>
            </a:r>
            <a:endParaRPr lang="en-GB" sz="2400" dirty="0"/>
          </a:p>
          <a:p>
            <a:pPr marL="342900" indent="-342900">
              <a:buAutoNum type="arabicPeriod"/>
            </a:pPr>
            <a:r>
              <a:rPr lang="en-GB" sz="2400" b="1" dirty="0"/>
              <a:t>Data Flow Diagram (DFD):</a:t>
            </a:r>
            <a:r>
              <a:rPr lang="en-GB" sz="2400" dirty="0"/>
              <a:t> The star of the show. Graphically depicts how data moves through the system.</a:t>
            </a:r>
            <a:endParaRPr lang="en-GB" sz="2400" b="1" dirty="0"/>
          </a:p>
          <a:p>
            <a:r>
              <a:rPr lang="en-GB" sz="2400" b="1" dirty="0"/>
              <a:t>2. Data Dictionary:</a:t>
            </a:r>
            <a:r>
              <a:rPr lang="en-GB" sz="2400" dirty="0"/>
              <a:t> A central repository that defines every data flow, data store, and process. It eliminates ambiguity.</a:t>
            </a:r>
          </a:p>
          <a:p>
            <a:r>
              <a:rPr lang="en-GB" sz="2400" b="1" dirty="0"/>
              <a:t>3. ER Diagram:</a:t>
            </a:r>
            <a:r>
              <a:rPr lang="en-GB" sz="2400" dirty="0"/>
              <a:t> Used to model the relationships between the Data Stores.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297A15-BD4C-026A-FF4E-F2A24286B3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3857" cy="94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6374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C4C4-9D97-2667-C34C-8D7D46953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8EDD216B-6769-8D47-ECEC-271233900168}"/>
              </a:ext>
            </a:extLst>
          </p:cNvPr>
          <p:cNvSpPr/>
          <p:nvPr/>
        </p:nvSpPr>
        <p:spPr>
          <a:xfrm>
            <a:off x="3771922" y="93980"/>
            <a:ext cx="5475773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/>
              <a:t>SA/SD - The Tools of Design</a:t>
            </a:r>
            <a:endParaRPr lang="en-GB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A3E8D0-2F66-563F-6D5A-4524091A6D14}"/>
              </a:ext>
            </a:extLst>
          </p:cNvPr>
          <p:cNvSpPr txBox="1"/>
          <p:nvPr/>
        </p:nvSpPr>
        <p:spPr>
          <a:xfrm>
            <a:off x="1052732" y="1604952"/>
            <a:ext cx="100865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Structure Chart:</a:t>
            </a:r>
            <a:r>
              <a:rPr lang="en-GB" sz="2400" dirty="0"/>
              <a:t> The main output of the design phase.</a:t>
            </a:r>
          </a:p>
          <a:p>
            <a:r>
              <a:rPr lang="en-GB" sz="2400" dirty="0"/>
              <a:t>It's a hierarchical diagram showing how processes from the DFD are organized into programming language functions and the calling structure between them.</a:t>
            </a:r>
          </a:p>
          <a:p>
            <a:r>
              <a:rPr lang="en-GB" sz="2400" dirty="0"/>
              <a:t>It looks like an organization chart for functions.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B1C721-10C6-1E52-D06E-F1161DAFCC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3857" cy="94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8077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18AD3-8443-3E70-D953-DE5051FAC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FD89EF49-D385-C146-F7FA-5237E7C19E0A}"/>
              </a:ext>
            </a:extLst>
          </p:cNvPr>
          <p:cNvSpPr/>
          <p:nvPr/>
        </p:nvSpPr>
        <p:spPr>
          <a:xfrm>
            <a:off x="3771922" y="93980"/>
            <a:ext cx="5475773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Jackson Structured Development (JSD)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81DB09-39E2-6475-A781-6DE6211A07FB}"/>
              </a:ext>
            </a:extLst>
          </p:cNvPr>
          <p:cNvSpPr txBox="1"/>
          <p:nvPr/>
        </p:nvSpPr>
        <p:spPr>
          <a:xfrm>
            <a:off x="1083212" y="1252025"/>
            <a:ext cx="1008653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Paradigm:</a:t>
            </a:r>
            <a:r>
              <a:rPr lang="en-GB" sz="2400" dirty="0"/>
              <a:t> Models a system based on real-world </a:t>
            </a:r>
            <a:r>
              <a:rPr lang="en-GB" sz="2400" b="1" dirty="0"/>
              <a:t>events</a:t>
            </a:r>
            <a:r>
              <a:rPr lang="en-GB" sz="2400" dirty="0"/>
              <a:t> and the </a:t>
            </a:r>
            <a:r>
              <a:rPr lang="en-GB" sz="2400" b="1" dirty="0"/>
              <a:t>time-ordering</a:t>
            </a:r>
            <a:r>
              <a:rPr lang="en-GB" sz="2400" dirty="0"/>
              <a:t> of those events.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Core Belief:</a:t>
            </a:r>
            <a:r>
              <a:rPr lang="en-GB" sz="2400" dirty="0"/>
              <a:t> A system's functionality must be fit into a model of the real world it operates in. The structure of the software should mirror the time-ordered structure of the real-world events.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Key Feature:</a:t>
            </a:r>
            <a:r>
              <a:rPr lang="en-GB" sz="2400" dirty="0"/>
              <a:t> Does not distinguish sharply between analysis and design. It focuses on </a:t>
            </a:r>
            <a:r>
              <a:rPr lang="en-GB" sz="2400" dirty="0" err="1"/>
              <a:t>modeling</a:t>
            </a:r>
            <a:r>
              <a:rPr lang="en-GB" sz="2400" dirty="0"/>
              <a:t> the "lifeline" of entities through events.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6B9E72-F901-A719-8290-6A6FAA258A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3857" cy="94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7085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9233A-CE17-DFA6-59A2-AEDB10016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84DB40EA-1511-CA50-8415-E0B19531BF23}"/>
              </a:ext>
            </a:extLst>
          </p:cNvPr>
          <p:cNvSpPr/>
          <p:nvPr/>
        </p:nvSpPr>
        <p:spPr>
          <a:xfrm>
            <a:off x="3771922" y="93980"/>
            <a:ext cx="5475773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/>
              <a:t>The Six Steps of JSD</a:t>
            </a:r>
            <a:endParaRPr lang="en-GB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63EB7D-04E5-6610-6CBD-74CDE3C4ECA8}"/>
              </a:ext>
            </a:extLst>
          </p:cNvPr>
          <p:cNvSpPr txBox="1"/>
          <p:nvPr/>
        </p:nvSpPr>
        <p:spPr>
          <a:xfrm>
            <a:off x="1083212" y="1252025"/>
            <a:ext cx="1008653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2400" b="1" dirty="0"/>
              <a:t>Entity Action Step:</a:t>
            </a:r>
            <a:r>
              <a:rPr lang="en-GB" sz="2400" dirty="0"/>
              <a:t> List the entities and the actions they perform.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b="1" dirty="0"/>
              <a:t>Entity Structure Step:</a:t>
            </a:r>
            <a:r>
              <a:rPr lang="en-GB" sz="2400" dirty="0"/>
              <a:t> Order the actions for each entity over time.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b="1" dirty="0"/>
              <a:t>Initial Model Step:</a:t>
            </a:r>
            <a:r>
              <a:rPr lang="en-GB" sz="2400" dirty="0"/>
              <a:t> Connect the system to the real world (how it gets inputs).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b="1" dirty="0"/>
              <a:t>Function Step:</a:t>
            </a:r>
            <a:r>
              <a:rPr lang="en-GB" sz="2400" dirty="0"/>
              <a:t> Add functions/operations that produce system outputs.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b="1" dirty="0"/>
              <a:t>System Timing Step:</a:t>
            </a:r>
            <a:r>
              <a:rPr lang="en-GB" sz="2400" dirty="0"/>
              <a:t> Consider performance and time constraints.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b="1" dirty="0"/>
              <a:t>Implementation Step:</a:t>
            </a:r>
            <a:r>
              <a:rPr lang="en-GB" sz="2400" dirty="0"/>
              <a:t> Map the abstract model to physical hardware and processes.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364165-29A7-AA4F-0D76-99525E208D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3857" cy="94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426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D1561-4598-898A-7284-4549503BA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FA92FB62-E48C-AC20-6170-BD8BA115C6DA}"/>
              </a:ext>
            </a:extLst>
          </p:cNvPr>
          <p:cNvSpPr/>
          <p:nvPr/>
        </p:nvSpPr>
        <p:spPr>
          <a:xfrm>
            <a:off x="3771922" y="93980"/>
            <a:ext cx="5475773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JSD - Strengths and Weaknesses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96E860-D7A1-CC41-E03B-5078E2079F8F}"/>
              </a:ext>
            </a:extLst>
          </p:cNvPr>
          <p:cNvSpPr txBox="1"/>
          <p:nvPr/>
        </p:nvSpPr>
        <p:spPr>
          <a:xfrm>
            <a:off x="1083212" y="1252025"/>
            <a:ext cx="100865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Strengths:</a:t>
            </a:r>
            <a:endParaRPr lang="en-GB" sz="2400" dirty="0"/>
          </a:p>
          <a:p>
            <a:pPr lvl="1"/>
            <a:r>
              <a:rPr lang="en-GB" sz="2400" dirty="0"/>
              <a:t>Excellent for real-time and concurrent systems where timing and sequencing are critical.</a:t>
            </a:r>
          </a:p>
          <a:p>
            <a:pPr lvl="1"/>
            <a:r>
              <a:rPr lang="en-GB" sz="2400" dirty="0"/>
              <a:t>Models are based on the stable real world, not volatile user requirements.</a:t>
            </a:r>
          </a:p>
          <a:p>
            <a:r>
              <a:rPr lang="en-GB" sz="2400" b="1" dirty="0"/>
              <a:t>Weaknesses:</a:t>
            </a:r>
            <a:endParaRPr lang="en-GB" sz="2400" dirty="0"/>
          </a:p>
          <a:p>
            <a:pPr lvl="1"/>
            <a:r>
              <a:rPr lang="en-GB" sz="2400" dirty="0"/>
              <a:t>Considered very complex and abstract ("obscure").</a:t>
            </a:r>
          </a:p>
          <a:p>
            <a:pPr lvl="1"/>
            <a:r>
              <a:rPr lang="en-GB" sz="2400" dirty="0"/>
              <a:t>Less graphical than other methods.</a:t>
            </a:r>
          </a:p>
          <a:p>
            <a:pPr lvl="1"/>
            <a:r>
              <a:rPr lang="en-GB" sz="2400" dirty="0"/>
              <a:t>Poor for database-heavy applications because it focuses on actions, not data attributes.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647D04-FC7C-46FD-FD36-1E299719AA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3857" cy="94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2449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B430A-F02D-47EE-2389-62F54E23C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3EA9282-96CD-0DB7-8B65-438B873FA389}"/>
              </a:ext>
            </a:extLst>
          </p:cNvPr>
          <p:cNvSpPr/>
          <p:nvPr/>
        </p:nvSpPr>
        <p:spPr>
          <a:xfrm>
            <a:off x="3771922" y="93980"/>
            <a:ext cx="5475773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/>
              <a:t>Head-to-Head: SA/SD vs. OOD</a:t>
            </a: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56271D-F57F-DF66-72FB-BF782B3B11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3857" cy="94262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658D430-B4C3-64C0-D093-0890B56E1B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39971"/>
              </p:ext>
            </p:extLst>
          </p:nvPr>
        </p:nvGraphicFramePr>
        <p:xfrm>
          <a:off x="753979" y="1393434"/>
          <a:ext cx="10443411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1137">
                  <a:extLst>
                    <a:ext uri="{9D8B030D-6E8A-4147-A177-3AD203B41FA5}">
                      <a16:colId xmlns:a16="http://schemas.microsoft.com/office/drawing/2014/main" val="2349979073"/>
                    </a:ext>
                  </a:extLst>
                </a:gridCol>
                <a:gridCol w="3481137">
                  <a:extLst>
                    <a:ext uri="{9D8B030D-6E8A-4147-A177-3AD203B41FA5}">
                      <a16:colId xmlns:a16="http://schemas.microsoft.com/office/drawing/2014/main" val="1997075868"/>
                    </a:ext>
                  </a:extLst>
                </a:gridCol>
                <a:gridCol w="3481137">
                  <a:extLst>
                    <a:ext uri="{9D8B030D-6E8A-4147-A177-3AD203B41FA5}">
                      <a16:colId xmlns:a16="http://schemas.microsoft.com/office/drawing/2014/main" val="5002255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SA/SD (Function-Oriented)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OOD (Object-Oriented)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8581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b="1" dirty="0"/>
                        <a:t>Basic Unit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Procedure / Function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Object (Data + </a:t>
                      </a:r>
                      <a:r>
                        <a:rPr lang="en-IN" sz="2400" dirty="0" err="1"/>
                        <a:t>Behavior</a:t>
                      </a:r>
                      <a:r>
                        <a:rPr lang="en-IN" sz="2400" dirty="0"/>
                        <a:t>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8775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b="1" dirty="0"/>
                        <a:t>Organization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Organized around functions.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Organized around real-world objects.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7817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b="1" dirty="0"/>
                        <a:t>Extensibility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Difficult to extend system boundaries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Easy to add new objects and relationships.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388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b="1" dirty="0"/>
                        <a:t>Reusability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Low. Functions are problem-specific.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High. Classes are designed for reuse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3368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b="1" dirty="0"/>
                        <a:t>Stability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Fragile. Requirement changes often mean function changes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Robust. Objects are stable; changes are localized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188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84418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F61A8-BC51-1C5F-5FBA-B3D776762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F0088CA8-B357-8DB8-841F-A10B6684F6E3}"/>
              </a:ext>
            </a:extLst>
          </p:cNvPr>
          <p:cNvSpPr/>
          <p:nvPr/>
        </p:nvSpPr>
        <p:spPr>
          <a:xfrm>
            <a:off x="3771922" y="93980"/>
            <a:ext cx="5475773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Mapping Design to Code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5E88BD-32CC-9096-C623-04F237253794}"/>
              </a:ext>
            </a:extLst>
          </p:cNvPr>
          <p:cNvSpPr txBox="1"/>
          <p:nvPr/>
        </p:nvSpPr>
        <p:spPr>
          <a:xfrm>
            <a:off x="1083212" y="1252025"/>
            <a:ext cx="100865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The Thought Experiment</a:t>
            </a: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Challenge:</a:t>
            </a:r>
            <a:r>
              <a:rPr lang="en-GB" sz="2400" dirty="0"/>
              <a:t> How do we simulate OO features in a non-OO language like C?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Why is this important?</a:t>
            </a:r>
            <a:endParaRPr lang="en-GB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It forces a deep understanding of what OO languages provide automatically (polymorphism, encapsulation).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It clarifies the fundamental concepts, separating them from language syntax.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It demonstrates how the design patterns we create are independent of the implementation language.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B822FD-D91F-5908-B62F-EF68964568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3857" cy="94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0174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56419-E02D-0179-5B51-3026F74ED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62495D01-1327-3B58-DEBB-C21B89CF0703}"/>
              </a:ext>
            </a:extLst>
          </p:cNvPr>
          <p:cNvSpPr/>
          <p:nvPr/>
        </p:nvSpPr>
        <p:spPr>
          <a:xfrm>
            <a:off x="3771922" y="93980"/>
            <a:ext cx="5475773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Mapping Classes &amp; Methods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0A6BB1-F20A-8A43-8168-1338261C47E8}"/>
              </a:ext>
            </a:extLst>
          </p:cNvPr>
          <p:cNvSpPr txBox="1"/>
          <p:nvPr/>
        </p:nvSpPr>
        <p:spPr>
          <a:xfrm>
            <a:off x="1083212" y="1252025"/>
            <a:ext cx="1008653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C++ Class:</a:t>
            </a:r>
            <a:endParaRPr lang="fr-FR" sz="2400" b="1" dirty="0"/>
          </a:p>
          <a:p>
            <a:r>
              <a:rPr lang="fr-FR" sz="2400" b="1" dirty="0"/>
              <a:t>class Circle {</a:t>
            </a:r>
          </a:p>
          <a:p>
            <a:r>
              <a:rPr lang="fr-FR" sz="2400" b="1" dirty="0"/>
              <a:t>	</a:t>
            </a:r>
            <a:r>
              <a:rPr lang="fr-FR" sz="2400" b="1" dirty="0" err="1"/>
              <a:t>private</a:t>
            </a:r>
            <a:r>
              <a:rPr lang="fr-FR" sz="2400" b="1" dirty="0"/>
              <a:t>: double radius;</a:t>
            </a:r>
          </a:p>
          <a:p>
            <a:r>
              <a:rPr lang="fr-FR" sz="2400" b="1" dirty="0"/>
              <a:t>	public: </a:t>
            </a:r>
            <a:r>
              <a:rPr lang="fr-FR" sz="2400" b="1" dirty="0" err="1"/>
              <a:t>void</a:t>
            </a:r>
            <a:r>
              <a:rPr lang="fr-FR" sz="2400" b="1" dirty="0"/>
              <a:t> </a:t>
            </a:r>
            <a:r>
              <a:rPr lang="fr-FR" sz="2400" b="1" dirty="0" err="1"/>
              <a:t>setRadius</a:t>
            </a:r>
            <a:r>
              <a:rPr lang="fr-FR" sz="2400" b="1" dirty="0"/>
              <a:t>(double r);</a:t>
            </a:r>
          </a:p>
          <a:p>
            <a:r>
              <a:rPr lang="fr-FR" sz="2400" b="1" dirty="0"/>
              <a:t>};</a:t>
            </a:r>
            <a:endParaRPr lang="en-GB" sz="2400" b="1" dirty="0"/>
          </a:p>
          <a:p>
            <a:endParaRPr lang="en-GB" sz="2400" b="1" dirty="0"/>
          </a:p>
          <a:p>
            <a:r>
              <a:rPr lang="en-GB" sz="2400" b="1" dirty="0"/>
              <a:t>Equivalent in C:</a:t>
            </a:r>
            <a:endParaRPr lang="en-GB" sz="2400" dirty="0"/>
          </a:p>
          <a:p>
            <a:pPr lvl="1"/>
            <a:r>
              <a:rPr lang="en-GB" sz="2400" b="1" dirty="0"/>
              <a:t>Class -&gt; struct</a:t>
            </a:r>
            <a:r>
              <a:rPr lang="en-GB" sz="2400" dirty="0"/>
              <a:t>: struct Circle { double radius; };</a:t>
            </a:r>
          </a:p>
          <a:p>
            <a:pPr lvl="1"/>
            <a:r>
              <a:rPr lang="en-GB" sz="2400" b="1" dirty="0"/>
              <a:t>Method -&gt; Global Function</a:t>
            </a:r>
            <a:r>
              <a:rPr lang="en-GB" sz="2400" dirty="0"/>
              <a:t>: void </a:t>
            </a:r>
            <a:r>
              <a:rPr lang="en-GB" sz="2400" dirty="0" err="1"/>
              <a:t>Circle_setRadius</a:t>
            </a:r>
            <a:r>
              <a:rPr lang="en-GB" sz="2400" dirty="0"/>
              <a:t>(struct Circle* c, double r);</a:t>
            </a:r>
          </a:p>
          <a:p>
            <a:pPr lvl="1"/>
            <a:r>
              <a:rPr lang="en-GB" sz="2400" dirty="0"/>
              <a:t>The object (c) must be passed explicitly! This is the "this" pointer.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83EAD0-6010-ADBC-866D-DBA4A1459B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3857" cy="94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0259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D2D7D-4887-8116-349E-F50334678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0191CE-2D89-7099-A89A-095606607135}"/>
              </a:ext>
            </a:extLst>
          </p:cNvPr>
          <p:cNvSpPr/>
          <p:nvPr/>
        </p:nvSpPr>
        <p:spPr>
          <a:xfrm>
            <a:off x="3771922" y="93980"/>
            <a:ext cx="5475773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Mapping Classes &amp; Methods</a:t>
            </a: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9C2201-26A3-A1C1-0E22-46C9F131F8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3857" cy="942627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E7BC4D-FD78-A9F1-F601-EBA01450C5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53331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C++ Class: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class Circle {</a:t>
            </a:r>
          </a:p>
          <a:p>
            <a:pPr marL="0" indent="0">
              <a:buNone/>
            </a:pPr>
            <a:r>
              <a:rPr lang="fr-FR" dirty="0" err="1"/>
              <a:t>private</a:t>
            </a:r>
            <a:r>
              <a:rPr lang="fr-FR" dirty="0"/>
              <a:t>: </a:t>
            </a:r>
          </a:p>
          <a:p>
            <a:pPr marL="0" indent="0">
              <a:buNone/>
            </a:pPr>
            <a:r>
              <a:rPr lang="fr-FR" dirty="0"/>
              <a:t>    double radius;</a:t>
            </a:r>
          </a:p>
          <a:p>
            <a:pPr marL="0" indent="0">
              <a:buNone/>
            </a:pPr>
            <a:r>
              <a:rPr lang="fr-FR" dirty="0"/>
              <a:t>public: </a:t>
            </a:r>
          </a:p>
          <a:p>
            <a:pPr marL="0" indent="0">
              <a:buNone/>
            </a:pPr>
            <a:r>
              <a:rPr lang="fr-FR" dirty="0"/>
              <a:t>    </a:t>
            </a:r>
            <a:r>
              <a:rPr lang="fr-FR" dirty="0" err="1"/>
              <a:t>void</a:t>
            </a:r>
            <a:r>
              <a:rPr lang="fr-FR" dirty="0"/>
              <a:t> </a:t>
            </a:r>
            <a:r>
              <a:rPr lang="fr-FR" dirty="0" err="1"/>
              <a:t>setRadius</a:t>
            </a:r>
            <a:r>
              <a:rPr lang="fr-FR" dirty="0"/>
              <a:t>(double r);</a:t>
            </a:r>
          </a:p>
          <a:p>
            <a:pPr marL="0" indent="0">
              <a:buNone/>
            </a:pPr>
            <a:r>
              <a:rPr lang="fr-FR" dirty="0"/>
              <a:t>};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94FA28-C4A7-157D-5CE2-5FDC7A9621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8663" y="1253331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Equivalent in C:</a:t>
            </a:r>
          </a:p>
          <a:p>
            <a:pPr marL="0" indent="0">
              <a:buNone/>
            </a:pPr>
            <a:r>
              <a:rPr lang="en-IN" sz="2000" dirty="0"/>
              <a:t>Class -&gt; struct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struct Circle {</a:t>
            </a:r>
          </a:p>
          <a:p>
            <a:pPr marL="0" indent="0">
              <a:buNone/>
            </a:pPr>
            <a:r>
              <a:rPr lang="en-IN" sz="2000" dirty="0"/>
              <a:t>    double radius; </a:t>
            </a:r>
          </a:p>
          <a:p>
            <a:pPr marL="0" indent="0">
              <a:buNone/>
            </a:pPr>
            <a:r>
              <a:rPr lang="en-IN" sz="2000" dirty="0"/>
              <a:t>};</a:t>
            </a:r>
          </a:p>
          <a:p>
            <a:pPr marL="0" indent="0">
              <a:buNone/>
            </a:pPr>
            <a:r>
              <a:rPr lang="en-IN" sz="2000" dirty="0"/>
              <a:t>Method -&gt; Global Function</a:t>
            </a:r>
          </a:p>
          <a:p>
            <a:pPr marL="0" indent="0">
              <a:buNone/>
            </a:pPr>
            <a:r>
              <a:rPr lang="fr-FR" sz="2000" dirty="0" err="1"/>
              <a:t>void</a:t>
            </a:r>
            <a:r>
              <a:rPr lang="fr-FR" sz="2000" dirty="0"/>
              <a:t> </a:t>
            </a:r>
            <a:r>
              <a:rPr lang="fr-FR" sz="2000" dirty="0" err="1"/>
              <a:t>Circle_setRadius</a:t>
            </a:r>
            <a:r>
              <a:rPr lang="fr-FR" sz="2000" dirty="0"/>
              <a:t>(</a:t>
            </a:r>
            <a:r>
              <a:rPr lang="fr-FR" sz="2000" dirty="0" err="1"/>
              <a:t>struct</a:t>
            </a:r>
            <a:r>
              <a:rPr lang="fr-FR" sz="2000" dirty="0"/>
              <a:t> Circle* c, double r);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The object (c) must be passed explicitly! This is the C-equivalent of the this pointer.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1251222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A1931-5E06-11D9-333A-82FCDAA4F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440EBC68-A8AB-78B2-6F8A-AD7FDF47C436}"/>
              </a:ext>
            </a:extLst>
          </p:cNvPr>
          <p:cNvSpPr/>
          <p:nvPr/>
        </p:nvSpPr>
        <p:spPr>
          <a:xfrm>
            <a:off x="3771922" y="93980"/>
            <a:ext cx="5475773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Mapping Inheritance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E0765A-B8E7-E224-0471-14C63BDC6D7B}"/>
              </a:ext>
            </a:extLst>
          </p:cNvPr>
          <p:cNvSpPr txBox="1"/>
          <p:nvPr/>
        </p:nvSpPr>
        <p:spPr>
          <a:xfrm>
            <a:off x="1083212" y="1332235"/>
            <a:ext cx="1008653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How can a struct Student inherit from a struct Person in C?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Technique: Composition / Containment</a:t>
            </a:r>
            <a:endParaRPr lang="en-GB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The child </a:t>
            </a:r>
            <a:r>
              <a:rPr lang="en-GB" sz="2400" dirty="0" err="1"/>
              <a:t>struct's</a:t>
            </a:r>
            <a:r>
              <a:rPr lang="en-GB" sz="2400" dirty="0"/>
              <a:t> first member is an instance of the parent struct.</a:t>
            </a:r>
          </a:p>
          <a:p>
            <a:pPr lvl="1"/>
            <a:endParaRPr lang="en-GB" sz="2400" dirty="0"/>
          </a:p>
          <a:p>
            <a:pPr lvl="1"/>
            <a:r>
              <a:rPr lang="en-GB" sz="2400" dirty="0"/>
              <a:t>struct Person { char name[50]; };</a:t>
            </a:r>
          </a:p>
          <a:p>
            <a:pPr lvl="1"/>
            <a:r>
              <a:rPr lang="en-GB" sz="2400" dirty="0"/>
              <a:t>struct Student {</a:t>
            </a:r>
          </a:p>
          <a:p>
            <a:pPr lvl="1"/>
            <a:r>
              <a:rPr lang="en-GB" sz="2400" dirty="0"/>
              <a:t>    struct Person </a:t>
            </a:r>
            <a:r>
              <a:rPr lang="en-GB" sz="2400" dirty="0" err="1"/>
              <a:t>person_data</a:t>
            </a:r>
            <a:r>
              <a:rPr lang="en-GB" sz="2400" dirty="0"/>
              <a:t>; // Inheritance</a:t>
            </a:r>
          </a:p>
          <a:p>
            <a:pPr lvl="1"/>
            <a:r>
              <a:rPr lang="en-GB" sz="2400" dirty="0"/>
              <a:t>    int </a:t>
            </a:r>
            <a:r>
              <a:rPr lang="en-GB" sz="2400" dirty="0" err="1"/>
              <a:t>student_id</a:t>
            </a:r>
            <a:r>
              <a:rPr lang="en-GB" sz="2400" dirty="0"/>
              <a:t>;</a:t>
            </a:r>
          </a:p>
          <a:p>
            <a:pPr lvl="1"/>
            <a:r>
              <a:rPr lang="en-GB" sz="2400" dirty="0"/>
              <a:t>};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This gives Student all of Person's fields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4FD32C-E16F-79C2-FD19-8484004384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3857" cy="94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6961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1FA19A5-9588-483E-843E-C76873B71790}"/>
              </a:ext>
            </a:extLst>
          </p:cNvPr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Mapping Associations (1-to-1)</a:t>
            </a: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CE5B8D-3E35-16FD-1422-32E102D7A3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1088" cy="1057275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0C3111-8B34-771A-CD29-11D4BD8A25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53331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1-to-1 Association:</a:t>
            </a:r>
            <a:r>
              <a:rPr lang="en-GB" sz="2400" dirty="0"/>
              <a:t> Use a pointer.</a:t>
            </a:r>
          </a:p>
          <a:p>
            <a:r>
              <a:rPr lang="en-GB" sz="2400" b="1" dirty="0"/>
              <a:t>UML:</a:t>
            </a:r>
            <a:r>
              <a:rPr lang="en-GB" sz="2400" dirty="0"/>
              <a:t> Department &lt;–1–&gt; Manager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class Manager; // Forward declaration</a:t>
            </a:r>
          </a:p>
          <a:p>
            <a:pPr marL="0" indent="0">
              <a:buNone/>
            </a:pPr>
            <a:r>
              <a:rPr lang="en-GB" sz="2400" dirty="0"/>
              <a:t>class Department {</a:t>
            </a:r>
          </a:p>
          <a:p>
            <a:pPr marL="0" indent="0">
              <a:buNone/>
            </a:pPr>
            <a:r>
              <a:rPr lang="en-GB" sz="2400" dirty="0"/>
              <a:t>private:</a:t>
            </a:r>
          </a:p>
          <a:p>
            <a:pPr marL="0" indent="0">
              <a:buNone/>
            </a:pPr>
            <a:r>
              <a:rPr lang="en-GB" sz="2400" dirty="0"/>
              <a:t>    Manager* </a:t>
            </a:r>
            <a:r>
              <a:rPr lang="en-GB" sz="2400" dirty="0" err="1"/>
              <a:t>mgr</a:t>
            </a:r>
            <a:r>
              <a:rPr lang="en-GB" sz="2400" dirty="0"/>
              <a:t>; // Association</a:t>
            </a:r>
          </a:p>
          <a:p>
            <a:pPr marL="0" indent="0">
              <a:buNone/>
            </a:pPr>
            <a:r>
              <a:rPr lang="en-GB" sz="2400" dirty="0"/>
              <a:t>};</a:t>
            </a:r>
            <a:endParaRPr lang="en-IN" sz="24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32ADCD-0FF5-11AD-E2B1-ED3327ED78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96790" y="1253331"/>
            <a:ext cx="5181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b="1" dirty="0"/>
              <a:t>1-to-Many Association:</a:t>
            </a:r>
            <a:r>
              <a:rPr lang="en-GB" sz="2400" dirty="0"/>
              <a:t> Use a container of pointers.</a:t>
            </a:r>
          </a:p>
          <a:p>
            <a:r>
              <a:rPr lang="en-GB" sz="2400" b="1" dirty="0"/>
              <a:t>UML:</a:t>
            </a:r>
            <a:r>
              <a:rPr lang="en-GB" sz="2400" dirty="0"/>
              <a:t> Employee &lt;–*–&gt; Dependent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#include &lt;vector&gt;</a:t>
            </a:r>
          </a:p>
          <a:p>
            <a:pPr marL="0" indent="0">
              <a:buNone/>
            </a:pPr>
            <a:r>
              <a:rPr lang="en-GB" sz="2400" dirty="0"/>
              <a:t>class Dependent;</a:t>
            </a:r>
          </a:p>
          <a:p>
            <a:pPr marL="0" indent="0">
              <a:buNone/>
            </a:pPr>
            <a:r>
              <a:rPr lang="en-GB" sz="2400" dirty="0"/>
              <a:t>class Employee {</a:t>
            </a:r>
          </a:p>
          <a:p>
            <a:pPr marL="0" indent="0">
              <a:buNone/>
            </a:pPr>
            <a:r>
              <a:rPr lang="en-GB" sz="2400" dirty="0"/>
              <a:t>private:</a:t>
            </a:r>
          </a:p>
          <a:p>
            <a:pPr marL="0" indent="0">
              <a:buNone/>
            </a:pPr>
            <a:r>
              <a:rPr lang="en-GB" sz="2400" dirty="0"/>
              <a:t>    std::vector&lt;Dependent*&gt; dependents; </a:t>
            </a:r>
          </a:p>
          <a:p>
            <a:pPr marL="0" indent="0">
              <a:buNone/>
            </a:pPr>
            <a:r>
              <a:rPr lang="en-GB" sz="2400" dirty="0"/>
              <a:t>};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5497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BC04A-3D1D-F067-2CC7-F6C715B85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1130B6D1-2815-A5A0-B2CC-A8BE34788686}"/>
              </a:ext>
            </a:extLst>
          </p:cNvPr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Mapping Encapsulation in 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960372-A668-5FC4-B282-A15AFDCDE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1088" cy="1057275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88AD76-179B-0D16-F361-4FE5A0ADF7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53331"/>
            <a:ext cx="5181600" cy="2981785"/>
          </a:xfrm>
        </p:spPr>
        <p:txBody>
          <a:bodyPr>
            <a:normAutofit/>
          </a:bodyPr>
          <a:lstStyle/>
          <a:p>
            <a:r>
              <a:rPr lang="en-GB" sz="2000" b="1" dirty="0"/>
              <a:t>In the public header file (.h),</a:t>
            </a:r>
            <a:r>
              <a:rPr lang="en-GB" sz="2000" dirty="0"/>
              <a:t> only forward-declare the struct. Do not expose its members. This makes the pointer "opaque.“</a:t>
            </a:r>
          </a:p>
          <a:p>
            <a:endParaRPr lang="en-GB" sz="2000" dirty="0"/>
          </a:p>
          <a:p>
            <a:pPr marL="0" indent="0">
              <a:buNone/>
            </a:pPr>
            <a:r>
              <a:rPr lang="en-GB" sz="2000" dirty="0"/>
              <a:t>// </a:t>
            </a:r>
            <a:r>
              <a:rPr lang="en-GB" sz="2000" dirty="0" err="1"/>
              <a:t>widget.h</a:t>
            </a:r>
            <a:endParaRPr lang="en-GB" sz="2000" dirty="0"/>
          </a:p>
          <a:p>
            <a:pPr marL="0" indent="0">
              <a:buNone/>
            </a:pPr>
            <a:r>
              <a:rPr lang="en-GB" sz="2000" dirty="0"/>
              <a:t>struct Widget; // Opaque type</a:t>
            </a:r>
          </a:p>
          <a:p>
            <a:pPr marL="0" indent="0">
              <a:buNone/>
            </a:pPr>
            <a:r>
              <a:rPr lang="en-GB" sz="2000" dirty="0"/>
              <a:t>struct Widget* </a:t>
            </a:r>
            <a:r>
              <a:rPr lang="en-GB" sz="2000" dirty="0" err="1"/>
              <a:t>create_widget</a:t>
            </a:r>
            <a:r>
              <a:rPr lang="en-GB" sz="2000" dirty="0"/>
              <a:t>();</a:t>
            </a:r>
          </a:p>
          <a:p>
            <a:pPr marL="0" indent="0">
              <a:buNone/>
            </a:pPr>
            <a:r>
              <a:rPr lang="en-GB" sz="2000" dirty="0"/>
              <a:t>void </a:t>
            </a:r>
            <a:r>
              <a:rPr lang="en-GB" sz="2000" dirty="0" err="1"/>
              <a:t>widget_do_something</a:t>
            </a:r>
            <a:r>
              <a:rPr lang="en-GB" sz="2000" dirty="0"/>
              <a:t>(struct Widget* w);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67BA47-A377-66C9-3ED9-7A1D772B0E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96790" y="1253331"/>
            <a:ext cx="5181600" cy="2981785"/>
          </a:xfrm>
        </p:spPr>
        <p:txBody>
          <a:bodyPr>
            <a:noAutofit/>
          </a:bodyPr>
          <a:lstStyle/>
          <a:p>
            <a:r>
              <a:rPr lang="en-GB" sz="2000" b="1" dirty="0"/>
              <a:t>In the private source file (.c),</a:t>
            </a:r>
            <a:r>
              <a:rPr lang="en-GB" sz="2000" dirty="0"/>
              <a:t> define the struct fully and implement the functions.</a:t>
            </a:r>
          </a:p>
          <a:p>
            <a:endParaRPr lang="en-GB" sz="2000" dirty="0"/>
          </a:p>
          <a:p>
            <a:pPr marL="0" indent="0">
              <a:buNone/>
            </a:pPr>
            <a:r>
              <a:rPr lang="en-GB" sz="2000" dirty="0"/>
              <a:t>// </a:t>
            </a:r>
            <a:r>
              <a:rPr lang="en-GB" sz="2000" dirty="0" err="1"/>
              <a:t>widget.c</a:t>
            </a:r>
            <a:endParaRPr lang="en-GB" sz="2000" dirty="0"/>
          </a:p>
          <a:p>
            <a:pPr marL="0" indent="0">
              <a:buNone/>
            </a:pPr>
            <a:r>
              <a:rPr lang="en-GB" sz="2000" dirty="0"/>
              <a:t>#include "</a:t>
            </a:r>
            <a:r>
              <a:rPr lang="en-GB" sz="2000" dirty="0" err="1"/>
              <a:t>widget.h</a:t>
            </a:r>
            <a:r>
              <a:rPr lang="en-GB" sz="2000" dirty="0"/>
              <a:t>"</a:t>
            </a:r>
          </a:p>
          <a:p>
            <a:pPr marL="0" indent="0">
              <a:buNone/>
            </a:pPr>
            <a:r>
              <a:rPr lang="en-GB" sz="2000" dirty="0"/>
              <a:t>struct Widget { int </a:t>
            </a:r>
            <a:r>
              <a:rPr lang="en-GB" sz="2000" dirty="0" err="1"/>
              <a:t>internal_data</a:t>
            </a:r>
            <a:r>
              <a:rPr lang="en-GB" sz="2000" dirty="0"/>
              <a:t>; }; // Full definition</a:t>
            </a:r>
          </a:p>
          <a:p>
            <a:pPr marL="0" indent="0">
              <a:buNone/>
            </a:pPr>
            <a:r>
              <a:rPr lang="en-GB" sz="2000" dirty="0"/>
              <a:t>// ... implementations ...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3C5F60-5C1A-E34D-CBD7-F6DEE6645774}"/>
              </a:ext>
            </a:extLst>
          </p:cNvPr>
          <p:cNvSpPr txBox="1"/>
          <p:nvPr/>
        </p:nvSpPr>
        <p:spPr>
          <a:xfrm>
            <a:off x="3956538" y="687943"/>
            <a:ext cx="4880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Technique: Opaque Pointers (The "PIMPL" </a:t>
            </a:r>
            <a:r>
              <a:rPr lang="fr-FR" b="1" dirty="0" err="1"/>
              <a:t>Idiom</a:t>
            </a:r>
            <a:r>
              <a:rPr lang="fr-FR" b="1" dirty="0"/>
              <a:t>)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A2DDC0-016D-4976-24BE-42F69FC435EE}"/>
              </a:ext>
            </a:extLst>
          </p:cNvPr>
          <p:cNvSpPr txBox="1"/>
          <p:nvPr/>
        </p:nvSpPr>
        <p:spPr>
          <a:xfrm>
            <a:off x="3048000" y="440434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This hides the implementation details (internal_data) from any client that only includes widget.h.</a:t>
            </a:r>
          </a:p>
        </p:txBody>
      </p:sp>
    </p:spTree>
    <p:extLst>
      <p:ext uri="{BB962C8B-B14F-4D97-AF65-F5344CB8AC3E}">
        <p14:creationId xmlns:p14="http://schemas.microsoft.com/office/powerpoint/2010/main" val="3643085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1028F-2473-8E63-5849-06EB450AF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627695D-C2B3-10C4-4EAA-CFEF64F412A6}"/>
              </a:ext>
            </a:extLst>
          </p:cNvPr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/>
              <a:t>The OOP Style: Programming in the Large</a:t>
            </a:r>
            <a:endParaRPr lang="en-GB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27DCFA-F55D-A5FA-D7D5-868A31510B11}"/>
              </a:ext>
            </a:extLst>
          </p:cNvPr>
          <p:cNvSpPr txBox="1"/>
          <p:nvPr/>
        </p:nvSpPr>
        <p:spPr>
          <a:xfrm>
            <a:off x="1083212" y="1252025"/>
            <a:ext cx="1008653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OOP is not just a set of language features; it's a </a:t>
            </a:r>
            <a:r>
              <a:rPr lang="en-GB" sz="2400" b="1" dirty="0"/>
              <a:t>style</a:t>
            </a:r>
            <a:r>
              <a:rPr lang="en-GB" sz="2400" dirty="0"/>
              <a:t> of writing software to manage complexity over the long term.</a:t>
            </a:r>
          </a:p>
          <a:p>
            <a:r>
              <a:rPr lang="en-GB" sz="2400" b="1" dirty="0"/>
              <a:t>The goals are to create software that is:</a:t>
            </a:r>
            <a:endParaRPr lang="en-GB" sz="2400" dirty="0"/>
          </a:p>
          <a:p>
            <a:pPr lvl="1"/>
            <a:r>
              <a:rPr lang="en-GB" sz="2400" b="1" dirty="0"/>
              <a:t>Reusable:</a:t>
            </a:r>
            <a:r>
              <a:rPr lang="en-GB" sz="2400" dirty="0"/>
              <a:t> Components can be used again in different systems.</a:t>
            </a:r>
          </a:p>
          <a:p>
            <a:pPr lvl="1"/>
            <a:r>
              <a:rPr lang="en-GB" sz="2400" b="1" dirty="0"/>
              <a:t>Extensible:</a:t>
            </a:r>
            <a:r>
              <a:rPr lang="en-GB" sz="2400" dirty="0"/>
              <a:t> New functionality can be added without modifying existing, working code.</a:t>
            </a:r>
          </a:p>
          <a:p>
            <a:pPr lvl="1"/>
            <a:r>
              <a:rPr lang="en-GB" sz="2400" b="1" dirty="0"/>
              <a:t>Robust:</a:t>
            </a:r>
            <a:r>
              <a:rPr lang="en-GB" sz="2400" dirty="0"/>
              <a:t> The system can cope with errors and abnormal situations gracefully.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054C92-82D0-2DD8-5BC3-AA99FE9D35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1088" cy="10572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339787A-27D0-40B3-0602-BEA044624ACB}"/>
              </a:ext>
            </a:extLst>
          </p:cNvPr>
          <p:cNvSpPr txBox="1"/>
          <p:nvPr/>
        </p:nvSpPr>
        <p:spPr>
          <a:xfrm>
            <a:off x="4443663" y="734109"/>
            <a:ext cx="35950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The Philosophy of OO Programming</a:t>
            </a:r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8414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AEE91-5F8A-3000-CFD9-B1F9D354B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BE0786CF-76F8-BE6B-BE6B-CE08F6DF5288}"/>
              </a:ext>
            </a:extLst>
          </p:cNvPr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Style Pillar 1: Reusability</a:t>
            </a:r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9C10A6-2471-4D72-3646-0D353CBF21FC}"/>
              </a:ext>
            </a:extLst>
          </p:cNvPr>
          <p:cNvSpPr txBox="1"/>
          <p:nvPr/>
        </p:nvSpPr>
        <p:spPr>
          <a:xfrm>
            <a:off x="1083212" y="1252025"/>
            <a:ext cx="100865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/>
              <a:t>Definition:</a:t>
            </a:r>
            <a:r>
              <a:rPr lang="en-GB" sz="2400" dirty="0"/>
              <a:t> Creating components that can be used again in different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/>
              <a:t>Mechanisms:</a:t>
            </a:r>
            <a:endParaRPr lang="en-GB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b="1" dirty="0"/>
              <a:t>Inheritance (White-Box Reuse):</a:t>
            </a:r>
            <a:r>
              <a:rPr lang="en-GB" sz="2400" dirty="0"/>
              <a:t> A new class inherits and can see/modify the implementation details of its parent. It's a tight coupling.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b="1" dirty="0"/>
              <a:t>Composition (Black-Box Reuse):</a:t>
            </a:r>
            <a:r>
              <a:rPr lang="en-GB" sz="2400" dirty="0"/>
              <a:t> An object uses another object through its public interface, without knowing its internal details. It's a loose coupling.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/>
              <a:t>Golden Rule:</a:t>
            </a:r>
            <a:r>
              <a:rPr lang="en-GB" sz="2400" dirty="0"/>
              <a:t> </a:t>
            </a:r>
            <a:r>
              <a:rPr lang="en-GB" sz="2400" b="1" dirty="0"/>
              <a:t>Favor Composition over Inheritance.</a:t>
            </a:r>
            <a:r>
              <a:rPr lang="en-GB" sz="2400" dirty="0"/>
              <a:t> It leads to more flexible, modular, and stable designs.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E04F6E-565A-09D8-E1D5-67E2276283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1088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08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33DAD-9715-0586-A7B6-A847D481B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5080815F-A44B-B063-4EB4-F8A56535897C}"/>
              </a:ext>
            </a:extLst>
          </p:cNvPr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Style Pillar 2: Extensibility</a:t>
            </a:r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41765A-3058-1449-A579-A734B6B07EEF}"/>
              </a:ext>
            </a:extLst>
          </p:cNvPr>
          <p:cNvSpPr txBox="1"/>
          <p:nvPr/>
        </p:nvSpPr>
        <p:spPr>
          <a:xfrm>
            <a:off x="1083212" y="1252025"/>
            <a:ext cx="1008653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/>
              <a:t>Definition:</a:t>
            </a:r>
            <a:r>
              <a:rPr lang="en-GB" sz="2400" dirty="0"/>
              <a:t> The ability to add new functionality without modifying existing, working code. This is </a:t>
            </a:r>
            <a:r>
              <a:rPr lang="en-GB" sz="2400" b="1" dirty="0"/>
              <a:t>The Open/Closed Principle</a:t>
            </a:r>
            <a:r>
              <a:rPr lang="en-GB" sz="24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b="1" dirty="0"/>
              <a:t>Open</a:t>
            </a:r>
            <a:r>
              <a:rPr lang="en-GB" sz="2400" dirty="0"/>
              <a:t> for extension.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b="1" dirty="0"/>
              <a:t>Closed</a:t>
            </a:r>
            <a:r>
              <a:rPr lang="en-GB" sz="2400" dirty="0"/>
              <a:t> for modification.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/>
              <a:t>Mechanism: Polymorphism</a:t>
            </a:r>
            <a:endParaRPr lang="en-GB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b="1" dirty="0"/>
              <a:t>Example:</a:t>
            </a:r>
            <a:r>
              <a:rPr lang="en-GB" sz="2400" dirty="0"/>
              <a:t> Create a system that works with an abstract Shape interface with a draw() method.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The original system can draw any Shape object.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Later, you can add new shapes (Triangle, Pentagon) that implement the Shape interface. The original system can draw them </a:t>
            </a:r>
            <a:r>
              <a:rPr lang="en-GB" sz="2400" b="1" dirty="0"/>
              <a:t>without a single line of code change</a:t>
            </a:r>
            <a:r>
              <a:rPr lang="en-GB" sz="2400" dirty="0"/>
              <a:t>. It is </a:t>
            </a:r>
            <a:r>
              <a:rPr lang="en-GB" sz="2400" i="1" dirty="0"/>
              <a:t>open</a:t>
            </a:r>
            <a:r>
              <a:rPr lang="en-GB" sz="2400" dirty="0"/>
              <a:t> to new shapes but </a:t>
            </a:r>
            <a:r>
              <a:rPr lang="en-GB" sz="2400" i="1" dirty="0"/>
              <a:t>closed</a:t>
            </a:r>
            <a:r>
              <a:rPr lang="en-GB" sz="2400" dirty="0"/>
              <a:t> to modification.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0BE545-5577-8334-4DFB-831F757481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1088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989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E2A12-E2AD-E76C-6947-D2ABD9AD6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DC02251-973D-B021-CA37-5A20FCF30CE6}"/>
              </a:ext>
            </a:extLst>
          </p:cNvPr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Style Pillar 3: Robustness</a:t>
            </a:r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0D6E58-6E0F-7FED-4FFB-DCABDBD44E33}"/>
              </a:ext>
            </a:extLst>
          </p:cNvPr>
          <p:cNvSpPr txBox="1"/>
          <p:nvPr/>
        </p:nvSpPr>
        <p:spPr>
          <a:xfrm>
            <a:off x="1695156" y="1653078"/>
            <a:ext cx="100865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/>
              <a:t>Definition:</a:t>
            </a:r>
            <a:r>
              <a:rPr lang="en-GB" sz="2400" dirty="0"/>
              <a:t> The ability of a system to cope with errors and abnormal situations.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/>
              <a:t>Mechanisms:</a:t>
            </a:r>
            <a:endParaRPr lang="en-GB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b="1" dirty="0"/>
              <a:t>Encapsulation:</a:t>
            </a:r>
            <a:r>
              <a:rPr lang="en-GB" sz="2400" dirty="0"/>
              <a:t> Protects an object’s internal state. Well-defined public methods act as gatekeepers, preventing invalid data from being set from the outside.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b="1" dirty="0"/>
              <a:t>Exception Handling:</a:t>
            </a:r>
            <a:r>
              <a:rPr lang="en-GB" sz="2400" dirty="0"/>
              <a:t> Provides a clean, structured way to separate error-handling code from the main program logic, improving readability and maintainability.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A815F6-2419-1EBD-0B19-5FEB5DA4CD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1088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534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E8A26-41D7-4F1F-B539-ADD7B8769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2EEA6920-1952-2F67-D4E5-280E89B27DE1}"/>
              </a:ext>
            </a:extLst>
          </p:cNvPr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Procedural vs. Object-Oriented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7081DE-AE1A-889C-07DB-91022CD2CF56}"/>
              </a:ext>
            </a:extLst>
          </p:cNvPr>
          <p:cNvSpPr txBox="1"/>
          <p:nvPr/>
        </p:nvSpPr>
        <p:spPr>
          <a:xfrm>
            <a:off x="1083212" y="1252025"/>
            <a:ext cx="1008653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/>
              <a:t>Procedural:</a:t>
            </a:r>
            <a:endParaRPr lang="en-GB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Data is passive. Functions are active and operate on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Global data is common, leading to high </a:t>
            </a:r>
            <a:r>
              <a:rPr lang="en-GB" sz="2400" b="1" dirty="0"/>
              <a:t>coupling</a:t>
            </a:r>
            <a:r>
              <a:rPr lang="en-GB" sz="2400" dirty="0"/>
              <a:t>. A change in a data structure can break many functions.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Focus is on a sequence of actions.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/>
              <a:t>Object-Oriented:</a:t>
            </a:r>
            <a:endParaRPr lang="en-GB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Data and the operations on that data are bundled into active objects.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Data is protected (encapsulated). This reduces </a:t>
            </a:r>
            <a:r>
              <a:rPr lang="en-GB" sz="2400" b="1" dirty="0"/>
              <a:t>coupling</a:t>
            </a:r>
            <a:r>
              <a:rPr lang="en-GB" sz="2400" dirty="0"/>
              <a:t> and makes the system easier to manage.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Focus is on interacting, self-contained objects.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5B7109-D707-0509-CE2A-891AA7B471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1088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072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03AD2-D319-EB22-CC5E-BB230A949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F05B297C-DC05-E972-F1E1-C9041D80AA6B}"/>
              </a:ext>
            </a:extLst>
          </p:cNvPr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/>
              <a:t>The Pillars of OOP: Abstraction</a:t>
            </a:r>
            <a:endParaRPr lang="en-GB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960432-F3CB-1CA3-FB28-22FD1154A406}"/>
              </a:ext>
            </a:extLst>
          </p:cNvPr>
          <p:cNvSpPr txBox="1"/>
          <p:nvPr/>
        </p:nvSpPr>
        <p:spPr>
          <a:xfrm>
            <a:off x="1083212" y="1252025"/>
            <a:ext cx="1008653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/>
              <a:t>Definition:</a:t>
            </a:r>
            <a:r>
              <a:rPr lang="en-GB" sz="2400" dirty="0"/>
              <a:t> Hiding complexity and exposing only the essential, high-level features. It's about simplifying the view of a complex entity.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/>
              <a:t>The Classic Analogy: A Car's Dashboard</a:t>
            </a:r>
            <a:endParaRPr lang="en-GB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It provides a simple interface (speedometer, fuel gauge, steering wheel) that abstracts away the immense complexity of the engine, transmission, and electrical systems. You don't need to know </a:t>
            </a:r>
            <a:r>
              <a:rPr lang="en-GB" sz="2400" i="1" dirty="0"/>
              <a:t>how</a:t>
            </a:r>
            <a:r>
              <a:rPr lang="en-GB" sz="2400" dirty="0"/>
              <a:t> the engine works to drive the car.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/>
              <a:t>In Code:</a:t>
            </a:r>
            <a:r>
              <a:rPr lang="en-GB" sz="2400" dirty="0"/>
              <a:t> Achieved with abstract classes and interfaces.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1121E3-1D36-F5DD-FABC-AC86BEC894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1088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781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2E3D6-FFDD-3A3B-55C7-821C4D737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090D3F5-1C89-B599-B4A1-5E0E34997E07}"/>
              </a:ext>
            </a:extLst>
          </p:cNvPr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/>
              <a:t>The Pillars of OOP: Encapsulation</a:t>
            </a:r>
            <a:endParaRPr lang="en-GB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2B5C26-182B-F61E-8C63-C8B33A3F9712}"/>
              </a:ext>
            </a:extLst>
          </p:cNvPr>
          <p:cNvSpPr txBox="1"/>
          <p:nvPr/>
        </p:nvSpPr>
        <p:spPr>
          <a:xfrm>
            <a:off x="1083212" y="1252025"/>
            <a:ext cx="1008653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Definition:</a:t>
            </a:r>
            <a:r>
              <a:rPr lang="en-GB" sz="2400" dirty="0"/>
              <a:t> The bundling of data (attributes) and methods (</a:t>
            </a:r>
            <a:r>
              <a:rPr lang="en-GB" sz="2400" dirty="0" err="1"/>
              <a:t>behavior</a:t>
            </a:r>
            <a:r>
              <a:rPr lang="en-GB" sz="2400" dirty="0"/>
              <a:t>) into a single unit (a class), and </a:t>
            </a:r>
            <a:r>
              <a:rPr lang="en-GB" sz="2400" b="1" dirty="0"/>
              <a:t>hiding</a:t>
            </a:r>
            <a:r>
              <a:rPr lang="en-GB" sz="2400" dirty="0"/>
              <a:t> the data from the outside world (</a:t>
            </a:r>
            <a:r>
              <a:rPr lang="en-GB" sz="2400" b="1" dirty="0"/>
              <a:t>Information Hiding</a:t>
            </a:r>
            <a:r>
              <a:rPr lang="en-GB" sz="2400" dirty="0"/>
              <a:t>).</a:t>
            </a:r>
          </a:p>
          <a:p>
            <a:r>
              <a:rPr lang="en-GB" sz="2400" b="1" dirty="0"/>
              <a:t>The Classic Analogy: A Medical Capsule</a:t>
            </a:r>
            <a:endParaRPr lang="en-GB" sz="2400" dirty="0"/>
          </a:p>
          <a:p>
            <a:pPr lvl="1"/>
            <a:r>
              <a:rPr lang="en-GB" sz="2400" dirty="0"/>
              <a:t>The medicine (the data) is protected by the shell. You can only interact with it via the intended public method (swallowing). You cannot access the raw powder directly.</a:t>
            </a:r>
          </a:p>
          <a:p>
            <a:r>
              <a:rPr lang="en-GB" sz="2400" b="1" dirty="0"/>
              <a:t>In Code:</a:t>
            </a:r>
            <a:r>
              <a:rPr lang="en-GB" sz="2400" dirty="0"/>
              <a:t> Achieved with private and protected access specifiers.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CE1869-60B2-3D43-2591-D210490C2E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1088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20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3AD51-4A44-6797-F8F5-88D5E9CD1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1A8B30F9-8594-9FB5-3A51-C6FE89DFCC90}"/>
              </a:ext>
            </a:extLst>
          </p:cNvPr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AD9F73-8BAA-0207-DCE9-367779EE708E}"/>
              </a:ext>
            </a:extLst>
          </p:cNvPr>
          <p:cNvSpPr txBox="1"/>
          <p:nvPr/>
        </p:nvSpPr>
        <p:spPr>
          <a:xfrm>
            <a:off x="1083212" y="125202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832292-98FC-0333-D394-83482DD043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1088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614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1" y="1744394"/>
            <a:ext cx="7920111" cy="372793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 OOSD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6C86D8-4233-CCD3-BBBA-A62BB5DA4A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1488" y="2371725"/>
            <a:ext cx="2162175" cy="211455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BBD0A98-E68B-4DAA-8964-2F739D6D4075}">
  <ds:schemaRefs>
    <ds:schemaRef ds:uri="0125a647-8023-46ae-ae6e-85cf36d841bd"/>
    <ds:schemaRef ds:uri="d43ee83c-3e71-4748-8ebc-8eaadf79342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8601</TotalTime>
  <Words>3391</Words>
  <Application>Microsoft Office PowerPoint</Application>
  <PresentationFormat>Widescreen</PresentationFormat>
  <Paragraphs>427</Paragraphs>
  <Slides>43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Arial</vt:lpstr>
      <vt:lpstr>Arial Unicode MS</vt:lpstr>
      <vt:lpstr>Calibri</vt:lpstr>
      <vt:lpstr>Calibri Light</vt:lpstr>
      <vt:lpstr>Cambria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Hemant Sharma</cp:lastModifiedBy>
  <cp:revision>23</cp:revision>
  <dcterms:created xsi:type="dcterms:W3CDTF">2020-02-08T09:57:44Z</dcterms:created>
  <dcterms:modified xsi:type="dcterms:W3CDTF">2025-09-23T09:32:43Z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