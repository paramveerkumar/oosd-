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4" r:id="rId2"/>
  </p:sldMasterIdLst>
  <p:notesMasterIdLst>
    <p:notesMasterId r:id="rId99"/>
  </p:notesMasterIdLst>
  <p:handoutMasterIdLst>
    <p:handoutMasterId r:id="rId100"/>
  </p:handoutMasterIdLst>
  <p:sldIdLst>
    <p:sldId id="351" r:id="rId3"/>
    <p:sldId id="257" r:id="rId4"/>
    <p:sldId id="352" r:id="rId5"/>
    <p:sldId id="356"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3" r:id="rId31"/>
    <p:sldId id="284" r:id="rId32"/>
    <p:sldId id="285" r:id="rId33"/>
    <p:sldId id="287" r:id="rId34"/>
    <p:sldId id="288" r:id="rId35"/>
    <p:sldId id="289" r:id="rId36"/>
    <p:sldId id="290" r:id="rId37"/>
    <p:sldId id="291" r:id="rId38"/>
    <p:sldId id="292"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5" r:id="rId95"/>
    <p:sldId id="353" r:id="rId96"/>
    <p:sldId id="354" r:id="rId97"/>
    <p:sldId id="350" r:id="rId98"/>
  </p:sldIdLst>
  <p:sldSz cx="9144000" cy="6858000" type="screen4x3"/>
  <p:notesSz cx="6858000" cy="9296400"/>
  <p:defaultTextStyle>
    <a:defPPr>
      <a:defRPr lang="en-US"/>
    </a:defPPr>
    <a:lvl1pPr marL="0" lvl="0"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521415D9-36F7-43E2-AB2F-B90AF26B5E84}">
      <p14:sectionLst xmlns:p14="http://schemas.microsoft.com/office/powerpoint/2010/main">
        <p14:section name="Default Section" id="{9B279D66-A627-4C9A-ACFD-2EFB661473AC}">
          <p14:sldIdLst/>
        </p14:section>
        <p14:section name="Untitled Section" id="{C26E3EFA-5116-40F0-9640-B7E98E5F64AB}">
          <p14:sldIdLst>
            <p14:sldId id="351"/>
            <p14:sldId id="257"/>
            <p14:sldId id="352"/>
            <p14:sldId id="356"/>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3"/>
            <p14:sldId id="284"/>
            <p14:sldId id="285"/>
            <p14:sldId id="287"/>
            <p14:sldId id="288"/>
            <p14:sldId id="289"/>
            <p14:sldId id="290"/>
            <p14:sldId id="291"/>
            <p14:sldId id="292"/>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5"/>
            <p14:sldId id="353"/>
            <p14:sldId id="354"/>
            <p14:sldId id="350"/>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FF"/>
    <a:srgbClr val="33CCFF"/>
    <a:srgbClr val="3399FF"/>
    <a:srgbClr val="CC00FF"/>
    <a:srgbClr val="FF0000"/>
    <a:srgbClr val="000099"/>
    <a:srgbClr val="00FF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355" autoAdjust="0"/>
    <p:restoredTop sz="99831"/>
  </p:normalViewPr>
  <p:slideViewPr>
    <p:cSldViewPr showGuides="1">
      <p:cViewPr varScale="1">
        <p:scale>
          <a:sx n="67" d="100"/>
          <a:sy n="67" d="100"/>
        </p:scale>
        <p:origin x="7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BFCE50-0563-43C9-9F3A-7E496FDB607B}" type="doc">
      <dgm:prSet loTypeId="urn:microsoft.com/office/officeart/2005/8/layout/vList5" loCatId="list" qsTypeId="urn:microsoft.com/office/officeart/2005/8/quickstyle/3d2" qsCatId="3D" csTypeId="urn:microsoft.com/office/officeart/2005/8/colors/accent0_3" csCatId="mainScheme" phldr="1"/>
      <dgm:spPr/>
      <dgm:t>
        <a:bodyPr/>
        <a:lstStyle/>
        <a:p>
          <a:endParaRPr lang="en-US"/>
        </a:p>
      </dgm:t>
    </dgm:pt>
    <dgm:pt modelId="{C38E58DA-36B5-40B1-89E0-A598A623F0B2}">
      <dgm:prSet phldrT="[Text]" custT="1"/>
      <dgm:spPr>
        <a:solidFill>
          <a:schemeClr val="accent2">
            <a:lumMod val="75000"/>
          </a:schemeClr>
        </a:solidFill>
      </dgm:spPr>
      <dgm:t>
        <a:bodyPr/>
        <a:lstStyle/>
        <a:p>
          <a:r>
            <a:rPr lang="en-US" sz="2000" b="1" dirty="0">
              <a:solidFill>
                <a:schemeClr val="bg1"/>
              </a:solidFill>
            </a:rPr>
            <a:t>UNIT 1</a:t>
          </a:r>
        </a:p>
      </dgm:t>
    </dgm:pt>
    <dgm:pt modelId="{A51579BB-9548-4DEA-B96B-B7010C315B9A}" type="parTrans" cxnId="{21666716-0A1F-4B30-B9DA-6E8F70AF6517}">
      <dgm:prSet/>
      <dgm:spPr/>
      <dgm:t>
        <a:bodyPr/>
        <a:lstStyle/>
        <a:p>
          <a:endParaRPr lang="en-US" sz="2800" b="1"/>
        </a:p>
      </dgm:t>
    </dgm:pt>
    <dgm:pt modelId="{47DC0F6A-61D0-43CC-96DF-046C659CF1B7}" type="sibTrans" cxnId="{21666716-0A1F-4B30-B9DA-6E8F70AF6517}">
      <dgm:prSet/>
      <dgm:spPr/>
      <dgm:t>
        <a:bodyPr/>
        <a:lstStyle/>
        <a:p>
          <a:endParaRPr lang="en-US" sz="2800" b="1"/>
        </a:p>
      </dgm:t>
    </dgm:pt>
    <dgm:pt modelId="{11083820-CB9D-4E23-86E3-F12F1F20AC65}">
      <dgm:prSet phldrT="[Text]" custT="1"/>
      <dgm:spPr>
        <a:solidFill>
          <a:schemeClr val="accent2">
            <a:lumMod val="75000"/>
          </a:schemeClr>
        </a:solidFill>
      </dgm:spPr>
      <dgm:t>
        <a:bodyPr/>
        <a:lstStyle/>
        <a:p>
          <a:pPr algn="l"/>
          <a:endParaRPr lang="en-US" sz="1600" b="1" dirty="0">
            <a:solidFill>
              <a:schemeClr val="bg1"/>
            </a:solidFill>
          </a:endParaRPr>
        </a:p>
      </dgm:t>
    </dgm:pt>
    <dgm:pt modelId="{53EB2486-BF3E-445E-97B7-9B7DE4FDB676}" type="parTrans" cxnId="{5786BFCB-E9AD-40E2-964D-BDB4F9469569}">
      <dgm:prSet/>
      <dgm:spPr/>
      <dgm:t>
        <a:bodyPr/>
        <a:lstStyle/>
        <a:p>
          <a:endParaRPr lang="en-US" b="1"/>
        </a:p>
      </dgm:t>
    </dgm:pt>
    <dgm:pt modelId="{3DDB7BFE-E726-4E57-9C50-2182B4054AE1}" type="sibTrans" cxnId="{5786BFCB-E9AD-40E2-964D-BDB4F9469569}">
      <dgm:prSet/>
      <dgm:spPr/>
      <dgm:t>
        <a:bodyPr/>
        <a:lstStyle/>
        <a:p>
          <a:endParaRPr lang="en-US" b="1"/>
        </a:p>
      </dgm:t>
    </dgm:pt>
    <dgm:pt modelId="{6CC642D5-2173-42E1-80D3-7993DFC1A702}">
      <dgm:prSet custT="1"/>
      <dgm:spPr/>
      <dgm:t>
        <a:bodyPr/>
        <a:lstStyle/>
        <a:p>
          <a:pPr algn="l">
            <a:buFont typeface="Wingdings" panose="05000000000000000000" pitchFamily="2" charset="2"/>
            <a:buChar char="Ø"/>
          </a:pPr>
          <a:r>
            <a:rPr lang="en-US" sz="1600" dirty="0"/>
            <a:t>The meaning of Object</a:t>
          </a:r>
          <a:endParaRPr lang="en-IN" sz="1600" dirty="0"/>
        </a:p>
      </dgm:t>
    </dgm:pt>
    <dgm:pt modelId="{0D112D8D-6DAE-4BA4-908E-8CCB7A5D601F}" type="parTrans" cxnId="{072325B6-EBF6-45D3-BD2B-0986AEC131FF}">
      <dgm:prSet/>
      <dgm:spPr/>
      <dgm:t>
        <a:bodyPr/>
        <a:lstStyle/>
        <a:p>
          <a:endParaRPr lang="en-IN"/>
        </a:p>
      </dgm:t>
    </dgm:pt>
    <dgm:pt modelId="{19771A66-0901-4E58-BC4A-4460EA5CF647}" type="sibTrans" cxnId="{072325B6-EBF6-45D3-BD2B-0986AEC131FF}">
      <dgm:prSet/>
      <dgm:spPr/>
      <dgm:t>
        <a:bodyPr/>
        <a:lstStyle/>
        <a:p>
          <a:endParaRPr lang="en-IN"/>
        </a:p>
      </dgm:t>
    </dgm:pt>
    <dgm:pt modelId="{0D904AEA-6C9C-4124-85A6-332A78DE9366}">
      <dgm:prSet custT="1"/>
      <dgm:spPr/>
      <dgm:t>
        <a:bodyPr/>
        <a:lstStyle/>
        <a:p>
          <a:pPr algn="l">
            <a:buFont typeface="Wingdings" panose="05000000000000000000" pitchFamily="2" charset="2"/>
            <a:buChar char="Ø"/>
          </a:pPr>
          <a:r>
            <a:rPr lang="en-US" sz="1600" dirty="0"/>
            <a:t>Orientation,</a:t>
          </a:r>
          <a:endParaRPr lang="en-IN" sz="1600" dirty="0"/>
        </a:p>
      </dgm:t>
    </dgm:pt>
    <dgm:pt modelId="{3ABD6E56-1D8A-44E3-AC44-1B3C6B06018F}" type="parTrans" cxnId="{DE05DADD-CAC1-420A-A0B9-CEA54B3D54FD}">
      <dgm:prSet/>
      <dgm:spPr/>
      <dgm:t>
        <a:bodyPr/>
        <a:lstStyle/>
        <a:p>
          <a:endParaRPr lang="en-IN"/>
        </a:p>
      </dgm:t>
    </dgm:pt>
    <dgm:pt modelId="{1CCFF721-0C30-408D-9E57-C4F09B5E6047}" type="sibTrans" cxnId="{DE05DADD-CAC1-420A-A0B9-CEA54B3D54FD}">
      <dgm:prSet/>
      <dgm:spPr/>
      <dgm:t>
        <a:bodyPr/>
        <a:lstStyle/>
        <a:p>
          <a:endParaRPr lang="en-IN"/>
        </a:p>
      </dgm:t>
    </dgm:pt>
    <dgm:pt modelId="{743B4EF3-E5ED-4823-880A-7E60B0211D05}">
      <dgm:prSet custT="1"/>
      <dgm:spPr/>
      <dgm:t>
        <a:bodyPr/>
        <a:lstStyle/>
        <a:p>
          <a:pPr algn="l">
            <a:buFont typeface="Wingdings" panose="05000000000000000000" pitchFamily="2" charset="2"/>
            <a:buChar char="Ø"/>
          </a:pPr>
          <a:r>
            <a:rPr lang="en-US" sz="1600" dirty="0"/>
            <a:t>object identity, Encapsulation</a:t>
          </a:r>
          <a:endParaRPr lang="en-IN" sz="1600" dirty="0"/>
        </a:p>
      </dgm:t>
    </dgm:pt>
    <dgm:pt modelId="{CB9D7686-759A-47E6-8AF2-FC5A1E9AF5E0}" type="parTrans" cxnId="{00E69C74-B7BB-4D92-A842-172357F5E649}">
      <dgm:prSet/>
      <dgm:spPr/>
      <dgm:t>
        <a:bodyPr/>
        <a:lstStyle/>
        <a:p>
          <a:endParaRPr lang="en-IN"/>
        </a:p>
      </dgm:t>
    </dgm:pt>
    <dgm:pt modelId="{ED404CA9-F313-4102-9691-4C3D6FBBCC4E}" type="sibTrans" cxnId="{00E69C74-B7BB-4D92-A842-172357F5E649}">
      <dgm:prSet/>
      <dgm:spPr/>
      <dgm:t>
        <a:bodyPr/>
        <a:lstStyle/>
        <a:p>
          <a:endParaRPr lang="en-IN"/>
        </a:p>
      </dgm:t>
    </dgm:pt>
    <dgm:pt modelId="{DE3743C4-6AE0-4078-9F05-A14BECAFF408}">
      <dgm:prSet custT="1"/>
      <dgm:spPr/>
      <dgm:t>
        <a:bodyPr/>
        <a:lstStyle/>
        <a:p>
          <a:pPr algn="l">
            <a:buFont typeface="Wingdings" panose="05000000000000000000" pitchFamily="2" charset="2"/>
            <a:buChar char="Ø"/>
          </a:pPr>
          <a:r>
            <a:rPr lang="en-US" sz="1600" dirty="0"/>
            <a:t>information hiding, polymorphism,</a:t>
          </a:r>
          <a:endParaRPr lang="en-IN" sz="1600" dirty="0"/>
        </a:p>
      </dgm:t>
    </dgm:pt>
    <dgm:pt modelId="{356C324A-1345-47EE-85B0-07E9728E6C50}" type="parTrans" cxnId="{653AA215-1CDF-49C4-8E3D-275A9BFFBB86}">
      <dgm:prSet/>
      <dgm:spPr/>
      <dgm:t>
        <a:bodyPr/>
        <a:lstStyle/>
        <a:p>
          <a:endParaRPr lang="en-IN"/>
        </a:p>
      </dgm:t>
    </dgm:pt>
    <dgm:pt modelId="{17F1D7EF-9BBC-49EC-AEBF-C28EBC0FB45A}" type="sibTrans" cxnId="{653AA215-1CDF-49C4-8E3D-275A9BFFBB86}">
      <dgm:prSet/>
      <dgm:spPr/>
      <dgm:t>
        <a:bodyPr/>
        <a:lstStyle/>
        <a:p>
          <a:endParaRPr lang="en-IN"/>
        </a:p>
      </dgm:t>
    </dgm:pt>
    <dgm:pt modelId="{B747593E-7D5E-4B38-BA97-0B63C1CDC159}">
      <dgm:prSet custT="1"/>
      <dgm:spPr/>
      <dgm:t>
        <a:bodyPr/>
        <a:lstStyle/>
        <a:p>
          <a:pPr algn="l">
            <a:buFont typeface="Wingdings" panose="05000000000000000000" pitchFamily="2" charset="2"/>
            <a:buChar char="Ø"/>
          </a:pPr>
          <a:r>
            <a:rPr lang="en-US" sz="1600" dirty="0"/>
            <a:t>generosity, importance of</a:t>
          </a:r>
          <a:endParaRPr lang="en-IN" sz="1600" dirty="0"/>
        </a:p>
      </dgm:t>
    </dgm:pt>
    <dgm:pt modelId="{3353EE6B-2F95-4A77-96DB-B205CD9040C9}" type="parTrans" cxnId="{DA726CB9-393D-4C66-BE0B-B252E91D14FD}">
      <dgm:prSet/>
      <dgm:spPr/>
      <dgm:t>
        <a:bodyPr/>
        <a:lstStyle/>
        <a:p>
          <a:endParaRPr lang="en-IN"/>
        </a:p>
      </dgm:t>
    </dgm:pt>
    <dgm:pt modelId="{3104DEEB-B6DF-4383-BDF7-031EBAE18F87}" type="sibTrans" cxnId="{DA726CB9-393D-4C66-BE0B-B252E91D14FD}">
      <dgm:prSet/>
      <dgm:spPr/>
      <dgm:t>
        <a:bodyPr/>
        <a:lstStyle/>
        <a:p>
          <a:endParaRPr lang="en-IN"/>
        </a:p>
      </dgm:t>
    </dgm:pt>
    <dgm:pt modelId="{49515EC0-8855-42F2-9E55-EE17B8A68E65}">
      <dgm:prSet custT="1"/>
      <dgm:spPr/>
      <dgm:t>
        <a:bodyPr/>
        <a:lstStyle/>
        <a:p>
          <a:pPr algn="l">
            <a:buFont typeface="Wingdings" panose="05000000000000000000" pitchFamily="2" charset="2"/>
            <a:buChar char="Ø"/>
          </a:pPr>
          <a:endParaRPr lang="en-IN" sz="1600" dirty="0"/>
        </a:p>
      </dgm:t>
    </dgm:pt>
    <dgm:pt modelId="{9C7B0C2A-E6DA-4305-98EC-2340E21EF11A}" type="parTrans" cxnId="{C0D4BE78-627A-49DD-A29E-04582010833D}">
      <dgm:prSet/>
      <dgm:spPr/>
      <dgm:t>
        <a:bodyPr/>
        <a:lstStyle/>
        <a:p>
          <a:endParaRPr lang="en-IN"/>
        </a:p>
      </dgm:t>
    </dgm:pt>
    <dgm:pt modelId="{4DAFD477-DF53-4A66-80D7-231FA52C2C53}" type="sibTrans" cxnId="{C0D4BE78-627A-49DD-A29E-04582010833D}">
      <dgm:prSet/>
      <dgm:spPr/>
      <dgm:t>
        <a:bodyPr/>
        <a:lstStyle/>
        <a:p>
          <a:endParaRPr lang="en-IN"/>
        </a:p>
      </dgm:t>
    </dgm:pt>
    <dgm:pt modelId="{8A79BE5F-D8FC-4E13-BEEF-2E50E27A1F2C}">
      <dgm:prSet custT="1"/>
      <dgm:spPr/>
      <dgm:t>
        <a:bodyPr/>
        <a:lstStyle/>
        <a:p>
          <a:pPr algn="l">
            <a:buFont typeface="Wingdings" panose="05000000000000000000" pitchFamily="2" charset="2"/>
            <a:buChar char="Ø"/>
          </a:pPr>
          <a:r>
            <a:rPr lang="en-US" sz="1600" dirty="0"/>
            <a:t>modelling,</a:t>
          </a:r>
          <a:endParaRPr lang="en-IN" sz="1600" dirty="0"/>
        </a:p>
      </dgm:t>
    </dgm:pt>
    <dgm:pt modelId="{E3AAA454-F11E-490E-A16E-30B614989ACC}" type="parTrans" cxnId="{EE87DB67-4739-41DC-9A34-54066B947209}">
      <dgm:prSet/>
      <dgm:spPr/>
      <dgm:t>
        <a:bodyPr/>
        <a:lstStyle/>
        <a:p>
          <a:endParaRPr lang="en-IN"/>
        </a:p>
      </dgm:t>
    </dgm:pt>
    <dgm:pt modelId="{93350B19-B04F-4BB7-B675-6FAFD2852738}" type="sibTrans" cxnId="{EE87DB67-4739-41DC-9A34-54066B947209}">
      <dgm:prSet/>
      <dgm:spPr/>
      <dgm:t>
        <a:bodyPr/>
        <a:lstStyle/>
        <a:p>
          <a:endParaRPr lang="en-IN"/>
        </a:p>
      </dgm:t>
    </dgm:pt>
    <dgm:pt modelId="{1496F598-8726-43EB-B3C6-2E66BFE34644}">
      <dgm:prSet custT="1"/>
      <dgm:spPr/>
      <dgm:t>
        <a:bodyPr/>
        <a:lstStyle/>
        <a:p>
          <a:pPr algn="l">
            <a:buFont typeface="Wingdings" panose="05000000000000000000" pitchFamily="2" charset="2"/>
            <a:buChar char="Ø"/>
          </a:pPr>
          <a:endParaRPr lang="en-IN" sz="1600" dirty="0"/>
        </a:p>
      </dgm:t>
    </dgm:pt>
    <dgm:pt modelId="{F54B1D64-0E60-45CC-9D58-FAC4DAFD167E}" type="parTrans" cxnId="{3C2D1CC6-91EC-4546-A56A-CB23A13A67C3}">
      <dgm:prSet/>
      <dgm:spPr/>
      <dgm:t>
        <a:bodyPr/>
        <a:lstStyle/>
        <a:p>
          <a:endParaRPr lang="en-IN"/>
        </a:p>
      </dgm:t>
    </dgm:pt>
    <dgm:pt modelId="{7012AAD1-BA97-40ED-BFE4-141AB0B21FA6}" type="sibTrans" cxnId="{3C2D1CC6-91EC-4546-A56A-CB23A13A67C3}">
      <dgm:prSet/>
      <dgm:spPr/>
      <dgm:t>
        <a:bodyPr/>
        <a:lstStyle/>
        <a:p>
          <a:endParaRPr lang="en-IN"/>
        </a:p>
      </dgm:t>
    </dgm:pt>
    <dgm:pt modelId="{A453EC3E-422E-4D2A-9218-328B5F8256DE}">
      <dgm:prSet custT="1"/>
      <dgm:spPr/>
      <dgm:t>
        <a:bodyPr/>
        <a:lstStyle/>
        <a:p>
          <a:pPr algn="l">
            <a:buFont typeface="Wingdings" panose="05000000000000000000" pitchFamily="2" charset="2"/>
            <a:buChar char="Ø"/>
          </a:pPr>
          <a:endParaRPr lang="en-IN" sz="1600"/>
        </a:p>
      </dgm:t>
    </dgm:pt>
    <dgm:pt modelId="{911BEDAA-6EA0-4DCA-816C-8B2EE555CB30}" type="parTrans" cxnId="{EA2F7718-5ECA-4B70-8607-1F3051F98746}">
      <dgm:prSet/>
      <dgm:spPr/>
      <dgm:t>
        <a:bodyPr/>
        <a:lstStyle/>
        <a:p>
          <a:endParaRPr lang="en-IN"/>
        </a:p>
      </dgm:t>
    </dgm:pt>
    <dgm:pt modelId="{AC1868CD-4791-4241-BC8F-B8A3F0EE1E2E}" type="sibTrans" cxnId="{EA2F7718-5ECA-4B70-8607-1F3051F98746}">
      <dgm:prSet/>
      <dgm:spPr/>
      <dgm:t>
        <a:bodyPr/>
        <a:lstStyle/>
        <a:p>
          <a:endParaRPr lang="en-IN"/>
        </a:p>
      </dgm:t>
    </dgm:pt>
    <dgm:pt modelId="{545DF714-9873-43F7-BDD6-33C2B531D44D}">
      <dgm:prSet custT="1"/>
      <dgm:spPr/>
      <dgm:t>
        <a:bodyPr/>
        <a:lstStyle/>
        <a:p>
          <a:pPr algn="l">
            <a:buFont typeface="Wingdings" panose="05000000000000000000" pitchFamily="2" charset="2"/>
            <a:buChar char="Ø"/>
          </a:pPr>
          <a:r>
            <a:rPr lang="en-US" sz="1600" dirty="0"/>
            <a:t>Introduction to UML,</a:t>
          </a:r>
          <a:endParaRPr lang="en-IN" sz="1600" dirty="0"/>
        </a:p>
      </dgm:t>
    </dgm:pt>
    <dgm:pt modelId="{09B1F669-0603-440B-AE52-93F394E374FA}" type="parTrans" cxnId="{137B67CE-3E68-442E-8AD9-0D307DBDD20E}">
      <dgm:prSet/>
      <dgm:spPr/>
      <dgm:t>
        <a:bodyPr/>
        <a:lstStyle/>
        <a:p>
          <a:endParaRPr lang="en-IN"/>
        </a:p>
      </dgm:t>
    </dgm:pt>
    <dgm:pt modelId="{07F5156D-5D6D-4C42-851D-B636D6147C12}" type="sibTrans" cxnId="{137B67CE-3E68-442E-8AD9-0D307DBDD20E}">
      <dgm:prSet/>
      <dgm:spPr/>
      <dgm:t>
        <a:bodyPr/>
        <a:lstStyle/>
        <a:p>
          <a:endParaRPr lang="en-IN"/>
        </a:p>
      </dgm:t>
    </dgm:pt>
    <dgm:pt modelId="{24494FB3-D1D9-4D0A-B3B5-3B2F527CB471}">
      <dgm:prSet custT="1"/>
      <dgm:spPr/>
      <dgm:t>
        <a:bodyPr/>
        <a:lstStyle/>
        <a:p>
          <a:pPr algn="l">
            <a:buFont typeface="Wingdings" panose="05000000000000000000" pitchFamily="2" charset="2"/>
            <a:buChar char="Ø"/>
          </a:pPr>
          <a:r>
            <a:rPr lang="en-US" sz="1600" dirty="0"/>
            <a:t>conceptual model of the UML, </a:t>
          </a:r>
          <a:endParaRPr lang="en-IN" sz="1600" dirty="0"/>
        </a:p>
      </dgm:t>
    </dgm:pt>
    <dgm:pt modelId="{82F2AF52-1E69-4AC6-B796-ED37A276690C}" type="parTrans" cxnId="{2BAF2AE2-4E41-4BF7-AF5B-78AD1C0260EB}">
      <dgm:prSet/>
      <dgm:spPr/>
      <dgm:t>
        <a:bodyPr/>
        <a:lstStyle/>
        <a:p>
          <a:endParaRPr lang="en-IN"/>
        </a:p>
      </dgm:t>
    </dgm:pt>
    <dgm:pt modelId="{71C348A1-918D-414C-B82C-39D4362EE3EE}" type="sibTrans" cxnId="{2BAF2AE2-4E41-4BF7-AF5B-78AD1C0260EB}">
      <dgm:prSet/>
      <dgm:spPr/>
      <dgm:t>
        <a:bodyPr/>
        <a:lstStyle/>
        <a:p>
          <a:endParaRPr lang="en-IN"/>
        </a:p>
      </dgm:t>
    </dgm:pt>
    <dgm:pt modelId="{C688F1ED-674B-419E-B55C-29CC8FC22ACE}">
      <dgm:prSet custT="1"/>
      <dgm:spPr/>
      <dgm:t>
        <a:bodyPr/>
        <a:lstStyle/>
        <a:p>
          <a:pPr algn="l">
            <a:buFont typeface="Wingdings" panose="05000000000000000000" pitchFamily="2" charset="2"/>
            <a:buChar char="Ø"/>
          </a:pPr>
          <a:r>
            <a:rPr lang="en-US" sz="1600" dirty="0"/>
            <a:t>Architecture</a:t>
          </a:r>
          <a:endParaRPr lang="en-IN" sz="1600" dirty="0"/>
        </a:p>
      </dgm:t>
    </dgm:pt>
    <dgm:pt modelId="{AD76DC60-4AA3-4D7F-84C7-C08C9A453F0A}" type="parTrans" cxnId="{4DFAC1EC-C949-4A9C-BF9E-592F767A5E11}">
      <dgm:prSet/>
      <dgm:spPr/>
      <dgm:t>
        <a:bodyPr/>
        <a:lstStyle/>
        <a:p>
          <a:endParaRPr lang="en-IN"/>
        </a:p>
      </dgm:t>
    </dgm:pt>
    <dgm:pt modelId="{99A581D1-C9B7-4054-BBCD-673A9EBB141B}" type="sibTrans" cxnId="{4DFAC1EC-C949-4A9C-BF9E-592F767A5E11}">
      <dgm:prSet/>
      <dgm:spPr/>
      <dgm:t>
        <a:bodyPr/>
        <a:lstStyle/>
        <a:p>
          <a:endParaRPr lang="en-IN"/>
        </a:p>
      </dgm:t>
    </dgm:pt>
    <dgm:pt modelId="{47BB4E9C-8D29-49E7-80F1-AF5E3B7ECA05}">
      <dgm:prSet custT="1"/>
      <dgm:spPr/>
      <dgm:t>
        <a:bodyPr/>
        <a:lstStyle/>
        <a:p>
          <a:pPr algn="l">
            <a:buFont typeface="Wingdings" panose="05000000000000000000" pitchFamily="2" charset="2"/>
            <a:buChar char="Ø"/>
          </a:pPr>
          <a:r>
            <a:rPr lang="en-US" sz="1600" dirty="0"/>
            <a:t>principles of modelling,</a:t>
          </a:r>
          <a:endParaRPr lang="en-IN" sz="1600" dirty="0"/>
        </a:p>
      </dgm:t>
    </dgm:pt>
    <dgm:pt modelId="{2BEA4E7E-392A-4DD6-BF3D-45072E2331B2}" type="sibTrans" cxnId="{29E693C7-9A4B-41E5-A1A7-BA657D10941D}">
      <dgm:prSet/>
      <dgm:spPr/>
      <dgm:t>
        <a:bodyPr/>
        <a:lstStyle/>
        <a:p>
          <a:endParaRPr lang="en-IN"/>
        </a:p>
      </dgm:t>
    </dgm:pt>
    <dgm:pt modelId="{725ECBBB-2D36-44C1-8748-50D401C8341F}" type="parTrans" cxnId="{29E693C7-9A4B-41E5-A1A7-BA657D10941D}">
      <dgm:prSet/>
      <dgm:spPr/>
      <dgm:t>
        <a:bodyPr/>
        <a:lstStyle/>
        <a:p>
          <a:endParaRPr lang="en-IN"/>
        </a:p>
      </dgm:t>
    </dgm:pt>
    <dgm:pt modelId="{FAB9AB6D-4B67-4953-9846-8587EF9E5E25}">
      <dgm:prSet custT="1"/>
      <dgm:spPr/>
      <dgm:t>
        <a:bodyPr/>
        <a:lstStyle/>
        <a:p>
          <a:pPr algn="l">
            <a:buFont typeface="Wingdings" panose="05000000000000000000" pitchFamily="2" charset="2"/>
            <a:buChar char="Ø"/>
          </a:pPr>
          <a:endParaRPr lang="en-IN" sz="1600" dirty="0"/>
        </a:p>
      </dgm:t>
    </dgm:pt>
    <dgm:pt modelId="{A610ECB6-E397-411C-A058-13F9A38BD040}" type="sibTrans" cxnId="{259FB181-6D3C-44BA-A150-8B4098CC0E79}">
      <dgm:prSet/>
      <dgm:spPr/>
      <dgm:t>
        <a:bodyPr/>
        <a:lstStyle/>
        <a:p>
          <a:endParaRPr lang="en-IN"/>
        </a:p>
      </dgm:t>
    </dgm:pt>
    <dgm:pt modelId="{B6287D38-FF07-4826-AD7C-FA3B90C676B2}" type="parTrans" cxnId="{259FB181-6D3C-44BA-A150-8B4098CC0E79}">
      <dgm:prSet/>
      <dgm:spPr/>
      <dgm:t>
        <a:bodyPr/>
        <a:lstStyle/>
        <a:p>
          <a:endParaRPr lang="en-IN"/>
        </a:p>
      </dgm:t>
    </dgm:pt>
    <dgm:pt modelId="{9471402E-1CC2-4D3E-86FA-040B0E3DB487}">
      <dgm:prSet custT="1"/>
      <dgm:spPr/>
      <dgm:t>
        <a:bodyPr/>
        <a:lstStyle/>
        <a:p>
          <a:pPr algn="l">
            <a:buFont typeface="Wingdings" panose="05000000000000000000" pitchFamily="2" charset="2"/>
            <a:buChar char="Ø"/>
          </a:pPr>
          <a:r>
            <a:rPr lang="en-US" sz="1600" dirty="0"/>
            <a:t>object oriented modelling,</a:t>
          </a:r>
          <a:endParaRPr lang="en-IN" sz="1600" dirty="0"/>
        </a:p>
      </dgm:t>
    </dgm:pt>
    <dgm:pt modelId="{2A1E9B64-5318-4640-A1AA-BA62A436F656}" type="sibTrans" cxnId="{B0039F1B-908A-4526-AAB9-1F0053F749EC}">
      <dgm:prSet/>
      <dgm:spPr/>
      <dgm:t>
        <a:bodyPr/>
        <a:lstStyle/>
        <a:p>
          <a:endParaRPr lang="en-IN"/>
        </a:p>
      </dgm:t>
    </dgm:pt>
    <dgm:pt modelId="{F1F4DBDB-CDD5-4B67-9E5B-A098F2994780}" type="parTrans" cxnId="{B0039F1B-908A-4526-AAB9-1F0053F749EC}">
      <dgm:prSet/>
      <dgm:spPr/>
      <dgm:t>
        <a:bodyPr/>
        <a:lstStyle/>
        <a:p>
          <a:endParaRPr lang="en-IN"/>
        </a:p>
      </dgm:t>
    </dgm:pt>
    <dgm:pt modelId="{23A6AEDA-0B9B-43B9-ACCC-B49A7DCF3477}" type="pres">
      <dgm:prSet presAssocID="{40BFCE50-0563-43C9-9F3A-7E496FDB607B}" presName="Name0" presStyleCnt="0">
        <dgm:presLayoutVars>
          <dgm:dir/>
          <dgm:animLvl val="lvl"/>
          <dgm:resizeHandles val="exact"/>
        </dgm:presLayoutVars>
      </dgm:prSet>
      <dgm:spPr/>
    </dgm:pt>
    <dgm:pt modelId="{F551B9D7-AF91-4691-80B0-D8B3FB0CBD05}" type="pres">
      <dgm:prSet presAssocID="{C38E58DA-36B5-40B1-89E0-A598A623F0B2}" presName="linNode" presStyleCnt="0"/>
      <dgm:spPr/>
    </dgm:pt>
    <dgm:pt modelId="{E5BE4D95-F4C8-4FDA-A09E-3E170050CA58}" type="pres">
      <dgm:prSet presAssocID="{C38E58DA-36B5-40B1-89E0-A598A623F0B2}" presName="parentText" presStyleLbl="node1" presStyleIdx="0" presStyleCnt="1" custScaleX="67729" custScaleY="106905">
        <dgm:presLayoutVars>
          <dgm:chMax val="1"/>
          <dgm:bulletEnabled val="1"/>
        </dgm:presLayoutVars>
      </dgm:prSet>
      <dgm:spPr/>
    </dgm:pt>
    <dgm:pt modelId="{1A86BCAE-7388-41CA-AC86-E894C5DFCE79}" type="pres">
      <dgm:prSet presAssocID="{C38E58DA-36B5-40B1-89E0-A598A623F0B2}" presName="descendantText" presStyleLbl="alignAccFollowNode1" presStyleIdx="0" presStyleCnt="1" custScaleX="185953" custScaleY="129570">
        <dgm:presLayoutVars>
          <dgm:bulletEnabled val="1"/>
        </dgm:presLayoutVars>
      </dgm:prSet>
      <dgm:spPr/>
    </dgm:pt>
  </dgm:ptLst>
  <dgm:cxnLst>
    <dgm:cxn modelId="{2959C20D-25EB-4EDB-BB14-B1D7DBF700C2}" type="presOf" srcId="{40BFCE50-0563-43C9-9F3A-7E496FDB607B}" destId="{23A6AEDA-0B9B-43B9-ACCC-B49A7DCF3477}" srcOrd="0" destOrd="0" presId="urn:microsoft.com/office/officeart/2005/8/layout/vList5"/>
    <dgm:cxn modelId="{653AA215-1CDF-49C4-8E3D-275A9BFFBB86}" srcId="{C38E58DA-36B5-40B1-89E0-A598A623F0B2}" destId="{DE3743C4-6AE0-4078-9F05-A14BECAFF408}" srcOrd="4" destOrd="0" parTransId="{356C324A-1345-47EE-85B0-07E9728E6C50}" sibTransId="{17F1D7EF-9BBC-49EC-AEBF-C28EBC0FB45A}"/>
    <dgm:cxn modelId="{21666716-0A1F-4B30-B9DA-6E8F70AF6517}" srcId="{40BFCE50-0563-43C9-9F3A-7E496FDB607B}" destId="{C38E58DA-36B5-40B1-89E0-A598A623F0B2}" srcOrd="0" destOrd="0" parTransId="{A51579BB-9548-4DEA-B96B-B7010C315B9A}" sibTransId="{47DC0F6A-61D0-43CC-96DF-046C659CF1B7}"/>
    <dgm:cxn modelId="{EA2F7718-5ECA-4B70-8607-1F3051F98746}" srcId="{C38E58DA-36B5-40B1-89E0-A598A623F0B2}" destId="{A453EC3E-422E-4D2A-9218-328B5F8256DE}" srcOrd="10" destOrd="0" parTransId="{911BEDAA-6EA0-4DCA-816C-8B2EE555CB30}" sibTransId="{AC1868CD-4791-4241-BC8F-B8A3F0EE1E2E}"/>
    <dgm:cxn modelId="{BF287319-BDAD-4A84-992A-22AE400ACC18}" type="presOf" srcId="{24494FB3-D1D9-4D0A-B3B5-3B2F527CB471}" destId="{1A86BCAE-7388-41CA-AC86-E894C5DFCE79}" srcOrd="0" destOrd="14" presId="urn:microsoft.com/office/officeart/2005/8/layout/vList5"/>
    <dgm:cxn modelId="{B0039F1B-908A-4526-AAB9-1F0053F749EC}" srcId="{FAB9AB6D-4B67-4953-9846-8587EF9E5E25}" destId="{9471402E-1CC2-4D3E-86FA-040B0E3DB487}" srcOrd="0" destOrd="0" parTransId="{F1F4DBDB-CDD5-4B67-9E5B-A098F2994780}" sibTransId="{2A1E9B64-5318-4640-A1AA-BA62A436F656}"/>
    <dgm:cxn modelId="{6948E43A-FA45-4D4F-8E3E-E6287698C336}" type="presOf" srcId="{49515EC0-8855-42F2-9E55-EE17B8A68E65}" destId="{1A86BCAE-7388-41CA-AC86-E894C5DFCE79}" srcOrd="0" destOrd="5" presId="urn:microsoft.com/office/officeart/2005/8/layout/vList5"/>
    <dgm:cxn modelId="{E6DD283C-FB10-49DF-85E9-8EBCC53A0446}" type="presOf" srcId="{9471402E-1CC2-4D3E-86FA-040B0E3DB487}" destId="{1A86BCAE-7388-41CA-AC86-E894C5DFCE79}" srcOrd="0" destOrd="11" presId="urn:microsoft.com/office/officeart/2005/8/layout/vList5"/>
    <dgm:cxn modelId="{8327FB3F-DA78-42E6-A9B9-FA9E1EA19D15}" type="presOf" srcId="{11083820-CB9D-4E23-86E3-F12F1F20AC65}" destId="{1A86BCAE-7388-41CA-AC86-E894C5DFCE79}" srcOrd="0" destOrd="0" presId="urn:microsoft.com/office/officeart/2005/8/layout/vList5"/>
    <dgm:cxn modelId="{6B338F5F-B64D-4B2C-860C-D1A06B76DE0F}" type="presOf" srcId="{C38E58DA-36B5-40B1-89E0-A598A623F0B2}" destId="{E5BE4D95-F4C8-4FDA-A09E-3E170050CA58}" srcOrd="0" destOrd="0" presId="urn:microsoft.com/office/officeart/2005/8/layout/vList5"/>
    <dgm:cxn modelId="{2EE53B41-1B31-4205-9925-AEB36AF0E6DF}" type="presOf" srcId="{0D904AEA-6C9C-4124-85A6-332A78DE9366}" destId="{1A86BCAE-7388-41CA-AC86-E894C5DFCE79}" srcOrd="0" destOrd="2" presId="urn:microsoft.com/office/officeart/2005/8/layout/vList5"/>
    <dgm:cxn modelId="{B50FBF67-CE13-4194-A605-BC10AA4E58EB}" type="presOf" srcId="{B747593E-7D5E-4B38-BA97-0B63C1CDC159}" destId="{1A86BCAE-7388-41CA-AC86-E894C5DFCE79}" srcOrd="0" destOrd="6" presId="urn:microsoft.com/office/officeart/2005/8/layout/vList5"/>
    <dgm:cxn modelId="{EE87DB67-4739-41DC-9A34-54066B947209}" srcId="{C38E58DA-36B5-40B1-89E0-A598A623F0B2}" destId="{8A79BE5F-D8FC-4E13-BEEF-2E50E27A1F2C}" srcOrd="7" destOrd="0" parTransId="{E3AAA454-F11E-490E-A16E-30B614989ACC}" sibTransId="{93350B19-B04F-4BB7-B675-6FAFD2852738}"/>
    <dgm:cxn modelId="{A33E3D49-282D-4740-A116-8F0FE5842AEB}" type="presOf" srcId="{6CC642D5-2173-42E1-80D3-7993DFC1A702}" destId="{1A86BCAE-7388-41CA-AC86-E894C5DFCE79}" srcOrd="0" destOrd="1" presId="urn:microsoft.com/office/officeart/2005/8/layout/vList5"/>
    <dgm:cxn modelId="{00E69C74-B7BB-4D92-A842-172357F5E649}" srcId="{C38E58DA-36B5-40B1-89E0-A598A623F0B2}" destId="{743B4EF3-E5ED-4823-880A-7E60B0211D05}" srcOrd="3" destOrd="0" parTransId="{CB9D7686-759A-47E6-8AF2-FC5A1E9AF5E0}" sibTransId="{ED404CA9-F313-4102-9691-4C3D6FBBCC4E}"/>
    <dgm:cxn modelId="{C0D4BE78-627A-49DD-A29E-04582010833D}" srcId="{C38E58DA-36B5-40B1-89E0-A598A623F0B2}" destId="{49515EC0-8855-42F2-9E55-EE17B8A68E65}" srcOrd="5" destOrd="0" parTransId="{9C7B0C2A-E6DA-4305-98EC-2340E21EF11A}" sibTransId="{4DAFD477-DF53-4A66-80D7-231FA52C2C53}"/>
    <dgm:cxn modelId="{259FB181-6D3C-44BA-A150-8B4098CC0E79}" srcId="{C38E58DA-36B5-40B1-89E0-A598A623F0B2}" destId="{FAB9AB6D-4B67-4953-9846-8587EF9E5E25}" srcOrd="9" destOrd="0" parTransId="{B6287D38-FF07-4826-AD7C-FA3B90C676B2}" sibTransId="{A610ECB6-E397-411C-A058-13F9A38BD040}"/>
    <dgm:cxn modelId="{1B8A6598-C3C9-4BA9-8FFF-67059E20688D}" type="presOf" srcId="{1496F598-8726-43EB-B3C6-2E66BFE34644}" destId="{1A86BCAE-7388-41CA-AC86-E894C5DFCE79}" srcOrd="0" destOrd="8" presId="urn:microsoft.com/office/officeart/2005/8/layout/vList5"/>
    <dgm:cxn modelId="{072325B6-EBF6-45D3-BD2B-0986AEC131FF}" srcId="{C38E58DA-36B5-40B1-89E0-A598A623F0B2}" destId="{6CC642D5-2173-42E1-80D3-7993DFC1A702}" srcOrd="1" destOrd="0" parTransId="{0D112D8D-6DAE-4BA4-908E-8CCB7A5D601F}" sibTransId="{19771A66-0901-4E58-BC4A-4460EA5CF647}"/>
    <dgm:cxn modelId="{DA726CB9-393D-4C66-BE0B-B252E91D14FD}" srcId="{C38E58DA-36B5-40B1-89E0-A598A623F0B2}" destId="{B747593E-7D5E-4B38-BA97-0B63C1CDC159}" srcOrd="6" destOrd="0" parTransId="{3353EE6B-2F95-4A77-96DB-B205CD9040C9}" sibTransId="{3104DEEB-B6DF-4383-BDF7-031EBAE18F87}"/>
    <dgm:cxn modelId="{12F254C3-952D-43AA-B167-073A8F703286}" type="presOf" srcId="{FAB9AB6D-4B67-4953-9846-8587EF9E5E25}" destId="{1A86BCAE-7388-41CA-AC86-E894C5DFCE79}" srcOrd="0" destOrd="10" presId="urn:microsoft.com/office/officeart/2005/8/layout/vList5"/>
    <dgm:cxn modelId="{BA63FEC4-CA72-4C5F-9E85-8A6519AFA85E}" type="presOf" srcId="{47BB4E9C-8D29-49E7-80F1-AF5E3B7ECA05}" destId="{1A86BCAE-7388-41CA-AC86-E894C5DFCE79}" srcOrd="0" destOrd="9" presId="urn:microsoft.com/office/officeart/2005/8/layout/vList5"/>
    <dgm:cxn modelId="{AC6BE1C5-4813-443F-8B21-81B427388236}" type="presOf" srcId="{C688F1ED-674B-419E-B55C-29CC8FC22ACE}" destId="{1A86BCAE-7388-41CA-AC86-E894C5DFCE79}" srcOrd="0" destOrd="15" presId="urn:microsoft.com/office/officeart/2005/8/layout/vList5"/>
    <dgm:cxn modelId="{3C2D1CC6-91EC-4546-A56A-CB23A13A67C3}" srcId="{C38E58DA-36B5-40B1-89E0-A598A623F0B2}" destId="{1496F598-8726-43EB-B3C6-2E66BFE34644}" srcOrd="8" destOrd="0" parTransId="{F54B1D64-0E60-45CC-9D58-FAC4DAFD167E}" sibTransId="{7012AAD1-BA97-40ED-BFE4-141AB0B21FA6}"/>
    <dgm:cxn modelId="{CDAC50C6-EE34-41E2-9BC8-40D3319856B3}" type="presOf" srcId="{743B4EF3-E5ED-4823-880A-7E60B0211D05}" destId="{1A86BCAE-7388-41CA-AC86-E894C5DFCE79}" srcOrd="0" destOrd="3" presId="urn:microsoft.com/office/officeart/2005/8/layout/vList5"/>
    <dgm:cxn modelId="{29E693C7-9A4B-41E5-A1A7-BA657D10941D}" srcId="{1496F598-8726-43EB-B3C6-2E66BFE34644}" destId="{47BB4E9C-8D29-49E7-80F1-AF5E3B7ECA05}" srcOrd="0" destOrd="0" parTransId="{725ECBBB-2D36-44C1-8748-50D401C8341F}" sibTransId="{2BEA4E7E-392A-4DD6-BF3D-45072E2331B2}"/>
    <dgm:cxn modelId="{5786BFCB-E9AD-40E2-964D-BDB4F9469569}" srcId="{C38E58DA-36B5-40B1-89E0-A598A623F0B2}" destId="{11083820-CB9D-4E23-86E3-F12F1F20AC65}" srcOrd="0" destOrd="0" parTransId="{53EB2486-BF3E-445E-97B7-9B7DE4FDB676}" sibTransId="{3DDB7BFE-E726-4E57-9C50-2182B4054AE1}"/>
    <dgm:cxn modelId="{137B67CE-3E68-442E-8AD9-0D307DBDD20E}" srcId="{C38E58DA-36B5-40B1-89E0-A598A623F0B2}" destId="{545DF714-9873-43F7-BDD6-33C2B531D44D}" srcOrd="11" destOrd="0" parTransId="{09B1F669-0603-440B-AE52-93F394E374FA}" sibTransId="{07F5156D-5D6D-4C42-851D-B636D6147C12}"/>
    <dgm:cxn modelId="{54110CD5-AC62-413E-9C1C-0852169B260A}" type="presOf" srcId="{8A79BE5F-D8FC-4E13-BEEF-2E50E27A1F2C}" destId="{1A86BCAE-7388-41CA-AC86-E894C5DFCE79}" srcOrd="0" destOrd="7" presId="urn:microsoft.com/office/officeart/2005/8/layout/vList5"/>
    <dgm:cxn modelId="{DE05DADD-CAC1-420A-A0B9-CEA54B3D54FD}" srcId="{C38E58DA-36B5-40B1-89E0-A598A623F0B2}" destId="{0D904AEA-6C9C-4124-85A6-332A78DE9366}" srcOrd="2" destOrd="0" parTransId="{3ABD6E56-1D8A-44E3-AC44-1B3C6B06018F}" sibTransId="{1CCFF721-0C30-408D-9E57-C4F09B5E6047}"/>
    <dgm:cxn modelId="{2BAF2AE2-4E41-4BF7-AF5B-78AD1C0260EB}" srcId="{545DF714-9873-43F7-BDD6-33C2B531D44D}" destId="{24494FB3-D1D9-4D0A-B3B5-3B2F527CB471}" srcOrd="0" destOrd="0" parTransId="{82F2AF52-1E69-4AC6-B796-ED37A276690C}" sibTransId="{71C348A1-918D-414C-B82C-39D4362EE3EE}"/>
    <dgm:cxn modelId="{4DFAC1EC-C949-4A9C-BF9E-592F767A5E11}" srcId="{545DF714-9873-43F7-BDD6-33C2B531D44D}" destId="{C688F1ED-674B-419E-B55C-29CC8FC22ACE}" srcOrd="1" destOrd="0" parTransId="{AD76DC60-4AA3-4D7F-84C7-C08C9A453F0A}" sibTransId="{99A581D1-C9B7-4054-BBCD-673A9EBB141B}"/>
    <dgm:cxn modelId="{612EF1ED-CED1-4280-9743-D5ABFAAD5AB0}" type="presOf" srcId="{545DF714-9873-43F7-BDD6-33C2B531D44D}" destId="{1A86BCAE-7388-41CA-AC86-E894C5DFCE79}" srcOrd="0" destOrd="13" presId="urn:microsoft.com/office/officeart/2005/8/layout/vList5"/>
    <dgm:cxn modelId="{1FFD0DEF-A7CA-4B2A-8F64-E451F794BECD}" type="presOf" srcId="{DE3743C4-6AE0-4078-9F05-A14BECAFF408}" destId="{1A86BCAE-7388-41CA-AC86-E894C5DFCE79}" srcOrd="0" destOrd="4" presId="urn:microsoft.com/office/officeart/2005/8/layout/vList5"/>
    <dgm:cxn modelId="{2F22C1FE-193C-4681-94ED-42F713E6C0E3}" type="presOf" srcId="{A453EC3E-422E-4D2A-9218-328B5F8256DE}" destId="{1A86BCAE-7388-41CA-AC86-E894C5DFCE79}" srcOrd="0" destOrd="12" presId="urn:microsoft.com/office/officeart/2005/8/layout/vList5"/>
    <dgm:cxn modelId="{C916EAB6-32CA-47A0-99A0-F300FDED2E2E}" type="presParOf" srcId="{23A6AEDA-0B9B-43B9-ACCC-B49A7DCF3477}" destId="{F551B9D7-AF91-4691-80B0-D8B3FB0CBD05}" srcOrd="0" destOrd="0" presId="urn:microsoft.com/office/officeart/2005/8/layout/vList5"/>
    <dgm:cxn modelId="{3FAC4AC5-08E4-423A-803E-2ABDEAA57572}" type="presParOf" srcId="{F551B9D7-AF91-4691-80B0-D8B3FB0CBD05}" destId="{E5BE4D95-F4C8-4FDA-A09E-3E170050CA58}" srcOrd="0" destOrd="0" presId="urn:microsoft.com/office/officeart/2005/8/layout/vList5"/>
    <dgm:cxn modelId="{9A765869-EE66-467D-B815-3BFF90245E18}" type="presParOf" srcId="{F551B9D7-AF91-4691-80B0-D8B3FB0CBD05}" destId="{1A86BCAE-7388-41CA-AC86-E894C5DFCE7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40BFCE50-0563-43C9-9F3A-7E496FDB607B}" type="doc">
      <dgm:prSet loTypeId="urn:microsoft.com/office/officeart/2005/8/layout/vList5" loCatId="list" qsTypeId="urn:microsoft.com/office/officeart/2005/8/quickstyle/3d2" qsCatId="3D" csTypeId="urn:microsoft.com/office/officeart/2005/8/colors/accent0_3" csCatId="mainScheme" phldr="1"/>
      <dgm:spPr/>
      <dgm:t>
        <a:bodyPr/>
        <a:lstStyle/>
        <a:p>
          <a:endParaRPr lang="en-US"/>
        </a:p>
      </dgm:t>
    </dgm:pt>
    <dgm:pt modelId="{C38E58DA-36B5-40B1-89E0-A598A623F0B2}">
      <dgm:prSet phldrT="[Text]" custT="1"/>
      <dgm:spPr>
        <a:solidFill>
          <a:srgbClr val="C00000"/>
        </a:solidFill>
      </dgm:spPr>
      <dgm:t>
        <a:bodyPr/>
        <a:lstStyle/>
        <a:p>
          <a:r>
            <a:rPr lang="en-US" sz="2000" b="1" dirty="0">
              <a:solidFill>
                <a:schemeClr val="bg1"/>
              </a:solidFill>
            </a:rPr>
            <a:t>Course Learning Outcomes</a:t>
          </a:r>
        </a:p>
      </dgm:t>
    </dgm:pt>
    <dgm:pt modelId="{A51579BB-9548-4DEA-B96B-B7010C315B9A}" type="parTrans" cxnId="{21666716-0A1F-4B30-B9DA-6E8F70AF6517}">
      <dgm:prSet/>
      <dgm:spPr/>
      <dgm:t>
        <a:bodyPr/>
        <a:lstStyle/>
        <a:p>
          <a:endParaRPr lang="en-US" sz="2800" b="1"/>
        </a:p>
      </dgm:t>
    </dgm:pt>
    <dgm:pt modelId="{47DC0F6A-61D0-43CC-96DF-046C659CF1B7}" type="sibTrans" cxnId="{21666716-0A1F-4B30-B9DA-6E8F70AF6517}">
      <dgm:prSet/>
      <dgm:spPr/>
      <dgm:t>
        <a:bodyPr/>
        <a:lstStyle/>
        <a:p>
          <a:endParaRPr lang="en-US" sz="2800" b="1"/>
        </a:p>
      </dgm:t>
    </dgm:pt>
    <dgm:pt modelId="{F616016B-96F1-4462-BB1B-D632CA8ADFE4}">
      <dgm:prSet custT="1"/>
      <dgm:spPr>
        <a:solidFill>
          <a:schemeClr val="accent4">
            <a:lumMod val="60000"/>
            <a:lumOff val="40000"/>
          </a:schemeClr>
        </a:solidFill>
      </dgm:spPr>
      <dgm:t>
        <a:bodyPr/>
        <a:lstStyle/>
        <a:p>
          <a:pPr>
            <a:buFontTx/>
            <a:buNone/>
          </a:pPr>
          <a:endParaRPr lang="en-US" sz="1600" b="1" dirty="0">
            <a:solidFill>
              <a:schemeClr val="bg1"/>
            </a:solidFill>
          </a:endParaRPr>
        </a:p>
      </dgm:t>
    </dgm:pt>
    <dgm:pt modelId="{BBD51A65-778A-4FA5-B7B9-9CAD45C722B9}" type="parTrans" cxnId="{250FAB43-6B56-4B9E-B2D3-9C5340316B0E}">
      <dgm:prSet/>
      <dgm:spPr/>
      <dgm:t>
        <a:bodyPr/>
        <a:lstStyle/>
        <a:p>
          <a:endParaRPr lang="en-US"/>
        </a:p>
      </dgm:t>
    </dgm:pt>
    <dgm:pt modelId="{3E353AF1-08A8-4683-91EF-6940451D203B}" type="sibTrans" cxnId="{250FAB43-6B56-4B9E-B2D3-9C5340316B0E}">
      <dgm:prSet/>
      <dgm:spPr/>
      <dgm:t>
        <a:bodyPr/>
        <a:lstStyle/>
        <a:p>
          <a:endParaRPr lang="en-US"/>
        </a:p>
      </dgm:t>
    </dgm:pt>
    <dgm:pt modelId="{B2D5D26B-FA66-4DB9-9B12-D95DC59C47DF}">
      <dgm:prSet custT="1"/>
      <dgm:spPr>
        <a:solidFill>
          <a:schemeClr val="accent4">
            <a:lumMod val="60000"/>
            <a:lumOff val="40000"/>
          </a:schemeClr>
        </a:solidFill>
      </dgm:spPr>
      <dgm:t>
        <a:bodyPr/>
        <a:lstStyle/>
        <a:p>
          <a:pPr>
            <a:buFontTx/>
            <a:buNone/>
          </a:pPr>
          <a:r>
            <a:rPr lang="en-GB" sz="2000" dirty="0">
              <a:solidFill>
                <a:schemeClr val="bg1"/>
              </a:solidFill>
            </a:rPr>
            <a:t>	</a:t>
          </a:r>
        </a:p>
      </dgm:t>
    </dgm:pt>
    <dgm:pt modelId="{548934B0-B0E1-4C52-BA4D-AF65A73D985D}" type="parTrans" cxnId="{E89758F5-273F-49E9-A509-566A370A25B7}">
      <dgm:prSet/>
      <dgm:spPr/>
      <dgm:t>
        <a:bodyPr/>
        <a:lstStyle/>
        <a:p>
          <a:endParaRPr lang="en-IN"/>
        </a:p>
      </dgm:t>
    </dgm:pt>
    <dgm:pt modelId="{0CF9120A-77E1-4C5B-A3F6-B53677CDF245}" type="sibTrans" cxnId="{E89758F5-273F-49E9-A509-566A370A25B7}">
      <dgm:prSet/>
      <dgm:spPr/>
      <dgm:t>
        <a:bodyPr/>
        <a:lstStyle/>
        <a:p>
          <a:endParaRPr lang="en-IN"/>
        </a:p>
      </dgm:t>
    </dgm:pt>
    <dgm:pt modelId="{CF2DFF9E-06D0-4861-B34F-B86BA34B482B}">
      <dgm:prSet custT="1"/>
      <dgm:spPr/>
      <dgm:t>
        <a:bodyPr/>
        <a:lstStyle/>
        <a:p>
          <a:pPr>
            <a:buNone/>
          </a:pPr>
          <a:r>
            <a:rPr lang="en-US" sz="2000" b="1" dirty="0"/>
            <a:t>Understand core object-oriented programming </a:t>
          </a:r>
          <a:r>
            <a:rPr lang="en-US" sz="1800" b="1" dirty="0"/>
            <a:t>(OOP) concepts</a:t>
          </a:r>
          <a:r>
            <a:rPr lang="en-US" sz="1800" dirty="0"/>
            <a:t> such as class, object, inheritance, polymorphism, encapsulation, and abstraction.</a:t>
          </a:r>
        </a:p>
      </dgm:t>
    </dgm:pt>
    <dgm:pt modelId="{73A746E1-87EB-4767-90DA-6C1B18975075}" type="parTrans" cxnId="{0D157CB8-5D7D-4C8A-87BD-10CFCEF193F0}">
      <dgm:prSet/>
      <dgm:spPr/>
      <dgm:t>
        <a:bodyPr/>
        <a:lstStyle/>
        <a:p>
          <a:endParaRPr lang="en-IN"/>
        </a:p>
      </dgm:t>
    </dgm:pt>
    <dgm:pt modelId="{BFBF0385-A63D-4EF6-B092-BEDCBD38064F}" type="sibTrans" cxnId="{0D157CB8-5D7D-4C8A-87BD-10CFCEF193F0}">
      <dgm:prSet/>
      <dgm:spPr/>
      <dgm:t>
        <a:bodyPr/>
        <a:lstStyle/>
        <a:p>
          <a:endParaRPr lang="en-IN"/>
        </a:p>
      </dgm:t>
    </dgm:pt>
    <dgm:pt modelId="{4C1B50AC-DF61-457D-AE48-126D14C5ACEE}">
      <dgm:prSet custT="1"/>
      <dgm:spPr/>
      <dgm:t>
        <a:bodyPr/>
        <a:lstStyle/>
        <a:p>
          <a:pPr>
            <a:buNone/>
          </a:pPr>
          <a:r>
            <a:rPr lang="en-US" sz="1800" b="1" dirty="0"/>
            <a:t>Analyze object-oriented design techniques</a:t>
          </a:r>
          <a:r>
            <a:rPr lang="en-US" sz="1800" dirty="0"/>
            <a:t> for solving real-world problems using modeling concepts.</a:t>
          </a:r>
        </a:p>
      </dgm:t>
    </dgm:pt>
    <dgm:pt modelId="{023D7FF3-7F30-41CB-B5F3-323D502632D5}" type="parTrans" cxnId="{F0A4E4BF-A5DD-4400-B957-D99C265C875C}">
      <dgm:prSet/>
      <dgm:spPr/>
      <dgm:t>
        <a:bodyPr/>
        <a:lstStyle/>
        <a:p>
          <a:endParaRPr lang="en-IN"/>
        </a:p>
      </dgm:t>
    </dgm:pt>
    <dgm:pt modelId="{1DD4EB17-F652-4677-BDE0-DABD93963BF8}" type="sibTrans" cxnId="{F0A4E4BF-A5DD-4400-B957-D99C265C875C}">
      <dgm:prSet/>
      <dgm:spPr/>
      <dgm:t>
        <a:bodyPr/>
        <a:lstStyle/>
        <a:p>
          <a:endParaRPr lang="en-IN"/>
        </a:p>
      </dgm:t>
    </dgm:pt>
    <dgm:pt modelId="{5B08DD32-0C0F-4402-8EDA-4B651F2DE8F9}">
      <dgm:prSet custT="1"/>
      <dgm:spPr/>
      <dgm:t>
        <a:bodyPr/>
        <a:lstStyle/>
        <a:p>
          <a:pPr>
            <a:buNone/>
          </a:pPr>
          <a:r>
            <a:rPr lang="en-US" sz="1800" b="1" dirty="0"/>
            <a:t>Design software systems using UML diagrams</a:t>
          </a:r>
          <a:r>
            <a:rPr lang="en-US" sz="1800" dirty="0"/>
            <a:t> like class, sequence, and use-case diagrams.</a:t>
          </a:r>
        </a:p>
      </dgm:t>
    </dgm:pt>
    <dgm:pt modelId="{51B607E0-F52E-4DC8-8ED9-822671E4C1F1}" type="parTrans" cxnId="{81CB8273-6A9A-4656-9CCE-459F6D95042F}">
      <dgm:prSet/>
      <dgm:spPr/>
      <dgm:t>
        <a:bodyPr/>
        <a:lstStyle/>
        <a:p>
          <a:endParaRPr lang="en-IN"/>
        </a:p>
      </dgm:t>
    </dgm:pt>
    <dgm:pt modelId="{76219832-6031-4390-B7F9-906A5B8A82DA}" type="sibTrans" cxnId="{81CB8273-6A9A-4656-9CCE-459F6D95042F}">
      <dgm:prSet/>
      <dgm:spPr/>
      <dgm:t>
        <a:bodyPr/>
        <a:lstStyle/>
        <a:p>
          <a:endParaRPr lang="en-IN"/>
        </a:p>
      </dgm:t>
    </dgm:pt>
    <dgm:pt modelId="{85C90A09-B393-49E0-8BBC-7F60EF338E10}">
      <dgm:prSet custT="1"/>
      <dgm:spPr/>
      <dgm:t>
        <a:bodyPr/>
        <a:lstStyle/>
        <a:p>
          <a:pPr>
            <a:buNone/>
          </a:pPr>
          <a:r>
            <a:rPr lang="en-US" sz="1800" b="1" dirty="0"/>
            <a:t>Apply object-oriented modeling principles</a:t>
          </a:r>
          <a:r>
            <a:rPr lang="en-US" sz="1800" dirty="0"/>
            <a:t> to represent the structure and behavior of software systems.</a:t>
          </a:r>
        </a:p>
      </dgm:t>
    </dgm:pt>
    <dgm:pt modelId="{18D25E34-BE0F-48B7-9762-2A891F4A5220}" type="parTrans" cxnId="{96C7CF0F-F3A9-409D-ACE6-CE20BE3E703C}">
      <dgm:prSet/>
      <dgm:spPr/>
      <dgm:t>
        <a:bodyPr/>
        <a:lstStyle/>
        <a:p>
          <a:endParaRPr lang="en-IN"/>
        </a:p>
      </dgm:t>
    </dgm:pt>
    <dgm:pt modelId="{48986046-DCD1-404B-9CCB-FACA4176461D}" type="sibTrans" cxnId="{96C7CF0F-F3A9-409D-ACE6-CE20BE3E703C}">
      <dgm:prSet/>
      <dgm:spPr/>
      <dgm:t>
        <a:bodyPr/>
        <a:lstStyle/>
        <a:p>
          <a:endParaRPr lang="en-IN"/>
        </a:p>
      </dgm:t>
    </dgm:pt>
    <dgm:pt modelId="{BCF42782-5797-401A-AABB-00197A560894}">
      <dgm:prSet custT="1"/>
      <dgm:spPr/>
      <dgm:t>
        <a:bodyPr/>
        <a:lstStyle/>
        <a:p>
          <a:pPr>
            <a:buNone/>
          </a:pPr>
          <a:r>
            <a:rPr lang="en-US" sz="1800" b="1" dirty="0"/>
            <a:t>Identify appropriate design patterns</a:t>
          </a:r>
          <a:r>
            <a:rPr lang="en-US" sz="1800" dirty="0"/>
            <a:t> and principles for effective software architecture.</a:t>
          </a:r>
        </a:p>
      </dgm:t>
    </dgm:pt>
    <dgm:pt modelId="{191F6DC3-CE45-4505-98A8-B293FF5D125F}" type="parTrans" cxnId="{60D6A596-6BD2-4438-8BB7-DC074439DA74}">
      <dgm:prSet/>
      <dgm:spPr/>
      <dgm:t>
        <a:bodyPr/>
        <a:lstStyle/>
        <a:p>
          <a:endParaRPr lang="en-IN"/>
        </a:p>
      </dgm:t>
    </dgm:pt>
    <dgm:pt modelId="{EDD9EA26-155E-41D4-B3D2-8EDEFC87EA33}" type="sibTrans" cxnId="{60D6A596-6BD2-4438-8BB7-DC074439DA74}">
      <dgm:prSet/>
      <dgm:spPr/>
      <dgm:t>
        <a:bodyPr/>
        <a:lstStyle/>
        <a:p>
          <a:endParaRPr lang="en-IN"/>
        </a:p>
      </dgm:t>
    </dgm:pt>
    <dgm:pt modelId="{9E01E110-32FF-4B8E-B161-0A06344BD9C3}">
      <dgm:prSet custT="1"/>
      <dgm:spPr/>
      <dgm:t>
        <a:bodyPr/>
        <a:lstStyle/>
        <a:p>
          <a:pPr>
            <a:buFont typeface="+mj-lt"/>
            <a:buAutoNum type="arabicPeriod"/>
          </a:pPr>
          <a:r>
            <a:rPr lang="en-US" sz="1800" b="1" dirty="0"/>
            <a:t>Develop well-structured software solutions</a:t>
          </a:r>
          <a:r>
            <a:rPr lang="en-US" sz="1800" dirty="0"/>
            <a:t> using object-oriented analysis and design (OOAD) practices in C++.</a:t>
          </a:r>
        </a:p>
      </dgm:t>
    </dgm:pt>
    <dgm:pt modelId="{7AEFAA62-9308-4178-A17C-7F48AE0AFE3C}" type="parTrans" cxnId="{E541A10C-148E-4EA4-A8E5-4DD97EDF3EBF}">
      <dgm:prSet/>
      <dgm:spPr/>
      <dgm:t>
        <a:bodyPr/>
        <a:lstStyle/>
        <a:p>
          <a:endParaRPr lang="en-IN"/>
        </a:p>
      </dgm:t>
    </dgm:pt>
    <dgm:pt modelId="{D56A591A-3A0B-48FC-9391-046D3BC9BBE8}" type="sibTrans" cxnId="{E541A10C-148E-4EA4-A8E5-4DD97EDF3EBF}">
      <dgm:prSet/>
      <dgm:spPr/>
      <dgm:t>
        <a:bodyPr/>
        <a:lstStyle/>
        <a:p>
          <a:endParaRPr lang="en-IN"/>
        </a:p>
      </dgm:t>
    </dgm:pt>
    <dgm:pt modelId="{23A6AEDA-0B9B-43B9-ACCC-B49A7DCF3477}" type="pres">
      <dgm:prSet presAssocID="{40BFCE50-0563-43C9-9F3A-7E496FDB607B}" presName="Name0" presStyleCnt="0">
        <dgm:presLayoutVars>
          <dgm:dir/>
          <dgm:animLvl val="lvl"/>
          <dgm:resizeHandles val="exact"/>
        </dgm:presLayoutVars>
      </dgm:prSet>
      <dgm:spPr/>
    </dgm:pt>
    <dgm:pt modelId="{F551B9D7-AF91-4691-80B0-D8B3FB0CBD05}" type="pres">
      <dgm:prSet presAssocID="{C38E58DA-36B5-40B1-89E0-A598A623F0B2}" presName="linNode" presStyleCnt="0"/>
      <dgm:spPr/>
    </dgm:pt>
    <dgm:pt modelId="{E5BE4D95-F4C8-4FDA-A09E-3E170050CA58}" type="pres">
      <dgm:prSet presAssocID="{C38E58DA-36B5-40B1-89E0-A598A623F0B2}" presName="parentText" presStyleLbl="node1" presStyleIdx="0" presStyleCnt="1" custScaleX="71967" custScaleY="106905" custLinFactNeighborX="-2555" custLinFactNeighborY="-4131">
        <dgm:presLayoutVars>
          <dgm:chMax val="1"/>
          <dgm:bulletEnabled val="1"/>
        </dgm:presLayoutVars>
      </dgm:prSet>
      <dgm:spPr/>
    </dgm:pt>
    <dgm:pt modelId="{1A86BCAE-7388-41CA-AC86-E894C5DFCE79}" type="pres">
      <dgm:prSet presAssocID="{C38E58DA-36B5-40B1-89E0-A598A623F0B2}" presName="descendantText" presStyleLbl="alignAccFollowNode1" presStyleIdx="0" presStyleCnt="1" custScaleX="233934" custScaleY="117320" custLinFactNeighborX="-7806" custLinFactNeighborY="-4481">
        <dgm:presLayoutVars>
          <dgm:bulletEnabled val="1"/>
        </dgm:presLayoutVars>
      </dgm:prSet>
      <dgm:spPr/>
    </dgm:pt>
  </dgm:ptLst>
  <dgm:cxnLst>
    <dgm:cxn modelId="{E541A10C-148E-4EA4-A8E5-4DD97EDF3EBF}" srcId="{C38E58DA-36B5-40B1-89E0-A598A623F0B2}" destId="{9E01E110-32FF-4B8E-B161-0A06344BD9C3}" srcOrd="6" destOrd="0" parTransId="{7AEFAA62-9308-4178-A17C-7F48AE0AFE3C}" sibTransId="{D56A591A-3A0B-48FC-9391-046D3BC9BBE8}"/>
    <dgm:cxn modelId="{2959C20D-25EB-4EDB-BB14-B1D7DBF700C2}" type="presOf" srcId="{40BFCE50-0563-43C9-9F3A-7E496FDB607B}" destId="{23A6AEDA-0B9B-43B9-ACCC-B49A7DCF3477}" srcOrd="0" destOrd="0" presId="urn:microsoft.com/office/officeart/2005/8/layout/vList5"/>
    <dgm:cxn modelId="{96C7CF0F-F3A9-409D-ACE6-CE20BE3E703C}" srcId="{C38E58DA-36B5-40B1-89E0-A598A623F0B2}" destId="{85C90A09-B393-49E0-8BBC-7F60EF338E10}" srcOrd="4" destOrd="0" parTransId="{18D25E34-BE0F-48B7-9762-2A891F4A5220}" sibTransId="{48986046-DCD1-404B-9CCB-FACA4176461D}"/>
    <dgm:cxn modelId="{21666716-0A1F-4B30-B9DA-6E8F70AF6517}" srcId="{40BFCE50-0563-43C9-9F3A-7E496FDB607B}" destId="{C38E58DA-36B5-40B1-89E0-A598A623F0B2}" srcOrd="0" destOrd="0" parTransId="{A51579BB-9548-4DEA-B96B-B7010C315B9A}" sibTransId="{47DC0F6A-61D0-43CC-96DF-046C659CF1B7}"/>
    <dgm:cxn modelId="{10BC7B22-2D00-4818-BAD6-AA79F2AA4E63}" type="presOf" srcId="{85C90A09-B393-49E0-8BBC-7F60EF338E10}" destId="{1A86BCAE-7388-41CA-AC86-E894C5DFCE79}" srcOrd="0" destOrd="4" presId="urn:microsoft.com/office/officeart/2005/8/layout/vList5"/>
    <dgm:cxn modelId="{9BD97E27-0732-466C-BA05-8B08409054F9}" type="presOf" srcId="{9E01E110-32FF-4B8E-B161-0A06344BD9C3}" destId="{1A86BCAE-7388-41CA-AC86-E894C5DFCE79}" srcOrd="0" destOrd="6" presId="urn:microsoft.com/office/officeart/2005/8/layout/vList5"/>
    <dgm:cxn modelId="{7299E238-399B-4CF3-9251-C14B32C55B00}" type="presOf" srcId="{5B08DD32-0C0F-4402-8EDA-4B651F2DE8F9}" destId="{1A86BCAE-7388-41CA-AC86-E894C5DFCE79}" srcOrd="0" destOrd="3" presId="urn:microsoft.com/office/officeart/2005/8/layout/vList5"/>
    <dgm:cxn modelId="{6B338F5F-B64D-4B2C-860C-D1A06B76DE0F}" type="presOf" srcId="{C38E58DA-36B5-40B1-89E0-A598A623F0B2}" destId="{E5BE4D95-F4C8-4FDA-A09E-3E170050CA58}" srcOrd="0" destOrd="0" presId="urn:microsoft.com/office/officeart/2005/8/layout/vList5"/>
    <dgm:cxn modelId="{250FAB43-6B56-4B9E-B2D3-9C5340316B0E}" srcId="{C38E58DA-36B5-40B1-89E0-A598A623F0B2}" destId="{F616016B-96F1-4462-BB1B-D632CA8ADFE4}" srcOrd="0" destOrd="0" parTransId="{BBD51A65-778A-4FA5-B7B9-9CAD45C722B9}" sibTransId="{3E353AF1-08A8-4683-91EF-6940451D203B}"/>
    <dgm:cxn modelId="{E430EC48-B60E-454F-A4A5-35F96DD78E3B}" type="presOf" srcId="{4C1B50AC-DF61-457D-AE48-126D14C5ACEE}" destId="{1A86BCAE-7388-41CA-AC86-E894C5DFCE79}" srcOrd="0" destOrd="2" presId="urn:microsoft.com/office/officeart/2005/8/layout/vList5"/>
    <dgm:cxn modelId="{81CB8273-6A9A-4656-9CCE-459F6D95042F}" srcId="{C38E58DA-36B5-40B1-89E0-A598A623F0B2}" destId="{5B08DD32-0C0F-4402-8EDA-4B651F2DE8F9}" srcOrd="3" destOrd="0" parTransId="{51B607E0-F52E-4DC8-8ED9-822671E4C1F1}" sibTransId="{76219832-6031-4390-B7F9-906A5B8A82DA}"/>
    <dgm:cxn modelId="{1E918456-5881-4CB5-AEFC-5D3C280A8D5E}" type="presOf" srcId="{F616016B-96F1-4462-BB1B-D632CA8ADFE4}" destId="{1A86BCAE-7388-41CA-AC86-E894C5DFCE79}" srcOrd="0" destOrd="0" presId="urn:microsoft.com/office/officeart/2005/8/layout/vList5"/>
    <dgm:cxn modelId="{60D6A596-6BD2-4438-8BB7-DC074439DA74}" srcId="{C38E58DA-36B5-40B1-89E0-A598A623F0B2}" destId="{BCF42782-5797-401A-AABB-00197A560894}" srcOrd="5" destOrd="0" parTransId="{191F6DC3-CE45-4505-98A8-B293FF5D125F}" sibTransId="{EDD9EA26-155E-41D4-B3D2-8EDEFC87EA33}"/>
    <dgm:cxn modelId="{AD1FA997-0AFD-4BE0-A7BC-6D0C424A41BA}" type="presOf" srcId="{BCF42782-5797-401A-AABB-00197A560894}" destId="{1A86BCAE-7388-41CA-AC86-E894C5DFCE79}" srcOrd="0" destOrd="5" presId="urn:microsoft.com/office/officeart/2005/8/layout/vList5"/>
    <dgm:cxn modelId="{0D157CB8-5D7D-4C8A-87BD-10CFCEF193F0}" srcId="{C38E58DA-36B5-40B1-89E0-A598A623F0B2}" destId="{CF2DFF9E-06D0-4861-B34F-B86BA34B482B}" srcOrd="1" destOrd="0" parTransId="{73A746E1-87EB-4767-90DA-6C1B18975075}" sibTransId="{BFBF0385-A63D-4EF6-B092-BEDCBD38064F}"/>
    <dgm:cxn modelId="{F0A4E4BF-A5DD-4400-B957-D99C265C875C}" srcId="{C38E58DA-36B5-40B1-89E0-A598A623F0B2}" destId="{4C1B50AC-DF61-457D-AE48-126D14C5ACEE}" srcOrd="2" destOrd="0" parTransId="{023D7FF3-7F30-41CB-B5F3-323D502632D5}" sibTransId="{1DD4EB17-F652-4677-BDE0-DABD93963BF8}"/>
    <dgm:cxn modelId="{6E9557D4-26A7-4E7D-902F-52CD9A2AA2F4}" type="presOf" srcId="{B2D5D26B-FA66-4DB9-9B12-D95DC59C47DF}" destId="{1A86BCAE-7388-41CA-AC86-E894C5DFCE79}" srcOrd="0" destOrd="7" presId="urn:microsoft.com/office/officeart/2005/8/layout/vList5"/>
    <dgm:cxn modelId="{C9DC55F3-6D41-4EBE-8292-D963B5EDC654}" type="presOf" srcId="{CF2DFF9E-06D0-4861-B34F-B86BA34B482B}" destId="{1A86BCAE-7388-41CA-AC86-E894C5DFCE79}" srcOrd="0" destOrd="1" presId="urn:microsoft.com/office/officeart/2005/8/layout/vList5"/>
    <dgm:cxn modelId="{E89758F5-273F-49E9-A509-566A370A25B7}" srcId="{C38E58DA-36B5-40B1-89E0-A598A623F0B2}" destId="{B2D5D26B-FA66-4DB9-9B12-D95DC59C47DF}" srcOrd="7" destOrd="0" parTransId="{548934B0-B0E1-4C52-BA4D-AF65A73D985D}" sibTransId="{0CF9120A-77E1-4C5B-A3F6-B53677CDF245}"/>
    <dgm:cxn modelId="{C916EAB6-32CA-47A0-99A0-F300FDED2E2E}" type="presParOf" srcId="{23A6AEDA-0B9B-43B9-ACCC-B49A7DCF3477}" destId="{F551B9D7-AF91-4691-80B0-D8B3FB0CBD05}" srcOrd="0" destOrd="0" presId="urn:microsoft.com/office/officeart/2005/8/layout/vList5"/>
    <dgm:cxn modelId="{3FAC4AC5-08E4-423A-803E-2ABDEAA57572}" type="presParOf" srcId="{F551B9D7-AF91-4691-80B0-D8B3FB0CBD05}" destId="{E5BE4D95-F4C8-4FDA-A09E-3E170050CA58}" srcOrd="0" destOrd="0" presId="urn:microsoft.com/office/officeart/2005/8/layout/vList5"/>
    <dgm:cxn modelId="{095CD878-CF5C-43B4-B41F-C92419D140BE}" type="presParOf" srcId="{F551B9D7-AF91-4691-80B0-D8B3FB0CBD05}" destId="{1A86BCAE-7388-41CA-AC86-E894C5DFCE7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6BCAE-7388-41CA-AC86-E894C5DFCE79}">
      <dsp:nvSpPr>
        <dsp:cNvPr id="0" name=""/>
        <dsp:cNvSpPr/>
      </dsp:nvSpPr>
      <dsp:spPr>
        <a:xfrm rot="5400000">
          <a:off x="2655382" y="-1075361"/>
          <a:ext cx="5002184" cy="7314330"/>
        </a:xfrm>
        <a:prstGeom prst="round2SameRect">
          <a:avLst/>
        </a:prstGeom>
        <a:solidFill>
          <a:schemeClr val="accent2">
            <a:lumMod val="7500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endParaRPr lang="en-US" sz="1600" b="1" kern="1200" dirty="0">
            <a:solidFill>
              <a:schemeClr val="bg1"/>
            </a:solidFill>
          </a:endParaRPr>
        </a:p>
        <a:p>
          <a:pPr marL="171450" lvl="1" indent="-171450" algn="l" defTabSz="711200">
            <a:lnSpc>
              <a:spcPct val="90000"/>
            </a:lnSpc>
            <a:spcBef>
              <a:spcPct val="0"/>
            </a:spcBef>
            <a:spcAft>
              <a:spcPct val="15000"/>
            </a:spcAft>
            <a:buFont typeface="Wingdings" panose="05000000000000000000" pitchFamily="2" charset="2"/>
            <a:buChar char="Ø"/>
          </a:pPr>
          <a:r>
            <a:rPr lang="en-US" sz="1600" kern="1200" dirty="0"/>
            <a:t>The meaning of Object</a:t>
          </a:r>
          <a:endParaRPr lang="en-IN" sz="1600" kern="1200" dirty="0"/>
        </a:p>
        <a:p>
          <a:pPr marL="171450" lvl="1" indent="-171450" algn="l" defTabSz="711200">
            <a:lnSpc>
              <a:spcPct val="90000"/>
            </a:lnSpc>
            <a:spcBef>
              <a:spcPct val="0"/>
            </a:spcBef>
            <a:spcAft>
              <a:spcPct val="15000"/>
            </a:spcAft>
            <a:buFont typeface="Wingdings" panose="05000000000000000000" pitchFamily="2" charset="2"/>
            <a:buChar char="Ø"/>
          </a:pPr>
          <a:r>
            <a:rPr lang="en-US" sz="1600" kern="1200" dirty="0"/>
            <a:t>Orientation,</a:t>
          </a:r>
          <a:endParaRPr lang="en-IN" sz="1600" kern="1200" dirty="0"/>
        </a:p>
        <a:p>
          <a:pPr marL="171450" lvl="1" indent="-171450" algn="l" defTabSz="711200">
            <a:lnSpc>
              <a:spcPct val="90000"/>
            </a:lnSpc>
            <a:spcBef>
              <a:spcPct val="0"/>
            </a:spcBef>
            <a:spcAft>
              <a:spcPct val="15000"/>
            </a:spcAft>
            <a:buFont typeface="Wingdings" panose="05000000000000000000" pitchFamily="2" charset="2"/>
            <a:buChar char="Ø"/>
          </a:pPr>
          <a:r>
            <a:rPr lang="en-US" sz="1600" kern="1200" dirty="0"/>
            <a:t>object identity, Encapsulation</a:t>
          </a:r>
          <a:endParaRPr lang="en-IN" sz="1600" kern="1200" dirty="0"/>
        </a:p>
        <a:p>
          <a:pPr marL="171450" lvl="1" indent="-171450" algn="l" defTabSz="711200">
            <a:lnSpc>
              <a:spcPct val="90000"/>
            </a:lnSpc>
            <a:spcBef>
              <a:spcPct val="0"/>
            </a:spcBef>
            <a:spcAft>
              <a:spcPct val="15000"/>
            </a:spcAft>
            <a:buFont typeface="Wingdings" panose="05000000000000000000" pitchFamily="2" charset="2"/>
            <a:buChar char="Ø"/>
          </a:pPr>
          <a:r>
            <a:rPr lang="en-US" sz="1600" kern="1200" dirty="0"/>
            <a:t>information hiding, polymorphism,</a:t>
          </a:r>
          <a:endParaRPr lang="en-IN" sz="1600" kern="1200" dirty="0"/>
        </a:p>
        <a:p>
          <a:pPr marL="171450" lvl="1" indent="-171450" algn="l" defTabSz="711200">
            <a:lnSpc>
              <a:spcPct val="90000"/>
            </a:lnSpc>
            <a:spcBef>
              <a:spcPct val="0"/>
            </a:spcBef>
            <a:spcAft>
              <a:spcPct val="15000"/>
            </a:spcAft>
            <a:buFont typeface="Wingdings" panose="05000000000000000000" pitchFamily="2" charset="2"/>
            <a:buChar char="Ø"/>
          </a:pPr>
          <a:endParaRPr lang="en-IN" sz="1600" kern="1200" dirty="0"/>
        </a:p>
        <a:p>
          <a:pPr marL="171450" lvl="1" indent="-171450" algn="l" defTabSz="711200">
            <a:lnSpc>
              <a:spcPct val="90000"/>
            </a:lnSpc>
            <a:spcBef>
              <a:spcPct val="0"/>
            </a:spcBef>
            <a:spcAft>
              <a:spcPct val="15000"/>
            </a:spcAft>
            <a:buFont typeface="Wingdings" panose="05000000000000000000" pitchFamily="2" charset="2"/>
            <a:buChar char="Ø"/>
          </a:pPr>
          <a:r>
            <a:rPr lang="en-US" sz="1600" kern="1200" dirty="0"/>
            <a:t>generosity, importance of</a:t>
          </a:r>
          <a:endParaRPr lang="en-IN" sz="1600" kern="1200" dirty="0"/>
        </a:p>
        <a:p>
          <a:pPr marL="171450" lvl="1" indent="-171450" algn="l" defTabSz="711200">
            <a:lnSpc>
              <a:spcPct val="90000"/>
            </a:lnSpc>
            <a:spcBef>
              <a:spcPct val="0"/>
            </a:spcBef>
            <a:spcAft>
              <a:spcPct val="15000"/>
            </a:spcAft>
            <a:buFont typeface="Wingdings" panose="05000000000000000000" pitchFamily="2" charset="2"/>
            <a:buChar char="Ø"/>
          </a:pPr>
          <a:r>
            <a:rPr lang="en-US" sz="1600" kern="1200" dirty="0"/>
            <a:t>modelling,</a:t>
          </a:r>
          <a:endParaRPr lang="en-IN" sz="1600" kern="1200" dirty="0"/>
        </a:p>
        <a:p>
          <a:pPr marL="171450" lvl="1" indent="-171450" algn="l" defTabSz="711200">
            <a:lnSpc>
              <a:spcPct val="90000"/>
            </a:lnSpc>
            <a:spcBef>
              <a:spcPct val="0"/>
            </a:spcBef>
            <a:spcAft>
              <a:spcPct val="15000"/>
            </a:spcAft>
            <a:buFont typeface="Wingdings" panose="05000000000000000000" pitchFamily="2" charset="2"/>
            <a:buChar char="Ø"/>
          </a:pPr>
          <a:endParaRPr lang="en-IN" sz="1600" kern="1200" dirty="0"/>
        </a:p>
        <a:p>
          <a:pPr marL="342900" lvl="2" indent="-171450" algn="l" defTabSz="711200">
            <a:lnSpc>
              <a:spcPct val="90000"/>
            </a:lnSpc>
            <a:spcBef>
              <a:spcPct val="0"/>
            </a:spcBef>
            <a:spcAft>
              <a:spcPct val="15000"/>
            </a:spcAft>
            <a:buFont typeface="Wingdings" panose="05000000000000000000" pitchFamily="2" charset="2"/>
            <a:buChar char="Ø"/>
          </a:pPr>
          <a:r>
            <a:rPr lang="en-US" sz="1600" kern="1200" dirty="0"/>
            <a:t>principles of modelling,</a:t>
          </a:r>
          <a:endParaRPr lang="en-IN" sz="1600" kern="1200" dirty="0"/>
        </a:p>
        <a:p>
          <a:pPr marL="171450" lvl="1" indent="-171450" algn="l" defTabSz="711200">
            <a:lnSpc>
              <a:spcPct val="90000"/>
            </a:lnSpc>
            <a:spcBef>
              <a:spcPct val="0"/>
            </a:spcBef>
            <a:spcAft>
              <a:spcPct val="15000"/>
            </a:spcAft>
            <a:buFont typeface="Wingdings" panose="05000000000000000000" pitchFamily="2" charset="2"/>
            <a:buChar char="Ø"/>
          </a:pPr>
          <a:endParaRPr lang="en-IN" sz="1600" kern="1200" dirty="0"/>
        </a:p>
        <a:p>
          <a:pPr marL="342900" lvl="2" indent="-171450" algn="l" defTabSz="711200">
            <a:lnSpc>
              <a:spcPct val="90000"/>
            </a:lnSpc>
            <a:spcBef>
              <a:spcPct val="0"/>
            </a:spcBef>
            <a:spcAft>
              <a:spcPct val="15000"/>
            </a:spcAft>
            <a:buFont typeface="Wingdings" panose="05000000000000000000" pitchFamily="2" charset="2"/>
            <a:buChar char="Ø"/>
          </a:pPr>
          <a:r>
            <a:rPr lang="en-US" sz="1600" kern="1200" dirty="0"/>
            <a:t>object oriented modelling,</a:t>
          </a:r>
          <a:endParaRPr lang="en-IN" sz="1600" kern="1200" dirty="0"/>
        </a:p>
        <a:p>
          <a:pPr marL="171450" lvl="1" indent="-171450" algn="l" defTabSz="711200">
            <a:lnSpc>
              <a:spcPct val="90000"/>
            </a:lnSpc>
            <a:spcBef>
              <a:spcPct val="0"/>
            </a:spcBef>
            <a:spcAft>
              <a:spcPct val="15000"/>
            </a:spcAft>
            <a:buFont typeface="Wingdings" panose="05000000000000000000" pitchFamily="2" charset="2"/>
            <a:buChar char="Ø"/>
          </a:pPr>
          <a:endParaRPr lang="en-IN" sz="1600" kern="1200"/>
        </a:p>
        <a:p>
          <a:pPr marL="171450" lvl="1" indent="-171450" algn="l" defTabSz="711200">
            <a:lnSpc>
              <a:spcPct val="90000"/>
            </a:lnSpc>
            <a:spcBef>
              <a:spcPct val="0"/>
            </a:spcBef>
            <a:spcAft>
              <a:spcPct val="15000"/>
            </a:spcAft>
            <a:buFont typeface="Wingdings" panose="05000000000000000000" pitchFamily="2" charset="2"/>
            <a:buChar char="Ø"/>
          </a:pPr>
          <a:r>
            <a:rPr lang="en-US" sz="1600" kern="1200" dirty="0"/>
            <a:t>Introduction to UML,</a:t>
          </a:r>
          <a:endParaRPr lang="en-IN" sz="1600" kern="1200" dirty="0"/>
        </a:p>
        <a:p>
          <a:pPr marL="342900" lvl="2" indent="-171450" algn="l" defTabSz="711200">
            <a:lnSpc>
              <a:spcPct val="90000"/>
            </a:lnSpc>
            <a:spcBef>
              <a:spcPct val="0"/>
            </a:spcBef>
            <a:spcAft>
              <a:spcPct val="15000"/>
            </a:spcAft>
            <a:buFont typeface="Wingdings" panose="05000000000000000000" pitchFamily="2" charset="2"/>
            <a:buChar char="Ø"/>
          </a:pPr>
          <a:r>
            <a:rPr lang="en-US" sz="1600" kern="1200" dirty="0"/>
            <a:t>conceptual model of the UML, </a:t>
          </a:r>
          <a:endParaRPr lang="en-IN" sz="1600" kern="1200" dirty="0"/>
        </a:p>
        <a:p>
          <a:pPr marL="342900" lvl="2" indent="-171450" algn="l" defTabSz="711200">
            <a:lnSpc>
              <a:spcPct val="90000"/>
            </a:lnSpc>
            <a:spcBef>
              <a:spcPct val="0"/>
            </a:spcBef>
            <a:spcAft>
              <a:spcPct val="15000"/>
            </a:spcAft>
            <a:buFont typeface="Wingdings" panose="05000000000000000000" pitchFamily="2" charset="2"/>
            <a:buChar char="Ø"/>
          </a:pPr>
          <a:r>
            <a:rPr lang="en-US" sz="1600" kern="1200" dirty="0"/>
            <a:t>Architecture</a:t>
          </a:r>
          <a:endParaRPr lang="en-IN" sz="1600" kern="1200" dirty="0"/>
        </a:p>
      </dsp:txBody>
      <dsp:txXfrm rot="-5400000">
        <a:off x="1499309" y="324898"/>
        <a:ext cx="7070144" cy="4513812"/>
      </dsp:txXfrm>
    </dsp:sp>
    <dsp:sp modelId="{E5BE4D95-F4C8-4FDA-A09E-3E170050CA58}">
      <dsp:nvSpPr>
        <dsp:cNvPr id="0" name=""/>
        <dsp:cNvSpPr/>
      </dsp:nvSpPr>
      <dsp:spPr>
        <a:xfrm>
          <a:off x="768" y="2317"/>
          <a:ext cx="1498540" cy="5158973"/>
        </a:xfrm>
        <a:prstGeom prst="roundRect">
          <a:avLst/>
        </a:prstGeom>
        <a:solidFill>
          <a:schemeClr val="accent2">
            <a:lumMod val="75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solidFill>
            </a:rPr>
            <a:t>UNIT 1</a:t>
          </a:r>
        </a:p>
      </dsp:txBody>
      <dsp:txXfrm>
        <a:off x="73921" y="75470"/>
        <a:ext cx="1352234" cy="50126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6BCAE-7388-41CA-AC86-E894C5DFCE79}">
      <dsp:nvSpPr>
        <dsp:cNvPr id="0" name=""/>
        <dsp:cNvSpPr/>
      </dsp:nvSpPr>
      <dsp:spPr>
        <a:xfrm rot="5400000">
          <a:off x="2490440" y="-1331411"/>
          <a:ext cx="3816777" cy="6722599"/>
        </a:xfrm>
        <a:prstGeom prst="round2SameRect">
          <a:avLst/>
        </a:prstGeom>
        <a:solidFill>
          <a:schemeClr val="accent4">
            <a:lumMod val="60000"/>
            <a:lumOff val="4000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FontTx/>
            <a:buNone/>
          </a:pPr>
          <a:endParaRPr lang="en-US" sz="1600" b="1" kern="1200" dirty="0">
            <a:solidFill>
              <a:schemeClr val="bg1"/>
            </a:solidFill>
          </a:endParaRPr>
        </a:p>
        <a:p>
          <a:pPr marL="228600" lvl="1" indent="-228600" algn="l" defTabSz="889000">
            <a:lnSpc>
              <a:spcPct val="90000"/>
            </a:lnSpc>
            <a:spcBef>
              <a:spcPct val="0"/>
            </a:spcBef>
            <a:spcAft>
              <a:spcPct val="15000"/>
            </a:spcAft>
            <a:buNone/>
          </a:pPr>
          <a:r>
            <a:rPr lang="en-US" sz="2000" b="1" kern="1200" dirty="0"/>
            <a:t>Understand core object-oriented programming </a:t>
          </a:r>
          <a:r>
            <a:rPr lang="en-US" sz="1800" b="1" kern="1200" dirty="0"/>
            <a:t>(OOP) concepts</a:t>
          </a:r>
          <a:r>
            <a:rPr lang="en-US" sz="1800" kern="1200" dirty="0"/>
            <a:t> such as class, object, inheritance, polymorphism, encapsulation, and abstraction.</a:t>
          </a:r>
        </a:p>
        <a:p>
          <a:pPr marL="171450" lvl="1" indent="-171450" algn="l" defTabSz="800100">
            <a:lnSpc>
              <a:spcPct val="90000"/>
            </a:lnSpc>
            <a:spcBef>
              <a:spcPct val="0"/>
            </a:spcBef>
            <a:spcAft>
              <a:spcPct val="15000"/>
            </a:spcAft>
            <a:buNone/>
          </a:pPr>
          <a:r>
            <a:rPr lang="en-US" sz="1800" b="1" kern="1200" dirty="0"/>
            <a:t>Analyze object-oriented design techniques</a:t>
          </a:r>
          <a:r>
            <a:rPr lang="en-US" sz="1800" kern="1200" dirty="0"/>
            <a:t> for solving real-world problems using modeling concepts.</a:t>
          </a:r>
        </a:p>
        <a:p>
          <a:pPr marL="171450" lvl="1" indent="-171450" algn="l" defTabSz="800100">
            <a:lnSpc>
              <a:spcPct val="90000"/>
            </a:lnSpc>
            <a:spcBef>
              <a:spcPct val="0"/>
            </a:spcBef>
            <a:spcAft>
              <a:spcPct val="15000"/>
            </a:spcAft>
            <a:buNone/>
          </a:pPr>
          <a:r>
            <a:rPr lang="en-US" sz="1800" b="1" kern="1200" dirty="0"/>
            <a:t>Design software systems using UML diagrams</a:t>
          </a:r>
          <a:r>
            <a:rPr lang="en-US" sz="1800" kern="1200" dirty="0"/>
            <a:t> like class, sequence, and use-case diagrams.</a:t>
          </a:r>
        </a:p>
        <a:p>
          <a:pPr marL="171450" lvl="1" indent="-171450" algn="l" defTabSz="800100">
            <a:lnSpc>
              <a:spcPct val="90000"/>
            </a:lnSpc>
            <a:spcBef>
              <a:spcPct val="0"/>
            </a:spcBef>
            <a:spcAft>
              <a:spcPct val="15000"/>
            </a:spcAft>
            <a:buNone/>
          </a:pPr>
          <a:r>
            <a:rPr lang="en-US" sz="1800" b="1" kern="1200" dirty="0"/>
            <a:t>Apply object-oriented modeling principles</a:t>
          </a:r>
          <a:r>
            <a:rPr lang="en-US" sz="1800" kern="1200" dirty="0"/>
            <a:t> to represent the structure and behavior of software systems.</a:t>
          </a:r>
        </a:p>
        <a:p>
          <a:pPr marL="171450" lvl="1" indent="-171450" algn="l" defTabSz="800100">
            <a:lnSpc>
              <a:spcPct val="90000"/>
            </a:lnSpc>
            <a:spcBef>
              <a:spcPct val="0"/>
            </a:spcBef>
            <a:spcAft>
              <a:spcPct val="15000"/>
            </a:spcAft>
            <a:buNone/>
          </a:pPr>
          <a:r>
            <a:rPr lang="en-US" sz="1800" b="1" kern="1200" dirty="0"/>
            <a:t>Identify appropriate design patterns</a:t>
          </a:r>
          <a:r>
            <a:rPr lang="en-US" sz="1800" kern="1200" dirty="0"/>
            <a:t> and principles for effective software architecture.</a:t>
          </a:r>
        </a:p>
        <a:p>
          <a:pPr marL="171450" lvl="1" indent="-171450" algn="l" defTabSz="800100">
            <a:lnSpc>
              <a:spcPct val="90000"/>
            </a:lnSpc>
            <a:spcBef>
              <a:spcPct val="0"/>
            </a:spcBef>
            <a:spcAft>
              <a:spcPct val="15000"/>
            </a:spcAft>
            <a:buFont typeface="+mj-lt"/>
            <a:buAutoNum type="arabicPeriod"/>
          </a:pPr>
          <a:r>
            <a:rPr lang="en-US" sz="1800" b="1" kern="1200" dirty="0"/>
            <a:t>Develop well-structured software solutions</a:t>
          </a:r>
          <a:r>
            <a:rPr lang="en-US" sz="1800" kern="1200" dirty="0"/>
            <a:t> using object-oriented analysis and design (OOAD) practices in C++.</a:t>
          </a:r>
        </a:p>
        <a:p>
          <a:pPr marL="228600" lvl="1" indent="-228600" algn="l" defTabSz="889000">
            <a:lnSpc>
              <a:spcPct val="90000"/>
            </a:lnSpc>
            <a:spcBef>
              <a:spcPct val="0"/>
            </a:spcBef>
            <a:spcAft>
              <a:spcPct val="15000"/>
            </a:spcAft>
            <a:buFontTx/>
            <a:buNone/>
          </a:pPr>
          <a:r>
            <a:rPr lang="en-GB" sz="2000" kern="1200" dirty="0">
              <a:solidFill>
                <a:schemeClr val="bg1"/>
              </a:solidFill>
            </a:rPr>
            <a:t>	</a:t>
          </a:r>
        </a:p>
      </dsp:txBody>
      <dsp:txXfrm rot="-5400000">
        <a:off x="1037529" y="307820"/>
        <a:ext cx="6536279" cy="3444137"/>
      </dsp:txXfrm>
    </dsp:sp>
    <dsp:sp modelId="{E5BE4D95-F4C8-4FDA-A09E-3E170050CA58}">
      <dsp:nvSpPr>
        <dsp:cNvPr id="0" name=""/>
        <dsp:cNvSpPr/>
      </dsp:nvSpPr>
      <dsp:spPr>
        <a:xfrm>
          <a:off x="0" y="0"/>
          <a:ext cx="1163321" cy="4347432"/>
        </a:xfrm>
        <a:prstGeom prst="roundRect">
          <a:avLst/>
        </a:prstGeom>
        <a:solidFill>
          <a:srgbClr val="C00000"/>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solidFill>
            </a:rPr>
            <a:t>Course Learning Outcomes</a:t>
          </a:r>
        </a:p>
      </dsp:txBody>
      <dsp:txXfrm>
        <a:off x="56789" y="56789"/>
        <a:ext cx="1049743" cy="423385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Header Placeholder 209921"/>
          <p:cNvSpPr>
            <a:spLocks noGrp="1"/>
          </p:cNvSpPr>
          <p:nvPr>
            <p:ph type="hdr" sz="quarter"/>
          </p:nvPr>
        </p:nvSpPr>
        <p:spPr>
          <a:xfrm>
            <a:off x="0" y="0"/>
            <a:ext cx="2971800" cy="465138"/>
          </a:xfrm>
          <a:prstGeom prst="rect">
            <a:avLst/>
          </a:prstGeom>
          <a:noFill/>
          <a:ln w="9525">
            <a:noFill/>
          </a:ln>
        </p:spPr>
        <p:txBody>
          <a:bodyPr/>
          <a:lstStyle/>
          <a:p>
            <a:pPr lvl="0"/>
            <a:endParaRPr lang="en-US" sz="1200"/>
          </a:p>
        </p:txBody>
      </p:sp>
      <p:sp>
        <p:nvSpPr>
          <p:cNvPr id="209923" name="Date Placeholder 209922"/>
          <p:cNvSpPr>
            <a:spLocks noGrp="1"/>
          </p:cNvSpPr>
          <p:nvPr>
            <p:ph type="dt" sz="quarter" idx="1"/>
          </p:nvPr>
        </p:nvSpPr>
        <p:spPr>
          <a:xfrm>
            <a:off x="3884613" y="0"/>
            <a:ext cx="2971800" cy="465138"/>
          </a:xfrm>
          <a:prstGeom prst="rect">
            <a:avLst/>
          </a:prstGeom>
          <a:noFill/>
          <a:ln w="9525">
            <a:noFill/>
          </a:ln>
        </p:spPr>
        <p:txBody>
          <a:bodyPr/>
          <a:lstStyle/>
          <a:p>
            <a:pPr lvl="0" algn="r"/>
            <a:endParaRPr lang="en-US" sz="1200"/>
          </a:p>
        </p:txBody>
      </p:sp>
      <p:sp>
        <p:nvSpPr>
          <p:cNvPr id="209924" name="Footer Placeholder 209923"/>
          <p:cNvSpPr>
            <a:spLocks noGrp="1"/>
          </p:cNvSpPr>
          <p:nvPr>
            <p:ph type="ftr" sz="quarter" idx="2"/>
          </p:nvPr>
        </p:nvSpPr>
        <p:spPr>
          <a:xfrm>
            <a:off x="0" y="8829675"/>
            <a:ext cx="2971800" cy="465138"/>
          </a:xfrm>
          <a:prstGeom prst="rect">
            <a:avLst/>
          </a:prstGeom>
          <a:noFill/>
          <a:ln w="9525">
            <a:noFill/>
          </a:ln>
        </p:spPr>
        <p:txBody>
          <a:bodyPr anchor="b" anchorCtr="0"/>
          <a:lstStyle/>
          <a:p>
            <a:pPr lvl="0"/>
            <a:endParaRPr lang="en-US" sz="1200"/>
          </a:p>
        </p:txBody>
      </p:sp>
      <p:sp>
        <p:nvSpPr>
          <p:cNvPr id="209925" name="Slide Number Placeholder 209924"/>
          <p:cNvSpPr>
            <a:spLocks noGrp="1"/>
          </p:cNvSpPr>
          <p:nvPr>
            <p:ph type="sldNum" sz="quarter" idx="3"/>
          </p:nvPr>
        </p:nvSpPr>
        <p:spPr>
          <a:xfrm>
            <a:off x="3884613" y="8829675"/>
            <a:ext cx="2971800" cy="465138"/>
          </a:xfrm>
          <a:prstGeom prst="rect">
            <a:avLst/>
          </a:prstGeom>
          <a:noFill/>
          <a:ln w="9525">
            <a:noFill/>
          </a:ln>
        </p:spPr>
        <p:txBody>
          <a:bodyPr anchor="b" anchorCtr="0"/>
          <a:lstStyle/>
          <a:p>
            <a:pPr lvl="0" algn="r"/>
            <a:fld id="{9A0DB2DC-4C9A-4742-B13C-FB6460FD3503}" type="slidenum">
              <a:rPr lang="en-US" sz="1200"/>
              <a:t>‹#›</a:t>
            </a:fld>
            <a:endParaRPr lang="en-US" sz="120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Header Placeholder 58369"/>
          <p:cNvSpPr>
            <a:spLocks noGrp="1"/>
          </p:cNvSpPr>
          <p:nvPr>
            <p:ph type="hdr" sz="quarter"/>
          </p:nvPr>
        </p:nvSpPr>
        <p:spPr>
          <a:xfrm>
            <a:off x="0" y="0"/>
            <a:ext cx="2971800" cy="465138"/>
          </a:xfrm>
          <a:prstGeom prst="rect">
            <a:avLst/>
          </a:prstGeom>
          <a:noFill/>
          <a:ln w="9525">
            <a:noFill/>
          </a:ln>
        </p:spPr>
        <p:txBody>
          <a:bodyPr/>
          <a:lstStyle/>
          <a:p>
            <a:pPr lvl="0"/>
            <a:endParaRPr lang="en-US" sz="1200" dirty="0"/>
          </a:p>
        </p:txBody>
      </p:sp>
      <p:sp>
        <p:nvSpPr>
          <p:cNvPr id="58371" name="Date Placeholder 58370"/>
          <p:cNvSpPr>
            <a:spLocks noGrp="1"/>
          </p:cNvSpPr>
          <p:nvPr>
            <p:ph type="dt" idx="1"/>
          </p:nvPr>
        </p:nvSpPr>
        <p:spPr>
          <a:xfrm>
            <a:off x="3884613" y="0"/>
            <a:ext cx="2971800" cy="465138"/>
          </a:xfrm>
          <a:prstGeom prst="rect">
            <a:avLst/>
          </a:prstGeom>
          <a:noFill/>
          <a:ln w="9525">
            <a:noFill/>
          </a:ln>
        </p:spPr>
        <p:txBody>
          <a:bodyPr/>
          <a:lstStyle/>
          <a:p>
            <a:pPr lvl="0" algn="r"/>
            <a:endParaRPr lang="en-US" sz="1200" dirty="0"/>
          </a:p>
        </p:txBody>
      </p:sp>
      <p:sp>
        <p:nvSpPr>
          <p:cNvPr id="58372" name="Slide Image Placeholder 58371"/>
          <p:cNvSpPr>
            <a:spLocks noGrp="1" noRot="1" noChangeAspect="1" noTextEdit="1"/>
          </p:cNvSpPr>
          <p:nvPr>
            <p:ph type="sldImg" idx="2"/>
          </p:nvPr>
        </p:nvSpPr>
        <p:spPr>
          <a:xfrm>
            <a:off x="1104900" y="696913"/>
            <a:ext cx="4648200" cy="3486150"/>
          </a:xfrm>
          <a:prstGeom prst="rect">
            <a:avLst/>
          </a:prstGeom>
          <a:ln w="9525" cap="flat" cmpd="sng">
            <a:solidFill>
              <a:srgbClr val="000000"/>
            </a:solidFill>
            <a:prstDash val="solid"/>
            <a:miter/>
            <a:headEnd type="none" w="med" len="med"/>
            <a:tailEnd type="none" w="med" len="med"/>
          </a:ln>
        </p:spPr>
      </p:sp>
      <p:sp>
        <p:nvSpPr>
          <p:cNvPr id="58373" name="Text Placeholder 58372"/>
          <p:cNvSpPr>
            <a:spLocks noGrp="1"/>
          </p:cNvSpPr>
          <p:nvPr>
            <p:ph type="body" sz="quarter" idx="3"/>
          </p:nvPr>
        </p:nvSpPr>
        <p:spPr>
          <a:xfrm>
            <a:off x="685800" y="4416425"/>
            <a:ext cx="5486400" cy="4183063"/>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8374" name="Footer Placeholder 58373"/>
          <p:cNvSpPr>
            <a:spLocks noGrp="1"/>
          </p:cNvSpPr>
          <p:nvPr>
            <p:ph type="ftr" sz="quarter" idx="4"/>
          </p:nvPr>
        </p:nvSpPr>
        <p:spPr>
          <a:xfrm>
            <a:off x="0" y="8829675"/>
            <a:ext cx="2971800" cy="465138"/>
          </a:xfrm>
          <a:prstGeom prst="rect">
            <a:avLst/>
          </a:prstGeom>
          <a:noFill/>
          <a:ln w="9525">
            <a:noFill/>
          </a:ln>
        </p:spPr>
        <p:txBody>
          <a:bodyPr anchor="b" anchorCtr="0"/>
          <a:lstStyle/>
          <a:p>
            <a:pPr lvl="0"/>
            <a:endParaRPr lang="en-US" sz="1200" dirty="0"/>
          </a:p>
        </p:txBody>
      </p:sp>
      <p:sp>
        <p:nvSpPr>
          <p:cNvPr id="58375" name="Slide Number Placeholder 58374"/>
          <p:cNvSpPr>
            <a:spLocks noGrp="1"/>
          </p:cNvSpPr>
          <p:nvPr>
            <p:ph type="sldNum" sz="quarter" idx="5"/>
          </p:nvPr>
        </p:nvSpPr>
        <p:spPr>
          <a:xfrm>
            <a:off x="3884613" y="8829675"/>
            <a:ext cx="2971800" cy="465138"/>
          </a:xfrm>
          <a:prstGeom prst="rect">
            <a:avLst/>
          </a:prstGeom>
          <a:noFill/>
          <a:ln w="9525">
            <a:noFill/>
          </a:ln>
        </p:spPr>
        <p:txBody>
          <a:bodyPr anchor="b" anchorCtr="0"/>
          <a:lstStyle/>
          <a:p>
            <a:pPr lvl="0" algn="r"/>
            <a:fld id="{9A0DB2DC-4C9A-4742-B13C-FB6460FD3503}" type="slidenum">
              <a:rPr lang="en-US" sz="1200" dirty="0"/>
              <a:t>‹#›</a:t>
            </a:fld>
            <a:endParaRPr 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5</a:t>
            </a:fld>
            <a:endParaRPr lang="en-US" sz="1200" dirty="0"/>
          </a:p>
        </p:txBody>
      </p:sp>
      <p:sp>
        <p:nvSpPr>
          <p:cNvPr id="299010" name="Slide Image Placeholder 299009"/>
          <p:cNvSpPr>
            <a:spLocks noGrp="1" noRot="1" noChangeAspect="1" noTextEdit="1"/>
          </p:cNvSpPr>
          <p:nvPr>
            <p:ph type="sldImg"/>
          </p:nvPr>
        </p:nvSpPr>
        <p:spPr/>
      </p:sp>
      <p:sp>
        <p:nvSpPr>
          <p:cNvPr id="299011" name="Text Placeholder 299010"/>
          <p:cNvSpPr>
            <a:spLocks noGrp="1"/>
          </p:cNvSpPr>
          <p:nvPr>
            <p:ph type="body" idx="1"/>
          </p:nvPr>
        </p:nvSpPr>
        <p:spPr/>
        <p:txBody>
          <a:bodyPr/>
          <a:lstStyle/>
          <a:p>
            <a:pPr lvl="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6</a:t>
            </a:fld>
            <a:endParaRPr lang="en-US" sz="1200" dirty="0"/>
          </a:p>
        </p:txBody>
      </p:sp>
      <p:sp>
        <p:nvSpPr>
          <p:cNvPr id="301058" name="Slide Image Placeholder 301057"/>
          <p:cNvSpPr>
            <a:spLocks noGrp="1" noRot="1" noChangeAspect="1" noTextEdit="1"/>
          </p:cNvSpPr>
          <p:nvPr>
            <p:ph type="sldImg"/>
          </p:nvPr>
        </p:nvSpPr>
        <p:spPr/>
      </p:sp>
      <p:sp>
        <p:nvSpPr>
          <p:cNvPr id="301059" name="Text Placeholder 301058"/>
          <p:cNvSpPr>
            <a:spLocks noGrp="1"/>
          </p:cNvSpPr>
          <p:nvPr>
            <p:ph type="body" idx="1"/>
          </p:nvPr>
        </p:nvSpPr>
        <p:spPr/>
        <p:txBody>
          <a:bodyPr/>
          <a:lstStyle/>
          <a:p>
            <a:pPr lvl="0"/>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7</a:t>
            </a:fld>
            <a:endParaRPr lang="en-US" sz="1200" dirty="0"/>
          </a:p>
        </p:txBody>
      </p:sp>
      <p:sp>
        <p:nvSpPr>
          <p:cNvPr id="193538" name="Slide Image Placeholder 193537"/>
          <p:cNvSpPr>
            <a:spLocks noGrp="1" noRot="1" noChangeAspect="1" noTextEdit="1"/>
          </p:cNvSpPr>
          <p:nvPr>
            <p:ph type="sldImg"/>
          </p:nvPr>
        </p:nvSpPr>
        <p:spPr/>
      </p:sp>
      <p:sp>
        <p:nvSpPr>
          <p:cNvPr id="193539" name="Text Placeholder 193538"/>
          <p:cNvSpPr>
            <a:spLocks noGrp="1"/>
          </p:cNvSpPr>
          <p:nvPr>
            <p:ph type="body" idx="1"/>
          </p:nvPr>
        </p:nvSpPr>
        <p:spPr/>
        <p:txBody>
          <a:bodyPr/>
          <a:lstStyle/>
          <a:p>
            <a:pPr lvl="0"/>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9</a:t>
            </a:fld>
            <a:endParaRPr lang="en-US" sz="1200" dirty="0"/>
          </a:p>
        </p:txBody>
      </p:sp>
      <p:sp>
        <p:nvSpPr>
          <p:cNvPr id="195586" name="Slide Image Placeholder 195585"/>
          <p:cNvSpPr>
            <a:spLocks noGrp="1" noRot="1" noChangeAspect="1" noTextEdit="1"/>
          </p:cNvSpPr>
          <p:nvPr>
            <p:ph type="sldImg"/>
          </p:nvPr>
        </p:nvSpPr>
        <p:spPr/>
      </p:sp>
      <p:sp>
        <p:nvSpPr>
          <p:cNvPr id="195587" name="Text Placeholder 195586"/>
          <p:cNvSpPr>
            <a:spLocks noGrp="1"/>
          </p:cNvSpPr>
          <p:nvPr>
            <p:ph type="body" idx="1"/>
          </p:nvPr>
        </p:nvSpPr>
        <p:spPr/>
        <p:txBody>
          <a:bodyPr/>
          <a:lstStyle/>
          <a:p>
            <a:pPr lvl="0"/>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10</a:t>
            </a:fld>
            <a:endParaRPr lang="en-US" sz="1200" dirty="0"/>
          </a:p>
        </p:txBody>
      </p:sp>
      <p:sp>
        <p:nvSpPr>
          <p:cNvPr id="177154" name="Slide Image Placeholder 177153"/>
          <p:cNvSpPr>
            <a:spLocks noGrp="1" noRot="1" noChangeAspect="1" noTextEdit="1"/>
          </p:cNvSpPr>
          <p:nvPr>
            <p:ph type="sldImg"/>
          </p:nvPr>
        </p:nvSpPr>
        <p:spPr/>
      </p:sp>
      <p:sp>
        <p:nvSpPr>
          <p:cNvPr id="177155" name="Text Placeholder 177154"/>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11</a:t>
            </a:fld>
            <a:endParaRPr lang="en-US" sz="1200" dirty="0"/>
          </a:p>
        </p:txBody>
      </p:sp>
      <p:sp>
        <p:nvSpPr>
          <p:cNvPr id="63490" name="Slide Image Placeholder 63489"/>
          <p:cNvSpPr>
            <a:spLocks noGrp="1" noRot="1" noChangeAspect="1" noTextEdit="1"/>
          </p:cNvSpPr>
          <p:nvPr>
            <p:ph type="sldImg"/>
          </p:nvPr>
        </p:nvSpPr>
        <p:spPr/>
      </p:sp>
      <p:sp>
        <p:nvSpPr>
          <p:cNvPr id="63491" name="Text Placeholder 63490"/>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13</a:t>
            </a:fld>
            <a:endParaRPr lang="en-US" sz="1200" dirty="0"/>
          </a:p>
        </p:txBody>
      </p:sp>
      <p:sp>
        <p:nvSpPr>
          <p:cNvPr id="281602" name="Slide Image Placeholder 281601"/>
          <p:cNvSpPr>
            <a:spLocks noGrp="1" noRot="1" noChangeAspect="1" noTextEdit="1"/>
          </p:cNvSpPr>
          <p:nvPr>
            <p:ph type="sldImg"/>
          </p:nvPr>
        </p:nvSpPr>
        <p:spPr/>
      </p:sp>
      <p:sp>
        <p:nvSpPr>
          <p:cNvPr id="281603" name="Text Placeholder 281602"/>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14</a:t>
            </a:fld>
            <a:endParaRPr lang="en-US" sz="1200" dirty="0"/>
          </a:p>
        </p:txBody>
      </p:sp>
      <p:sp>
        <p:nvSpPr>
          <p:cNvPr id="283650" name="Slide Image Placeholder 283649"/>
          <p:cNvSpPr>
            <a:spLocks noGrp="1" noRot="1" noChangeAspect="1" noTextEdit="1"/>
          </p:cNvSpPr>
          <p:nvPr>
            <p:ph type="sldImg"/>
          </p:nvPr>
        </p:nvSpPr>
        <p:spPr/>
      </p:sp>
      <p:sp>
        <p:nvSpPr>
          <p:cNvPr id="283651" name="Text Placeholder 283650"/>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19</a:t>
            </a:fld>
            <a:endParaRPr lang="en-US" sz="1200" dirty="0"/>
          </a:p>
        </p:txBody>
      </p:sp>
      <p:sp>
        <p:nvSpPr>
          <p:cNvPr id="319490" name="Slide Image Placeholder 319489"/>
          <p:cNvSpPr>
            <a:spLocks noGrp="1" noRot="1" noChangeAspect="1" noTextEdit="1"/>
          </p:cNvSpPr>
          <p:nvPr>
            <p:ph type="sldImg"/>
          </p:nvPr>
        </p:nvSpPr>
        <p:spPr/>
      </p:sp>
      <p:sp>
        <p:nvSpPr>
          <p:cNvPr id="319491" name="Text Placeholder 319490"/>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20</a:t>
            </a:fld>
            <a:endParaRPr lang="en-US" sz="1200" dirty="0"/>
          </a:p>
        </p:txBody>
      </p:sp>
      <p:sp>
        <p:nvSpPr>
          <p:cNvPr id="321538" name="Slide Image Placeholder 321537"/>
          <p:cNvSpPr>
            <a:spLocks noGrp="1" noRot="1" noChangeAspect="1" noTextEdit="1"/>
          </p:cNvSpPr>
          <p:nvPr>
            <p:ph type="sldImg"/>
          </p:nvPr>
        </p:nvSpPr>
        <p:spPr/>
      </p:sp>
      <p:sp>
        <p:nvSpPr>
          <p:cNvPr id="321539" name="Text Placeholder 321538"/>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24</a:t>
            </a:fld>
            <a:endParaRPr lang="en-US" sz="1200" dirty="0"/>
          </a:p>
        </p:txBody>
      </p:sp>
      <p:sp>
        <p:nvSpPr>
          <p:cNvPr id="146434" name="Slide Image Placeholder 146433"/>
          <p:cNvSpPr>
            <a:spLocks noGrp="1" noRot="1" noChangeAspect="1" noTextEdit="1"/>
          </p:cNvSpPr>
          <p:nvPr>
            <p:ph type="sldImg"/>
          </p:nvPr>
        </p:nvSpPr>
        <p:spPr/>
      </p:sp>
      <p:sp>
        <p:nvSpPr>
          <p:cNvPr id="146435" name="Text Placeholder 146434"/>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25</a:t>
            </a:fld>
            <a:endParaRPr lang="en-US" sz="1200" dirty="0"/>
          </a:p>
        </p:txBody>
      </p:sp>
      <p:sp>
        <p:nvSpPr>
          <p:cNvPr id="226306" name="Slide Image Placeholder 226305"/>
          <p:cNvSpPr>
            <a:spLocks noGrp="1" noRot="1" noChangeAspect="1" noTextEdit="1"/>
          </p:cNvSpPr>
          <p:nvPr>
            <p:ph type="sldImg"/>
          </p:nvPr>
        </p:nvSpPr>
        <p:spPr/>
      </p:sp>
      <p:sp>
        <p:nvSpPr>
          <p:cNvPr id="226307" name="Text Placeholder 226306"/>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26</a:t>
            </a:fld>
            <a:endParaRPr lang="en-US" sz="1200" dirty="0"/>
          </a:p>
        </p:txBody>
      </p:sp>
      <p:sp>
        <p:nvSpPr>
          <p:cNvPr id="328706" name="Slide Image Placeholder 328705"/>
          <p:cNvSpPr>
            <a:spLocks noGrp="1" noRot="1" noChangeAspect="1" noTextEdit="1"/>
          </p:cNvSpPr>
          <p:nvPr>
            <p:ph type="sldImg"/>
          </p:nvPr>
        </p:nvSpPr>
        <p:spPr/>
      </p:sp>
      <p:sp>
        <p:nvSpPr>
          <p:cNvPr id="328707" name="Text Placeholder 328706"/>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30</a:t>
            </a:fld>
            <a:endParaRPr lang="en-US" sz="1200" dirty="0"/>
          </a:p>
        </p:txBody>
      </p:sp>
      <p:sp>
        <p:nvSpPr>
          <p:cNvPr id="217090" name="Slide Image Placeholder 217089"/>
          <p:cNvSpPr>
            <a:spLocks noGrp="1" noRot="1" noChangeAspect="1" noTextEdit="1"/>
          </p:cNvSpPr>
          <p:nvPr>
            <p:ph type="sldImg"/>
          </p:nvPr>
        </p:nvSpPr>
        <p:spPr/>
      </p:sp>
      <p:sp>
        <p:nvSpPr>
          <p:cNvPr id="217091" name="Text Placeholder 217090"/>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31</a:t>
            </a:fld>
            <a:endParaRPr lang="en-US" sz="1200" dirty="0"/>
          </a:p>
        </p:txBody>
      </p:sp>
      <p:sp>
        <p:nvSpPr>
          <p:cNvPr id="219138" name="Slide Image Placeholder 219137"/>
          <p:cNvSpPr>
            <a:spLocks noGrp="1" noRot="1" noChangeAspect="1" noTextEdit="1"/>
          </p:cNvSpPr>
          <p:nvPr>
            <p:ph type="sldImg"/>
          </p:nvPr>
        </p:nvSpPr>
        <p:spPr/>
      </p:sp>
      <p:sp>
        <p:nvSpPr>
          <p:cNvPr id="219139" name="Text Placeholder 219138"/>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lvl="0" algn="r"/>
            <a:fld id="{9A0DB2DC-4C9A-4742-B13C-FB6460FD3503}" type="slidenum">
              <a:rPr lang="en-US" sz="1200" dirty="0"/>
              <a:t>37</a:t>
            </a:fld>
            <a:endParaRPr lang="en-US" sz="1200" dirty="0"/>
          </a:p>
        </p:txBody>
      </p:sp>
      <p:sp>
        <p:nvSpPr>
          <p:cNvPr id="344066" name="Slide Image Placeholder 344065"/>
          <p:cNvSpPr>
            <a:spLocks noGrp="1" noRot="1" noChangeAspect="1" noTextEdit="1"/>
          </p:cNvSpPr>
          <p:nvPr>
            <p:ph type="sldImg"/>
          </p:nvPr>
        </p:nvSpPr>
        <p:spPr/>
      </p:sp>
      <p:sp>
        <p:nvSpPr>
          <p:cNvPr id="344067" name="Text Placeholder 344066"/>
          <p:cNvSpPr>
            <a:spLocks noGrp="1"/>
          </p:cNvSpPr>
          <p:nvPr>
            <p:ph type="body" idx="1"/>
          </p:nvPr>
        </p:nvSpPr>
        <p:spPr>
          <a:xfrm>
            <a:off x="914400" y="4416425"/>
            <a:ext cx="5029200" cy="4183063"/>
          </a:xfrm>
        </p:spPr>
        <p:txBody>
          <a:bodyPr/>
          <a:lstStyle/>
          <a:p>
            <a:pPr lvl="0"/>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txBox="1">
            <a:spLocks noGrp="1"/>
          </p:cNvSpPr>
          <p:nvPr>
            <p:ph type="sldNum" sz="quarter"/>
          </p:nvPr>
        </p:nvSpPr>
        <p:spPr>
          <a:xfrm>
            <a:off x="3970338" y="8829675"/>
            <a:ext cx="3038475" cy="465138"/>
          </a:xfrm>
          <a:prstGeom prst="rect">
            <a:avLst/>
          </a:prstGeom>
          <a:noFill/>
          <a:ln w="9525">
            <a:noFill/>
          </a:ln>
        </p:spPr>
        <p:txBody>
          <a:bodyPr lIns="93177" tIns="46589" rIns="93177" bIns="46589" anchor="b" anchorCtr="0"/>
          <a:lstStyle/>
          <a:p>
            <a:pPr lvl="0" algn="r" defTabSz="932180" eaLnBrk="1" hangingPunct="1"/>
            <a:fld id="{9A0DB2DC-4C9A-4742-B13C-FB6460FD3503}" type="slidenum">
              <a:rPr lang="en-US" sz="1200" dirty="0">
                <a:latin typeface="Times New Roman" panose="02020603050405020304" pitchFamily="18" charset="0"/>
              </a:rPr>
              <a:t>38</a:t>
            </a:fld>
            <a:endParaRPr lang="en-US" sz="1200" dirty="0">
              <a:latin typeface="Times New Roman" panose="02020603050405020304" pitchFamily="18" charset="0"/>
            </a:endParaRPr>
          </a:p>
        </p:txBody>
      </p:sp>
      <p:sp>
        <p:nvSpPr>
          <p:cNvPr id="10243" name="Rectangle 2"/>
          <p:cNvSpPr>
            <a:spLocks noGrp="1" noRot="1" noChangeAspect="1" noTextEdit="1"/>
          </p:cNvSpPr>
          <p:nvPr>
            <p:ph type="sldImg"/>
          </p:nvPr>
        </p:nvSpPr>
        <p:spPr/>
      </p:sp>
      <p:sp>
        <p:nvSpPr>
          <p:cNvPr id="10244" name="Rectangle 3"/>
          <p:cNvSpPr>
            <a:spLocks noGrp="1"/>
          </p:cNvSpPr>
          <p:nvPr>
            <p:ph type="body" idx="1"/>
          </p:nvPr>
        </p:nvSpPr>
        <p:spPr/>
        <p:txBody>
          <a:bodyPr wrap="square" lIns="93177" tIns="46589" rIns="93177" bIns="46589" anchor="t" anchorCtr="0"/>
          <a:lstStyle/>
          <a:p>
            <a:pPr lvl="0" eaLnBrk="1" hangingPunct="1">
              <a:buFontTx/>
              <a:buChar char="-"/>
            </a:pPr>
            <a:r>
              <a:rPr dirty="0"/>
              <a:t>Evolution of analysis and design techniques</a:t>
            </a:r>
          </a:p>
          <a:p>
            <a:pPr lvl="0" eaLnBrk="1" hangingPunct="1">
              <a:buFontTx/>
              <a:buChar char="-"/>
            </a:pPr>
            <a:r>
              <a:rPr dirty="0"/>
              <a:t>Transition from structured programming to object oriented programming</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txBox="1">
            <a:spLocks noGrp="1"/>
          </p:cNvSpPr>
          <p:nvPr>
            <p:ph type="sldNum" sz="quarter"/>
          </p:nvPr>
        </p:nvSpPr>
        <p:spPr>
          <a:xfrm>
            <a:off x="3970338" y="8829675"/>
            <a:ext cx="3038475" cy="465138"/>
          </a:xfrm>
          <a:prstGeom prst="rect">
            <a:avLst/>
          </a:prstGeom>
          <a:noFill/>
          <a:ln w="9525">
            <a:noFill/>
          </a:ln>
        </p:spPr>
        <p:txBody>
          <a:bodyPr lIns="93177" tIns="46589" rIns="93177" bIns="46589" anchor="b" anchorCtr="0"/>
          <a:lstStyle/>
          <a:p>
            <a:pPr lvl="0" algn="r" defTabSz="932180" eaLnBrk="1" hangingPunct="1"/>
            <a:fld id="{9A0DB2DC-4C9A-4742-B13C-FB6460FD3503}" type="slidenum">
              <a:rPr lang="en-US" sz="1200" dirty="0">
                <a:latin typeface="Times New Roman" panose="02020603050405020304" pitchFamily="18" charset="0"/>
              </a:rPr>
              <a:t>39</a:t>
            </a:fld>
            <a:endParaRPr lang="en-US" sz="1200" dirty="0">
              <a:latin typeface="Times New Roman" panose="02020603050405020304" pitchFamily="18" charset="0"/>
            </a:endParaRPr>
          </a:p>
        </p:txBody>
      </p:sp>
      <p:sp>
        <p:nvSpPr>
          <p:cNvPr id="12291" name="Rectangle 2"/>
          <p:cNvSpPr>
            <a:spLocks noGrp="1" noRot="1" noChangeAspect="1" noTextEdit="1"/>
          </p:cNvSpPr>
          <p:nvPr>
            <p:ph type="sldImg"/>
          </p:nvPr>
        </p:nvSpPr>
        <p:spPr/>
      </p:sp>
      <p:sp>
        <p:nvSpPr>
          <p:cNvPr id="12292" name="Rectangle 3"/>
          <p:cNvSpPr>
            <a:spLocks noGrp="1"/>
          </p:cNvSpPr>
          <p:nvPr>
            <p:ph type="body" idx="1"/>
          </p:nvPr>
        </p:nvSpPr>
        <p:spPr/>
        <p:txBody>
          <a:bodyPr wrap="square" lIns="93177" tIns="46589" rIns="93177" bIns="46589" anchor="t" anchorCtr="0"/>
          <a:lstStyle/>
          <a:p>
            <a:pPr lvl="0" eaLnBrk="1" hangingPunct="1"/>
            <a:r>
              <a:rPr dirty="0"/>
              <a:t>. What does UML stand for?</a:t>
            </a:r>
          </a:p>
          <a:p>
            <a:pPr lvl="0" eaLnBrk="1" hangingPunct="1"/>
            <a:r>
              <a:rPr dirty="0"/>
              <a:t>. Industry standard</a:t>
            </a:r>
          </a:p>
          <a:p>
            <a:pPr lvl="0" eaLnBrk="1" hangingPunct="1"/>
            <a:r>
              <a:rPr dirty="0"/>
              <a:t>. Graphical notation</a:t>
            </a:r>
          </a:p>
          <a:p>
            <a:pPr lvl="0" eaLnBrk="1" hangingPunct="1"/>
            <a:r>
              <a:rPr dirty="0"/>
              <a:t>. Modeling tool … simplifies software design process</a:t>
            </a:r>
          </a:p>
          <a:p>
            <a:pPr lvl="0" eaLnBrk="1" hangingPunct="1"/>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txBox="1">
            <a:spLocks noGrp="1"/>
          </p:cNvSpPr>
          <p:nvPr>
            <p:ph type="sldNum" sz="quarter"/>
          </p:nvPr>
        </p:nvSpPr>
        <p:spPr>
          <a:xfrm>
            <a:off x="3970338" y="8829675"/>
            <a:ext cx="3038475" cy="465138"/>
          </a:xfrm>
          <a:prstGeom prst="rect">
            <a:avLst/>
          </a:prstGeom>
          <a:noFill/>
          <a:ln w="9525">
            <a:noFill/>
          </a:ln>
        </p:spPr>
        <p:txBody>
          <a:bodyPr lIns="93177" tIns="46589" rIns="93177" bIns="46589" anchor="b" anchorCtr="0"/>
          <a:lstStyle/>
          <a:p>
            <a:pPr lvl="0" algn="r" defTabSz="932180" eaLnBrk="1" hangingPunct="1"/>
            <a:fld id="{9A0DB2DC-4C9A-4742-B13C-FB6460FD3503}" type="slidenum">
              <a:rPr lang="en-US" sz="1200" dirty="0">
                <a:latin typeface="Times New Roman" panose="02020603050405020304" pitchFamily="18" charset="0"/>
              </a:rPr>
              <a:t>40</a:t>
            </a:fld>
            <a:endParaRPr lang="en-US" sz="1200" dirty="0">
              <a:latin typeface="Times New Roman" panose="02020603050405020304" pitchFamily="18" charset="0"/>
            </a:endParaRPr>
          </a:p>
        </p:txBody>
      </p:sp>
      <p:sp>
        <p:nvSpPr>
          <p:cNvPr id="14339" name="Rectangle 2"/>
          <p:cNvSpPr>
            <a:spLocks noGrp="1" noRot="1" noChangeAspect="1" noTextEdit="1"/>
          </p:cNvSpPr>
          <p:nvPr>
            <p:ph type="sldImg"/>
          </p:nvPr>
        </p:nvSpPr>
        <p:spPr/>
      </p:sp>
      <p:sp>
        <p:nvSpPr>
          <p:cNvPr id="14340" name="Rectangle 3"/>
          <p:cNvSpPr>
            <a:spLocks noGrp="1"/>
          </p:cNvSpPr>
          <p:nvPr>
            <p:ph type="body" idx="1"/>
          </p:nvPr>
        </p:nvSpPr>
        <p:spPr/>
        <p:txBody>
          <a:bodyPr wrap="square" lIns="93177" tIns="46589" rIns="93177" bIns="46589" anchor="t" anchorCtr="0"/>
          <a:lstStyle/>
          <a:p>
            <a:pPr lvl="0" eaLnBrk="1" hangingPunct="1"/>
            <a:r>
              <a:rPr dirty="0"/>
              <a:t>. More precise than natural language … less detailed than source code</a:t>
            </a:r>
          </a:p>
          <a:p>
            <a:pPr lvl="0" eaLnBrk="1" hangingPunct="1"/>
            <a:r>
              <a:rPr dirty="0"/>
              <a:t>. Not dependent on any language</a:t>
            </a:r>
          </a:p>
          <a:p>
            <a:pPr lvl="0" eaLnBrk="1" hangingPunct="1"/>
            <a:r>
              <a:rPr dirty="0"/>
              <a:t>. Standardized by various groups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txBox="1">
            <a:spLocks noGrp="1"/>
          </p:cNvSpPr>
          <p:nvPr>
            <p:ph type="sldNum" sz="quarter"/>
          </p:nvPr>
        </p:nvSpPr>
        <p:spPr>
          <a:xfrm>
            <a:off x="3970338" y="8829675"/>
            <a:ext cx="3038475" cy="465138"/>
          </a:xfrm>
          <a:prstGeom prst="rect">
            <a:avLst/>
          </a:prstGeom>
          <a:noFill/>
          <a:ln w="9525">
            <a:noFill/>
          </a:ln>
        </p:spPr>
        <p:txBody>
          <a:bodyPr lIns="93177" tIns="46589" rIns="93177" bIns="46589" anchor="b" anchorCtr="0"/>
          <a:lstStyle/>
          <a:p>
            <a:pPr lvl="0" algn="r" defTabSz="932180" eaLnBrk="1" hangingPunct="1"/>
            <a:fld id="{9A0DB2DC-4C9A-4742-B13C-FB6460FD3503}" type="slidenum">
              <a:rPr lang="en-US" sz="1200" dirty="0">
                <a:latin typeface="Times New Roman" panose="02020603050405020304" pitchFamily="18" charset="0"/>
              </a:rPr>
              <a:t>41</a:t>
            </a:fld>
            <a:endParaRPr lang="en-US" sz="1200" dirty="0">
              <a:latin typeface="Times New Roman" panose="02020603050405020304" pitchFamily="18" charset="0"/>
            </a:endParaRPr>
          </a:p>
        </p:txBody>
      </p:sp>
      <p:sp>
        <p:nvSpPr>
          <p:cNvPr id="16387" name="Rectangle 2"/>
          <p:cNvSpPr>
            <a:spLocks noGrp="1" noRot="1" noChangeAspect="1" noTextEdit="1"/>
          </p:cNvSpPr>
          <p:nvPr>
            <p:ph type="sldImg"/>
          </p:nvPr>
        </p:nvSpPr>
        <p:spPr/>
      </p:sp>
      <p:sp>
        <p:nvSpPr>
          <p:cNvPr id="16388" name="Rectangle 3"/>
          <p:cNvSpPr>
            <a:spLocks noGrp="1"/>
          </p:cNvSpPr>
          <p:nvPr>
            <p:ph type="body" idx="1"/>
          </p:nvPr>
        </p:nvSpPr>
        <p:spPr/>
        <p:txBody>
          <a:bodyPr wrap="square" lIns="93177" tIns="46589" rIns="93177" bIns="46589" anchor="t" anchorCtr="0"/>
          <a:lstStyle/>
          <a:p>
            <a:pPr lvl="0" eaLnBrk="1" hangingPunct="1"/>
            <a:r>
              <a:rPr dirty="0"/>
              <a:t>History:</a:t>
            </a:r>
          </a:p>
          <a:p>
            <a:pPr lvl="0" eaLnBrk="1" hangingPunct="1"/>
            <a:r>
              <a:rPr dirty="0"/>
              <a:t> - Rumbaugh – OMT – object modeling technique</a:t>
            </a:r>
          </a:p>
          <a:p>
            <a:pPr lvl="0" eaLnBrk="1" hangingPunct="1">
              <a:buFontTx/>
              <a:buChar char="-"/>
            </a:pPr>
            <a:r>
              <a:rPr dirty="0"/>
              <a:t>Jacobson – OOSE</a:t>
            </a:r>
          </a:p>
          <a:p>
            <a:pPr lvl="0" eaLnBrk="1" hangingPunct="1">
              <a:buFontTx/>
              <a:buChar char="-"/>
            </a:pPr>
            <a:r>
              <a:rPr dirty="0"/>
              <a:t>UML … unified approach since 1995</a:t>
            </a:r>
          </a:p>
          <a:p>
            <a:pPr lvl="0" eaLnBrk="1" hangingPunct="1">
              <a:buFontTx/>
              <a:buChar char="-"/>
            </a:pPr>
            <a:r>
              <a:rPr dirty="0"/>
              <a:t>UML 1.5 current … UML 2.0 by the end of 2004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spcBef>
                <a:spcPct val="0"/>
              </a:spcBef>
            </a:pPr>
            <a:endParaRPr lang="en-US">
              <a:latin typeface="Arial" panose="020B0604020202020204" pitchFamily="34" charset="0"/>
            </a:endParaRPr>
          </a:p>
        </p:txBody>
      </p:sp>
      <p:sp>
        <p:nvSpPr>
          <p:cNvPr id="3" name="Footer Placeholder 2"/>
          <p:cNvSpPr>
            <a:spLocks noGrp="1"/>
          </p:cNvSpPr>
          <p:nvPr>
            <p:ph type="ftr" sz="quarter" idx="11"/>
          </p:nvPr>
        </p:nvSpPr>
        <p:spPr/>
        <p:txBody>
          <a:bodyPr/>
          <a:lstStyle/>
          <a:p>
            <a:pPr lvl="0">
              <a:spcBef>
                <a:spcPct val="0"/>
              </a:spcBef>
            </a:pPr>
            <a:endParaRPr lang="en-US">
              <a:latin typeface="Arial" panose="020B0604020202020204" pitchFamily="34" charset="0"/>
            </a:endParaRPr>
          </a:p>
        </p:txBody>
      </p:sp>
      <p:sp>
        <p:nvSpPr>
          <p:cNvPr id="4" name="Slide Number Placeholder 3"/>
          <p:cNvSpPr>
            <a:spLocks noGrp="1"/>
          </p:cNvSpPr>
          <p:nvPr>
            <p:ph type="sldNum" sz="quarter" idx="12"/>
          </p:nvPr>
        </p:nvSpPr>
        <p:spPr/>
        <p:txBody>
          <a:bodyPr/>
          <a:lstStyle/>
          <a:p>
            <a:pPr lvl="0">
              <a:spcBef>
                <a:spcPct val="0"/>
              </a:spcBef>
            </a:pPr>
            <a:fld id="{9A0DB2DC-4C9A-4742-B13C-FB6460FD3503}" type="slidenum">
              <a:rPr lang="en-US"/>
              <a:t>‹#›</a:t>
            </a:fld>
            <a:endParaRPr lang="en-US">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lvl="0">
              <a:spcBef>
                <a:spcPct val="0"/>
              </a:spcBef>
            </a:pPr>
            <a:endParaRPr lang="en-US">
              <a:latin typeface="Arial" panose="020B0604020202020204" pitchFamily="34" charset="0"/>
            </a:endParaRPr>
          </a:p>
        </p:txBody>
      </p:sp>
      <p:sp>
        <p:nvSpPr>
          <p:cNvPr id="4" name="Footer Placeholder 3"/>
          <p:cNvSpPr>
            <a:spLocks noGrp="1"/>
          </p:cNvSpPr>
          <p:nvPr>
            <p:ph type="ftr" sz="quarter" idx="11"/>
          </p:nvPr>
        </p:nvSpPr>
        <p:spPr/>
        <p:txBody>
          <a:bodyPr/>
          <a:lstStyle/>
          <a:p>
            <a:pPr lvl="0">
              <a:spcBef>
                <a:spcPct val="0"/>
              </a:spcBef>
            </a:pPr>
            <a:endParaRPr lang="en-US">
              <a:latin typeface="Arial" panose="020B0604020202020204" pitchFamily="34" charset="0"/>
            </a:endParaRPr>
          </a:p>
        </p:txBody>
      </p:sp>
      <p:sp>
        <p:nvSpPr>
          <p:cNvPr id="5" name="Slide Number Placeholder 4"/>
          <p:cNvSpPr>
            <a:spLocks noGrp="1"/>
          </p:cNvSpPr>
          <p:nvPr>
            <p:ph type="sldNum" sz="quarter" idx="12"/>
          </p:nvPr>
        </p:nvSpPr>
        <p:spPr/>
        <p:txBody>
          <a:bodyPr/>
          <a:lstStyle/>
          <a:p>
            <a:pPr lvl="0">
              <a:spcBef>
                <a:spcPct val="0"/>
              </a:spcBef>
            </a:pPr>
            <a:fld id="{9A0DB2DC-4C9A-4742-B13C-FB6460FD3503}" type="slidenum">
              <a:rPr lang="en-US"/>
              <a:t>‹#›</a:t>
            </a:fld>
            <a:endParaRPr 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a:spcBef>
                <a:spcPct val="0"/>
              </a:spcBef>
            </a:pPr>
            <a:endParaRPr lang="en-US">
              <a:latin typeface="Arial" panose="020B0604020202020204" pitchFamily="34" charset="0"/>
            </a:endParaRPr>
          </a:p>
        </p:txBody>
      </p:sp>
      <p:sp>
        <p:nvSpPr>
          <p:cNvPr id="5" name="Footer Placeholder 4"/>
          <p:cNvSpPr>
            <a:spLocks noGrp="1"/>
          </p:cNvSpPr>
          <p:nvPr>
            <p:ph type="ftr" sz="quarter" idx="11"/>
          </p:nvPr>
        </p:nvSpPr>
        <p:spPr/>
        <p:txBody>
          <a:bodyPr/>
          <a:lstStyle/>
          <a:p>
            <a:pPr lvl="0">
              <a:spcBef>
                <a:spcPct val="0"/>
              </a:spcBef>
            </a:pPr>
            <a:endParaRPr lang="en-US">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a:spcBef>
                <a:spcPct val="0"/>
              </a:spcBef>
            </a:pPr>
            <a:fld id="{9A0DB2DC-4C9A-4742-B13C-FB6460FD3503}" type="slidenum">
              <a:rPr lang="en-US"/>
              <a:t>‹#›</a:t>
            </a:fld>
            <a:endParaRPr 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29150" y="1825625"/>
            <a:ext cx="3886200" cy="209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29150" y="4076700"/>
            <a:ext cx="3886200" cy="210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p:txBody>
          <a:bodyPr/>
          <a:lstStyle/>
          <a:p>
            <a:pPr lvl="0">
              <a:spcBef>
                <a:spcPct val="0"/>
              </a:spcBef>
            </a:pPr>
            <a:endParaRPr lang="en-US">
              <a:latin typeface="Arial" panose="020B0604020202020204" pitchFamily="34" charset="0"/>
            </a:endParaRPr>
          </a:p>
        </p:txBody>
      </p:sp>
      <p:sp>
        <p:nvSpPr>
          <p:cNvPr id="7" name="Footer Placeholder 6"/>
          <p:cNvSpPr>
            <a:spLocks noGrp="1"/>
          </p:cNvSpPr>
          <p:nvPr>
            <p:ph type="ftr" sz="quarter" idx="11"/>
          </p:nvPr>
        </p:nvSpPr>
        <p:spPr/>
        <p:txBody>
          <a:bodyPr/>
          <a:lstStyle/>
          <a:p>
            <a:pPr lvl="0">
              <a:spcBef>
                <a:spcPct val="0"/>
              </a:spcBef>
            </a:pPr>
            <a:endParaRPr lang="en-US">
              <a:latin typeface="Arial" panose="020B0604020202020204" pitchFamily="34" charset="0"/>
            </a:endParaRPr>
          </a:p>
        </p:txBody>
      </p:sp>
      <p:sp>
        <p:nvSpPr>
          <p:cNvPr id="8" name="Slide Number Placeholder 7"/>
          <p:cNvSpPr>
            <a:spLocks noGrp="1"/>
          </p:cNvSpPr>
          <p:nvPr>
            <p:ph type="sldNum" sz="quarter" idx="12"/>
          </p:nvPr>
        </p:nvSpPr>
        <p:spPr/>
        <p:txBody>
          <a:bodyPr/>
          <a:lstStyle/>
          <a:p>
            <a:pPr lvl="0">
              <a:spcBef>
                <a:spcPct val="0"/>
              </a:spcBef>
            </a:pPr>
            <a:fld id="{9A0DB2DC-4C9A-4742-B13C-FB6460FD3503}" type="slidenum">
              <a:rPr lang="en-US"/>
              <a:t>‹#›</a:t>
            </a:fld>
            <a:endParaRPr 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29150" y="1825625"/>
            <a:ext cx="3886200" cy="209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29150" y="4076700"/>
            <a:ext cx="3886200" cy="210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p:txBody>
          <a:bodyPr/>
          <a:lstStyle/>
          <a:p>
            <a:pPr lvl="0">
              <a:spcBef>
                <a:spcPct val="0"/>
              </a:spcBef>
            </a:pPr>
            <a:endParaRPr lang="en-US">
              <a:latin typeface="Arial" panose="020B0604020202020204" pitchFamily="34" charset="0"/>
            </a:endParaRPr>
          </a:p>
        </p:txBody>
      </p:sp>
      <p:sp>
        <p:nvSpPr>
          <p:cNvPr id="7" name="Footer Placeholder 6"/>
          <p:cNvSpPr>
            <a:spLocks noGrp="1"/>
          </p:cNvSpPr>
          <p:nvPr>
            <p:ph type="ftr" sz="quarter" idx="11"/>
          </p:nvPr>
        </p:nvSpPr>
        <p:spPr/>
        <p:txBody>
          <a:bodyPr/>
          <a:lstStyle/>
          <a:p>
            <a:pPr lvl="0">
              <a:spcBef>
                <a:spcPct val="0"/>
              </a:spcBef>
            </a:pPr>
            <a:endParaRPr lang="en-US">
              <a:latin typeface="Arial" panose="020B0604020202020204" pitchFamily="34" charset="0"/>
            </a:endParaRPr>
          </a:p>
        </p:txBody>
      </p:sp>
      <p:sp>
        <p:nvSpPr>
          <p:cNvPr id="8" name="Slide Number Placeholder 7"/>
          <p:cNvSpPr>
            <a:spLocks noGrp="1"/>
          </p:cNvSpPr>
          <p:nvPr>
            <p:ph type="sldNum" sz="quarter" idx="12"/>
          </p:nvPr>
        </p:nvSpPr>
        <p:spPr/>
        <p:txBody>
          <a:bodyPr/>
          <a:lstStyle/>
          <a:p>
            <a:pPr lvl="0">
              <a:spcBef>
                <a:spcPct val="0"/>
              </a:spcBef>
            </a:pPr>
            <a:fld id="{9A0DB2DC-4C9A-4742-B13C-FB6460FD3503}" type="slidenum">
              <a:rPr lang="en-US"/>
              <a:t>‹#›</a:t>
            </a:fld>
            <a:endParaRPr 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half" idx="1"/>
          </p:nvPr>
        </p:nvSpPr>
        <p:spPr>
          <a:xfrm>
            <a:off x="628650" y="1825625"/>
            <a:ext cx="7886700" cy="209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650" y="4076700"/>
            <a:ext cx="7886700" cy="210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lvl="0">
              <a:spcBef>
                <a:spcPct val="0"/>
              </a:spcBef>
            </a:pPr>
            <a:endParaRPr lang="en-US">
              <a:latin typeface="Arial" panose="020B0604020202020204" pitchFamily="34" charset="0"/>
            </a:endParaRPr>
          </a:p>
        </p:txBody>
      </p:sp>
      <p:sp>
        <p:nvSpPr>
          <p:cNvPr id="6" name="Footer Placeholder 5"/>
          <p:cNvSpPr>
            <a:spLocks noGrp="1"/>
          </p:cNvSpPr>
          <p:nvPr>
            <p:ph type="ftr" sz="quarter" idx="11"/>
          </p:nvPr>
        </p:nvSpPr>
        <p:spPr/>
        <p:txBody>
          <a:bodyPr/>
          <a:lstStyle/>
          <a:p>
            <a:pPr lvl="0">
              <a:spcBef>
                <a:spcPct val="0"/>
              </a:spcBef>
            </a:pPr>
            <a:endParaRPr lang="en-US">
              <a:latin typeface="Arial" panose="020B0604020202020204" pitchFamily="34" charset="0"/>
            </a:endParaRPr>
          </a:p>
        </p:txBody>
      </p:sp>
      <p:sp>
        <p:nvSpPr>
          <p:cNvPr id="7" name="Slide Number Placeholder 6"/>
          <p:cNvSpPr>
            <a:spLocks noGrp="1"/>
          </p:cNvSpPr>
          <p:nvPr>
            <p:ph type="sldNum" sz="quarter" idx="12"/>
          </p:nvPr>
        </p:nvSpPr>
        <p:spPr/>
        <p:txBody>
          <a:bodyPr/>
          <a:lstStyle/>
          <a:p>
            <a:pPr lvl="0">
              <a:spcBef>
                <a:spcPct val="0"/>
              </a:spcBef>
            </a:pPr>
            <a:fld id="{9A0DB2DC-4C9A-4742-B13C-FB6460FD3503}" type="slidenum">
              <a:rPr lang="en-US"/>
              <a:t>‹#›</a:t>
            </a:fld>
            <a:endParaRPr 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87D4A-9739-D96C-2C25-3F2F2B95CF8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D56642DC-D9AC-B3BE-0719-07F04FDE690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E440CBC-C53B-7F40-2EE6-D6C01C04504A}"/>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5" name="Footer Placeholder 4">
            <a:extLst>
              <a:ext uri="{FF2B5EF4-FFF2-40B4-BE49-F238E27FC236}">
                <a16:creationId xmlns:a16="http://schemas.microsoft.com/office/drawing/2014/main" id="{2E3304CA-0A3E-8222-9113-8CF6B7E749FA}"/>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6" name="Slide Number Placeholder 5">
            <a:extLst>
              <a:ext uri="{FF2B5EF4-FFF2-40B4-BE49-F238E27FC236}">
                <a16:creationId xmlns:a16="http://schemas.microsoft.com/office/drawing/2014/main" id="{6E7C58A2-C0FC-1DFC-BD26-526C84790D7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254EE97-1FE7-42FC-9CC9-29A6EA401F5F}" type="slidenum">
              <a:rPr kumimoji="0" lang="en-US" sz="1200" b="0" i="0" u="none" strike="noStrike" kern="1200" cap="none" spc="0" normalizeH="0" baseline="0" noProof="0" smtClean="0">
                <a:ln>
                  <a:noFill/>
                </a:ln>
                <a:solidFill>
                  <a:srgbClr val="045C75"/>
                </a:solidFill>
                <a:effectLst/>
                <a:uLnTx/>
                <a:uFillTx/>
                <a:latin typeface="Tahoma" panose="020B0604030504040204" pitchFamily="34" charset="0"/>
                <a:ea typeface="+mn-ea"/>
                <a:cs typeface="+mn-cs"/>
              </a:rPr>
              <a:t>‹#›</a:t>
            </a:fld>
            <a:endParaRPr kumimoji="0" lang="en-US" sz="1200" b="0" i="0" u="none" strike="noStrike" kern="1200" cap="none" spc="0" normalizeH="0" baseline="0" noProof="0">
              <a:ln>
                <a:noFill/>
              </a:ln>
              <a:solidFill>
                <a:srgbClr val="045C75"/>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68390631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F163B-55DB-9BD9-C1C0-D58F8B2D24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CA2393-4F6A-3FA5-EEEB-D34E1A22E4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31C7BC-B6C0-EFFA-CBA8-7A1704A50D37}"/>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5" name="Footer Placeholder 4">
            <a:extLst>
              <a:ext uri="{FF2B5EF4-FFF2-40B4-BE49-F238E27FC236}">
                <a16:creationId xmlns:a16="http://schemas.microsoft.com/office/drawing/2014/main" id="{2AD125B5-E44A-0FA3-7B26-F2CC394A2A81}"/>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6" name="Slide Number Placeholder 5">
            <a:extLst>
              <a:ext uri="{FF2B5EF4-FFF2-40B4-BE49-F238E27FC236}">
                <a16:creationId xmlns:a16="http://schemas.microsoft.com/office/drawing/2014/main" id="{340E752A-9353-C40F-06D7-C585E713002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254EE97-1FE7-42FC-9CC9-29A6EA401F5F}" type="slidenum">
              <a:rPr kumimoji="0" lang="en-US" sz="1200" b="0" i="0" u="none" strike="noStrike" kern="1200" cap="none" spc="0" normalizeH="0" baseline="0" noProof="0" smtClean="0">
                <a:ln>
                  <a:noFill/>
                </a:ln>
                <a:solidFill>
                  <a:srgbClr val="045C75"/>
                </a:solidFill>
                <a:effectLst/>
                <a:uLnTx/>
                <a:uFillTx/>
                <a:latin typeface="Tahoma" panose="020B0604030504040204" pitchFamily="34" charset="0"/>
                <a:ea typeface="+mn-ea"/>
                <a:cs typeface="+mn-cs"/>
              </a:rPr>
              <a:t>‹#›</a:t>
            </a:fld>
            <a:endParaRPr kumimoji="0" lang="en-US" sz="1200" b="0" i="0" u="none" strike="noStrike" kern="1200" cap="none" spc="0" normalizeH="0" baseline="0" noProof="0">
              <a:ln>
                <a:noFill/>
              </a:ln>
              <a:solidFill>
                <a:srgbClr val="045C75"/>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268172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9A859-1C90-451B-5DB4-43562CEEE48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3AE3B0B-B198-7DB6-5C25-8817E6385689}"/>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7F4529-334B-DF58-C9D6-9A5AD48F8177}"/>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5" name="Footer Placeholder 4">
            <a:extLst>
              <a:ext uri="{FF2B5EF4-FFF2-40B4-BE49-F238E27FC236}">
                <a16:creationId xmlns:a16="http://schemas.microsoft.com/office/drawing/2014/main" id="{EFCDAA42-A932-F3B2-5A3E-3AE0E139C351}"/>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6" name="Slide Number Placeholder 5">
            <a:extLst>
              <a:ext uri="{FF2B5EF4-FFF2-40B4-BE49-F238E27FC236}">
                <a16:creationId xmlns:a16="http://schemas.microsoft.com/office/drawing/2014/main" id="{51ED45A1-F391-3C8D-BC12-E267D55C30E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254EE97-1FE7-42FC-9CC9-29A6EA401F5F}" type="slidenum">
              <a:rPr kumimoji="0" lang="en-US" sz="1200" b="0" i="0" u="none" strike="noStrike" kern="1200" cap="none" spc="0" normalizeH="0" baseline="0" noProof="0" smtClean="0">
                <a:ln>
                  <a:noFill/>
                </a:ln>
                <a:solidFill>
                  <a:srgbClr val="045C75"/>
                </a:solidFill>
                <a:effectLst/>
                <a:uLnTx/>
                <a:uFillTx/>
                <a:latin typeface="Tahoma" panose="020B0604030504040204" pitchFamily="34" charset="0"/>
                <a:ea typeface="+mn-ea"/>
                <a:cs typeface="+mn-cs"/>
              </a:rPr>
              <a:t>‹#›</a:t>
            </a:fld>
            <a:endParaRPr kumimoji="0" lang="en-US" sz="1200" b="0" i="0" u="none" strike="noStrike" kern="1200" cap="none" spc="0" normalizeH="0" baseline="0" noProof="0">
              <a:ln>
                <a:noFill/>
              </a:ln>
              <a:solidFill>
                <a:srgbClr val="045C75"/>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99089902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4CFFF-0360-5BB7-78E5-D107C74E1C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B2AC7E-7AFC-DEF9-FCB7-47B8DE7C35CD}"/>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E35B964-81D5-97B3-A80B-71C52840CBD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9785FED-CAD7-8870-93C1-B22D30890F7D}"/>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6" name="Footer Placeholder 5">
            <a:extLst>
              <a:ext uri="{FF2B5EF4-FFF2-40B4-BE49-F238E27FC236}">
                <a16:creationId xmlns:a16="http://schemas.microsoft.com/office/drawing/2014/main" id="{749E60EF-ADDD-0EEA-C4E5-BB4ABD72DB7E}"/>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7" name="Slide Number Placeholder 6">
            <a:extLst>
              <a:ext uri="{FF2B5EF4-FFF2-40B4-BE49-F238E27FC236}">
                <a16:creationId xmlns:a16="http://schemas.microsoft.com/office/drawing/2014/main" id="{D0F56D04-9C26-CF01-1CFC-D5897610339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254EE97-1FE7-42FC-9CC9-29A6EA401F5F}" type="slidenum">
              <a:rPr kumimoji="0" lang="en-US" sz="1200" b="0" i="0" u="none" strike="noStrike" kern="1200" cap="none" spc="0" normalizeH="0" baseline="0" noProof="0" smtClean="0">
                <a:ln>
                  <a:noFill/>
                </a:ln>
                <a:solidFill>
                  <a:srgbClr val="045C75"/>
                </a:solidFill>
                <a:effectLst/>
                <a:uLnTx/>
                <a:uFillTx/>
                <a:latin typeface="Tahoma" panose="020B0604030504040204" pitchFamily="34" charset="0"/>
                <a:ea typeface="+mn-ea"/>
                <a:cs typeface="+mn-cs"/>
              </a:rPr>
              <a:t>‹#›</a:t>
            </a:fld>
            <a:endParaRPr kumimoji="0" lang="en-US" sz="1200" b="0" i="0" u="none" strike="noStrike" kern="1200" cap="none" spc="0" normalizeH="0" baseline="0" noProof="0">
              <a:ln>
                <a:noFill/>
              </a:ln>
              <a:solidFill>
                <a:srgbClr val="045C75"/>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3732564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81450-F59B-1547-8858-4702B8FB4643}"/>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C0E845-9AFD-14BA-7928-63720E2ECEF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DE725AF-5682-AAEE-2BCC-1AA53B5804D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1A87222-3CFA-8010-4F3D-750826AE8D7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84069FD-218B-9B77-AA87-A06FEBCF6D79}"/>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FDB8E4-C15B-77C2-0A4E-DCF60BCB56D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8" name="Footer Placeholder 7">
            <a:extLst>
              <a:ext uri="{FF2B5EF4-FFF2-40B4-BE49-F238E27FC236}">
                <a16:creationId xmlns:a16="http://schemas.microsoft.com/office/drawing/2014/main" id="{B3628776-8A6C-1D7E-A521-19B61A7893FA}"/>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9" name="Slide Number Placeholder 8">
            <a:extLst>
              <a:ext uri="{FF2B5EF4-FFF2-40B4-BE49-F238E27FC236}">
                <a16:creationId xmlns:a16="http://schemas.microsoft.com/office/drawing/2014/main" id="{C3610F2F-8374-7CBE-78A1-099C0C6B368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254EE97-1FE7-42FC-9CC9-29A6EA401F5F}" type="slidenum">
              <a:rPr kumimoji="0" lang="en-US" sz="1200" b="0" i="0" u="none" strike="noStrike" kern="1200" cap="none" spc="0" normalizeH="0" baseline="0" noProof="0" smtClean="0">
                <a:ln>
                  <a:noFill/>
                </a:ln>
                <a:solidFill>
                  <a:srgbClr val="045C75"/>
                </a:solidFill>
                <a:effectLst/>
                <a:uLnTx/>
                <a:uFillTx/>
                <a:latin typeface="Tahoma" panose="020B0604030504040204" pitchFamily="34" charset="0"/>
                <a:ea typeface="+mn-ea"/>
                <a:cs typeface="+mn-cs"/>
              </a:rPr>
              <a:t>‹#›</a:t>
            </a:fld>
            <a:endParaRPr kumimoji="0" lang="en-US" sz="1200" b="0" i="0" u="none" strike="noStrike" kern="1200" cap="none" spc="0" normalizeH="0" baseline="0" noProof="0">
              <a:ln>
                <a:noFill/>
              </a:ln>
              <a:solidFill>
                <a:srgbClr val="045C75"/>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66673839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43B3-C5E2-F289-0D00-3ED4CBF42E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FC54D70-7982-1268-AC85-FA5F52E49D0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4" name="Footer Placeholder 3">
            <a:extLst>
              <a:ext uri="{FF2B5EF4-FFF2-40B4-BE49-F238E27FC236}">
                <a16:creationId xmlns:a16="http://schemas.microsoft.com/office/drawing/2014/main" id="{8EF8F7A8-E470-6943-09CD-6FD53E880E9E}"/>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5" name="Slide Number Placeholder 4">
            <a:extLst>
              <a:ext uri="{FF2B5EF4-FFF2-40B4-BE49-F238E27FC236}">
                <a16:creationId xmlns:a16="http://schemas.microsoft.com/office/drawing/2014/main" id="{D64FF4CB-DAEF-13CB-726C-6C020EFE17A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254EE97-1FE7-42FC-9CC9-29A6EA401F5F}" type="slidenum">
              <a:rPr kumimoji="0" lang="en-US" sz="1200" b="0" i="0" u="none" strike="noStrike" kern="1200" cap="none" spc="0" normalizeH="0" baseline="0" noProof="0" smtClean="0">
                <a:ln>
                  <a:noFill/>
                </a:ln>
                <a:solidFill>
                  <a:srgbClr val="045C75"/>
                </a:solidFill>
                <a:effectLst/>
                <a:uLnTx/>
                <a:uFillTx/>
                <a:latin typeface="Tahoma" panose="020B0604030504040204" pitchFamily="34" charset="0"/>
                <a:ea typeface="+mn-ea"/>
                <a:cs typeface="+mn-cs"/>
              </a:rPr>
              <a:t>‹#›</a:t>
            </a:fld>
            <a:endParaRPr kumimoji="0" lang="en-US" sz="1200" b="0" i="0" u="none" strike="noStrike" kern="1200" cap="none" spc="0" normalizeH="0" baseline="0" noProof="0">
              <a:ln>
                <a:noFill/>
              </a:ln>
              <a:solidFill>
                <a:srgbClr val="045C75"/>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722647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7D413E-C78A-0A2F-6477-C5631525E62F}"/>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3" name="Footer Placeholder 2">
            <a:extLst>
              <a:ext uri="{FF2B5EF4-FFF2-40B4-BE49-F238E27FC236}">
                <a16:creationId xmlns:a16="http://schemas.microsoft.com/office/drawing/2014/main" id="{A1012FE2-2BF7-03F5-93B8-3CAD5CF614DF}"/>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4" name="Slide Number Placeholder 3">
            <a:extLst>
              <a:ext uri="{FF2B5EF4-FFF2-40B4-BE49-F238E27FC236}">
                <a16:creationId xmlns:a16="http://schemas.microsoft.com/office/drawing/2014/main" id="{5697CFCB-6430-300E-FFAB-57938E9EB9F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254EE97-1FE7-42FC-9CC9-29A6EA401F5F}" type="slidenum">
              <a:rPr kumimoji="0" lang="en-US" sz="1200" b="0" i="0" u="none" strike="noStrike" kern="1200" cap="none" spc="0" normalizeH="0" baseline="0" noProof="0" smtClean="0">
                <a:ln>
                  <a:noFill/>
                </a:ln>
                <a:solidFill>
                  <a:srgbClr val="045C75"/>
                </a:solidFill>
                <a:effectLst/>
                <a:uLnTx/>
                <a:uFillTx/>
                <a:latin typeface="Tahoma" panose="020B0604030504040204" pitchFamily="34" charset="0"/>
                <a:ea typeface="+mn-ea"/>
                <a:cs typeface="+mn-cs"/>
              </a:rPr>
              <a:t>‹#›</a:t>
            </a:fld>
            <a:endParaRPr kumimoji="0" lang="en-US" sz="1200" b="0" i="0" u="none" strike="noStrike" kern="1200" cap="none" spc="0" normalizeH="0" baseline="0" noProof="0">
              <a:ln>
                <a:noFill/>
              </a:ln>
              <a:solidFill>
                <a:srgbClr val="045C75"/>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10146896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0BD9E-FDC2-B9C0-C958-88B81FA662F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4A01AE-3C99-CC7E-99C5-F5A4765F2D7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289526F-4697-25D6-588C-679877DF318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F8FFE67-74BC-1150-B125-F5DEFEFC8F0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6" name="Footer Placeholder 5">
            <a:extLst>
              <a:ext uri="{FF2B5EF4-FFF2-40B4-BE49-F238E27FC236}">
                <a16:creationId xmlns:a16="http://schemas.microsoft.com/office/drawing/2014/main" id="{3D5F4769-515C-6A7E-D20A-B7AD74372ACA}"/>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7" name="Slide Number Placeholder 6">
            <a:extLst>
              <a:ext uri="{FF2B5EF4-FFF2-40B4-BE49-F238E27FC236}">
                <a16:creationId xmlns:a16="http://schemas.microsoft.com/office/drawing/2014/main" id="{4A22FDA7-25E5-CB5D-DC3C-F9DA61DB761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254EE97-1FE7-42FC-9CC9-29A6EA401F5F}" type="slidenum">
              <a:rPr kumimoji="0" lang="en-US" sz="1200" b="0" i="0" u="none" strike="noStrike" kern="1200" cap="none" spc="0" normalizeH="0" baseline="0" noProof="0" smtClean="0">
                <a:ln>
                  <a:noFill/>
                </a:ln>
                <a:solidFill>
                  <a:srgbClr val="045C75"/>
                </a:solidFill>
                <a:effectLst/>
                <a:uLnTx/>
                <a:uFillTx/>
                <a:latin typeface="Tahoma" panose="020B0604030504040204" pitchFamily="34" charset="0"/>
                <a:ea typeface="+mn-ea"/>
                <a:cs typeface="+mn-cs"/>
              </a:rPr>
              <a:t>‹#›</a:t>
            </a:fld>
            <a:endParaRPr kumimoji="0" lang="en-US" sz="1200" b="0" i="0" u="none" strike="noStrike" kern="1200" cap="none" spc="0" normalizeH="0" baseline="0" noProof="0">
              <a:ln>
                <a:noFill/>
              </a:ln>
              <a:solidFill>
                <a:srgbClr val="045C75"/>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328686955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1F18E-6433-AAA5-1C0B-2081907E24D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84D504-8DC1-58EB-C83B-06EC1B2842C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A5072395-5182-4294-4F39-992E2F0F6C6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DB1CF7E-923F-C68F-E16E-FB1B83F5E348}"/>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6" name="Footer Placeholder 5">
            <a:extLst>
              <a:ext uri="{FF2B5EF4-FFF2-40B4-BE49-F238E27FC236}">
                <a16:creationId xmlns:a16="http://schemas.microsoft.com/office/drawing/2014/main" id="{37FBF136-83C8-30E8-46D2-58D95001940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7" name="Slide Number Placeholder 6">
            <a:extLst>
              <a:ext uri="{FF2B5EF4-FFF2-40B4-BE49-F238E27FC236}">
                <a16:creationId xmlns:a16="http://schemas.microsoft.com/office/drawing/2014/main" id="{B51383EF-DBFA-84C4-FCF8-B5F90038656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254EE97-1FE7-42FC-9CC9-29A6EA401F5F}" type="slidenum">
              <a:rPr kumimoji="0" lang="en-US" sz="1200" b="0" i="0" u="none" strike="noStrike" kern="1200" cap="none" spc="0" normalizeH="0" baseline="0" noProof="0" smtClean="0">
                <a:ln>
                  <a:noFill/>
                </a:ln>
                <a:solidFill>
                  <a:srgbClr val="045C75"/>
                </a:solidFill>
                <a:effectLst/>
                <a:uLnTx/>
                <a:uFillTx/>
                <a:latin typeface="Tahoma" panose="020B0604030504040204" pitchFamily="34" charset="0"/>
                <a:ea typeface="+mn-ea"/>
                <a:cs typeface="+mn-cs"/>
              </a:rPr>
              <a:t>‹#›</a:t>
            </a:fld>
            <a:endParaRPr kumimoji="0" lang="en-US" sz="1200" b="0" i="0" u="none" strike="noStrike" kern="1200" cap="none" spc="0" normalizeH="0" baseline="0" noProof="0">
              <a:ln>
                <a:noFill/>
              </a:ln>
              <a:solidFill>
                <a:srgbClr val="045C75"/>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46997963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CF6C7-A402-4987-0995-8FD37CD99E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E1E3A1-3822-85E3-EB0C-F2D8FD6036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114FA7-166C-2DD6-2D3B-C7B334DB168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5" name="Footer Placeholder 4">
            <a:extLst>
              <a:ext uri="{FF2B5EF4-FFF2-40B4-BE49-F238E27FC236}">
                <a16:creationId xmlns:a16="http://schemas.microsoft.com/office/drawing/2014/main" id="{AE215374-32F6-0252-26FF-C3AEFD90BE39}"/>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6" name="Slide Number Placeholder 5">
            <a:extLst>
              <a:ext uri="{FF2B5EF4-FFF2-40B4-BE49-F238E27FC236}">
                <a16:creationId xmlns:a16="http://schemas.microsoft.com/office/drawing/2014/main" id="{A1069582-FFC9-5C07-CDFB-C4F3E5BFF65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254EE97-1FE7-42FC-9CC9-29A6EA401F5F}" type="slidenum">
              <a:rPr kumimoji="0" lang="en-US" sz="1200" b="0" i="0" u="none" strike="noStrike" kern="1200" cap="none" spc="0" normalizeH="0" baseline="0" noProof="0" smtClean="0">
                <a:ln>
                  <a:noFill/>
                </a:ln>
                <a:solidFill>
                  <a:srgbClr val="045C75"/>
                </a:solidFill>
                <a:effectLst/>
                <a:uLnTx/>
                <a:uFillTx/>
                <a:latin typeface="Tahoma" panose="020B0604030504040204" pitchFamily="34" charset="0"/>
                <a:ea typeface="+mn-ea"/>
                <a:cs typeface="+mn-cs"/>
              </a:rPr>
              <a:t>‹#›</a:t>
            </a:fld>
            <a:endParaRPr kumimoji="0" lang="en-US" sz="1200" b="0" i="0" u="none" strike="noStrike" kern="1200" cap="none" spc="0" normalizeH="0" baseline="0" noProof="0">
              <a:ln>
                <a:noFill/>
              </a:ln>
              <a:solidFill>
                <a:srgbClr val="045C75"/>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330699967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70507A-6FCD-22B8-75B6-549B85AF4FC6}"/>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1F59A2-52B6-A30C-F266-8292E4137065}"/>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4ED922-3467-DFAB-9652-2A5FA4DF7E5D}"/>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5" name="Footer Placeholder 4">
            <a:extLst>
              <a:ext uri="{FF2B5EF4-FFF2-40B4-BE49-F238E27FC236}">
                <a16:creationId xmlns:a16="http://schemas.microsoft.com/office/drawing/2014/main" id="{8C37884E-8E20-C323-A52E-9302108AF9A3}"/>
              </a:ext>
            </a:extLst>
          </p:cNvPr>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hade val="90000"/>
                </a:schemeClr>
              </a:solidFill>
              <a:effectLst/>
              <a:uLnTx/>
              <a:uFillTx/>
              <a:latin typeface="Tahoma" panose="020B0604030504040204" pitchFamily="34" charset="0"/>
              <a:ea typeface="+mn-ea"/>
              <a:cs typeface="+mn-cs"/>
            </a:endParaRPr>
          </a:p>
        </p:txBody>
      </p:sp>
      <p:sp>
        <p:nvSpPr>
          <p:cNvPr id="6" name="Slide Number Placeholder 5">
            <a:extLst>
              <a:ext uri="{FF2B5EF4-FFF2-40B4-BE49-F238E27FC236}">
                <a16:creationId xmlns:a16="http://schemas.microsoft.com/office/drawing/2014/main" id="{04048AC9-AB40-F37B-2B8B-1ECF6B86EC8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254EE97-1FE7-42FC-9CC9-29A6EA401F5F}" type="slidenum">
              <a:rPr kumimoji="0" lang="en-US" sz="1200" b="0" i="0" u="none" strike="noStrike" kern="1200" cap="none" spc="0" normalizeH="0" baseline="0" noProof="0" smtClean="0">
                <a:ln>
                  <a:noFill/>
                </a:ln>
                <a:solidFill>
                  <a:srgbClr val="045C75"/>
                </a:solidFill>
                <a:effectLst/>
                <a:uLnTx/>
                <a:uFillTx/>
                <a:latin typeface="Tahoma" panose="020B0604030504040204" pitchFamily="34" charset="0"/>
                <a:ea typeface="+mn-ea"/>
                <a:cs typeface="+mn-cs"/>
              </a:rPr>
              <a:t>‹#›</a:t>
            </a:fld>
            <a:endParaRPr kumimoji="0" lang="en-US" sz="1200" b="0" i="0" u="none" strike="noStrike" kern="1200" cap="none" spc="0" normalizeH="0" baseline="0" noProof="0">
              <a:ln>
                <a:noFill/>
              </a:ln>
              <a:solidFill>
                <a:srgbClr val="045C75"/>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62775988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7394" name="Group 187393"/>
          <p:cNvGrpSpPr/>
          <p:nvPr/>
        </p:nvGrpSpPr>
        <p:grpSpPr>
          <a:xfrm>
            <a:off x="0" y="152400"/>
            <a:ext cx="8686800" cy="6096000"/>
            <a:chOff x="0" y="96"/>
            <a:chExt cx="5472" cy="3840"/>
          </a:xfrm>
        </p:grpSpPr>
        <p:sp>
          <p:nvSpPr>
            <p:cNvPr id="187395" name="Rounded Rectangle 187394"/>
            <p:cNvSpPr/>
            <p:nvPr/>
          </p:nvSpPr>
          <p:spPr>
            <a:xfrm>
              <a:off x="240" y="336"/>
              <a:ext cx="5232" cy="3600"/>
            </a:xfrm>
            <a:prstGeom prst="roundRect">
              <a:avLst>
                <a:gd name="adj" fmla="val 13727"/>
              </a:avLst>
            </a:prstGeom>
            <a:noFill/>
            <a:ln w="50800" cap="flat" cmpd="sng">
              <a:solidFill>
                <a:schemeClr val="bg2"/>
              </a:solidFill>
              <a:prstDash val="solid"/>
              <a:headEnd type="none" w="med" len="med"/>
              <a:tailEnd type="none" w="med" len="med"/>
            </a:ln>
          </p:spPr>
          <p:txBody>
            <a:bodyPr wrap="none" anchor="ctr" anchorCtr="0"/>
            <a:lstStyle/>
            <a:p>
              <a:pPr lvl="0" algn="ctr">
                <a:spcBef>
                  <a:spcPct val="0"/>
                </a:spcBef>
              </a:pPr>
              <a:endParaRPr sz="2400">
                <a:latin typeface="Times New Roman" panose="02020603050405020304" pitchFamily="18" charset="0"/>
              </a:endParaRPr>
            </a:p>
          </p:txBody>
        </p:sp>
        <p:sp>
          <p:nvSpPr>
            <p:cNvPr id="187396" name="Freeform 187395"/>
            <p:cNvSpPr/>
            <p:nvPr/>
          </p:nvSpPr>
          <p:spPr>
            <a:xfrm>
              <a:off x="0" y="96"/>
              <a:ext cx="5376" cy="768"/>
            </a:xfrm>
            <a:custGeom>
              <a:avLst/>
              <a:gdLst>
                <a:gd name="A1" fmla="val 0"/>
                <a:gd name="A3" fmla="val 0"/>
                <a:gd name="G0" fmla="+- 1000 0 0"/>
                <a:gd name="G1" fmla="+- 1000 0 0"/>
                <a:gd name="G2" fmla="+- G0 0 G1"/>
                <a:gd name="G3" fmla="*/ G1 1 2"/>
                <a:gd name="G4" fmla="+- G0 0 G3"/>
                <a:gd name="txL" fmla="*/ 0 w 7000"/>
                <a:gd name="txT" fmla="*/ 0 h 1000"/>
              </a:gdLst>
              <a:ahLst/>
              <a:cxnLst/>
              <a:rect l="txL" t="txT" r="G4" b="G1"/>
              <a:pathLst>
                <a:path w="7000" h="1000">
                  <a:moveTo>
                    <a:pt x="0" y="0"/>
                  </a:moveTo>
                  <a:lnTo>
                    <a:pt x="6500" y="0"/>
                  </a:lnTo>
                  <a:arcTo wR="500" hR="500" stAng="-5400000" swAng="10800000"/>
                  <a:lnTo>
                    <a:pt x="0" y="1000"/>
                  </a:lnTo>
                  <a:close/>
                </a:path>
              </a:pathLst>
            </a:custGeom>
            <a:solidFill>
              <a:schemeClr val="folHlink"/>
            </a:solidFill>
            <a:ln w="9525">
              <a:noFill/>
            </a:ln>
          </p:spPr>
          <p:txBody>
            <a:bodyPr/>
            <a:lstStyle/>
            <a:p>
              <a:pPr lvl="0">
                <a:spcBef>
                  <a:spcPct val="0"/>
                </a:spcBef>
              </a:pPr>
              <a:endParaRPr sz="2400">
                <a:latin typeface="Times New Roman" panose="02020603050405020304" pitchFamily="18" charset="0"/>
              </a:endParaRPr>
            </a:p>
          </p:txBody>
        </p:sp>
        <p:sp>
          <p:nvSpPr>
            <p:cNvPr id="187397" name="Straight Connector 187396"/>
            <p:cNvSpPr/>
            <p:nvPr/>
          </p:nvSpPr>
          <p:spPr>
            <a:xfrm>
              <a:off x="0" y="768"/>
              <a:ext cx="5088" cy="0"/>
            </a:xfrm>
            <a:prstGeom prst="line">
              <a:avLst/>
            </a:prstGeom>
            <a:ln w="38100" cap="flat" cmpd="sng">
              <a:solidFill>
                <a:schemeClr val="bg1"/>
              </a:solidFill>
              <a:prstDash val="solid"/>
              <a:headEnd type="none" w="med" len="med"/>
              <a:tailEnd type="none" w="med" len="med"/>
            </a:ln>
          </p:spPr>
        </p:sp>
      </p:grpSp>
      <p:sp>
        <p:nvSpPr>
          <p:cNvPr id="187398" name="Title 187397"/>
          <p:cNvSpPr>
            <a:spLocks noGrp="1"/>
          </p:cNvSpPr>
          <p:nvPr>
            <p:ph type="title"/>
          </p:nvPr>
        </p:nvSpPr>
        <p:spPr>
          <a:xfrm>
            <a:off x="195263" y="228600"/>
            <a:ext cx="8015287" cy="914400"/>
          </a:xfrm>
          <a:prstGeom prst="rect">
            <a:avLst/>
          </a:prstGeom>
          <a:noFill/>
          <a:ln w="9525">
            <a:noFill/>
          </a:ln>
        </p:spPr>
        <p:txBody>
          <a:bodyPr anchor="ctr" anchorCtr="0"/>
          <a:lstStyle/>
          <a:p>
            <a:pPr lvl="0"/>
            <a:r>
              <a:rPr dirty="0"/>
              <a:t>Click to edit Master title style</a:t>
            </a:r>
          </a:p>
        </p:txBody>
      </p:sp>
      <p:sp>
        <p:nvSpPr>
          <p:cNvPr id="187399" name="Text Placeholder 187398"/>
          <p:cNvSpPr>
            <a:spLocks noGrp="1"/>
          </p:cNvSpPr>
          <p:nvPr>
            <p:ph type="body" idx="1"/>
          </p:nvPr>
        </p:nvSpPr>
        <p:spPr>
          <a:xfrm>
            <a:off x="609600" y="1600200"/>
            <a:ext cx="7924800" cy="4419600"/>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87400" name="Date Placeholder 187399"/>
          <p:cNvSpPr>
            <a:spLocks noGrp="1"/>
          </p:cNvSpPr>
          <p:nvPr>
            <p:ph type="dt" sz="half" idx="2"/>
          </p:nvPr>
        </p:nvSpPr>
        <p:spPr>
          <a:xfrm>
            <a:off x="457200" y="6248400"/>
            <a:ext cx="2133600" cy="457200"/>
          </a:xfrm>
          <a:prstGeom prst="rect">
            <a:avLst/>
          </a:prstGeom>
          <a:noFill/>
          <a:ln w="9525">
            <a:noFill/>
          </a:ln>
        </p:spPr>
        <p:txBody>
          <a:bodyPr anchor="b" anchorCtr="0"/>
          <a:lstStyle>
            <a:lvl1pPr>
              <a:defRPr sz="1200"/>
            </a:lvl1pPr>
          </a:lstStyle>
          <a:p>
            <a:pPr lvl="0">
              <a:spcBef>
                <a:spcPct val="0"/>
              </a:spcBef>
            </a:pPr>
            <a:endParaRPr lang="en-US">
              <a:latin typeface="Arial" panose="020B0604020202020204" pitchFamily="34" charset="0"/>
            </a:endParaRPr>
          </a:p>
        </p:txBody>
      </p:sp>
      <p:sp>
        <p:nvSpPr>
          <p:cNvPr id="187401" name="Footer Placeholder 187400"/>
          <p:cNvSpPr>
            <a:spLocks noGrp="1"/>
          </p:cNvSpPr>
          <p:nvPr>
            <p:ph type="ftr" sz="quarter" idx="3"/>
          </p:nvPr>
        </p:nvSpPr>
        <p:spPr>
          <a:xfrm>
            <a:off x="3124200" y="6248400"/>
            <a:ext cx="2895600" cy="457200"/>
          </a:xfrm>
          <a:prstGeom prst="rect">
            <a:avLst/>
          </a:prstGeom>
          <a:noFill/>
          <a:ln w="9525">
            <a:noFill/>
          </a:ln>
        </p:spPr>
        <p:txBody>
          <a:bodyPr anchor="b" anchorCtr="0"/>
          <a:lstStyle>
            <a:lvl1pPr algn="ctr">
              <a:defRPr sz="1200"/>
            </a:lvl1pPr>
          </a:lstStyle>
          <a:p>
            <a:pPr lvl="0">
              <a:spcBef>
                <a:spcPct val="0"/>
              </a:spcBef>
            </a:pPr>
            <a:endParaRPr lang="en-US">
              <a:latin typeface="Arial" panose="020B0604020202020204" pitchFamily="34" charset="0"/>
            </a:endParaRPr>
          </a:p>
        </p:txBody>
      </p:sp>
      <p:sp>
        <p:nvSpPr>
          <p:cNvPr id="187402" name="Slide Number Placeholder 187401"/>
          <p:cNvSpPr>
            <a:spLocks noGrp="1"/>
          </p:cNvSpPr>
          <p:nvPr>
            <p:ph type="sldNum" sz="quarter" idx="4"/>
          </p:nvPr>
        </p:nvSpPr>
        <p:spPr>
          <a:xfrm>
            <a:off x="6553200" y="6248400"/>
            <a:ext cx="2133600" cy="457200"/>
          </a:xfrm>
          <a:prstGeom prst="rect">
            <a:avLst/>
          </a:prstGeom>
          <a:noFill/>
          <a:ln w="9525">
            <a:noFill/>
          </a:ln>
        </p:spPr>
        <p:txBody>
          <a:bodyPr anchor="b" anchorCtr="0"/>
          <a:lstStyle>
            <a:lvl1pPr algn="r">
              <a:defRPr sz="1200">
                <a:latin typeface="Arial Black" panose="020B0A04020102020204" pitchFamily="34" charset="0"/>
              </a:defRPr>
            </a:lvl1pPr>
          </a:lstStyle>
          <a:p>
            <a:pPr lvl="0">
              <a:spcBef>
                <a:spcPct val="0"/>
              </a:spcBef>
            </a:pPr>
            <a:fld id="{9A0DB2DC-4C9A-4742-B13C-FB6460FD3503}" type="slidenum">
              <a:rPr lang="en-US"/>
              <a:t>‹#›</a:t>
            </a:fld>
            <a:endParaRPr 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6" r:id="rId3"/>
    <p:sldLayoutId id="2147483657" r:id="rId4"/>
    <p:sldLayoutId id="2147483658" r:id="rId5"/>
    <p:sldLayoutId id="2147483659" r:id="rId6"/>
  </p:sldLayoutIdLst>
  <p:hf hdr="0" ftr="0" dt="0"/>
  <p:txStyles>
    <p:titleStyle>
      <a:lvl1pPr marL="0" lvl="0" indent="0" algn="l" defTabSz="914400" rtl="0" eaLnBrk="1" fontAlgn="base" latinLnBrk="0" hangingPunct="1">
        <a:lnSpc>
          <a:spcPct val="100000"/>
        </a:lnSpc>
        <a:spcBef>
          <a:spcPct val="0"/>
        </a:spcBef>
        <a:spcAft>
          <a:spcPct val="0"/>
        </a:spcAft>
        <a:buNone/>
        <a:defRPr sz="42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1" fontAlgn="base" latinLnBrk="0" hangingPunct="1">
        <a:lnSpc>
          <a:spcPct val="100000"/>
        </a:lnSpc>
        <a:spcBef>
          <a:spcPct val="50000"/>
        </a:spcBef>
        <a:spcAft>
          <a:spcPct val="0"/>
        </a:spcAft>
        <a:buNone/>
        <a:defRPr sz="2400" b="0" i="0" u="none" kern="1200" baseline="0">
          <a:solidFill>
            <a:schemeClr val="tx1"/>
          </a:solidFill>
          <a:latin typeface="Times New Roman" panose="02020603050405020304" pitchFamily="18" charset="0"/>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7445DB-59C5-32B3-9A4C-8AEF94C0FA8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33578D-25F0-6E15-03C8-4579FD2E7FB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2D5DCD-6819-141C-D813-5AA72BD426E6}"/>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lvl="0">
              <a:spcBef>
                <a:spcPct val="0"/>
              </a:spcBef>
            </a:pPr>
            <a:endParaRPr lang="en-US">
              <a:latin typeface="Arial" panose="020B0604020202020204" pitchFamily="34" charset="0"/>
            </a:endParaRPr>
          </a:p>
        </p:txBody>
      </p:sp>
      <p:sp>
        <p:nvSpPr>
          <p:cNvPr id="5" name="Footer Placeholder 4">
            <a:extLst>
              <a:ext uri="{FF2B5EF4-FFF2-40B4-BE49-F238E27FC236}">
                <a16:creationId xmlns:a16="http://schemas.microsoft.com/office/drawing/2014/main" id="{BD157DE3-0414-B648-7CBB-DE88589AA49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lvl="0">
              <a:spcBef>
                <a:spcPct val="0"/>
              </a:spcBef>
            </a:pPr>
            <a:endParaRPr lang="en-US">
              <a:latin typeface="Arial" panose="020B0604020202020204" pitchFamily="34" charset="0"/>
            </a:endParaRPr>
          </a:p>
        </p:txBody>
      </p:sp>
      <p:sp>
        <p:nvSpPr>
          <p:cNvPr id="6" name="Slide Number Placeholder 5">
            <a:extLst>
              <a:ext uri="{FF2B5EF4-FFF2-40B4-BE49-F238E27FC236}">
                <a16:creationId xmlns:a16="http://schemas.microsoft.com/office/drawing/2014/main" id="{0E607ADB-EC5F-C899-2EBA-8341D5AABEB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lvl="0">
              <a:spcBef>
                <a:spcPct val="0"/>
              </a:spcBef>
            </a:pPr>
            <a:fld id="{9A0DB2DC-4C9A-4742-B13C-FB6460FD3503}" type="slidenum">
              <a:rPr lang="en-US" smtClean="0"/>
              <a:t>‹#›</a:t>
            </a:fld>
            <a:endParaRPr lang="en-US">
              <a:latin typeface="Arial" panose="020B0604020202020204" pitchFamily="34" charset="0"/>
            </a:endParaRPr>
          </a:p>
        </p:txBody>
      </p:sp>
    </p:spTree>
    <p:extLst>
      <p:ext uri="{BB962C8B-B14F-4D97-AF65-F5344CB8AC3E}">
        <p14:creationId xmlns:p14="http://schemas.microsoft.com/office/powerpoint/2010/main" val="40780619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2.jpg"/><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5.wmf"/><Relationship Id="rId4" Type="http://schemas.openxmlformats.org/officeDocument/2006/relationships/image" Target="../media/image9.wmf"/></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jpg"/><Relationship Id="rId5" Type="http://schemas.openxmlformats.org/officeDocument/2006/relationships/image" Target="../media/image13.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2.jpg"/><Relationship Id="rId5" Type="http://schemas.openxmlformats.org/officeDocument/2006/relationships/image" Target="../media/image9.wmf"/><Relationship Id="rId4" Type="http://schemas.openxmlformats.org/officeDocument/2006/relationships/image" Target="../media/image15.wmf"/></Relationships>
</file>

<file path=ppt/slides/_rels/slide1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slideLayout" Target="../slideLayouts/slideLayout13.xml"/><Relationship Id="rId5" Type="http://schemas.openxmlformats.org/officeDocument/2006/relationships/image" Target="../media/image2.jpg"/><Relationship Id="rId4" Type="http://schemas.openxmlformats.org/officeDocument/2006/relationships/image" Target="../media/image9.wmf"/></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2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13.xml"/><Relationship Id="rId6" Type="http://schemas.openxmlformats.org/officeDocument/2006/relationships/image" Target="../media/image2.jpg"/><Relationship Id="rId5" Type="http://schemas.openxmlformats.org/officeDocument/2006/relationships/image" Target="../media/image19.jpg"/><Relationship Id="rId4" Type="http://schemas.openxmlformats.org/officeDocument/2006/relationships/image" Target="../media/image18.jpg"/></Relationships>
</file>

<file path=ppt/slides/_rels/slide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3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3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jpg"/></Relationships>
</file>

<file path=ppt/slides/_rels/slide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jpg"/><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jpg"/><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26.jp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27.jp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1.emf"/><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2.emf"/><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5.jpg"/><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878FAF-E553-F1E3-576E-8C9EB741D5F3}"/>
              </a:ext>
            </a:extLst>
          </p:cNvPr>
          <p:cNvSpPr>
            <a:spLocks noGrp="1"/>
          </p:cNvSpPr>
          <p:nvPr>
            <p:ph type="sldNum" sz="quarter" idx="12"/>
          </p:nvPr>
        </p:nvSpPr>
        <p:spPr/>
        <p:txBody>
          <a:bodyPr/>
          <a:lstStyle/>
          <a:p>
            <a:fld id="{9A0DB2DC-4C9A-4742-B13C-FB6460FD3503}" type="slidenum">
              <a:rPr lang="en-US" smtClean="0"/>
              <a:pPr/>
              <a:t>1</a:t>
            </a:fld>
            <a:endParaRPr lang="en-US"/>
          </a:p>
        </p:txBody>
      </p:sp>
      <p:sp>
        <p:nvSpPr>
          <p:cNvPr id="15" name="Rectangle 14">
            <a:extLst>
              <a:ext uri="{FF2B5EF4-FFF2-40B4-BE49-F238E27FC236}">
                <a16:creationId xmlns:a16="http://schemas.microsoft.com/office/drawing/2014/main" id="{4690B62F-1968-50E6-BB84-434E67E429F3}"/>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oogle Shape;464;p16">
            <a:extLst>
              <a:ext uri="{FF2B5EF4-FFF2-40B4-BE49-F238E27FC236}">
                <a16:creationId xmlns:a16="http://schemas.microsoft.com/office/drawing/2014/main" id="{F8B547A4-66C8-0AFF-C9AD-CD11F10F173D}"/>
              </a:ext>
            </a:extLst>
          </p:cNvPr>
          <p:cNvPicPr preferRelativeResize="0"/>
          <p:nvPr/>
        </p:nvPicPr>
        <p:blipFill>
          <a:blip r:embed="rId2">
            <a:extLst>
              <a:ext uri="{28A0092B-C50C-407E-A947-70E740481C1C}">
                <a14:useLocalDpi xmlns:a14="http://schemas.microsoft.com/office/drawing/2010/main" val="0"/>
              </a:ext>
            </a:extLst>
          </a:blip>
          <a:stretch>
            <a:fillRect/>
          </a:stretch>
        </p:blipFill>
        <p:spPr>
          <a:xfrm>
            <a:off x="1" y="117034"/>
            <a:ext cx="5029200" cy="6623931"/>
          </a:xfrm>
          <a:prstGeom prst="rect">
            <a:avLst/>
          </a:prstGeom>
          <a:noFill/>
          <a:ln>
            <a:noFill/>
          </a:ln>
        </p:spPr>
      </p:pic>
      <p:sp>
        <p:nvSpPr>
          <p:cNvPr id="18" name="TextBox 17">
            <a:extLst>
              <a:ext uri="{FF2B5EF4-FFF2-40B4-BE49-F238E27FC236}">
                <a16:creationId xmlns:a16="http://schemas.microsoft.com/office/drawing/2014/main" id="{2575B62E-1878-C155-C51D-383902D12F59}"/>
              </a:ext>
            </a:extLst>
          </p:cNvPr>
          <p:cNvSpPr txBox="1"/>
          <p:nvPr/>
        </p:nvSpPr>
        <p:spPr>
          <a:xfrm>
            <a:off x="5029200" y="3187681"/>
            <a:ext cx="4053979" cy="461665"/>
          </a:xfrm>
          <a:prstGeom prst="rect">
            <a:avLst/>
          </a:prstGeom>
          <a:noFill/>
        </p:spPr>
        <p:txBody>
          <a:bodyPr wrap="square">
            <a:spAutoFit/>
          </a:bodyPr>
          <a:lstStyle/>
          <a:p>
            <a:pPr marR="0" lvl="0" indent="0">
              <a:spcBef>
                <a:spcPts val="0"/>
              </a:spcBef>
              <a:spcAft>
                <a:spcPts val="0"/>
              </a:spcAft>
              <a:buNone/>
            </a:pPr>
            <a:r>
              <a:rPr lang="en-IN" sz="2400" b="1" dirty="0">
                <a:solidFill>
                  <a:srgbClr val="C00000"/>
                </a:solidFill>
              </a:rPr>
              <a:t>OOSD with C++ </a:t>
            </a:r>
            <a:r>
              <a:rPr lang="en-US" sz="2400" b="1" cap="all" dirty="0">
                <a:ln/>
                <a:solidFill>
                  <a:srgbClr val="C00000"/>
                </a:solidFill>
                <a:latin typeface="Cambria" panose="02040503050406030204" pitchFamily="18" charset="0"/>
                <a:ea typeface="Cambria" panose="02040503050406030204" pitchFamily="18" charset="0"/>
                <a:cs typeface="Poppins" panose="00000500000000000000" pitchFamily="2" charset="0"/>
                <a:sym typeface="BioRhyme ExtraBold"/>
              </a:rPr>
              <a:t>/ BCS-054</a:t>
            </a:r>
          </a:p>
        </p:txBody>
      </p:sp>
      <p:sp>
        <p:nvSpPr>
          <p:cNvPr id="20" name="TextBox 19">
            <a:extLst>
              <a:ext uri="{FF2B5EF4-FFF2-40B4-BE49-F238E27FC236}">
                <a16:creationId xmlns:a16="http://schemas.microsoft.com/office/drawing/2014/main" id="{5FB20B6A-6312-67C2-6CC1-43121E978AC0}"/>
              </a:ext>
            </a:extLst>
          </p:cNvPr>
          <p:cNvSpPr txBox="1"/>
          <p:nvPr/>
        </p:nvSpPr>
        <p:spPr>
          <a:xfrm>
            <a:off x="4025667" y="1194254"/>
            <a:ext cx="6061046" cy="584775"/>
          </a:xfrm>
          <a:prstGeom prst="rect">
            <a:avLst/>
          </a:prstGeom>
          <a:noFill/>
        </p:spPr>
        <p:txBody>
          <a:bodyPr wrap="square">
            <a:spAutoFit/>
          </a:bodyPr>
          <a:lstStyle/>
          <a:p>
            <a:pPr algn="ctr"/>
            <a:r>
              <a:rPr lang="en-US" sz="3200" dirty="0">
                <a:solidFill>
                  <a:srgbClr val="C00000"/>
                </a:solidFill>
                <a:latin typeface="Cambria" panose="02040503050406030204" pitchFamily="18" charset="0"/>
                <a:ea typeface="Cambria" panose="02040503050406030204" pitchFamily="18" charset="0"/>
                <a:cs typeface="Poppins" pitchFamily="2" charset="77"/>
              </a:rPr>
              <a:t>Department of CSAIML</a:t>
            </a:r>
          </a:p>
        </p:txBody>
      </p:sp>
      <p:pic>
        <p:nvPicPr>
          <p:cNvPr id="21" name="Picture 20">
            <a:extLst>
              <a:ext uri="{FF2B5EF4-FFF2-40B4-BE49-F238E27FC236}">
                <a16:creationId xmlns:a16="http://schemas.microsoft.com/office/drawing/2014/main" id="{3AF69D9D-BBC8-045A-01C5-83A190EAC8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90599" cy="968779"/>
          </a:xfrm>
          <a:prstGeom prst="rect">
            <a:avLst/>
          </a:prstGeom>
        </p:spPr>
      </p:pic>
      <p:sp>
        <p:nvSpPr>
          <p:cNvPr id="22" name="Rectangle 21">
            <a:extLst>
              <a:ext uri="{FF2B5EF4-FFF2-40B4-BE49-F238E27FC236}">
                <a16:creationId xmlns:a16="http://schemas.microsoft.com/office/drawing/2014/main" id="{CAF8AC75-4A8F-BDCC-53F0-916DC1EC882C}"/>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8529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901D25-B1EF-5EB3-847F-EE78D316E660}"/>
              </a:ext>
            </a:extLst>
          </p:cNvPr>
          <p:cNvSpPr>
            <a:spLocks noGrp="1"/>
          </p:cNvSpPr>
          <p:nvPr>
            <p:ph type="title"/>
          </p:nvPr>
        </p:nvSpPr>
        <p:spPr>
          <a:xfrm>
            <a:off x="990598" y="228600"/>
            <a:ext cx="7696201" cy="1371600"/>
          </a:xfrm>
        </p:spPr>
        <p:txBody>
          <a:bodyPr/>
          <a:lstStyle/>
          <a:p>
            <a:pPr algn="ctr"/>
            <a:r>
              <a:rPr lang="en-US" sz="3200" dirty="0">
                <a:latin typeface="Cambria" panose="02040503050406030204" pitchFamily="18" charset="0"/>
                <a:ea typeface="Cambria" panose="02040503050406030204" pitchFamily="18" charset="0"/>
              </a:rPr>
              <a:t>UNIT-1 OBJECTIVES</a:t>
            </a:r>
            <a:br>
              <a:rPr lang="en-US" sz="5400" dirty="0">
                <a:latin typeface="Cambria" panose="02040503050406030204" pitchFamily="18" charset="0"/>
                <a:ea typeface="Cambria" panose="02040503050406030204" pitchFamily="18" charset="0"/>
              </a:rPr>
            </a:br>
            <a:endParaRPr lang="en-IN" dirty="0"/>
          </a:p>
        </p:txBody>
      </p:sp>
      <p:sp>
        <p:nvSpPr>
          <p:cNvPr id="6" name="Content Placeholder 5">
            <a:extLst>
              <a:ext uri="{FF2B5EF4-FFF2-40B4-BE49-F238E27FC236}">
                <a16:creationId xmlns:a16="http://schemas.microsoft.com/office/drawing/2014/main" id="{C8E0A188-BBFA-CD5B-4BE8-C8D053F126A7}"/>
              </a:ext>
            </a:extLst>
          </p:cNvPr>
          <p:cNvSpPr>
            <a:spLocks noGrp="1"/>
          </p:cNvSpPr>
          <p:nvPr>
            <p:ph idx="1"/>
          </p:nvPr>
        </p:nvSpPr>
        <p:spPr>
          <a:xfrm>
            <a:off x="457199" y="1335492"/>
            <a:ext cx="8229600" cy="4389437"/>
          </a:xfrm>
        </p:spPr>
        <p:txBody>
          <a:bodyPr/>
          <a:lstStyle/>
          <a:p>
            <a:pPr marL="285750" indent="-285750">
              <a:buFont typeface="Arial" panose="020B0604020202020204" pitchFamily="34" charset="0"/>
              <a:buChar char="•"/>
            </a:pPr>
            <a:r>
              <a:rPr lang="en-US" sz="2800" dirty="0"/>
              <a:t>Understand the principles of object-oriented programming.</a:t>
            </a:r>
          </a:p>
          <a:p>
            <a:pPr marL="285750" indent="-285750">
              <a:buFont typeface="Arial" panose="020B0604020202020204" pitchFamily="34" charset="0"/>
              <a:buChar char="•"/>
            </a:pPr>
            <a:r>
              <a:rPr lang="en-US" sz="2800" dirty="0"/>
              <a:t>Explore core concepts like information hiding and polymorphism.</a:t>
            </a:r>
          </a:p>
          <a:p>
            <a:pPr marL="285750" indent="-285750">
              <a:buFont typeface="Arial" panose="020B0604020202020204" pitchFamily="34" charset="0"/>
              <a:buChar char="•"/>
            </a:pPr>
            <a:r>
              <a:rPr lang="en-US" sz="2800" dirty="0"/>
              <a:t>Discuss the often overlooked but essential topic of software generosity.</a:t>
            </a:r>
          </a:p>
          <a:p>
            <a:pPr marL="285750" indent="-285750">
              <a:buFont typeface="Arial" panose="020B0604020202020204" pitchFamily="34" charset="0"/>
              <a:buChar char="•"/>
            </a:pPr>
            <a:r>
              <a:rPr lang="en-US" sz="2800" dirty="0"/>
              <a:t>Learn why modelling is crucial in system design and development.</a:t>
            </a:r>
          </a:p>
          <a:p>
            <a:pPr marL="0" indent="0">
              <a:buNone/>
            </a:pPr>
            <a:endParaRPr lang="en-IN" dirty="0"/>
          </a:p>
        </p:txBody>
      </p:sp>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2</a:t>
            </a:fld>
            <a:endParaRPr lang="en-US">
              <a:latin typeface="Arial" panose="020B0604020202020204" pitchFamily="34" charset="0"/>
            </a:endParaRPr>
          </a:p>
        </p:txBody>
      </p:sp>
      <p:pic>
        <p:nvPicPr>
          <p:cNvPr id="3" name="Picture 2">
            <a:extLst>
              <a:ext uri="{FF2B5EF4-FFF2-40B4-BE49-F238E27FC236}">
                <a16:creationId xmlns:a16="http://schemas.microsoft.com/office/drawing/2014/main" id="{123A5F00-34E1-9C76-D1A5-FEBF2AF6D0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599" cy="968779"/>
          </a:xfrm>
          <a:prstGeom prst="rect">
            <a:avLst/>
          </a:prstGeom>
        </p:spPr>
      </p:pic>
      <p:sp>
        <p:nvSpPr>
          <p:cNvPr id="8" name="Rectangle 7">
            <a:extLst>
              <a:ext uri="{FF2B5EF4-FFF2-40B4-BE49-F238E27FC236}">
                <a16:creationId xmlns:a16="http://schemas.microsoft.com/office/drawing/2014/main" id="{723539C3-8345-E78E-FEE5-52DFAD309FF2}"/>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351669-114D-2531-AE94-47829D1F843F}"/>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D7D34-5FEB-01AC-5D98-9DCF40737D74}"/>
              </a:ext>
            </a:extLst>
          </p:cNvPr>
          <p:cNvSpPr>
            <a:spLocks noGrp="1"/>
          </p:cNvSpPr>
          <p:nvPr>
            <p:ph type="title"/>
          </p:nvPr>
        </p:nvSpPr>
        <p:spPr>
          <a:xfrm>
            <a:off x="457200" y="76200"/>
            <a:ext cx="8229600" cy="1371600"/>
          </a:xfrm>
        </p:spPr>
        <p:txBody>
          <a:bodyPr/>
          <a:lstStyle/>
          <a:p>
            <a:pPr algn="ctr"/>
            <a:r>
              <a:rPr lang="en-IN" sz="3200" dirty="0"/>
              <a:t>WHY OBJECT-ORIENTED PRINCIPLES</a:t>
            </a:r>
            <a:br>
              <a:rPr lang="en-US" sz="54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CB836C0B-EB72-42FE-6336-4B5BF71285C5}"/>
              </a:ext>
            </a:extLst>
          </p:cNvPr>
          <p:cNvSpPr>
            <a:spLocks noGrp="1"/>
          </p:cNvSpPr>
          <p:nvPr>
            <p:ph idx="1"/>
          </p:nvPr>
        </p:nvSpPr>
        <p:spPr/>
        <p:txBody>
          <a:bodyPr/>
          <a:lstStyle/>
          <a:p>
            <a:pPr marL="285750" indent="-285750">
              <a:buFont typeface="Arial" panose="020B0604020202020204" pitchFamily="34" charset="0"/>
              <a:buChar char="•"/>
            </a:pPr>
            <a:r>
              <a:rPr lang="en-US" sz="2800" dirty="0"/>
              <a:t>Drives modern software design.</a:t>
            </a:r>
          </a:p>
          <a:p>
            <a:pPr marL="285750" indent="-285750">
              <a:buFont typeface="Arial" panose="020B0604020202020204" pitchFamily="34" charset="0"/>
              <a:buChar char="•"/>
            </a:pPr>
            <a:r>
              <a:rPr lang="en-US" sz="2800" dirty="0"/>
              <a:t>Helps build reusable, scalable, and secure systems.</a:t>
            </a:r>
          </a:p>
          <a:p>
            <a:pPr marL="285750" indent="-285750">
              <a:buFont typeface="Arial" panose="020B0604020202020204" pitchFamily="34" charset="0"/>
              <a:buChar char="•"/>
            </a:pPr>
            <a:r>
              <a:rPr lang="en-US" sz="2800" dirty="0"/>
              <a:t>Provides abstraction that simplifies real-world complexity</a:t>
            </a:r>
            <a:endParaRPr lang="en-IN" dirty="0"/>
          </a:p>
        </p:txBody>
      </p:sp>
      <p:pic>
        <p:nvPicPr>
          <p:cNvPr id="4" name="Picture 3">
            <a:extLst>
              <a:ext uri="{FF2B5EF4-FFF2-40B4-BE49-F238E27FC236}">
                <a16:creationId xmlns:a16="http://schemas.microsoft.com/office/drawing/2014/main" id="{98145035-0A75-19FB-DABE-7A6D7299C2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599" cy="968779"/>
          </a:xfrm>
          <a:prstGeom prst="rect">
            <a:avLst/>
          </a:prstGeom>
        </p:spPr>
      </p:pic>
      <p:sp>
        <p:nvSpPr>
          <p:cNvPr id="5" name="Rectangle 4">
            <a:extLst>
              <a:ext uri="{FF2B5EF4-FFF2-40B4-BE49-F238E27FC236}">
                <a16:creationId xmlns:a16="http://schemas.microsoft.com/office/drawing/2014/main" id="{BFA31C6F-47C2-1934-6CB5-28F3D512B161}"/>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50F56EC-E6F9-3455-7F46-F9F6CCFDA308}"/>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4346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D52AE-B2A2-A30E-DA01-3CFB8594FE90}"/>
              </a:ext>
            </a:extLst>
          </p:cNvPr>
          <p:cNvSpPr>
            <a:spLocks noGrp="1"/>
          </p:cNvSpPr>
          <p:nvPr>
            <p:ph type="title"/>
          </p:nvPr>
        </p:nvSpPr>
        <p:spPr/>
        <p:txBody>
          <a:bodyPr/>
          <a:lstStyle/>
          <a:p>
            <a:pPr algn="ctr"/>
            <a:r>
              <a:rPr lang="en-US" sz="3200" dirty="0"/>
              <a:t>UNIT-1 OVERVIEW </a:t>
            </a:r>
            <a:br>
              <a:rPr lang="en-US" sz="5400" dirty="0"/>
            </a:br>
            <a:endParaRPr lang="en-IN" dirty="0"/>
          </a:p>
        </p:txBody>
      </p:sp>
      <p:sp>
        <p:nvSpPr>
          <p:cNvPr id="3" name="Content Placeholder 2">
            <a:extLst>
              <a:ext uri="{FF2B5EF4-FFF2-40B4-BE49-F238E27FC236}">
                <a16:creationId xmlns:a16="http://schemas.microsoft.com/office/drawing/2014/main" id="{3F7A3284-6474-BAAD-CCE5-5F5923C26142}"/>
              </a:ext>
            </a:extLst>
          </p:cNvPr>
          <p:cNvSpPr>
            <a:spLocks noGrp="1"/>
          </p:cNvSpPr>
          <p:nvPr>
            <p:ph idx="1"/>
          </p:nvPr>
        </p:nvSpPr>
        <p:spPr/>
        <p:txBody>
          <a:bodyPr/>
          <a:lstStyle/>
          <a:p>
            <a:pPr marL="0" indent="0">
              <a:buNone/>
            </a:pPr>
            <a:r>
              <a:rPr lang="en-US" sz="2800" b="1" dirty="0">
                <a:solidFill>
                  <a:schemeClr val="bg1"/>
                </a:solidFill>
              </a:rPr>
              <a:t>UNIT 1</a:t>
            </a:r>
          </a:p>
          <a:p>
            <a:pPr marL="0" indent="0">
              <a:buNone/>
            </a:pPr>
            <a:endParaRPr lang="en-US" sz="2800" b="1" dirty="0">
              <a:solidFill>
                <a:schemeClr val="bg1"/>
              </a:solidFill>
            </a:endParaRPr>
          </a:p>
        </p:txBody>
      </p:sp>
      <p:graphicFrame>
        <p:nvGraphicFramePr>
          <p:cNvPr id="4" name="Diagram 3">
            <a:extLst>
              <a:ext uri="{FF2B5EF4-FFF2-40B4-BE49-F238E27FC236}">
                <a16:creationId xmlns:a16="http://schemas.microsoft.com/office/drawing/2014/main" id="{E4900679-692A-4AC0-89D7-E9BF2B508997}"/>
              </a:ext>
            </a:extLst>
          </p:cNvPr>
          <p:cNvGraphicFramePr/>
          <p:nvPr>
            <p:extLst>
              <p:ext uri="{D42A27DB-BD31-4B8C-83A1-F6EECF244321}">
                <p14:modId xmlns:p14="http://schemas.microsoft.com/office/powerpoint/2010/main" val="2327378412"/>
              </p:ext>
            </p:extLst>
          </p:nvPr>
        </p:nvGraphicFramePr>
        <p:xfrm>
          <a:off x="177192" y="1500428"/>
          <a:ext cx="8814408" cy="51636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316468F5-3259-1953-637F-155D57FBA9D6}"/>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54E03CC-FCD2-AC5D-C1FB-3614919125E0}"/>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1772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graphicEl>
                                              <a:dgm id="{E5BE4D95-F4C8-4FDA-A09E-3E170050CA58}"/>
                                            </p:graphicEl>
                                          </p:spTgt>
                                        </p:tgtEl>
                                        <p:attrNameLst>
                                          <p:attrName>style.visibility</p:attrName>
                                        </p:attrNameLst>
                                      </p:cBhvr>
                                      <p:to>
                                        <p:strVal val="visible"/>
                                      </p:to>
                                    </p:set>
                                    <p:animEffect transition="in" filter="wipe(up)">
                                      <p:cBhvr>
                                        <p:cTn id="7" dur="1000"/>
                                        <p:tgtEl>
                                          <p:spTgt spid="4">
                                            <p:graphicEl>
                                              <a:dgm id="{E5BE4D95-F4C8-4FDA-A09E-3E170050CA58}"/>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graphicEl>
                                              <a:dgm id="{1A86BCAE-7388-41CA-AC86-E894C5DFCE79}"/>
                                            </p:graphicEl>
                                          </p:spTgt>
                                        </p:tgtEl>
                                        <p:attrNameLst>
                                          <p:attrName>style.visibility</p:attrName>
                                        </p:attrNameLst>
                                      </p:cBhvr>
                                      <p:to>
                                        <p:strVal val="visible"/>
                                      </p:to>
                                    </p:set>
                                    <p:animEffect transition="in" filter="wipe(up)">
                                      <p:cBhvr>
                                        <p:cTn id="12" dur="1000"/>
                                        <p:tgtEl>
                                          <p:spTgt spid="4">
                                            <p:graphicEl>
                                              <a:dgm id="{1A86BCAE-7388-41CA-AC86-E894C5DFCE7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5</a:t>
            </a:fld>
            <a:endParaRPr lang="en-US">
              <a:latin typeface="Arial" panose="020B0604020202020204" pitchFamily="34" charset="0"/>
            </a:endParaRPr>
          </a:p>
        </p:txBody>
      </p:sp>
      <p:sp>
        <p:nvSpPr>
          <p:cNvPr id="297986" name="Title 297985"/>
          <p:cNvSpPr>
            <a:spLocks noGrp="1"/>
          </p:cNvSpPr>
          <p:nvPr>
            <p:ph type="title" idx="4294967295"/>
          </p:nvPr>
        </p:nvSpPr>
        <p:spPr>
          <a:xfrm>
            <a:off x="0" y="228600"/>
            <a:ext cx="8015288" cy="914400"/>
          </a:xfrm>
        </p:spPr>
        <p:txBody>
          <a:bodyPr anchor="ctr" anchorCtr="0">
            <a:normAutofit fontScale="90000"/>
          </a:bodyPr>
          <a:lstStyle/>
          <a:p>
            <a:pPr algn="ctr"/>
            <a:r>
              <a:rPr sz="3800" b="1" dirty="0"/>
              <a:t>Why Object-Oriented?</a:t>
            </a:r>
            <a:br>
              <a:rPr sz="3800" dirty="0"/>
            </a:br>
            <a:endParaRPr sz="3800" dirty="0"/>
          </a:p>
        </p:txBody>
      </p:sp>
      <p:sp>
        <p:nvSpPr>
          <p:cNvPr id="3" name="Content Placeholder 2"/>
          <p:cNvSpPr>
            <a:spLocks noGrp="1"/>
          </p:cNvSpPr>
          <p:nvPr>
            <p:ph sz="half" idx="4294967295"/>
          </p:nvPr>
        </p:nvSpPr>
        <p:spPr>
          <a:xfrm>
            <a:off x="0" y="4076700"/>
            <a:ext cx="8428038" cy="2100263"/>
          </a:xfrm>
        </p:spPr>
        <p:txBody>
          <a:bodyPr/>
          <a:lstStyle/>
          <a:p>
            <a:r>
              <a:rPr sz="2800" dirty="0">
                <a:solidFill>
                  <a:srgbClr val="000000"/>
                </a:solidFill>
                <a:latin typeface="Times-Roman"/>
                <a:ea typeface="Times-Roman"/>
                <a:sym typeface="+mn-ea"/>
              </a:rPr>
              <a:t>They generally include four aspects: </a:t>
            </a:r>
            <a:r>
              <a:rPr sz="2800" b="1" dirty="0">
                <a:solidFill>
                  <a:srgbClr val="000000"/>
                </a:solidFill>
                <a:latin typeface="Times-Bold"/>
                <a:ea typeface="Times-Bold"/>
                <a:sym typeface="+mn-ea"/>
              </a:rPr>
              <a:t>identity, classification, inheritance, and polymorphism.</a:t>
            </a:r>
            <a:r>
              <a:rPr b="1" dirty="0">
                <a:solidFill>
                  <a:srgbClr val="000000"/>
                </a:solidFill>
                <a:latin typeface="Times-Bold"/>
                <a:ea typeface="Times-Bold"/>
                <a:sym typeface="+mn-ea"/>
              </a:rPr>
              <a:t> </a:t>
            </a:r>
            <a:endParaRPr lang="en-US" dirty="0"/>
          </a:p>
        </p:txBody>
      </p:sp>
      <p:sp>
        <p:nvSpPr>
          <p:cNvPr id="4" name="Text Box 3"/>
          <p:cNvSpPr txBox="1"/>
          <p:nvPr/>
        </p:nvSpPr>
        <p:spPr>
          <a:xfrm>
            <a:off x="381000" y="1523365"/>
            <a:ext cx="7599045" cy="2543810"/>
          </a:xfrm>
          <a:prstGeom prst="rect">
            <a:avLst/>
          </a:prstGeom>
        </p:spPr>
        <p:txBody>
          <a:bodyPr>
            <a:noAutofit/>
          </a:bodyPr>
          <a:lstStyle/>
          <a:p>
            <a:pPr marL="0" indent="0" algn="just" defTabSz="266700">
              <a:spcAft>
                <a:spcPct val="0"/>
              </a:spcAft>
            </a:pPr>
            <a:r>
              <a:rPr dirty="0">
                <a:solidFill>
                  <a:srgbClr val="000000"/>
                </a:solidFill>
                <a:latin typeface="Times-Roman"/>
                <a:ea typeface="Times-Roman"/>
              </a:rPr>
              <a:t>The term object-oriented (OO) means that we organize software as a collection of discrete objects that incorporate both data structure and behavior. </a:t>
            </a:r>
          </a:p>
          <a:p>
            <a:pPr marL="0" indent="0" algn="just" defTabSz="266700">
              <a:spcAft>
                <a:spcPct val="0"/>
              </a:spcAft>
            </a:pPr>
            <a:r>
              <a:rPr dirty="0">
                <a:solidFill>
                  <a:srgbClr val="000000"/>
                </a:solidFill>
                <a:latin typeface="Times-Roman"/>
                <a:ea typeface="Times-Roman"/>
              </a:rPr>
              <a:t>This contrasts with previous programming approaches in which data structure and behavior are only loosely connected.</a:t>
            </a:r>
          </a:p>
          <a:p>
            <a:pPr marL="0" indent="0" algn="just" defTabSz="266700">
              <a:spcAft>
                <a:spcPct val="0"/>
              </a:spcAft>
            </a:pPr>
            <a:endParaRPr b="1" dirty="0">
              <a:solidFill>
                <a:srgbClr val="000000"/>
              </a:solidFill>
              <a:latin typeface="Times-Bold"/>
              <a:ea typeface="Times-Bold"/>
            </a:endParaRPr>
          </a:p>
        </p:txBody>
      </p:sp>
      <p:pic>
        <p:nvPicPr>
          <p:cNvPr id="5" name="Picture 4">
            <a:extLst>
              <a:ext uri="{FF2B5EF4-FFF2-40B4-BE49-F238E27FC236}">
                <a16:creationId xmlns:a16="http://schemas.microsoft.com/office/drawing/2014/main" id="{B8DD2846-2BB5-2A18-C3AB-0E8A314132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6" name="Rectangle 5">
            <a:extLst>
              <a:ext uri="{FF2B5EF4-FFF2-40B4-BE49-F238E27FC236}">
                <a16:creationId xmlns:a16="http://schemas.microsoft.com/office/drawing/2014/main" id="{69FF4D09-1497-10DB-B4DC-DAFF4EE1AEEA}"/>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469D7E3-A718-031C-6CD2-8DC7E4D53A7E}"/>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6</a:t>
            </a:fld>
            <a:endParaRPr lang="en-US">
              <a:latin typeface="Arial" panose="020B0604020202020204" pitchFamily="34" charset="0"/>
            </a:endParaRPr>
          </a:p>
        </p:txBody>
      </p:sp>
      <p:sp>
        <p:nvSpPr>
          <p:cNvPr id="300034" name="Title 300033"/>
          <p:cNvSpPr>
            <a:spLocks noGrp="1"/>
          </p:cNvSpPr>
          <p:nvPr>
            <p:ph type="title"/>
          </p:nvPr>
        </p:nvSpPr>
        <p:spPr>
          <a:xfrm>
            <a:off x="0" y="0"/>
            <a:ext cx="8015288" cy="914400"/>
          </a:xfrm>
        </p:spPr>
        <p:txBody>
          <a:bodyPr anchor="ctr" anchorCtr="0"/>
          <a:lstStyle/>
          <a:p>
            <a:r>
              <a:rPr sz="3800" b="1"/>
              <a:t>Why Object-Oriented?</a:t>
            </a:r>
            <a:br>
              <a:rPr sz="3800"/>
            </a:br>
            <a:endParaRPr sz="3800"/>
          </a:p>
        </p:txBody>
      </p:sp>
      <p:pic>
        <p:nvPicPr>
          <p:cNvPr id="300040" name="Content Placeholder 300039" descr="software engineering explained"/>
          <p:cNvPicPr>
            <a:picLocks noGrp="1" noChangeAspect="1"/>
          </p:cNvPicPr>
          <p:nvPr>
            <p:ph idx="1"/>
          </p:nvPr>
        </p:nvPicPr>
        <p:blipFill>
          <a:blip r:embed="rId3"/>
          <a:stretch>
            <a:fillRect/>
          </a:stretch>
        </p:blipFill>
        <p:spPr>
          <a:xfrm>
            <a:off x="-152400" y="-114300"/>
            <a:ext cx="9296400" cy="6972300"/>
          </a:xfrm>
        </p:spPr>
      </p:pic>
      <p:sp>
        <p:nvSpPr>
          <p:cNvPr id="3" name="Rectangle 2">
            <a:extLst>
              <a:ext uri="{FF2B5EF4-FFF2-40B4-BE49-F238E27FC236}">
                <a16:creationId xmlns:a16="http://schemas.microsoft.com/office/drawing/2014/main" id="{991CE3CB-4A48-47AB-B298-D4EEFC1D91F1}"/>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9758F73-EA79-77CB-2271-962C4F63EB1F}"/>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7</a:t>
            </a:fld>
            <a:endParaRPr lang="en-US">
              <a:latin typeface="Arial" panose="020B0604020202020204" pitchFamily="34" charset="0"/>
            </a:endParaRPr>
          </a:p>
        </p:txBody>
      </p:sp>
      <p:sp>
        <p:nvSpPr>
          <p:cNvPr id="53250" name="Title 53249"/>
          <p:cNvSpPr>
            <a:spLocks noGrp="1"/>
          </p:cNvSpPr>
          <p:nvPr>
            <p:ph type="title" idx="4294967295"/>
          </p:nvPr>
        </p:nvSpPr>
        <p:spPr>
          <a:xfrm>
            <a:off x="0" y="228600"/>
            <a:ext cx="8015288" cy="914400"/>
          </a:xfrm>
        </p:spPr>
        <p:txBody>
          <a:bodyPr anchor="ctr" anchorCtr="0">
            <a:normAutofit fontScale="90000"/>
          </a:bodyPr>
          <a:lstStyle/>
          <a:p>
            <a:pPr algn="ctr"/>
            <a:r>
              <a:rPr sz="3800" b="1" dirty="0"/>
              <a:t>Why Object-Oriented?</a:t>
            </a:r>
            <a:br>
              <a:rPr sz="3800" dirty="0"/>
            </a:br>
            <a:endParaRPr sz="3800" dirty="0"/>
          </a:p>
        </p:txBody>
      </p:sp>
      <p:sp>
        <p:nvSpPr>
          <p:cNvPr id="53251" name="Text Placeholder 53250"/>
          <p:cNvSpPr>
            <a:spLocks noGrp="1"/>
          </p:cNvSpPr>
          <p:nvPr>
            <p:ph type="body" sz="half" idx="4294967295"/>
          </p:nvPr>
        </p:nvSpPr>
        <p:spPr>
          <a:xfrm>
            <a:off x="0" y="1600200"/>
            <a:ext cx="7848600" cy="1981200"/>
          </a:xfrm>
        </p:spPr>
        <p:txBody>
          <a:bodyPr>
            <a:normAutofit fontScale="92500" lnSpcReduction="20000"/>
          </a:bodyPr>
          <a:lstStyle/>
          <a:p>
            <a:pPr>
              <a:lnSpc>
                <a:spcPct val="80000"/>
              </a:lnSpc>
              <a:buClr>
                <a:schemeClr val="hlink"/>
              </a:buClr>
              <a:buSzPct val="80000"/>
              <a:buFont typeface="Wingdings" panose="05000000000000000000" pitchFamily="2" charset="2"/>
              <a:buNone/>
            </a:pPr>
            <a:r>
              <a:rPr sz="800" i="1" dirty="0"/>
              <a:t>	</a:t>
            </a:r>
            <a:r>
              <a:rPr sz="1800" i="1" dirty="0"/>
              <a:t>“The "software crises" came about when people realized the major problems in software development were … caused by </a:t>
            </a:r>
            <a:r>
              <a:rPr sz="1800" b="1" i="1" dirty="0"/>
              <a:t>communication</a:t>
            </a:r>
            <a:r>
              <a:rPr sz="1800" i="1" dirty="0"/>
              <a:t> difficulties and the management of </a:t>
            </a:r>
            <a:r>
              <a:rPr sz="1800" b="1" i="1" dirty="0"/>
              <a:t>complexity”</a:t>
            </a:r>
            <a:r>
              <a:rPr sz="1800" i="1" dirty="0"/>
              <a:t> [Budd]</a:t>
            </a:r>
          </a:p>
          <a:p>
            <a:pPr>
              <a:lnSpc>
                <a:spcPct val="80000"/>
              </a:lnSpc>
              <a:buClr>
                <a:schemeClr val="hlink"/>
              </a:buClr>
              <a:buSzPct val="80000"/>
              <a:buFont typeface="Wingdings" panose="05000000000000000000" pitchFamily="2" charset="2"/>
            </a:pPr>
            <a:endParaRPr sz="1800" i="1" dirty="0"/>
          </a:p>
          <a:p>
            <a:pPr>
              <a:lnSpc>
                <a:spcPct val="80000"/>
              </a:lnSpc>
              <a:buClr>
                <a:schemeClr val="hlink"/>
              </a:buClr>
              <a:buSzPct val="80000"/>
              <a:buFont typeface="Wingdings" panose="05000000000000000000" pitchFamily="2" charset="2"/>
              <a:buNone/>
            </a:pPr>
            <a:r>
              <a:rPr sz="1800" i="1" dirty="0"/>
              <a:t>The Whorfian Hypothesis:</a:t>
            </a:r>
          </a:p>
          <a:p>
            <a:pPr>
              <a:lnSpc>
                <a:spcPct val="80000"/>
              </a:lnSpc>
              <a:buClr>
                <a:schemeClr val="hlink"/>
              </a:buClr>
              <a:buSzPct val="80000"/>
              <a:buFont typeface="Wingdings" panose="05000000000000000000" pitchFamily="2" charset="2"/>
              <a:buNone/>
            </a:pPr>
            <a:r>
              <a:rPr sz="1800" i="1" dirty="0"/>
              <a:t>      Human beings</a:t>
            </a:r>
            <a:r>
              <a:rPr sz="1800" dirty="0"/>
              <a:t> … are very much at the mercy of the particular language which has become the medium of expression for their society … the 'real world' is … built upon the language habits …  We cut nature up, organize it into concepts, and ascribe significances as we do, largely because we are parties to an agreement to organize it in this way … and is codified in the patterns of our language. </a:t>
            </a:r>
          </a:p>
          <a:p>
            <a:pPr>
              <a:lnSpc>
                <a:spcPct val="80000"/>
              </a:lnSpc>
              <a:buClr>
                <a:schemeClr val="hlink"/>
              </a:buClr>
              <a:buSzPct val="80000"/>
              <a:buFont typeface="Wingdings" panose="05000000000000000000" pitchFamily="2" charset="2"/>
            </a:pPr>
            <a:endParaRPr sz="1800" dirty="0"/>
          </a:p>
        </p:txBody>
      </p:sp>
      <p:sp>
        <p:nvSpPr>
          <p:cNvPr id="53253" name="Text Box 53252"/>
          <p:cNvSpPr txBox="1"/>
          <p:nvPr/>
        </p:nvSpPr>
        <p:spPr>
          <a:xfrm>
            <a:off x="1828800" y="6276975"/>
            <a:ext cx="5227638" cy="590550"/>
          </a:xfrm>
          <a:prstGeom prst="rect">
            <a:avLst/>
          </a:prstGeom>
          <a:solidFill>
            <a:srgbClr val="FFFF99"/>
          </a:solidFill>
          <a:ln w="9525" cap="flat" cmpd="sng">
            <a:solidFill>
              <a:srgbClr val="FFFF00"/>
            </a:solidFill>
            <a:prstDash val="solid"/>
            <a:miter/>
            <a:headEnd type="none" w="med" len="med"/>
            <a:tailEnd type="none" w="med" len="med"/>
          </a:ln>
        </p:spPr>
        <p:txBody>
          <a:bodyPr wrap="none" anchor="t" anchorCtr="0">
            <a:spAutoFit/>
          </a:bodyPr>
          <a:lstStyle/>
          <a:p>
            <a:pPr>
              <a:spcBef>
                <a:spcPct val="0"/>
              </a:spcBef>
            </a:pPr>
            <a:r>
              <a:rPr sz="1600" b="1" i="1">
                <a:solidFill>
                  <a:srgbClr val="FF0000"/>
                </a:solidFill>
                <a:latin typeface="Arial" panose="020B0604020202020204" pitchFamily="34" charset="0"/>
              </a:rPr>
              <a:t>What kind of language can alleviate difficulties with </a:t>
            </a:r>
          </a:p>
          <a:p>
            <a:pPr>
              <a:spcBef>
                <a:spcPct val="0"/>
              </a:spcBef>
            </a:pPr>
            <a:r>
              <a:rPr sz="1600" b="1" i="1">
                <a:solidFill>
                  <a:srgbClr val="FF0000"/>
                </a:solidFill>
                <a:latin typeface="Arial" panose="020B0604020202020204" pitchFamily="34" charset="0"/>
              </a:rPr>
              <a:t>communication &amp; complexity </a:t>
            </a:r>
            <a:r>
              <a:rPr sz="1600" b="1" i="1">
                <a:solidFill>
                  <a:srgbClr val="00CC00"/>
                </a:solidFill>
                <a:latin typeface="Arial" panose="020B0604020202020204" pitchFamily="34" charset="0"/>
              </a:rPr>
              <a:t>hopefully well</a:t>
            </a:r>
            <a:r>
              <a:rPr sz="1600" b="1" i="1">
                <a:solidFill>
                  <a:srgbClr val="FF0000"/>
                </a:solidFill>
                <a:latin typeface="Arial" panose="020B0604020202020204" pitchFamily="34" charset="0"/>
              </a:rPr>
              <a:t>?</a:t>
            </a:r>
          </a:p>
        </p:txBody>
      </p:sp>
      <p:pic>
        <p:nvPicPr>
          <p:cNvPr id="53266" name="Picture 53265" descr="j0282564"/>
          <p:cNvPicPr>
            <a:picLocks noChangeAspect="1"/>
          </p:cNvPicPr>
          <p:nvPr/>
        </p:nvPicPr>
        <p:blipFill>
          <a:blip r:embed="rId3"/>
          <a:stretch>
            <a:fillRect/>
          </a:stretch>
        </p:blipFill>
        <p:spPr>
          <a:xfrm>
            <a:off x="3675063" y="5073650"/>
            <a:ext cx="811212" cy="1155700"/>
          </a:xfrm>
          <a:prstGeom prst="rect">
            <a:avLst/>
          </a:prstGeom>
          <a:noFill/>
          <a:ln w="9525">
            <a:noFill/>
          </a:ln>
        </p:spPr>
      </p:pic>
      <p:pic>
        <p:nvPicPr>
          <p:cNvPr id="53267" name="Picture 53266" descr="j0282568"/>
          <p:cNvPicPr>
            <a:picLocks noChangeAspect="1"/>
          </p:cNvPicPr>
          <p:nvPr/>
        </p:nvPicPr>
        <p:blipFill>
          <a:blip r:embed="rId4"/>
          <a:stretch>
            <a:fillRect/>
          </a:stretch>
        </p:blipFill>
        <p:spPr>
          <a:xfrm>
            <a:off x="4754563" y="5073650"/>
            <a:ext cx="820737" cy="1163638"/>
          </a:xfrm>
          <a:prstGeom prst="rect">
            <a:avLst/>
          </a:prstGeom>
          <a:noFill/>
          <a:ln w="9525">
            <a:noFill/>
          </a:ln>
        </p:spPr>
      </p:pic>
      <p:sp>
        <p:nvSpPr>
          <p:cNvPr id="53268" name="Cloud Callout 53267"/>
          <p:cNvSpPr/>
          <p:nvPr/>
        </p:nvSpPr>
        <p:spPr>
          <a:xfrm>
            <a:off x="2057400" y="4338638"/>
            <a:ext cx="1617663" cy="1420812"/>
          </a:xfrm>
          <a:prstGeom prst="cloudCallout">
            <a:avLst>
              <a:gd name="adj1" fmla="val -33125"/>
              <a:gd name="adj2" fmla="val 36208"/>
            </a:avLst>
          </a:prstGeom>
          <a:noFill/>
          <a:ln w="9525">
            <a:noFill/>
          </a:ln>
        </p:spPr>
        <p:txBody>
          <a:bodyPr/>
          <a:lstStyle/>
          <a:p>
            <a:pPr algn="ctr"/>
            <a:endParaRPr>
              <a:latin typeface="Times New Roman" panose="02020603050405020304" pitchFamily="18" charset="0"/>
              <a:sym typeface="Wingdings" panose="05000000000000000000" pitchFamily="2" charset="2"/>
            </a:endParaRPr>
          </a:p>
        </p:txBody>
      </p:sp>
      <p:sp>
        <p:nvSpPr>
          <p:cNvPr id="53269" name="Cloud Callout 53268"/>
          <p:cNvSpPr/>
          <p:nvPr/>
        </p:nvSpPr>
        <p:spPr>
          <a:xfrm>
            <a:off x="2921000" y="4533900"/>
            <a:ext cx="862013" cy="981075"/>
          </a:xfrm>
          <a:prstGeom prst="cloudCallout">
            <a:avLst>
              <a:gd name="adj1" fmla="val -43750"/>
              <a:gd name="adj2" fmla="val 70000"/>
            </a:avLst>
          </a:prstGeom>
          <a:noFill/>
          <a:ln w="9525">
            <a:noFill/>
          </a:ln>
        </p:spPr>
        <p:txBody>
          <a:bodyPr/>
          <a:lstStyle/>
          <a:p>
            <a:pPr algn="ctr"/>
            <a:endParaRPr>
              <a:latin typeface="Times New Roman" panose="02020603050405020304" pitchFamily="18" charset="0"/>
            </a:endParaRPr>
          </a:p>
        </p:txBody>
      </p:sp>
      <p:sp>
        <p:nvSpPr>
          <p:cNvPr id="53270" name="Text Box 53269"/>
          <p:cNvSpPr txBox="1"/>
          <p:nvPr/>
        </p:nvSpPr>
        <p:spPr>
          <a:xfrm>
            <a:off x="5886450" y="4387850"/>
            <a:ext cx="971550" cy="947738"/>
          </a:xfrm>
          <a:prstGeom prst="rect">
            <a:avLst/>
          </a:prstGeom>
          <a:noFill/>
          <a:ln w="9525">
            <a:noFill/>
          </a:ln>
        </p:spPr>
        <p:txBody>
          <a:bodyPr>
            <a:spAutoFit/>
          </a:bodyPr>
          <a:lstStyle/>
          <a:p>
            <a:pPr algn="ctr"/>
            <a:r>
              <a:rPr sz="1600">
                <a:latin typeface="Times New Roman" panose="02020603050405020304" pitchFamily="18" charset="0"/>
                <a:sym typeface="Wingdings" panose="05000000000000000000" pitchFamily="2" charset="2"/>
              </a:rPr>
              <a:t></a:t>
            </a:r>
          </a:p>
          <a:p>
            <a:endParaRPr sz="1600">
              <a:latin typeface="Times New Roman" panose="02020603050405020304" pitchFamily="18" charset="0"/>
            </a:endParaRPr>
          </a:p>
        </p:txBody>
      </p:sp>
      <p:sp>
        <p:nvSpPr>
          <p:cNvPr id="53271" name="Cloud Callout 53270"/>
          <p:cNvSpPr/>
          <p:nvPr/>
        </p:nvSpPr>
        <p:spPr>
          <a:xfrm>
            <a:off x="2165350" y="4435475"/>
            <a:ext cx="863600" cy="1520825"/>
          </a:xfrm>
          <a:prstGeom prst="cloudCallout">
            <a:avLst>
              <a:gd name="adj1" fmla="val -43750"/>
              <a:gd name="adj2" fmla="val 70000"/>
            </a:avLst>
          </a:prstGeom>
          <a:noFill/>
          <a:ln w="9525">
            <a:noFill/>
          </a:ln>
        </p:spPr>
        <p:txBody>
          <a:bodyPr/>
          <a:lstStyle/>
          <a:p>
            <a:pPr algn="ctr"/>
            <a:endParaRPr>
              <a:latin typeface="Times New Roman" panose="02020603050405020304" pitchFamily="18" charset="0"/>
            </a:endParaRPr>
          </a:p>
        </p:txBody>
      </p:sp>
      <p:sp>
        <p:nvSpPr>
          <p:cNvPr id="53272" name="Text Box 53271"/>
          <p:cNvSpPr txBox="1"/>
          <p:nvPr/>
        </p:nvSpPr>
        <p:spPr>
          <a:xfrm>
            <a:off x="2487613" y="6005513"/>
            <a:ext cx="2105025" cy="457200"/>
          </a:xfrm>
          <a:prstGeom prst="rect">
            <a:avLst/>
          </a:prstGeom>
          <a:noFill/>
          <a:ln w="9525">
            <a:noFill/>
          </a:ln>
        </p:spPr>
        <p:txBody>
          <a:bodyPr>
            <a:spAutoFit/>
          </a:bodyPr>
          <a:lstStyle/>
          <a:p>
            <a:endParaRPr>
              <a:latin typeface="Times New Roman" panose="02020603050405020304" pitchFamily="18" charset="0"/>
            </a:endParaRPr>
          </a:p>
        </p:txBody>
      </p:sp>
      <p:sp>
        <p:nvSpPr>
          <p:cNvPr id="53273" name="Cloud Callout 53272"/>
          <p:cNvSpPr/>
          <p:nvPr/>
        </p:nvSpPr>
        <p:spPr>
          <a:xfrm>
            <a:off x="5670550" y="4191000"/>
            <a:ext cx="1079500" cy="931863"/>
          </a:xfrm>
          <a:prstGeom prst="cloudCallout">
            <a:avLst>
              <a:gd name="adj1" fmla="val -45000"/>
              <a:gd name="adj2" fmla="val 107894"/>
            </a:avLst>
          </a:prstGeom>
          <a:noFill/>
          <a:ln w="9525" cap="flat" cmpd="sng">
            <a:solidFill>
              <a:schemeClr val="tx1"/>
            </a:solidFill>
            <a:prstDash val="solid"/>
            <a:headEnd type="none" w="med" len="med"/>
            <a:tailEnd type="none" w="med" len="med"/>
          </a:ln>
        </p:spPr>
        <p:txBody>
          <a:bodyPr/>
          <a:lstStyle/>
          <a:p>
            <a:pPr algn="ctr"/>
            <a:endParaRPr>
              <a:latin typeface="Times New Roman" panose="02020603050405020304" pitchFamily="18" charset="0"/>
            </a:endParaRPr>
          </a:p>
        </p:txBody>
      </p:sp>
      <p:sp>
        <p:nvSpPr>
          <p:cNvPr id="53274" name="Cloud Callout 53273"/>
          <p:cNvSpPr/>
          <p:nvPr/>
        </p:nvSpPr>
        <p:spPr>
          <a:xfrm rot="-27937544">
            <a:off x="2224088" y="4481513"/>
            <a:ext cx="882650" cy="1025525"/>
          </a:xfrm>
          <a:prstGeom prst="cloudCallout">
            <a:avLst>
              <a:gd name="adj1" fmla="val -43412"/>
              <a:gd name="adj2" fmla="val 63208"/>
            </a:avLst>
          </a:prstGeom>
          <a:noFill/>
          <a:ln w="9525" cap="flat" cmpd="sng">
            <a:solidFill>
              <a:schemeClr val="tx1"/>
            </a:solidFill>
            <a:prstDash val="solid"/>
            <a:headEnd type="none" w="med" len="med"/>
            <a:tailEnd type="none" w="med" len="med"/>
          </a:ln>
        </p:spPr>
        <p:txBody>
          <a:bodyPr rot="0" vert="eaVert"/>
          <a:lstStyle/>
          <a:p>
            <a:pPr algn="ctr"/>
            <a:endParaRPr>
              <a:latin typeface="Times New Roman" panose="02020603050405020304" pitchFamily="18" charset="0"/>
            </a:endParaRPr>
          </a:p>
        </p:txBody>
      </p:sp>
      <p:sp>
        <p:nvSpPr>
          <p:cNvPr id="53275" name="Text Box 53274"/>
          <p:cNvSpPr txBox="1"/>
          <p:nvPr/>
        </p:nvSpPr>
        <p:spPr>
          <a:xfrm>
            <a:off x="2273300" y="4829175"/>
            <a:ext cx="1455738" cy="336550"/>
          </a:xfrm>
          <a:prstGeom prst="rect">
            <a:avLst/>
          </a:prstGeom>
          <a:noFill/>
          <a:ln w="9525">
            <a:noFill/>
          </a:ln>
        </p:spPr>
        <p:txBody>
          <a:bodyPr>
            <a:spAutoFit/>
          </a:bodyPr>
          <a:lstStyle/>
          <a:p>
            <a:r>
              <a:rPr sz="1600">
                <a:latin typeface="Times New Roman" panose="02020603050405020304" pitchFamily="18" charset="0"/>
                <a:sym typeface="Wingdings" panose="05000000000000000000" pitchFamily="2" charset="2"/>
              </a:rPr>
              <a:t></a:t>
            </a:r>
          </a:p>
        </p:txBody>
      </p:sp>
      <p:pic>
        <p:nvPicPr>
          <p:cNvPr id="3" name="Picture 2">
            <a:extLst>
              <a:ext uri="{FF2B5EF4-FFF2-40B4-BE49-F238E27FC236}">
                <a16:creationId xmlns:a16="http://schemas.microsoft.com/office/drawing/2014/main" id="{61F02FBD-957D-2A67-5DE0-CDABBD8D74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5368"/>
            <a:ext cx="990599" cy="968779"/>
          </a:xfrm>
          <a:prstGeom prst="rect">
            <a:avLst/>
          </a:prstGeom>
        </p:spPr>
      </p:pic>
      <p:sp>
        <p:nvSpPr>
          <p:cNvPr id="4" name="Rectangle 3">
            <a:extLst>
              <a:ext uri="{FF2B5EF4-FFF2-40B4-BE49-F238E27FC236}">
                <a16:creationId xmlns:a16="http://schemas.microsoft.com/office/drawing/2014/main" id="{ECBD4C43-8EB4-9736-F4F8-449199E63E78}"/>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21F8AAE-B74A-9CBF-E106-E252208F2933}"/>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8</a:t>
            </a:fld>
            <a:endParaRPr lang="en-US">
              <a:latin typeface="Arial" panose="020B0604020202020204" pitchFamily="34" charset="0"/>
            </a:endParaRPr>
          </a:p>
        </p:txBody>
      </p:sp>
      <p:sp>
        <p:nvSpPr>
          <p:cNvPr id="205826" name="Title 205825"/>
          <p:cNvSpPr>
            <a:spLocks noGrp="1"/>
          </p:cNvSpPr>
          <p:nvPr>
            <p:ph type="title" idx="4294967295"/>
          </p:nvPr>
        </p:nvSpPr>
        <p:spPr>
          <a:xfrm>
            <a:off x="0" y="228600"/>
            <a:ext cx="8015288" cy="914400"/>
          </a:xfrm>
        </p:spPr>
        <p:txBody>
          <a:bodyPr anchor="ctr" anchorCtr="0">
            <a:normAutofit fontScale="90000"/>
          </a:bodyPr>
          <a:lstStyle/>
          <a:p>
            <a:pPr algn="ctr"/>
            <a:r>
              <a:rPr sz="3200" dirty="0"/>
              <a:t>Why Object-Oriented?</a:t>
            </a:r>
            <a:r>
              <a:rPr sz="3800" dirty="0"/>
              <a:t> </a:t>
            </a:r>
            <a:br>
              <a:rPr sz="3800" dirty="0"/>
            </a:br>
            <a:r>
              <a:rPr sz="2400" dirty="0"/>
              <a:t>– Consider Human Growth &amp; Concept Formation</a:t>
            </a:r>
          </a:p>
        </p:txBody>
      </p:sp>
      <p:sp>
        <p:nvSpPr>
          <p:cNvPr id="205827" name="Text Placeholder 205826"/>
          <p:cNvSpPr>
            <a:spLocks noGrp="1"/>
          </p:cNvSpPr>
          <p:nvPr>
            <p:ph type="body" idx="4294967295"/>
          </p:nvPr>
        </p:nvSpPr>
        <p:spPr>
          <a:xfrm>
            <a:off x="0" y="1600200"/>
            <a:ext cx="7924800" cy="685800"/>
          </a:xfrm>
        </p:spPr>
        <p:txBody>
          <a:bodyPr>
            <a:normAutofit fontScale="85000" lnSpcReduction="10000"/>
          </a:bodyPr>
          <a:lstStyle/>
          <a:p>
            <a:pPr>
              <a:lnSpc>
                <a:spcPct val="80000"/>
              </a:lnSpc>
            </a:pPr>
            <a:r>
              <a:rPr sz="1400" dirty="0"/>
              <a:t>Communication &amp; complexity about the problem and the solution, all expressed in terms of </a:t>
            </a:r>
            <a:r>
              <a:rPr sz="1400" b="1" i="1" dirty="0">
                <a:solidFill>
                  <a:srgbClr val="0000FF"/>
                </a:solidFill>
              </a:rPr>
              <a:t>concepts</a:t>
            </a:r>
            <a:r>
              <a:rPr sz="1400" dirty="0"/>
              <a:t> in a language!</a:t>
            </a:r>
          </a:p>
          <a:p>
            <a:pPr>
              <a:lnSpc>
                <a:spcPct val="80000"/>
              </a:lnSpc>
            </a:pPr>
            <a:r>
              <a:rPr sz="1400" dirty="0"/>
              <a:t>But then, What is CONCEPT?  [Martin &amp; Odell]</a:t>
            </a:r>
          </a:p>
          <a:p>
            <a:pPr>
              <a:lnSpc>
                <a:spcPct val="80000"/>
              </a:lnSpc>
            </a:pPr>
            <a:r>
              <a:rPr sz="1400" i="1" dirty="0"/>
              <a:t>Consider Human Growth &amp; Concept Formation</a:t>
            </a:r>
          </a:p>
          <a:p>
            <a:pPr>
              <a:lnSpc>
                <a:spcPct val="80000"/>
              </a:lnSpc>
            </a:pPr>
            <a:endParaRPr sz="1400" i="1" dirty="0"/>
          </a:p>
          <a:p>
            <a:pPr lvl="1">
              <a:lnSpc>
                <a:spcPct val="80000"/>
              </a:lnSpc>
            </a:pPr>
            <a:endParaRPr sz="1400" i="1" dirty="0"/>
          </a:p>
        </p:txBody>
      </p:sp>
      <p:graphicFrame>
        <p:nvGraphicFramePr>
          <p:cNvPr id="205848" name="Table 205847"/>
          <p:cNvGraphicFramePr/>
          <p:nvPr/>
        </p:nvGraphicFramePr>
        <p:xfrm>
          <a:off x="1524000" y="2590800"/>
          <a:ext cx="6096000" cy="3241358"/>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273050">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defRPr>
                      </a:lvl5pPr>
                    </a:lstStyle>
                    <a:p>
                      <a:pPr marL="0" lvl="0" indent="0" algn="ctr">
                        <a:buNone/>
                      </a:pPr>
                      <a:r>
                        <a:rPr sz="1200" b="1"/>
                        <a:t>stage</a:t>
                      </a:r>
                      <a:endParaRPr lang="en-US" sz="1200" b="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defRPr>
                      </a:lvl5pPr>
                    </a:lstStyle>
                    <a:p>
                      <a:pPr marL="0" lvl="0" indent="0" algn="ctr">
                        <a:buNone/>
                      </a:pPr>
                      <a:r>
                        <a:rPr sz="1200" b="1"/>
                        <a:t>concepts</a:t>
                      </a:r>
                      <a:endParaRPr lang="en-US" sz="1200" b="1"/>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3050">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defRPr>
                      </a:lvl5pPr>
                    </a:lstStyle>
                    <a:p>
                      <a:pPr marL="0" lvl="0" indent="0">
                        <a:buNone/>
                      </a:pPr>
                      <a:r>
                        <a:rPr sz="1200" i="1"/>
                        <a:t>infant</a:t>
                      </a:r>
                      <a:endParaRPr lang="en-US" sz="1200" i="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defRPr>
                      </a:lvl5pPr>
                    </a:lstStyle>
                    <a:p>
                      <a:pPr marL="0" lvl="0" indent="0">
                        <a:buNone/>
                      </a:pPr>
                      <a:r>
                        <a:rPr sz="1200" i="1"/>
                        <a:t>the world is a buzzing confusion</a:t>
                      </a:r>
                      <a:endParaRPr lang="en-US" sz="1200" i="1"/>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38238">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defRPr>
                      </a:lvl5pPr>
                    </a:lstStyle>
                    <a:p>
                      <a:pPr marL="0" lvl="0" indent="0">
                        <a:buNone/>
                      </a:pPr>
                      <a:r>
                        <a:rPr sz="1200" i="1"/>
                        <a:t>very young age</a:t>
                      </a:r>
                      <a:endParaRPr lang="en-US" sz="1200" i="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defRPr>
                      </a:lvl5pPr>
                    </a:lstStyle>
                    <a:p>
                      <a:pPr marL="0" lvl="0" indent="0">
                        <a:buNone/>
                      </a:pPr>
                      <a:r>
                        <a:rPr sz="1200" i="1" dirty="0"/>
                        <a:t>"blue" "sky“ (individual concepts)</a:t>
                      </a:r>
                    </a:p>
                    <a:p>
                      <a:pPr marL="0" lvl="0" indent="0">
                        <a:buNone/>
                      </a:pPr>
                      <a:r>
                        <a:rPr sz="1200" i="1" dirty="0"/>
                        <a:t>"blue sky“   (more complex concept)</a:t>
                      </a:r>
                    </a:p>
                    <a:p>
                      <a:pPr marL="0" lvl="0" indent="0">
                        <a:buNone/>
                      </a:pPr>
                      <a:r>
                        <a:rPr sz="1200" i="1" dirty="0"/>
                        <a:t>hypothesis: humans possess an innate capacity for perception</a:t>
                      </a:r>
                      <a:endParaRPr lang="en-US" sz="1200" i="1"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50987">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defRPr>
                      </a:lvl5pPr>
                    </a:lstStyle>
                    <a:p>
                      <a:pPr marL="0" lvl="0" indent="0">
                        <a:buNone/>
                      </a:pPr>
                      <a:r>
                        <a:rPr sz="1200" i="1"/>
                        <a:t>getting older</a:t>
                      </a:r>
                      <a:endParaRPr lang="en-US" sz="1200" i="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defRPr>
                      </a:lvl5pPr>
                    </a:lstStyle>
                    <a:p>
                      <a:pPr marL="0" lvl="0" indent="0">
                        <a:buNone/>
                      </a:pPr>
                      <a:r>
                        <a:rPr sz="1200" i="1" dirty="0"/>
                        <a:t>-&gt; increased meaning, precision, subtlety, ...</a:t>
                      </a:r>
                    </a:p>
                    <a:p>
                      <a:pPr marL="0" lvl="0" indent="0">
                        <a:buNone/>
                      </a:pPr>
                      <a:r>
                        <a:rPr sz="1200" i="1" dirty="0"/>
                        <a:t>the sky is blue only on cloudless days</a:t>
                      </a:r>
                    </a:p>
                    <a:p>
                      <a:pPr marL="0" lvl="0" indent="0">
                        <a:buNone/>
                      </a:pPr>
                      <a:r>
                        <a:rPr sz="1200" i="1" dirty="0"/>
                        <a:t>the sky is not really blue</a:t>
                      </a:r>
                    </a:p>
                    <a:p>
                      <a:pPr marL="0" lvl="0" indent="0">
                        <a:buNone/>
                      </a:pPr>
                      <a:r>
                        <a:rPr sz="1200" i="1" dirty="0"/>
                        <a:t>it only looks blue from our planet Earth</a:t>
                      </a:r>
                    </a:p>
                    <a:p>
                      <a:pPr marL="0" lvl="0" indent="0">
                        <a:buNone/>
                      </a:pPr>
                      <a:r>
                        <a:rPr sz="1200" i="1" dirty="0"/>
                        <a:t>because of atmospheric effects</a:t>
                      </a:r>
                    </a:p>
                    <a:p>
                      <a:pPr marL="0" lvl="0" indent="0">
                        <a:buNone/>
                      </a:pPr>
                      <a:r>
                        <a:rPr sz="1200" i="1" dirty="0"/>
                        <a:t>elaborate conceptual constructs</a:t>
                      </a:r>
                      <a:endParaRPr lang="en-US" sz="1200" i="1"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05845" name="Text Box 205844"/>
          <p:cNvSpPr txBox="1"/>
          <p:nvPr/>
        </p:nvSpPr>
        <p:spPr>
          <a:xfrm>
            <a:off x="2133600" y="5867400"/>
            <a:ext cx="7467600" cy="366713"/>
          </a:xfrm>
          <a:prstGeom prst="rect">
            <a:avLst/>
          </a:prstGeom>
          <a:noFill/>
          <a:ln w="9525">
            <a:noFill/>
          </a:ln>
        </p:spPr>
        <p:txBody>
          <a:bodyPr>
            <a:spAutoFit/>
          </a:bodyPr>
          <a:lstStyle/>
          <a:p>
            <a:r>
              <a:rPr sz="1800" b="1" i="1">
                <a:latin typeface="Arial" panose="020B0604020202020204" pitchFamily="34" charset="0"/>
              </a:rPr>
              <a:t>Concept formation: from chaos to order!</a:t>
            </a:r>
          </a:p>
        </p:txBody>
      </p:sp>
      <p:pic>
        <p:nvPicPr>
          <p:cNvPr id="3" name="Picture 2">
            <a:extLst>
              <a:ext uri="{FF2B5EF4-FFF2-40B4-BE49-F238E27FC236}">
                <a16:creationId xmlns:a16="http://schemas.microsoft.com/office/drawing/2014/main" id="{2C3B74B3-40CF-C99F-29D1-FFDB44C09E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8535B496-361E-4AC1-62E3-70C607817133}"/>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98D9256-6CDF-73E7-4E6B-7DA60F2F18D8}"/>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9</a:t>
            </a:fld>
            <a:endParaRPr lang="en-US">
              <a:latin typeface="Arial" panose="020B0604020202020204" pitchFamily="34" charset="0"/>
            </a:endParaRPr>
          </a:p>
        </p:txBody>
      </p:sp>
      <p:pic>
        <p:nvPicPr>
          <p:cNvPr id="56327" name="Content Placeholder 56326" descr="harry"/>
          <p:cNvPicPr>
            <a:picLocks noGrp="1" noChangeAspect="1"/>
          </p:cNvPicPr>
          <p:nvPr>
            <p:ph sz="half" idx="4294967295"/>
          </p:nvPr>
        </p:nvPicPr>
        <p:blipFill>
          <a:blip r:embed="rId3"/>
          <a:stretch>
            <a:fillRect/>
          </a:stretch>
        </p:blipFill>
        <p:spPr>
          <a:xfrm>
            <a:off x="2667000" y="3048000"/>
            <a:ext cx="6477000" cy="3414713"/>
          </a:xfrm>
        </p:spPr>
      </p:pic>
      <p:sp>
        <p:nvSpPr>
          <p:cNvPr id="56322" name="Title 56321"/>
          <p:cNvSpPr>
            <a:spLocks noGrp="1"/>
          </p:cNvSpPr>
          <p:nvPr>
            <p:ph type="title" idx="4294967295"/>
          </p:nvPr>
        </p:nvSpPr>
        <p:spPr>
          <a:xfrm>
            <a:off x="0" y="228600"/>
            <a:ext cx="8015288" cy="914400"/>
          </a:xfrm>
        </p:spPr>
        <p:txBody>
          <a:bodyPr anchor="ctr" anchorCtr="0"/>
          <a:lstStyle/>
          <a:p>
            <a:pPr algn="ctr"/>
            <a:r>
              <a:rPr sz="3200" b="1" dirty="0"/>
              <a:t>Why Object-Oriented?</a:t>
            </a:r>
            <a:br>
              <a:rPr sz="3200" dirty="0"/>
            </a:br>
            <a:r>
              <a:rPr sz="2400" dirty="0"/>
              <a:t>- concepts and objects</a:t>
            </a:r>
          </a:p>
        </p:txBody>
      </p:sp>
      <p:sp>
        <p:nvSpPr>
          <p:cNvPr id="56325" name="Text Placeholder 56324"/>
          <p:cNvSpPr>
            <a:spLocks noGrp="1"/>
          </p:cNvSpPr>
          <p:nvPr>
            <p:ph type="body" sz="half" idx="4294967295"/>
          </p:nvPr>
        </p:nvSpPr>
        <p:spPr>
          <a:xfrm>
            <a:off x="0" y="1371600"/>
            <a:ext cx="7924800" cy="4876800"/>
          </a:xfrm>
        </p:spPr>
        <p:txBody>
          <a:bodyPr/>
          <a:lstStyle/>
          <a:p>
            <a:pPr>
              <a:buClr>
                <a:schemeClr val="hlink"/>
              </a:buClr>
              <a:buSzPct val="80000"/>
              <a:buFont typeface="Wingdings" panose="05000000000000000000" pitchFamily="2" charset="2"/>
              <a:buNone/>
            </a:pPr>
            <a:r>
              <a:rPr sz="1600" b="1" i="1" dirty="0"/>
              <a:t>So, concepts are needed to bring order </a:t>
            </a:r>
            <a:r>
              <a:rPr sz="1600" b="1" i="1" dirty="0">
                <a:latin typeface="Arial" panose="020B0604020202020204" pitchFamily="34" charset="0"/>
              </a:rPr>
              <a:t>…</a:t>
            </a:r>
            <a:r>
              <a:rPr sz="1600" b="1" i="1" dirty="0"/>
              <a:t> into </a:t>
            </a:r>
          </a:p>
          <a:p>
            <a:pPr>
              <a:buClr>
                <a:schemeClr val="hlink"/>
              </a:buClr>
              <a:buSzPct val="80000"/>
              <a:buFont typeface="Wingdings" panose="05000000000000000000" pitchFamily="2" charset="2"/>
              <a:buNone/>
            </a:pPr>
            <a:r>
              <a:rPr sz="1800" b="1" dirty="0"/>
              <a:t>But, What is CONCEPT?</a:t>
            </a:r>
            <a:r>
              <a:rPr b="1" dirty="0"/>
              <a:t> </a:t>
            </a:r>
            <a:r>
              <a:rPr sz="1400" dirty="0"/>
              <a:t>[Martin &amp; Odell] [Novak, 1984, Cambridge University Press]</a:t>
            </a:r>
          </a:p>
          <a:p>
            <a:pPr>
              <a:buClr>
                <a:schemeClr val="hlink"/>
              </a:buClr>
              <a:buSzPct val="80000"/>
              <a:buFont typeface="Wingdings" panose="05000000000000000000" pitchFamily="2" charset="2"/>
              <a:buNone/>
            </a:pPr>
            <a:r>
              <a:rPr sz="1800" b="1" i="1" dirty="0"/>
              <a:t>Study of a first grade class</a:t>
            </a:r>
          </a:p>
          <a:p>
            <a:pPr>
              <a:buClr>
                <a:schemeClr val="hlink"/>
              </a:buClr>
              <a:buSzPct val="80000"/>
              <a:buFont typeface="Wingdings" panose="05000000000000000000" pitchFamily="2" charset="2"/>
              <a:buNone/>
            </a:pPr>
            <a:r>
              <a:rPr sz="1400" b="1" i="1" dirty="0"/>
              <a:t>      When given a list of concepts (water, salt water, Oceans,  Penguins,...),</a:t>
            </a:r>
          </a:p>
          <a:p>
            <a:pPr>
              <a:buClr>
                <a:schemeClr val="hlink"/>
              </a:buClr>
              <a:buSzPct val="80000"/>
              <a:buFont typeface="Wingdings" panose="05000000000000000000" pitchFamily="2" charset="2"/>
              <a:buNone/>
            </a:pPr>
            <a:r>
              <a:rPr sz="1400" b="1" i="1" dirty="0"/>
              <a:t>      Harry constructed a </a:t>
            </a:r>
            <a:r>
              <a:rPr sz="1400" b="1" i="1" dirty="0">
                <a:solidFill>
                  <a:srgbClr val="FF00FF"/>
                </a:solidFill>
              </a:rPr>
              <a:t>concept diagram</a:t>
            </a:r>
            <a:r>
              <a:rPr sz="1400" b="1" i="1" dirty="0"/>
              <a:t> through which he </a:t>
            </a:r>
            <a:r>
              <a:rPr sz="1400" b="1" i="1" dirty="0">
                <a:solidFill>
                  <a:srgbClr val="FF00FF"/>
                </a:solidFill>
              </a:rPr>
              <a:t>understand</a:t>
            </a:r>
            <a:r>
              <a:rPr sz="1400" b="1" i="1" dirty="0"/>
              <a:t>s his world and communicates meaning</a:t>
            </a:r>
            <a:endParaRPr sz="1800" b="1" i="1" dirty="0">
              <a:solidFill>
                <a:srgbClr val="0000FF"/>
              </a:solidFill>
            </a:endParaRPr>
          </a:p>
        </p:txBody>
      </p:sp>
      <p:sp>
        <p:nvSpPr>
          <p:cNvPr id="56329" name="Text Box 56328"/>
          <p:cNvSpPr txBox="1"/>
          <p:nvPr/>
        </p:nvSpPr>
        <p:spPr>
          <a:xfrm>
            <a:off x="152400" y="6324600"/>
            <a:ext cx="8991600" cy="346075"/>
          </a:xfrm>
          <a:prstGeom prst="rect">
            <a:avLst/>
          </a:prstGeom>
          <a:solidFill>
            <a:srgbClr val="FFFF99"/>
          </a:solidFill>
          <a:ln w="9525" cap="flat" cmpd="sng">
            <a:solidFill>
              <a:srgbClr val="FF00FF"/>
            </a:solidFill>
            <a:prstDash val="solid"/>
            <a:miter/>
            <a:headEnd type="none" w="med" len="med"/>
            <a:tailEnd type="none" w="med" len="med"/>
          </a:ln>
        </p:spPr>
        <p:txBody>
          <a:bodyPr>
            <a:spAutoFit/>
          </a:bodyPr>
          <a:lstStyle/>
          <a:p>
            <a:pPr>
              <a:spcBef>
                <a:spcPct val="0"/>
              </a:spcBef>
            </a:pPr>
            <a:r>
              <a:rPr sz="1400" b="1" i="1">
                <a:solidFill>
                  <a:srgbClr val="0000FF"/>
                </a:solidFill>
                <a:latin typeface="Arial" panose="020B0604020202020204" pitchFamily="34" charset="0"/>
              </a:rPr>
              <a:t>Does Harry understand the concepts? Do </a:t>
            </a:r>
            <a:r>
              <a:rPr sz="1600" b="1" i="1">
                <a:solidFill>
                  <a:srgbClr val="0000FF"/>
                </a:solidFill>
                <a:latin typeface="Arial" panose="020B0604020202020204" pitchFamily="34" charset="0"/>
              </a:rPr>
              <a:t>you</a:t>
            </a:r>
            <a:r>
              <a:rPr sz="1400" b="1" i="1">
                <a:solidFill>
                  <a:srgbClr val="0000FF"/>
                </a:solidFill>
                <a:latin typeface="Arial" panose="020B0604020202020204" pitchFamily="34" charset="0"/>
              </a:rPr>
              <a:t> understand what Harry understands? Agree or </a:t>
            </a:r>
            <a:r>
              <a:rPr sz="1400" b="1" i="1" err="1">
                <a:solidFill>
                  <a:srgbClr val="0000FF"/>
                </a:solidFill>
                <a:latin typeface="Arial" panose="020B0604020202020204" pitchFamily="34" charset="0"/>
              </a:rPr>
              <a:t>Diagree</a:t>
            </a:r>
            <a:r>
              <a:rPr sz="1400" b="1" i="1">
                <a:solidFill>
                  <a:srgbClr val="0000FF"/>
                </a:solidFill>
                <a:latin typeface="Arial" panose="020B0604020202020204" pitchFamily="34" charset="0"/>
              </a:rPr>
              <a:t>?</a:t>
            </a:r>
          </a:p>
        </p:txBody>
      </p:sp>
      <p:pic>
        <p:nvPicPr>
          <p:cNvPr id="3" name="Picture 2">
            <a:extLst>
              <a:ext uri="{FF2B5EF4-FFF2-40B4-BE49-F238E27FC236}">
                <a16:creationId xmlns:a16="http://schemas.microsoft.com/office/drawing/2014/main" id="{5968DC91-535E-D257-D03D-0E40B879EC0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991"/>
            <a:ext cx="990599" cy="968779"/>
          </a:xfrm>
          <a:prstGeom prst="rect">
            <a:avLst/>
          </a:prstGeom>
        </p:spPr>
      </p:pic>
      <p:sp>
        <p:nvSpPr>
          <p:cNvPr id="4" name="Rectangle 3">
            <a:extLst>
              <a:ext uri="{FF2B5EF4-FFF2-40B4-BE49-F238E27FC236}">
                <a16:creationId xmlns:a16="http://schemas.microsoft.com/office/drawing/2014/main" id="{F9780F1F-FE39-A67E-B9D5-D1DEA0126850}"/>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24188DC-FF8D-2B3A-A3A2-17AB0883E4F9}"/>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10</a:t>
            </a:fld>
            <a:endParaRPr lang="en-US">
              <a:latin typeface="Arial" panose="020B0604020202020204" pitchFamily="34" charset="0"/>
            </a:endParaRPr>
          </a:p>
        </p:txBody>
      </p:sp>
      <p:sp>
        <p:nvSpPr>
          <p:cNvPr id="176132" name="Rectangles 176131"/>
          <p:cNvSpPr/>
          <p:nvPr/>
        </p:nvSpPr>
        <p:spPr>
          <a:xfrm>
            <a:off x="381000" y="228600"/>
            <a:ext cx="7696200" cy="1038225"/>
          </a:xfrm>
          <a:prstGeom prst="rect">
            <a:avLst/>
          </a:prstGeom>
          <a:noFill/>
          <a:ln w="9525">
            <a:noFill/>
          </a:ln>
        </p:spPr>
        <p:txBody>
          <a:bodyPr>
            <a:spAutoFit/>
          </a:bodyPr>
          <a:lstStyle/>
          <a:p>
            <a:pPr algn="ctr">
              <a:spcBef>
                <a:spcPct val="0"/>
              </a:spcBef>
            </a:pPr>
            <a:r>
              <a:rPr sz="3600" b="1" dirty="0">
                <a:solidFill>
                  <a:schemeClr val="tx2"/>
                </a:solidFill>
                <a:latin typeface="Arial" panose="020B0604020202020204" pitchFamily="34" charset="0"/>
              </a:rPr>
              <a:t>Why Object-Oriented?</a:t>
            </a:r>
            <a:br>
              <a:rPr sz="3600" dirty="0">
                <a:solidFill>
                  <a:schemeClr val="tx2"/>
                </a:solidFill>
                <a:latin typeface="Arial" panose="020B0604020202020204" pitchFamily="34" charset="0"/>
              </a:rPr>
            </a:br>
            <a:r>
              <a:rPr b="1" i="1" dirty="0">
                <a:solidFill>
                  <a:schemeClr val="tx2"/>
                </a:solidFill>
                <a:latin typeface="Arial" panose="020B0604020202020204" pitchFamily="34" charset="0"/>
              </a:rPr>
              <a:t>… for Conceptual … </a:t>
            </a:r>
            <a:r>
              <a:rPr sz="2600" b="1" i="1" dirty="0">
                <a:solidFill>
                  <a:schemeClr val="tx2"/>
                </a:solidFill>
                <a:latin typeface="Arial" panose="020B0604020202020204" pitchFamily="34" charset="0"/>
              </a:rPr>
              <a:t>Modeling</a:t>
            </a:r>
            <a:r>
              <a:rPr b="1" i="1" dirty="0">
                <a:solidFill>
                  <a:schemeClr val="tx2"/>
                </a:solidFill>
                <a:latin typeface="Arial" panose="020B0604020202020204" pitchFamily="34" charset="0"/>
              </a:rPr>
              <a:t> Reasons</a:t>
            </a:r>
          </a:p>
        </p:txBody>
      </p:sp>
      <p:sp>
        <p:nvSpPr>
          <p:cNvPr id="176133" name="Text Box 176132"/>
          <p:cNvSpPr txBox="1"/>
          <p:nvPr/>
        </p:nvSpPr>
        <p:spPr>
          <a:xfrm>
            <a:off x="457200" y="1524000"/>
            <a:ext cx="8229600" cy="927100"/>
          </a:xfrm>
          <a:prstGeom prst="rect">
            <a:avLst/>
          </a:prstGeom>
          <a:noFill/>
          <a:ln w="9525">
            <a:noFill/>
          </a:ln>
        </p:spPr>
        <p:txBody>
          <a:bodyPr>
            <a:spAutoFit/>
          </a:bodyPr>
          <a:lstStyle/>
          <a:p>
            <a:pPr>
              <a:lnSpc>
                <a:spcPct val="80000"/>
              </a:lnSpc>
              <a:spcBef>
                <a:spcPct val="20000"/>
              </a:spcBef>
              <a:buClr>
                <a:schemeClr val="hlink"/>
              </a:buClr>
              <a:buSzPct val="80000"/>
              <a:buFont typeface="Wingdings" panose="05000000000000000000" pitchFamily="2" charset="2"/>
            </a:pPr>
            <a:r>
              <a:rPr sz="2100" i="1">
                <a:solidFill>
                  <a:srgbClr val="FF0000"/>
                </a:solidFill>
                <a:latin typeface="Arial" panose="020B0604020202020204" pitchFamily="34" charset="0"/>
              </a:rPr>
              <a:t>What kind of language can be used to create this concept diagram, or Harry’s mental image?</a:t>
            </a:r>
          </a:p>
          <a:p>
            <a:pPr>
              <a:spcBef>
                <a:spcPct val="0"/>
              </a:spcBef>
            </a:pPr>
            <a:endParaRPr sz="2100" i="1">
              <a:solidFill>
                <a:srgbClr val="FF0000"/>
              </a:solidFill>
              <a:latin typeface="Arial" panose="020B0604020202020204" pitchFamily="34" charset="0"/>
            </a:endParaRPr>
          </a:p>
        </p:txBody>
      </p:sp>
      <p:pic>
        <p:nvPicPr>
          <p:cNvPr id="176134" name="Picture 176133" descr="harry"/>
          <p:cNvPicPr>
            <a:picLocks noChangeAspect="1"/>
          </p:cNvPicPr>
          <p:nvPr/>
        </p:nvPicPr>
        <p:blipFill>
          <a:blip r:embed="rId3"/>
          <a:stretch>
            <a:fillRect/>
          </a:stretch>
        </p:blipFill>
        <p:spPr>
          <a:xfrm>
            <a:off x="0" y="2854325"/>
            <a:ext cx="4419600" cy="2330450"/>
          </a:xfrm>
          <a:prstGeom prst="rect">
            <a:avLst/>
          </a:prstGeom>
          <a:noFill/>
          <a:ln w="9525">
            <a:noFill/>
          </a:ln>
        </p:spPr>
      </p:pic>
      <p:sp>
        <p:nvSpPr>
          <p:cNvPr id="176135" name="Text Box 176134"/>
          <p:cNvSpPr txBox="1"/>
          <p:nvPr/>
        </p:nvSpPr>
        <p:spPr>
          <a:xfrm>
            <a:off x="4584700" y="3048000"/>
            <a:ext cx="936625"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Water</a:t>
            </a:r>
          </a:p>
        </p:txBody>
      </p:sp>
      <p:sp>
        <p:nvSpPr>
          <p:cNvPr id="176136" name="Text Box 176135"/>
          <p:cNvSpPr txBox="1"/>
          <p:nvPr/>
        </p:nvSpPr>
        <p:spPr>
          <a:xfrm>
            <a:off x="4524375" y="3997325"/>
            <a:ext cx="989013"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Rivers</a:t>
            </a:r>
          </a:p>
        </p:txBody>
      </p:sp>
      <p:sp>
        <p:nvSpPr>
          <p:cNvPr id="176137" name="Text Box 176136"/>
          <p:cNvSpPr txBox="1"/>
          <p:nvPr/>
        </p:nvSpPr>
        <p:spPr>
          <a:xfrm>
            <a:off x="6048375" y="3997325"/>
            <a:ext cx="1090613"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Oceans</a:t>
            </a:r>
          </a:p>
        </p:txBody>
      </p:sp>
      <p:sp>
        <p:nvSpPr>
          <p:cNvPr id="176138" name="Text Box 176137"/>
          <p:cNvSpPr txBox="1"/>
          <p:nvPr/>
        </p:nvSpPr>
        <p:spPr>
          <a:xfrm>
            <a:off x="3838575" y="5216525"/>
            <a:ext cx="719138"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Fish</a:t>
            </a:r>
          </a:p>
        </p:txBody>
      </p:sp>
      <p:sp>
        <p:nvSpPr>
          <p:cNvPr id="176139" name="Text Box 176138"/>
          <p:cNvSpPr txBox="1"/>
          <p:nvPr/>
        </p:nvSpPr>
        <p:spPr>
          <a:xfrm>
            <a:off x="4752975" y="5673725"/>
            <a:ext cx="1311275"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Penguins</a:t>
            </a:r>
          </a:p>
        </p:txBody>
      </p:sp>
      <p:sp>
        <p:nvSpPr>
          <p:cNvPr id="176140" name="Text Box 176139"/>
          <p:cNvSpPr txBox="1"/>
          <p:nvPr/>
        </p:nvSpPr>
        <p:spPr>
          <a:xfrm>
            <a:off x="5743575" y="5064125"/>
            <a:ext cx="1512888"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Crocodiles</a:t>
            </a:r>
          </a:p>
        </p:txBody>
      </p:sp>
      <p:sp>
        <p:nvSpPr>
          <p:cNvPr id="176141" name="Text Box 176140"/>
          <p:cNvSpPr txBox="1"/>
          <p:nvPr/>
        </p:nvSpPr>
        <p:spPr>
          <a:xfrm>
            <a:off x="7343775" y="3387725"/>
            <a:ext cx="1624013"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Fresh water</a:t>
            </a:r>
          </a:p>
        </p:txBody>
      </p:sp>
      <p:sp>
        <p:nvSpPr>
          <p:cNvPr id="176142" name="Text Box 176141"/>
          <p:cNvSpPr txBox="1"/>
          <p:nvPr/>
        </p:nvSpPr>
        <p:spPr>
          <a:xfrm>
            <a:off x="7724775" y="4683125"/>
            <a:ext cx="1419225"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Salt water</a:t>
            </a:r>
          </a:p>
        </p:txBody>
      </p:sp>
      <p:sp>
        <p:nvSpPr>
          <p:cNvPr id="176143" name="Isosceles Triangle 176142"/>
          <p:cNvSpPr/>
          <p:nvPr/>
        </p:nvSpPr>
        <p:spPr>
          <a:xfrm>
            <a:off x="4905375" y="3540125"/>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176144" name="Straight Connector 176143"/>
          <p:cNvSpPr/>
          <p:nvPr/>
        </p:nvSpPr>
        <p:spPr>
          <a:xfrm>
            <a:off x="4981575" y="3692525"/>
            <a:ext cx="0" cy="304800"/>
          </a:xfrm>
          <a:prstGeom prst="line">
            <a:avLst/>
          </a:prstGeom>
          <a:ln w="9525" cap="flat" cmpd="sng">
            <a:solidFill>
              <a:srgbClr val="9900FF"/>
            </a:solidFill>
            <a:prstDash val="solid"/>
            <a:headEnd type="none" w="med" len="med"/>
            <a:tailEnd type="none" w="med" len="med"/>
          </a:ln>
        </p:spPr>
      </p:sp>
      <p:sp>
        <p:nvSpPr>
          <p:cNvPr id="176145" name="Straight Connector 176144"/>
          <p:cNvSpPr/>
          <p:nvPr/>
        </p:nvSpPr>
        <p:spPr>
          <a:xfrm flipH="1">
            <a:off x="4143375" y="4454525"/>
            <a:ext cx="838200" cy="685800"/>
          </a:xfrm>
          <a:prstGeom prst="line">
            <a:avLst/>
          </a:prstGeom>
          <a:ln w="9525" cap="flat" cmpd="sng">
            <a:solidFill>
              <a:srgbClr val="9900FF"/>
            </a:solidFill>
            <a:prstDash val="solid"/>
            <a:headEnd type="none" w="med" len="med"/>
            <a:tailEnd type="arrow" w="med" len="med"/>
          </a:ln>
        </p:spPr>
      </p:sp>
      <p:sp>
        <p:nvSpPr>
          <p:cNvPr id="176146" name="Text Box 176145"/>
          <p:cNvSpPr txBox="1"/>
          <p:nvPr/>
        </p:nvSpPr>
        <p:spPr>
          <a:xfrm>
            <a:off x="4143375" y="4506913"/>
            <a:ext cx="615950" cy="366712"/>
          </a:xfrm>
          <a:prstGeom prst="rect">
            <a:avLst/>
          </a:prstGeom>
          <a:noFill/>
          <a:ln w="9525">
            <a:noFill/>
          </a:ln>
        </p:spPr>
        <p:txBody>
          <a:bodyPr wrap="none" anchor="t" anchorCtr="0">
            <a:spAutoFit/>
          </a:bodyPr>
          <a:lstStyle/>
          <a:p>
            <a:r>
              <a:rPr sz="1800">
                <a:latin typeface="Times New Roman" panose="02020603050405020304" pitchFamily="18" charset="0"/>
              </a:rPr>
              <a:t>have</a:t>
            </a:r>
          </a:p>
        </p:txBody>
      </p:sp>
      <p:sp>
        <p:nvSpPr>
          <p:cNvPr id="176147" name="Straight Connector 176146"/>
          <p:cNvSpPr/>
          <p:nvPr/>
        </p:nvSpPr>
        <p:spPr>
          <a:xfrm flipH="1">
            <a:off x="4448175" y="4454525"/>
            <a:ext cx="1524000" cy="762000"/>
          </a:xfrm>
          <a:prstGeom prst="line">
            <a:avLst/>
          </a:prstGeom>
          <a:ln w="9525" cap="flat" cmpd="sng">
            <a:solidFill>
              <a:srgbClr val="9900FF"/>
            </a:solidFill>
            <a:prstDash val="solid"/>
            <a:headEnd type="none" w="med" len="med"/>
            <a:tailEnd type="arrow" w="med" len="med"/>
          </a:ln>
        </p:spPr>
      </p:sp>
      <p:sp>
        <p:nvSpPr>
          <p:cNvPr id="176148" name="Text Box 176147"/>
          <p:cNvSpPr txBox="1"/>
          <p:nvPr/>
        </p:nvSpPr>
        <p:spPr>
          <a:xfrm>
            <a:off x="4829175" y="4832350"/>
            <a:ext cx="615950" cy="366713"/>
          </a:xfrm>
          <a:prstGeom prst="rect">
            <a:avLst/>
          </a:prstGeom>
          <a:noFill/>
          <a:ln w="9525">
            <a:noFill/>
          </a:ln>
        </p:spPr>
        <p:txBody>
          <a:bodyPr wrap="none" anchor="t" anchorCtr="0">
            <a:spAutoFit/>
          </a:bodyPr>
          <a:lstStyle/>
          <a:p>
            <a:r>
              <a:rPr sz="1800">
                <a:latin typeface="Times New Roman" panose="02020603050405020304" pitchFamily="18" charset="0"/>
              </a:rPr>
              <a:t>have</a:t>
            </a:r>
          </a:p>
        </p:txBody>
      </p:sp>
      <p:sp>
        <p:nvSpPr>
          <p:cNvPr id="176149" name="Straight Connector 176148"/>
          <p:cNvSpPr/>
          <p:nvPr/>
        </p:nvSpPr>
        <p:spPr>
          <a:xfrm flipH="1">
            <a:off x="4981575" y="4530725"/>
            <a:ext cx="1066800" cy="1143000"/>
          </a:xfrm>
          <a:prstGeom prst="line">
            <a:avLst/>
          </a:prstGeom>
          <a:ln w="9525" cap="flat" cmpd="sng">
            <a:solidFill>
              <a:srgbClr val="9900FF"/>
            </a:solidFill>
            <a:prstDash val="solid"/>
            <a:headEnd type="none" w="med" len="med"/>
            <a:tailEnd type="arrow" w="med" len="med"/>
          </a:ln>
        </p:spPr>
      </p:sp>
      <p:sp>
        <p:nvSpPr>
          <p:cNvPr id="176150" name="Text Box 176149"/>
          <p:cNvSpPr txBox="1"/>
          <p:nvPr/>
        </p:nvSpPr>
        <p:spPr>
          <a:xfrm>
            <a:off x="4829175" y="5213350"/>
            <a:ext cx="615950" cy="366713"/>
          </a:xfrm>
          <a:prstGeom prst="rect">
            <a:avLst/>
          </a:prstGeom>
          <a:noFill/>
          <a:ln w="9525">
            <a:noFill/>
          </a:ln>
        </p:spPr>
        <p:txBody>
          <a:bodyPr wrap="none" anchor="t" anchorCtr="0">
            <a:spAutoFit/>
          </a:bodyPr>
          <a:lstStyle/>
          <a:p>
            <a:r>
              <a:rPr sz="1800">
                <a:latin typeface="Times New Roman" panose="02020603050405020304" pitchFamily="18" charset="0"/>
              </a:rPr>
              <a:t>have</a:t>
            </a:r>
          </a:p>
        </p:txBody>
      </p:sp>
      <p:sp>
        <p:nvSpPr>
          <p:cNvPr id="176151" name="Straight Connector 176150"/>
          <p:cNvSpPr/>
          <p:nvPr/>
        </p:nvSpPr>
        <p:spPr>
          <a:xfrm flipH="1" flipV="1">
            <a:off x="6429375" y="4454525"/>
            <a:ext cx="0" cy="609600"/>
          </a:xfrm>
          <a:prstGeom prst="line">
            <a:avLst/>
          </a:prstGeom>
          <a:ln w="9525" cap="flat" cmpd="sng">
            <a:solidFill>
              <a:srgbClr val="9900FF"/>
            </a:solidFill>
            <a:prstDash val="solid"/>
            <a:headEnd type="none" w="med" len="med"/>
            <a:tailEnd type="arrow" w="med" len="med"/>
          </a:ln>
        </p:spPr>
      </p:sp>
      <p:sp>
        <p:nvSpPr>
          <p:cNvPr id="176152" name="Text Box 176151"/>
          <p:cNvSpPr txBox="1"/>
          <p:nvPr/>
        </p:nvSpPr>
        <p:spPr>
          <a:xfrm>
            <a:off x="6200775" y="4606925"/>
            <a:ext cx="762000" cy="366713"/>
          </a:xfrm>
          <a:prstGeom prst="rect">
            <a:avLst/>
          </a:prstGeom>
          <a:noFill/>
          <a:ln w="9525">
            <a:noFill/>
          </a:ln>
        </p:spPr>
        <p:txBody>
          <a:bodyPr wrap="none" anchor="t" anchorCtr="0">
            <a:spAutoFit/>
          </a:bodyPr>
          <a:lstStyle/>
          <a:p>
            <a:r>
              <a:rPr sz="1800">
                <a:latin typeface="Times New Roman" panose="02020603050405020304" pitchFamily="18" charset="0"/>
              </a:rPr>
              <a:t>live in</a:t>
            </a:r>
          </a:p>
        </p:txBody>
      </p:sp>
      <p:sp>
        <p:nvSpPr>
          <p:cNvPr id="176153" name="Isosceles Triangle 176152"/>
          <p:cNvSpPr/>
          <p:nvPr/>
        </p:nvSpPr>
        <p:spPr>
          <a:xfrm rot="16774523">
            <a:off x="5514975" y="3235325"/>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176154" name="Straight Connector 176153"/>
          <p:cNvSpPr/>
          <p:nvPr/>
        </p:nvSpPr>
        <p:spPr>
          <a:xfrm rot="-3372337">
            <a:off x="6151563" y="2724150"/>
            <a:ext cx="685800" cy="1524000"/>
          </a:xfrm>
          <a:prstGeom prst="line">
            <a:avLst/>
          </a:prstGeom>
          <a:ln w="9525" cap="flat" cmpd="sng">
            <a:solidFill>
              <a:srgbClr val="9900FF"/>
            </a:solidFill>
            <a:prstDash val="solid"/>
            <a:headEnd type="none" w="med" len="med"/>
            <a:tailEnd type="none" w="med" len="med"/>
          </a:ln>
        </p:spPr>
      </p:sp>
      <p:sp>
        <p:nvSpPr>
          <p:cNvPr id="176155" name="Straight Connector 176154"/>
          <p:cNvSpPr/>
          <p:nvPr/>
        </p:nvSpPr>
        <p:spPr>
          <a:xfrm flipH="1">
            <a:off x="5514975" y="3692525"/>
            <a:ext cx="1828800" cy="381000"/>
          </a:xfrm>
          <a:prstGeom prst="line">
            <a:avLst/>
          </a:prstGeom>
          <a:ln w="9525" cap="flat" cmpd="sng">
            <a:solidFill>
              <a:srgbClr val="9900FF"/>
            </a:solidFill>
            <a:prstDash val="solid"/>
            <a:headEnd type="none" w="med" len="med"/>
            <a:tailEnd type="arrow" w="med" len="med"/>
          </a:ln>
        </p:spPr>
      </p:sp>
      <p:sp>
        <p:nvSpPr>
          <p:cNvPr id="176156" name="Text Box 176155"/>
          <p:cNvSpPr txBox="1"/>
          <p:nvPr/>
        </p:nvSpPr>
        <p:spPr>
          <a:xfrm>
            <a:off x="6200775" y="3540125"/>
            <a:ext cx="615950" cy="366713"/>
          </a:xfrm>
          <a:prstGeom prst="rect">
            <a:avLst/>
          </a:prstGeom>
          <a:noFill/>
          <a:ln w="9525">
            <a:noFill/>
          </a:ln>
        </p:spPr>
        <p:txBody>
          <a:bodyPr wrap="none" anchor="t" anchorCtr="0">
            <a:spAutoFit/>
          </a:bodyPr>
          <a:lstStyle/>
          <a:p>
            <a:r>
              <a:rPr sz="1800">
                <a:latin typeface="Times New Roman" panose="02020603050405020304" pitchFamily="18" charset="0"/>
              </a:rPr>
              <a:t>have</a:t>
            </a:r>
          </a:p>
        </p:txBody>
      </p:sp>
      <p:sp>
        <p:nvSpPr>
          <p:cNvPr id="176157" name="Straight Connector 176156"/>
          <p:cNvSpPr/>
          <p:nvPr/>
        </p:nvSpPr>
        <p:spPr>
          <a:xfrm>
            <a:off x="7115175" y="4302125"/>
            <a:ext cx="838200" cy="381000"/>
          </a:xfrm>
          <a:prstGeom prst="line">
            <a:avLst/>
          </a:prstGeom>
          <a:ln w="9525" cap="flat" cmpd="sng">
            <a:solidFill>
              <a:srgbClr val="9900FF"/>
            </a:solidFill>
            <a:prstDash val="solid"/>
            <a:headEnd type="none" w="med" len="med"/>
            <a:tailEnd type="arrow" w="med" len="med"/>
          </a:ln>
        </p:spPr>
      </p:sp>
      <p:sp>
        <p:nvSpPr>
          <p:cNvPr id="176158" name="Text Box 176157"/>
          <p:cNvSpPr txBox="1"/>
          <p:nvPr/>
        </p:nvSpPr>
        <p:spPr>
          <a:xfrm>
            <a:off x="7496175" y="4073525"/>
            <a:ext cx="615950" cy="366713"/>
          </a:xfrm>
          <a:prstGeom prst="rect">
            <a:avLst/>
          </a:prstGeom>
          <a:noFill/>
          <a:ln w="9525">
            <a:noFill/>
          </a:ln>
        </p:spPr>
        <p:txBody>
          <a:bodyPr wrap="none" anchor="t" anchorCtr="0">
            <a:spAutoFit/>
          </a:bodyPr>
          <a:lstStyle/>
          <a:p>
            <a:r>
              <a:rPr sz="1800">
                <a:latin typeface="Times New Roman" panose="02020603050405020304" pitchFamily="18" charset="0"/>
              </a:rPr>
              <a:t>have</a:t>
            </a:r>
          </a:p>
        </p:txBody>
      </p:sp>
      <p:pic>
        <p:nvPicPr>
          <p:cNvPr id="3" name="Picture 2">
            <a:extLst>
              <a:ext uri="{FF2B5EF4-FFF2-40B4-BE49-F238E27FC236}">
                <a16:creationId xmlns:a16="http://schemas.microsoft.com/office/drawing/2014/main" id="{D068AFA0-D8DC-8A04-3F42-9C835892ED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F2E355AB-699E-8822-4A70-0465A6749FCF}"/>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75D2117-BD60-38F1-76F8-B327977EEB47}"/>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11</a:t>
            </a:fld>
            <a:endParaRPr lang="en-US">
              <a:latin typeface="Arial" panose="020B0604020202020204" pitchFamily="34" charset="0"/>
            </a:endParaRPr>
          </a:p>
        </p:txBody>
      </p:sp>
      <p:sp>
        <p:nvSpPr>
          <p:cNvPr id="62466" name="Title 62465"/>
          <p:cNvSpPr>
            <a:spLocks noGrp="1"/>
          </p:cNvSpPr>
          <p:nvPr>
            <p:ph type="title" idx="4294967295"/>
          </p:nvPr>
        </p:nvSpPr>
        <p:spPr>
          <a:xfrm>
            <a:off x="0" y="228600"/>
            <a:ext cx="8015288" cy="914400"/>
          </a:xfrm>
        </p:spPr>
        <p:txBody>
          <a:bodyPr anchor="ctr" anchorCtr="0">
            <a:normAutofit fontScale="90000"/>
          </a:bodyPr>
          <a:lstStyle/>
          <a:p>
            <a:pPr algn="ctr"/>
            <a:r>
              <a:rPr sz="3800" dirty="0"/>
              <a:t>Why Object-Oriented -&gt; </a:t>
            </a:r>
            <a:br>
              <a:rPr sz="3800" dirty="0"/>
            </a:br>
            <a:r>
              <a:rPr sz="3800" dirty="0"/>
              <a:t>                </a:t>
            </a:r>
            <a:r>
              <a:rPr sz="2400" dirty="0"/>
              <a:t>What is a </a:t>
            </a:r>
            <a:r>
              <a:rPr sz="2800" b="1" i="1" dirty="0"/>
              <a:t>model </a:t>
            </a:r>
            <a:r>
              <a:rPr sz="2800" b="1" dirty="0"/>
              <a:t>and why</a:t>
            </a:r>
            <a:r>
              <a:rPr sz="2400" dirty="0"/>
              <a:t>?</a:t>
            </a:r>
          </a:p>
        </p:txBody>
      </p:sp>
      <p:sp>
        <p:nvSpPr>
          <p:cNvPr id="62467" name="Text Placeholder 62466"/>
          <p:cNvSpPr>
            <a:spLocks noGrp="1"/>
          </p:cNvSpPr>
          <p:nvPr>
            <p:ph type="body" idx="4294967295"/>
          </p:nvPr>
        </p:nvSpPr>
        <p:spPr>
          <a:xfrm>
            <a:off x="0" y="1600200"/>
            <a:ext cx="8001000" cy="3429000"/>
          </a:xfrm>
        </p:spPr>
        <p:txBody>
          <a:bodyPr>
            <a:normAutofit lnSpcReduction="10000"/>
          </a:bodyPr>
          <a:lstStyle/>
          <a:p>
            <a:pPr>
              <a:lnSpc>
                <a:spcPct val="80000"/>
              </a:lnSpc>
            </a:pPr>
            <a:r>
              <a:rPr sz="2400" dirty="0"/>
              <a:t>A model is a simplification of reality</a:t>
            </a:r>
            <a:r>
              <a:rPr sz="2400" i="1" dirty="0"/>
              <a:t>.</a:t>
            </a:r>
          </a:p>
          <a:p>
            <a:pPr>
              <a:lnSpc>
                <a:spcPct val="80000"/>
              </a:lnSpc>
              <a:buNone/>
            </a:pPr>
            <a:r>
              <a:rPr sz="2400" i="1" dirty="0"/>
              <a:t>     </a:t>
            </a:r>
            <a:r>
              <a:rPr sz="1800" i="1" dirty="0"/>
              <a:t>E.g., a miniature bridge for a real bridge to be built</a:t>
            </a:r>
          </a:p>
          <a:p>
            <a:pPr>
              <a:lnSpc>
                <a:spcPct val="80000"/>
              </a:lnSpc>
              <a:buNone/>
            </a:pPr>
            <a:endParaRPr sz="1800" i="1" dirty="0"/>
          </a:p>
          <a:p>
            <a:pPr lvl="1">
              <a:lnSpc>
                <a:spcPct val="80000"/>
              </a:lnSpc>
            </a:pPr>
            <a:r>
              <a:rPr sz="1600" i="1" dirty="0">
                <a:solidFill>
                  <a:srgbClr val="FF0000"/>
                </a:solidFill>
              </a:rPr>
              <a:t>Well...sort of</a:t>
            </a:r>
            <a:r>
              <a:rPr sz="1600" i="1" dirty="0">
                <a:solidFill>
                  <a:srgbClr val="FF0000"/>
                </a:solidFill>
                <a:latin typeface="Arial" panose="020B0604020202020204" pitchFamily="34" charset="0"/>
              </a:rPr>
              <a:t>…</a:t>
            </a:r>
            <a:r>
              <a:rPr sz="1600" i="1" dirty="0">
                <a:solidFill>
                  <a:srgbClr val="FF0000"/>
                </a:solidFill>
              </a:rPr>
              <a:t>.but not quite</a:t>
            </a:r>
          </a:p>
          <a:p>
            <a:pPr lvl="1">
              <a:lnSpc>
                <a:spcPct val="80000"/>
              </a:lnSpc>
            </a:pPr>
            <a:r>
              <a:rPr sz="2000" dirty="0"/>
              <a:t>A model is </a:t>
            </a:r>
            <a:r>
              <a:rPr sz="2000" i="1" dirty="0"/>
              <a:t>our</a:t>
            </a:r>
            <a:r>
              <a:rPr sz="2000" dirty="0"/>
              <a:t> simplification of </a:t>
            </a:r>
            <a:r>
              <a:rPr sz="2000" i="1" dirty="0"/>
              <a:t>our perception</a:t>
            </a:r>
            <a:r>
              <a:rPr sz="2000" dirty="0"/>
              <a:t> of reality </a:t>
            </a:r>
          </a:p>
          <a:p>
            <a:pPr lvl="1">
              <a:lnSpc>
                <a:spcPct val="80000"/>
              </a:lnSpc>
              <a:buNone/>
            </a:pPr>
            <a:r>
              <a:rPr sz="1800" dirty="0"/>
              <a:t>	(that is, if it exists, otherwise it could be a mere illusion).</a:t>
            </a:r>
            <a:r>
              <a:rPr sz="2400" dirty="0"/>
              <a:t> </a:t>
            </a:r>
          </a:p>
          <a:p>
            <a:pPr lvl="1">
              <a:lnSpc>
                <a:spcPct val="80000"/>
              </a:lnSpc>
              <a:buNone/>
            </a:pPr>
            <a:r>
              <a:rPr sz="1800" dirty="0"/>
              <a:t>	communication is not about reality but about your/my/his/her perception of reality =&gt; validation and verification hard but needed</a:t>
            </a:r>
          </a:p>
          <a:p>
            <a:pPr>
              <a:lnSpc>
                <a:spcPct val="80000"/>
              </a:lnSpc>
              <a:buNone/>
            </a:pPr>
            <a:endParaRPr sz="1800" dirty="0"/>
          </a:p>
          <a:p>
            <a:pPr>
              <a:lnSpc>
                <a:spcPct val="80000"/>
              </a:lnSpc>
            </a:pPr>
            <a:r>
              <a:rPr sz="2400" dirty="0"/>
              <a:t>A model is an </a:t>
            </a:r>
            <a:r>
              <a:rPr sz="2400" i="1" dirty="0"/>
              <a:t>abstraction</a:t>
            </a:r>
            <a:r>
              <a:rPr sz="1200" i="1" dirty="0"/>
              <a:t> </a:t>
            </a:r>
            <a:r>
              <a:rPr sz="2400" dirty="0"/>
              <a:t>of something for the purpose of </a:t>
            </a:r>
            <a:r>
              <a:rPr sz="2400" i="1" dirty="0"/>
              <a:t>understanding</a:t>
            </a:r>
            <a:r>
              <a:rPr sz="2400" dirty="0"/>
              <a:t>, be it the problem or a solution.</a:t>
            </a:r>
            <a:endParaRPr sz="1800" b="1" i="1" dirty="0"/>
          </a:p>
        </p:txBody>
      </p:sp>
      <p:sp>
        <p:nvSpPr>
          <p:cNvPr id="62468" name="Rectangles 62467"/>
          <p:cNvSpPr/>
          <p:nvPr/>
        </p:nvSpPr>
        <p:spPr>
          <a:xfrm>
            <a:off x="381000" y="5410200"/>
            <a:ext cx="8763000" cy="1295400"/>
          </a:xfrm>
          <a:prstGeom prst="rect">
            <a:avLst/>
          </a:prstGeom>
          <a:solidFill>
            <a:srgbClr val="FFFF99"/>
          </a:solid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32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8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4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20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2000" b="0" i="0" u="none" kern="1200" baseline="0">
                <a:solidFill>
                  <a:schemeClr val="tx1"/>
                </a:solidFill>
                <a:latin typeface="Arial" panose="020B0604020202020204" pitchFamily="34" charset="0"/>
              </a:defRPr>
            </a:lvl5pPr>
          </a:lstStyle>
          <a:p>
            <a:pPr lvl="0">
              <a:lnSpc>
                <a:spcPct val="80000"/>
              </a:lnSpc>
            </a:pPr>
            <a:r>
              <a:rPr sz="1600"/>
              <a:t>To understand </a:t>
            </a:r>
            <a:r>
              <a:rPr sz="1600" i="1"/>
              <a:t>why</a:t>
            </a:r>
            <a:r>
              <a:rPr sz="1600"/>
              <a:t> a software system is needed, </a:t>
            </a:r>
            <a:r>
              <a:rPr sz="1600" i="1"/>
              <a:t>what</a:t>
            </a:r>
            <a:r>
              <a:rPr sz="1600"/>
              <a:t> it should do, and </a:t>
            </a:r>
            <a:r>
              <a:rPr sz="1600" i="1"/>
              <a:t>how</a:t>
            </a:r>
            <a:r>
              <a:rPr sz="1600"/>
              <a:t> it should do it.</a:t>
            </a:r>
          </a:p>
          <a:p>
            <a:pPr lvl="0">
              <a:lnSpc>
                <a:spcPct val="80000"/>
              </a:lnSpc>
            </a:pPr>
            <a:r>
              <a:rPr sz="1600"/>
              <a:t>To communicate our understanding of why, what and how.</a:t>
            </a:r>
          </a:p>
          <a:p>
            <a:pPr lvl="0">
              <a:lnSpc>
                <a:spcPct val="80000"/>
              </a:lnSpc>
            </a:pPr>
            <a:r>
              <a:rPr sz="1600"/>
              <a:t>To detect commonalities and differences in your perception, my perception, his perception and her perception of reality.</a:t>
            </a:r>
          </a:p>
          <a:p>
            <a:pPr lvl="0">
              <a:lnSpc>
                <a:spcPct val="80000"/>
              </a:lnSpc>
            </a:pPr>
            <a:r>
              <a:rPr sz="1600"/>
              <a:t>To detect misunderstandings and miscommunications.	</a:t>
            </a:r>
            <a:r>
              <a:rPr sz="1800"/>
              <a:t>								</a:t>
            </a:r>
            <a:endParaRPr sz="1800" b="1" i="1"/>
          </a:p>
        </p:txBody>
      </p:sp>
      <p:pic>
        <p:nvPicPr>
          <p:cNvPr id="3" name="Picture 2">
            <a:extLst>
              <a:ext uri="{FF2B5EF4-FFF2-40B4-BE49-F238E27FC236}">
                <a16:creationId xmlns:a16="http://schemas.microsoft.com/office/drawing/2014/main" id="{19873689-2AD8-0E74-4010-026004EED1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4" name="Rectangle 3">
            <a:extLst>
              <a:ext uri="{FF2B5EF4-FFF2-40B4-BE49-F238E27FC236}">
                <a16:creationId xmlns:a16="http://schemas.microsoft.com/office/drawing/2014/main" id="{FD5BF32B-5048-D6F6-DDF6-ECF19C047F49}"/>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C469457-E303-6112-5DC1-626EC185E7BC}"/>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12</a:t>
            </a:fld>
            <a:endParaRPr lang="en-US">
              <a:latin typeface="Arial" panose="020B0604020202020204" pitchFamily="34" charset="0"/>
            </a:endParaRPr>
          </a:p>
        </p:txBody>
      </p:sp>
      <p:sp>
        <p:nvSpPr>
          <p:cNvPr id="313346" name="Title 313345"/>
          <p:cNvSpPr>
            <a:spLocks noGrp="1"/>
          </p:cNvSpPr>
          <p:nvPr>
            <p:ph type="title" idx="4294967295"/>
          </p:nvPr>
        </p:nvSpPr>
        <p:spPr>
          <a:xfrm>
            <a:off x="0" y="-152400"/>
            <a:ext cx="8110538" cy="1143000"/>
          </a:xfrm>
        </p:spPr>
        <p:txBody>
          <a:bodyPr anchor="ctr" anchorCtr="0">
            <a:normAutofit fontScale="90000"/>
          </a:bodyPr>
          <a:lstStyle/>
          <a:p>
            <a:pPr algn="ctr"/>
            <a:br>
              <a:rPr sz="3800" b="1" dirty="0"/>
            </a:br>
            <a:r>
              <a:rPr sz="3800" b="1" i="1" dirty="0"/>
              <a:t>What</a:t>
            </a:r>
            <a:r>
              <a:rPr sz="3800" b="1" dirty="0"/>
              <a:t> is Object-Orientation? </a:t>
            </a:r>
            <a:br>
              <a:rPr sz="3800" b="1" dirty="0"/>
            </a:br>
            <a:r>
              <a:rPr sz="2400" b="1" dirty="0"/>
              <a:t>- What is Object</a:t>
            </a:r>
            <a:r>
              <a:rPr sz="3800" dirty="0"/>
              <a:t>?</a:t>
            </a:r>
          </a:p>
        </p:txBody>
      </p:sp>
      <p:sp>
        <p:nvSpPr>
          <p:cNvPr id="313347" name="Text Placeholder 313346"/>
          <p:cNvSpPr>
            <a:spLocks noGrp="1"/>
          </p:cNvSpPr>
          <p:nvPr>
            <p:ph type="body" idx="4294967295"/>
          </p:nvPr>
        </p:nvSpPr>
        <p:spPr>
          <a:xfrm>
            <a:off x="0" y="1295400"/>
            <a:ext cx="9144000" cy="1295400"/>
          </a:xfrm>
        </p:spPr>
        <p:txBody>
          <a:bodyPr/>
          <a:lstStyle/>
          <a:p>
            <a:pPr>
              <a:lnSpc>
                <a:spcPct val="80000"/>
              </a:lnSpc>
              <a:buNone/>
            </a:pPr>
            <a:endParaRPr sz="2000" b="1" dirty="0"/>
          </a:p>
          <a:p>
            <a:pPr>
              <a:lnSpc>
                <a:spcPct val="80000"/>
              </a:lnSpc>
            </a:pPr>
            <a:r>
              <a:rPr sz="2000" dirty="0"/>
              <a:t>An "object" is anything to which a concept applies, </a:t>
            </a:r>
            <a:r>
              <a:rPr sz="1800" b="1" i="1" dirty="0">
                <a:solidFill>
                  <a:srgbClr val="0000FF"/>
                </a:solidFill>
              </a:rPr>
              <a:t>in our awareness</a:t>
            </a:r>
            <a:endParaRPr sz="2000" dirty="0"/>
          </a:p>
          <a:p>
            <a:pPr>
              <a:lnSpc>
                <a:spcPct val="80000"/>
              </a:lnSpc>
            </a:pPr>
            <a:r>
              <a:rPr sz="2000" dirty="0"/>
              <a:t>Things drawn from the problem domain or solution space.</a:t>
            </a:r>
          </a:p>
          <a:p>
            <a:pPr lvl="1">
              <a:lnSpc>
                <a:spcPct val="80000"/>
              </a:lnSpc>
            </a:pPr>
            <a:r>
              <a:rPr sz="1600" dirty="0"/>
              <a:t>E.g., a living person in the problem domain, a software component in the solution space.</a:t>
            </a:r>
          </a:p>
          <a:p>
            <a:pPr>
              <a:lnSpc>
                <a:spcPct val="80000"/>
              </a:lnSpc>
            </a:pPr>
            <a:endParaRPr sz="1600" b="1" dirty="0"/>
          </a:p>
        </p:txBody>
      </p:sp>
      <p:pic>
        <p:nvPicPr>
          <p:cNvPr id="313388" name="Picture 313387"/>
          <p:cNvPicPr>
            <a:picLocks noChangeAspect="1"/>
          </p:cNvPicPr>
          <p:nvPr/>
        </p:nvPicPr>
        <p:blipFill>
          <a:blip r:embed="rId2"/>
          <a:stretch>
            <a:fillRect/>
          </a:stretch>
        </p:blipFill>
        <p:spPr>
          <a:xfrm>
            <a:off x="4267200" y="2133600"/>
            <a:ext cx="3695700" cy="4114800"/>
          </a:xfrm>
          <a:prstGeom prst="rect">
            <a:avLst/>
          </a:prstGeom>
          <a:noFill/>
          <a:ln w="9525">
            <a:noFill/>
          </a:ln>
        </p:spPr>
      </p:pic>
      <p:sp>
        <p:nvSpPr>
          <p:cNvPr id="313382" name="Rectangles 313381"/>
          <p:cNvSpPr/>
          <p:nvPr/>
        </p:nvSpPr>
        <p:spPr>
          <a:xfrm>
            <a:off x="609600" y="2743200"/>
            <a:ext cx="2590800" cy="2514600"/>
          </a:xfrm>
          <a:prstGeom prst="rect">
            <a:avLst/>
          </a:prstGeom>
          <a:solidFill>
            <a:srgbClr val="CCFFFF"/>
          </a:solidFill>
          <a:ln w="9525">
            <a:noFill/>
          </a:ln>
        </p:spPr>
        <p:txBody>
          <a:bodyPr/>
          <a:lstStyle/>
          <a:p>
            <a:endParaRPr lang="en-US"/>
          </a:p>
        </p:txBody>
      </p:sp>
      <p:sp>
        <p:nvSpPr>
          <p:cNvPr id="313348" name="Rectangles 313347"/>
          <p:cNvSpPr/>
          <p:nvPr/>
        </p:nvSpPr>
        <p:spPr>
          <a:xfrm>
            <a:off x="304800" y="5105400"/>
            <a:ext cx="8458200" cy="15240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32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8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4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20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2000" b="0" i="0" u="none" kern="1200" baseline="0">
                <a:solidFill>
                  <a:schemeClr val="tx1"/>
                </a:solidFill>
                <a:latin typeface="Arial" panose="020B0604020202020204" pitchFamily="34" charset="0"/>
              </a:defRPr>
            </a:lvl5pPr>
          </a:lstStyle>
          <a:p>
            <a:pPr lvl="0">
              <a:lnSpc>
                <a:spcPct val="90000"/>
              </a:lnSpc>
              <a:buNone/>
            </a:pPr>
            <a:endParaRPr sz="1800" b="1"/>
          </a:p>
          <a:p>
            <a:pPr lvl="0">
              <a:lnSpc>
                <a:spcPct val="90000"/>
              </a:lnSpc>
            </a:pPr>
            <a:r>
              <a:rPr sz="2400"/>
              <a:t>A structure that has identity and properties and behavior</a:t>
            </a:r>
          </a:p>
          <a:p>
            <a:pPr lvl="0">
              <a:lnSpc>
                <a:spcPct val="90000"/>
              </a:lnSpc>
            </a:pPr>
            <a:r>
              <a:rPr sz="2400"/>
              <a:t>It is an instance of a collective concept, i.e., a </a:t>
            </a:r>
            <a:r>
              <a:rPr sz="2400">
                <a:solidFill>
                  <a:srgbClr val="FF00FF"/>
                </a:solidFill>
              </a:rPr>
              <a:t>class</a:t>
            </a:r>
            <a:r>
              <a:rPr sz="2400"/>
              <a:t>.</a:t>
            </a:r>
          </a:p>
        </p:txBody>
      </p:sp>
      <p:pic>
        <p:nvPicPr>
          <p:cNvPr id="313349" name="Picture 313348"/>
          <p:cNvPicPr>
            <a:picLocks noChangeAspect="1"/>
          </p:cNvPicPr>
          <p:nvPr/>
        </p:nvPicPr>
        <p:blipFill>
          <a:blip r:embed="rId3"/>
          <a:stretch>
            <a:fillRect/>
          </a:stretch>
        </p:blipFill>
        <p:spPr>
          <a:xfrm>
            <a:off x="1752600" y="2971800"/>
            <a:ext cx="203200" cy="1219200"/>
          </a:xfrm>
          <a:prstGeom prst="rect">
            <a:avLst/>
          </a:prstGeom>
          <a:noFill/>
          <a:ln w="9525">
            <a:noFill/>
          </a:ln>
        </p:spPr>
      </p:pic>
      <p:pic>
        <p:nvPicPr>
          <p:cNvPr id="313359" name="Picture 313358" descr="TN00542_"/>
          <p:cNvPicPr>
            <a:picLocks noChangeAspect="1"/>
          </p:cNvPicPr>
          <p:nvPr/>
        </p:nvPicPr>
        <p:blipFill>
          <a:blip r:embed="rId4"/>
          <a:stretch>
            <a:fillRect/>
          </a:stretch>
        </p:blipFill>
        <p:spPr>
          <a:xfrm>
            <a:off x="685800" y="4419600"/>
            <a:ext cx="1752600" cy="404813"/>
          </a:xfrm>
          <a:prstGeom prst="rect">
            <a:avLst/>
          </a:prstGeom>
          <a:noFill/>
          <a:ln w="9525">
            <a:noFill/>
          </a:ln>
        </p:spPr>
      </p:pic>
      <p:pic>
        <p:nvPicPr>
          <p:cNvPr id="313381" name="Picture 313380" descr="j0282568"/>
          <p:cNvPicPr>
            <a:picLocks noChangeAspect="1"/>
          </p:cNvPicPr>
          <p:nvPr/>
        </p:nvPicPr>
        <p:blipFill>
          <a:blip r:embed="rId5"/>
          <a:stretch>
            <a:fillRect/>
          </a:stretch>
        </p:blipFill>
        <p:spPr>
          <a:xfrm>
            <a:off x="762000" y="2971800"/>
            <a:ext cx="820738" cy="1163638"/>
          </a:xfrm>
          <a:prstGeom prst="rect">
            <a:avLst/>
          </a:prstGeom>
          <a:noFill/>
          <a:ln w="9525">
            <a:noFill/>
          </a:ln>
        </p:spPr>
      </p:pic>
      <p:pic>
        <p:nvPicPr>
          <p:cNvPr id="313384" name="Picture 313383"/>
          <p:cNvPicPr>
            <a:picLocks noChangeAspect="1"/>
          </p:cNvPicPr>
          <p:nvPr/>
        </p:nvPicPr>
        <p:blipFill>
          <a:blip r:embed="rId3"/>
          <a:stretch>
            <a:fillRect/>
          </a:stretch>
        </p:blipFill>
        <p:spPr>
          <a:xfrm>
            <a:off x="6629400" y="3048000"/>
            <a:ext cx="190500" cy="1143000"/>
          </a:xfrm>
          <a:prstGeom prst="rect">
            <a:avLst/>
          </a:prstGeom>
          <a:noFill/>
          <a:ln w="9525">
            <a:noFill/>
          </a:ln>
        </p:spPr>
      </p:pic>
      <p:pic>
        <p:nvPicPr>
          <p:cNvPr id="313385" name="Picture 313384" descr="TN00542_"/>
          <p:cNvPicPr>
            <a:picLocks noChangeAspect="1"/>
          </p:cNvPicPr>
          <p:nvPr/>
        </p:nvPicPr>
        <p:blipFill>
          <a:blip r:embed="rId4"/>
          <a:stretch>
            <a:fillRect/>
          </a:stretch>
        </p:blipFill>
        <p:spPr>
          <a:xfrm>
            <a:off x="4876800" y="4953000"/>
            <a:ext cx="1295400" cy="298450"/>
          </a:xfrm>
          <a:prstGeom prst="rect">
            <a:avLst/>
          </a:prstGeom>
          <a:noFill/>
          <a:ln w="9525">
            <a:noFill/>
          </a:ln>
        </p:spPr>
      </p:pic>
      <p:pic>
        <p:nvPicPr>
          <p:cNvPr id="313386" name="Picture 313385" descr="j0282568"/>
          <p:cNvPicPr>
            <a:picLocks noChangeAspect="1"/>
          </p:cNvPicPr>
          <p:nvPr/>
        </p:nvPicPr>
        <p:blipFill>
          <a:blip r:embed="rId5"/>
          <a:stretch>
            <a:fillRect/>
          </a:stretch>
        </p:blipFill>
        <p:spPr>
          <a:xfrm>
            <a:off x="5638800" y="3200400"/>
            <a:ext cx="754063" cy="1066800"/>
          </a:xfrm>
          <a:prstGeom prst="rect">
            <a:avLst/>
          </a:prstGeom>
          <a:noFill/>
          <a:ln w="9525">
            <a:noFill/>
          </a:ln>
        </p:spPr>
      </p:pic>
      <p:pic>
        <p:nvPicPr>
          <p:cNvPr id="313389" name="Picture 313388"/>
          <p:cNvPicPr>
            <a:picLocks noChangeAspect="1"/>
          </p:cNvPicPr>
          <p:nvPr/>
        </p:nvPicPr>
        <p:blipFill>
          <a:blip r:embed="rId6"/>
          <a:stretch>
            <a:fillRect/>
          </a:stretch>
        </p:blipFill>
        <p:spPr>
          <a:xfrm>
            <a:off x="2514600" y="3962400"/>
            <a:ext cx="552450" cy="1000125"/>
          </a:xfrm>
          <a:prstGeom prst="rect">
            <a:avLst/>
          </a:prstGeom>
          <a:noFill/>
          <a:ln w="9525">
            <a:noFill/>
          </a:ln>
        </p:spPr>
      </p:pic>
      <p:pic>
        <p:nvPicPr>
          <p:cNvPr id="313390" name="Picture 313389"/>
          <p:cNvPicPr>
            <a:picLocks noChangeAspect="1"/>
          </p:cNvPicPr>
          <p:nvPr/>
        </p:nvPicPr>
        <p:blipFill>
          <a:blip r:embed="rId7"/>
          <a:stretch>
            <a:fillRect/>
          </a:stretch>
        </p:blipFill>
        <p:spPr>
          <a:xfrm>
            <a:off x="6248400" y="4267200"/>
            <a:ext cx="552450" cy="1000125"/>
          </a:xfrm>
          <a:prstGeom prst="rect">
            <a:avLst/>
          </a:prstGeom>
          <a:noFill/>
          <a:ln w="9525">
            <a:noFill/>
          </a:ln>
        </p:spPr>
      </p:pic>
      <p:pic>
        <p:nvPicPr>
          <p:cNvPr id="3" name="Picture 2">
            <a:extLst>
              <a:ext uri="{FF2B5EF4-FFF2-40B4-BE49-F238E27FC236}">
                <a16:creationId xmlns:a16="http://schemas.microsoft.com/office/drawing/2014/main" id="{4C3D7E16-B3FB-8BB4-5241-C0D2EA0E619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990599" cy="968779"/>
          </a:xfrm>
          <a:prstGeom prst="rect">
            <a:avLst/>
          </a:prstGeom>
        </p:spPr>
      </p:pic>
      <p:sp>
        <p:nvSpPr>
          <p:cNvPr id="4" name="Rectangle 3">
            <a:extLst>
              <a:ext uri="{FF2B5EF4-FFF2-40B4-BE49-F238E27FC236}">
                <a16:creationId xmlns:a16="http://schemas.microsoft.com/office/drawing/2014/main" id="{42C8B8A0-0DAC-C8C2-74EE-FD23FEB3856B}"/>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D34AA3B-EFC8-6F81-1183-66D79922DF49}"/>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13</a:t>
            </a:fld>
            <a:endParaRPr lang="en-US">
              <a:latin typeface="Arial" panose="020B0604020202020204" pitchFamily="34" charset="0"/>
            </a:endParaRPr>
          </a:p>
        </p:txBody>
      </p:sp>
      <p:sp>
        <p:nvSpPr>
          <p:cNvPr id="280578" name="Rectangles 280577"/>
          <p:cNvSpPr/>
          <p:nvPr/>
        </p:nvSpPr>
        <p:spPr>
          <a:xfrm>
            <a:off x="228600" y="3886200"/>
            <a:ext cx="7620000" cy="3013075"/>
          </a:xfrm>
          <a:prstGeom prst="rect">
            <a:avLst/>
          </a:prstGeom>
          <a:solidFill>
            <a:srgbClr val="FFFF99"/>
          </a:solidFill>
          <a:ln w="9525">
            <a:noFill/>
          </a:ln>
        </p:spPr>
        <p:txBody>
          <a:bodyPr>
            <a:spAutoFit/>
          </a:bodyPr>
          <a:lstStyle/>
          <a:p>
            <a:pPr eaLnBrk="0" hangingPunct="0">
              <a:spcBef>
                <a:spcPct val="0"/>
              </a:spcBef>
            </a:pPr>
            <a:r>
              <a:rPr b="1">
                <a:latin typeface="Arial" panose="020B0604020202020204" pitchFamily="34" charset="0"/>
              </a:rPr>
              <a:t>Encapsulation</a:t>
            </a:r>
          </a:p>
          <a:p>
            <a:pPr lvl="1" eaLnBrk="0" hangingPunct="0">
              <a:spcBef>
                <a:spcPct val="0"/>
              </a:spcBef>
            </a:pPr>
            <a:r>
              <a:rPr sz="2400">
                <a:latin typeface="Arial" panose="020B0604020202020204" pitchFamily="34" charset="0"/>
              </a:rPr>
              <a:t>a.k.a. information hiding </a:t>
            </a:r>
          </a:p>
          <a:p>
            <a:pPr>
              <a:spcBef>
                <a:spcPct val="0"/>
              </a:spcBef>
            </a:pPr>
            <a:r>
              <a:rPr>
                <a:latin typeface="Arial" panose="020B0604020202020204" pitchFamily="34" charset="0"/>
              </a:rPr>
              <a:t>     Objects encapsulate:</a:t>
            </a:r>
          </a:p>
          <a:p>
            <a:pPr lvl="1">
              <a:spcBef>
                <a:spcPct val="0"/>
              </a:spcBef>
            </a:pPr>
            <a:r>
              <a:rPr sz="2400">
                <a:latin typeface="Arial" panose="020B0604020202020204" pitchFamily="34" charset="0"/>
              </a:rPr>
              <a:t>	property 	</a:t>
            </a:r>
          </a:p>
          <a:p>
            <a:pPr lvl="1">
              <a:spcBef>
                <a:spcPct val="0"/>
              </a:spcBef>
            </a:pPr>
            <a:r>
              <a:rPr sz="2400">
                <a:latin typeface="Arial" panose="020B0604020202020204" pitchFamily="34" charset="0"/>
              </a:rPr>
              <a:t>	behavior as a collection of methods invoked by 	messages</a:t>
            </a:r>
          </a:p>
          <a:p>
            <a:pPr lvl="1">
              <a:spcBef>
                <a:spcPct val="0"/>
              </a:spcBef>
            </a:pPr>
            <a:r>
              <a:rPr sz="2400">
                <a:latin typeface="Arial" panose="020B0604020202020204" pitchFamily="34" charset="0"/>
              </a:rPr>
              <a:t>	…</a:t>
            </a:r>
            <a:r>
              <a:rPr sz="2400">
                <a:latin typeface="Times New Roman" panose="02020603050405020304" pitchFamily="18" charset="0"/>
              </a:rPr>
              <a:t>state as a collection of instance variables</a:t>
            </a:r>
          </a:p>
          <a:p>
            <a:pPr lvl="1">
              <a:spcBef>
                <a:spcPct val="0"/>
              </a:spcBef>
            </a:pPr>
            <a:endParaRPr sz="2400">
              <a:latin typeface="Times New Roman" panose="02020603050405020304" pitchFamily="18" charset="0"/>
            </a:endParaRPr>
          </a:p>
        </p:txBody>
      </p:sp>
      <p:sp>
        <p:nvSpPr>
          <p:cNvPr id="280579" name="Text Box 280578"/>
          <p:cNvSpPr txBox="1"/>
          <p:nvPr/>
        </p:nvSpPr>
        <p:spPr>
          <a:xfrm>
            <a:off x="228600" y="1600200"/>
            <a:ext cx="5715000" cy="1917700"/>
          </a:xfrm>
          <a:prstGeom prst="rect">
            <a:avLst/>
          </a:prstGeom>
          <a:solidFill>
            <a:srgbClr val="FFFF99"/>
          </a:solidFill>
          <a:ln w="9525">
            <a:noFill/>
          </a:ln>
        </p:spPr>
        <p:txBody>
          <a:bodyPr>
            <a:spAutoFit/>
          </a:bodyPr>
          <a:lstStyle/>
          <a:p>
            <a:pPr eaLnBrk="0" hangingPunct="0">
              <a:spcBef>
                <a:spcPct val="0"/>
              </a:spcBef>
            </a:pPr>
            <a:r>
              <a:rPr b="1">
                <a:latin typeface="Arial" panose="020B0604020202020204" pitchFamily="34" charset="0"/>
              </a:rPr>
              <a:t>Abstraction</a:t>
            </a:r>
            <a:endParaRPr>
              <a:latin typeface="Arial" panose="020B0604020202020204" pitchFamily="34" charset="0"/>
            </a:endParaRPr>
          </a:p>
          <a:p>
            <a:pPr lvl="1" eaLnBrk="0" hangingPunct="0">
              <a:spcBef>
                <a:spcPct val="0"/>
              </a:spcBef>
            </a:pPr>
            <a:r>
              <a:rPr sz="2400">
                <a:latin typeface="Arial" panose="020B0604020202020204" pitchFamily="34" charset="0"/>
              </a:rPr>
              <a:t>Focus on the essential</a:t>
            </a:r>
          </a:p>
          <a:p>
            <a:pPr lvl="1" eaLnBrk="0" hangingPunct="0">
              <a:spcBef>
                <a:spcPct val="0"/>
              </a:spcBef>
            </a:pPr>
            <a:r>
              <a:rPr sz="2400">
                <a:latin typeface="Arial" panose="020B0604020202020204" pitchFamily="34" charset="0"/>
              </a:rPr>
              <a:t>Omits tremendous amount of details</a:t>
            </a:r>
          </a:p>
          <a:p>
            <a:pPr lvl="1" eaLnBrk="0" hangingPunct="0">
              <a:spcBef>
                <a:spcPct val="0"/>
              </a:spcBef>
            </a:pPr>
            <a:r>
              <a:rPr sz="2400">
                <a:latin typeface="Times New Roman" panose="02020603050405020304" pitchFamily="18" charset="0"/>
              </a:rPr>
              <a:t>…Focus on  what an object “is and does”</a:t>
            </a:r>
          </a:p>
          <a:p>
            <a:pPr lvl="1" eaLnBrk="0" hangingPunct="0">
              <a:spcBef>
                <a:spcPct val="0"/>
              </a:spcBef>
            </a:pPr>
            <a:endParaRPr sz="2400">
              <a:latin typeface="Arial" panose="020B0604020202020204" pitchFamily="34" charset="0"/>
            </a:endParaRPr>
          </a:p>
        </p:txBody>
      </p:sp>
      <p:sp>
        <p:nvSpPr>
          <p:cNvPr id="280580" name="Rectangles 280579"/>
          <p:cNvSpPr/>
          <p:nvPr/>
        </p:nvSpPr>
        <p:spPr>
          <a:xfrm>
            <a:off x="0" y="228600"/>
            <a:ext cx="7772400" cy="954107"/>
          </a:xfrm>
          <a:prstGeom prst="rect">
            <a:avLst/>
          </a:prstGeom>
          <a:noFill/>
          <a:ln w="9525">
            <a:noFill/>
          </a:ln>
        </p:spPr>
        <p:txBody>
          <a:bodyPr>
            <a:spAutoFit/>
          </a:bodyPr>
          <a:lstStyle/>
          <a:p>
            <a:pPr algn="ctr">
              <a:spcBef>
                <a:spcPct val="0"/>
              </a:spcBef>
            </a:pPr>
            <a:r>
              <a:rPr sz="3200" b="1" i="1" dirty="0">
                <a:solidFill>
                  <a:schemeClr val="tx2"/>
                </a:solidFill>
                <a:latin typeface="Arial" panose="020B0604020202020204" pitchFamily="34" charset="0"/>
              </a:rPr>
              <a:t>What</a:t>
            </a:r>
            <a:r>
              <a:rPr sz="3200" dirty="0">
                <a:solidFill>
                  <a:schemeClr val="tx2"/>
                </a:solidFill>
                <a:latin typeface="Arial" panose="020B0604020202020204" pitchFamily="34" charset="0"/>
              </a:rPr>
              <a:t> is Object-Orientation</a:t>
            </a:r>
          </a:p>
          <a:p>
            <a:pPr algn="ctr">
              <a:spcBef>
                <a:spcPct val="0"/>
              </a:spcBef>
            </a:pPr>
            <a:r>
              <a:rPr dirty="0">
                <a:solidFill>
                  <a:schemeClr val="tx2"/>
                </a:solidFill>
                <a:latin typeface="Arial" panose="020B0604020202020204" pitchFamily="34" charset="0"/>
              </a:rPr>
              <a:t>- Abstraction and Encapsulation</a:t>
            </a:r>
          </a:p>
        </p:txBody>
      </p:sp>
      <p:pic>
        <p:nvPicPr>
          <p:cNvPr id="280581" name="Picture 280580"/>
          <p:cNvPicPr>
            <a:picLocks noChangeAspect="1"/>
          </p:cNvPicPr>
          <p:nvPr/>
        </p:nvPicPr>
        <p:blipFill>
          <a:blip r:embed="rId3"/>
          <a:stretch>
            <a:fillRect/>
          </a:stretch>
        </p:blipFill>
        <p:spPr>
          <a:xfrm>
            <a:off x="6921500" y="1524000"/>
            <a:ext cx="393700" cy="1752600"/>
          </a:xfrm>
          <a:prstGeom prst="rect">
            <a:avLst/>
          </a:prstGeom>
          <a:noFill/>
          <a:ln w="9525">
            <a:noFill/>
          </a:ln>
        </p:spPr>
      </p:pic>
      <p:pic>
        <p:nvPicPr>
          <p:cNvPr id="280583" name="Picture 280582"/>
          <p:cNvPicPr>
            <a:picLocks noChangeAspect="1"/>
          </p:cNvPicPr>
          <p:nvPr/>
        </p:nvPicPr>
        <p:blipFill>
          <a:blip r:embed="rId4"/>
          <a:stretch>
            <a:fillRect/>
          </a:stretch>
        </p:blipFill>
        <p:spPr>
          <a:xfrm>
            <a:off x="7454900" y="1524000"/>
            <a:ext cx="355600" cy="2133600"/>
          </a:xfrm>
          <a:prstGeom prst="rect">
            <a:avLst/>
          </a:prstGeom>
          <a:noFill/>
          <a:ln w="9525">
            <a:noFill/>
          </a:ln>
        </p:spPr>
      </p:pic>
      <p:pic>
        <p:nvPicPr>
          <p:cNvPr id="280584" name="Picture 280583"/>
          <p:cNvPicPr>
            <a:picLocks noChangeAspect="1"/>
          </p:cNvPicPr>
          <p:nvPr/>
        </p:nvPicPr>
        <p:blipFill>
          <a:blip r:embed="rId5"/>
          <a:stretch>
            <a:fillRect/>
          </a:stretch>
        </p:blipFill>
        <p:spPr>
          <a:xfrm>
            <a:off x="8001000" y="1524000"/>
            <a:ext cx="317500" cy="1905000"/>
          </a:xfrm>
          <a:prstGeom prst="rect">
            <a:avLst/>
          </a:prstGeom>
          <a:noFill/>
          <a:ln w="9525">
            <a:noFill/>
          </a:ln>
        </p:spPr>
      </p:pic>
      <p:pic>
        <p:nvPicPr>
          <p:cNvPr id="3" name="Picture 2">
            <a:extLst>
              <a:ext uri="{FF2B5EF4-FFF2-40B4-BE49-F238E27FC236}">
                <a16:creationId xmlns:a16="http://schemas.microsoft.com/office/drawing/2014/main" id="{F98E3336-28D3-1DE8-4377-AB5F0131985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9F3B4648-DE89-9360-BBCF-127E1CA242EB}"/>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127094B-24A4-1C69-FB92-FD18C3AD0E8B}"/>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14</a:t>
            </a:fld>
            <a:endParaRPr lang="en-US">
              <a:latin typeface="Arial" panose="020B0604020202020204" pitchFamily="34" charset="0"/>
            </a:endParaRPr>
          </a:p>
        </p:txBody>
      </p:sp>
      <p:sp>
        <p:nvSpPr>
          <p:cNvPr id="282628" name="Rectangles 282627"/>
          <p:cNvSpPr/>
          <p:nvPr/>
        </p:nvSpPr>
        <p:spPr>
          <a:xfrm>
            <a:off x="228600" y="304800"/>
            <a:ext cx="7696200" cy="954107"/>
          </a:xfrm>
          <a:prstGeom prst="rect">
            <a:avLst/>
          </a:prstGeom>
          <a:noFill/>
          <a:ln w="9525">
            <a:noFill/>
          </a:ln>
        </p:spPr>
        <p:txBody>
          <a:bodyPr>
            <a:spAutoFit/>
          </a:bodyPr>
          <a:lstStyle/>
          <a:p>
            <a:pPr algn="ctr">
              <a:spcBef>
                <a:spcPct val="0"/>
              </a:spcBef>
            </a:pPr>
            <a:r>
              <a:rPr sz="3200" dirty="0">
                <a:solidFill>
                  <a:schemeClr val="tx2"/>
                </a:solidFill>
                <a:latin typeface="Arial" panose="020B0604020202020204" pitchFamily="34" charset="0"/>
              </a:rPr>
              <a:t>What is Object-Orientation</a:t>
            </a:r>
          </a:p>
          <a:p>
            <a:pPr algn="ctr">
              <a:spcBef>
                <a:spcPct val="0"/>
              </a:spcBef>
            </a:pPr>
            <a:r>
              <a:rPr dirty="0">
                <a:solidFill>
                  <a:schemeClr val="tx2"/>
                </a:solidFill>
                <a:latin typeface="Arial" panose="020B0604020202020204" pitchFamily="34" charset="0"/>
              </a:rPr>
              <a:t>- Another Example of Abstraction and Encapsulation</a:t>
            </a:r>
          </a:p>
        </p:txBody>
      </p:sp>
      <p:grpSp>
        <p:nvGrpSpPr>
          <p:cNvPr id="282648" name="Group 282647"/>
          <p:cNvGrpSpPr/>
          <p:nvPr/>
        </p:nvGrpSpPr>
        <p:grpSpPr>
          <a:xfrm>
            <a:off x="457200" y="1524000"/>
            <a:ext cx="8093075" cy="4724400"/>
            <a:chOff x="288" y="960"/>
            <a:chExt cx="5098" cy="2976"/>
          </a:xfrm>
        </p:grpSpPr>
        <p:sp>
          <p:nvSpPr>
            <p:cNvPr id="282626" name="Text Box 282625"/>
            <p:cNvSpPr txBox="1"/>
            <p:nvPr/>
          </p:nvSpPr>
          <p:spPr>
            <a:xfrm>
              <a:off x="3792" y="960"/>
              <a:ext cx="1594" cy="2588"/>
            </a:xfrm>
            <a:prstGeom prst="rect">
              <a:avLst/>
            </a:prstGeom>
            <a:noFill/>
            <a:ln w="9525">
              <a:noFill/>
            </a:ln>
          </p:spPr>
          <p:txBody>
            <a:bodyPr wrap="none" anchor="t" anchorCtr="0">
              <a:spAutoFit/>
            </a:bodyPr>
            <a:lstStyle/>
            <a:p>
              <a:pPr eaLnBrk="0" hangingPunct="0">
                <a:spcBef>
                  <a:spcPct val="0"/>
                </a:spcBef>
              </a:pPr>
              <a:r>
                <a:rPr u="sng">
                  <a:latin typeface="Times New Roman" panose="02020603050405020304" pitchFamily="18" charset="0"/>
                </a:rPr>
                <a:t>Class</a:t>
              </a:r>
              <a:r>
                <a:rPr>
                  <a:latin typeface="Times New Roman" panose="02020603050405020304" pitchFamily="18" charset="0"/>
                </a:rPr>
                <a:t> Car</a:t>
              </a:r>
            </a:p>
            <a:p>
              <a:pPr eaLnBrk="0" hangingPunct="0">
                <a:spcBef>
                  <a:spcPct val="0"/>
                </a:spcBef>
              </a:pPr>
              <a:endParaRPr>
                <a:latin typeface="Times New Roman" panose="02020603050405020304" pitchFamily="18" charset="0"/>
              </a:endParaRPr>
            </a:p>
            <a:p>
              <a:pPr eaLnBrk="0" hangingPunct="0">
                <a:spcBef>
                  <a:spcPct val="0"/>
                </a:spcBef>
              </a:pPr>
              <a:endParaRPr>
                <a:latin typeface="Times New Roman" panose="02020603050405020304" pitchFamily="18" charset="0"/>
              </a:endParaRPr>
            </a:p>
            <a:p>
              <a:pPr eaLnBrk="0" hangingPunct="0">
                <a:spcBef>
                  <a:spcPct val="0"/>
                </a:spcBef>
              </a:pPr>
              <a:r>
                <a:rPr u="sng">
                  <a:latin typeface="Times New Roman" panose="02020603050405020304" pitchFamily="18" charset="0"/>
                </a:rPr>
                <a:t>Attributes</a:t>
              </a:r>
            </a:p>
            <a:p>
              <a:pPr lvl="1" eaLnBrk="0" hangingPunct="0">
                <a:spcBef>
                  <a:spcPct val="0"/>
                </a:spcBef>
                <a:buFont typeface="Wingdings" panose="05000000000000000000" pitchFamily="2" charset="2"/>
                <a:buChar char="q"/>
              </a:pPr>
              <a:r>
                <a:rPr sz="2400">
                  <a:latin typeface="Times New Roman" panose="02020603050405020304" pitchFamily="18" charset="0"/>
                </a:rPr>
                <a:t> Model</a:t>
              </a:r>
            </a:p>
            <a:p>
              <a:pPr lvl="1" eaLnBrk="0" hangingPunct="0">
                <a:spcBef>
                  <a:spcPct val="0"/>
                </a:spcBef>
                <a:buFont typeface="Wingdings" panose="05000000000000000000" pitchFamily="2" charset="2"/>
                <a:buChar char="q"/>
              </a:pPr>
              <a:r>
                <a:rPr sz="2400">
                  <a:latin typeface="Times New Roman" panose="02020603050405020304" pitchFamily="18" charset="0"/>
                </a:rPr>
                <a:t> Location</a:t>
              </a:r>
            </a:p>
            <a:p>
              <a:pPr lvl="1" eaLnBrk="0" hangingPunct="0">
                <a:spcBef>
                  <a:spcPct val="0"/>
                </a:spcBef>
                <a:buFont typeface="Wingdings" panose="05000000000000000000" pitchFamily="2" charset="2"/>
                <a:buChar char="q"/>
              </a:pPr>
              <a:r>
                <a:rPr sz="2400">
                  <a:latin typeface="Times New Roman" panose="02020603050405020304" pitchFamily="18" charset="0"/>
                </a:rPr>
                <a:t> #Wheels = 4</a:t>
              </a:r>
            </a:p>
            <a:p>
              <a:pPr eaLnBrk="0" hangingPunct="0">
                <a:spcBef>
                  <a:spcPct val="0"/>
                </a:spcBef>
              </a:pPr>
              <a:endParaRPr>
                <a:latin typeface="Times New Roman" panose="02020603050405020304" pitchFamily="18" charset="0"/>
              </a:endParaRPr>
            </a:p>
            <a:p>
              <a:pPr eaLnBrk="0" hangingPunct="0">
                <a:spcBef>
                  <a:spcPct val="0"/>
                </a:spcBef>
              </a:pPr>
              <a:r>
                <a:rPr u="sng">
                  <a:latin typeface="Times New Roman" panose="02020603050405020304" pitchFamily="18" charset="0"/>
                </a:rPr>
                <a:t>Operations</a:t>
              </a:r>
            </a:p>
            <a:p>
              <a:pPr lvl="1" eaLnBrk="0" hangingPunct="0">
                <a:spcBef>
                  <a:spcPct val="0"/>
                </a:spcBef>
                <a:buFont typeface="Wingdings" panose="05000000000000000000" pitchFamily="2" charset="2"/>
                <a:buChar char="q"/>
              </a:pPr>
              <a:r>
                <a:rPr sz="2400">
                  <a:latin typeface="Times New Roman" panose="02020603050405020304" pitchFamily="18" charset="0"/>
                </a:rPr>
                <a:t> Start</a:t>
              </a:r>
            </a:p>
            <a:p>
              <a:pPr lvl="1" eaLnBrk="0" hangingPunct="0">
                <a:spcBef>
                  <a:spcPct val="0"/>
                </a:spcBef>
                <a:buFont typeface="Wingdings" panose="05000000000000000000" pitchFamily="2" charset="2"/>
                <a:buChar char="q"/>
              </a:pPr>
              <a:r>
                <a:rPr sz="2400">
                  <a:latin typeface="Times New Roman" panose="02020603050405020304" pitchFamily="18" charset="0"/>
                </a:rPr>
                <a:t> Accelerate</a:t>
              </a:r>
            </a:p>
          </p:txBody>
        </p:sp>
        <p:sp>
          <p:nvSpPr>
            <p:cNvPr id="282634" name="Rectangles 282633"/>
            <p:cNvSpPr/>
            <p:nvPr/>
          </p:nvSpPr>
          <p:spPr>
            <a:xfrm>
              <a:off x="288" y="1056"/>
              <a:ext cx="2112" cy="2880"/>
            </a:xfrm>
            <a:prstGeom prst="rect">
              <a:avLst/>
            </a:prstGeom>
            <a:solidFill>
              <a:srgbClr val="CCFFFF"/>
            </a:solidFill>
            <a:ln w="9525">
              <a:noFill/>
            </a:ln>
          </p:spPr>
          <p:txBody>
            <a:bodyPr/>
            <a:lstStyle/>
            <a:p>
              <a:endParaRPr lang="en-US"/>
            </a:p>
          </p:txBody>
        </p:sp>
        <p:pic>
          <p:nvPicPr>
            <p:cNvPr id="282629" name="Picture 282628" descr="TN00557_"/>
            <p:cNvPicPr>
              <a:picLocks noChangeAspect="1"/>
            </p:cNvPicPr>
            <p:nvPr/>
          </p:nvPicPr>
          <p:blipFill>
            <a:blip r:embed="rId3"/>
            <a:stretch>
              <a:fillRect/>
            </a:stretch>
          </p:blipFill>
          <p:spPr>
            <a:xfrm>
              <a:off x="352" y="2239"/>
              <a:ext cx="1728" cy="528"/>
            </a:xfrm>
            <a:prstGeom prst="rect">
              <a:avLst/>
            </a:prstGeom>
            <a:noFill/>
            <a:ln w="9525">
              <a:noFill/>
            </a:ln>
          </p:spPr>
        </p:pic>
        <p:pic>
          <p:nvPicPr>
            <p:cNvPr id="282630" name="Picture 282629" descr="TN00545_"/>
            <p:cNvPicPr>
              <a:picLocks noChangeAspect="1"/>
            </p:cNvPicPr>
            <p:nvPr/>
          </p:nvPicPr>
          <p:blipFill>
            <a:blip r:embed="rId4"/>
            <a:stretch>
              <a:fillRect/>
            </a:stretch>
          </p:blipFill>
          <p:spPr>
            <a:xfrm>
              <a:off x="480" y="3216"/>
              <a:ext cx="1728" cy="675"/>
            </a:xfrm>
            <a:prstGeom prst="rect">
              <a:avLst/>
            </a:prstGeom>
            <a:noFill/>
            <a:ln w="9525">
              <a:noFill/>
            </a:ln>
          </p:spPr>
        </p:pic>
        <p:pic>
          <p:nvPicPr>
            <p:cNvPr id="282631" name="Picture 282630" descr="TN00542_"/>
            <p:cNvPicPr>
              <a:picLocks noChangeAspect="1"/>
            </p:cNvPicPr>
            <p:nvPr/>
          </p:nvPicPr>
          <p:blipFill>
            <a:blip r:embed="rId5"/>
            <a:stretch>
              <a:fillRect/>
            </a:stretch>
          </p:blipFill>
          <p:spPr>
            <a:xfrm>
              <a:off x="352" y="1262"/>
              <a:ext cx="1984" cy="458"/>
            </a:xfrm>
            <a:prstGeom prst="rect">
              <a:avLst/>
            </a:prstGeom>
            <a:noFill/>
            <a:ln w="9525">
              <a:noFill/>
            </a:ln>
          </p:spPr>
        </p:pic>
        <p:sp>
          <p:nvSpPr>
            <p:cNvPr id="282636" name="Rectangles 282635"/>
            <p:cNvSpPr/>
            <p:nvPr/>
          </p:nvSpPr>
          <p:spPr>
            <a:xfrm>
              <a:off x="3792" y="1008"/>
              <a:ext cx="1536" cy="2592"/>
            </a:xfrm>
            <a:prstGeom prst="rect">
              <a:avLst/>
            </a:prstGeom>
            <a:noFill/>
            <a:ln w="38100" cap="flat" cmpd="sng">
              <a:solidFill>
                <a:srgbClr val="9900FF"/>
              </a:solidFill>
              <a:prstDash val="solid"/>
              <a:miter/>
              <a:headEnd type="none" w="med" len="med"/>
              <a:tailEnd type="none" w="med" len="med"/>
            </a:ln>
          </p:spPr>
          <p:txBody>
            <a:bodyPr/>
            <a:lstStyle/>
            <a:p>
              <a:endParaRPr lang="en-US"/>
            </a:p>
          </p:txBody>
        </p:sp>
        <p:sp>
          <p:nvSpPr>
            <p:cNvPr id="282637" name="Straight Connector 282636"/>
            <p:cNvSpPr/>
            <p:nvPr/>
          </p:nvSpPr>
          <p:spPr>
            <a:xfrm>
              <a:off x="3792" y="1536"/>
              <a:ext cx="1536" cy="0"/>
            </a:xfrm>
            <a:prstGeom prst="line">
              <a:avLst/>
            </a:prstGeom>
            <a:ln w="38100" cap="flat" cmpd="sng">
              <a:solidFill>
                <a:srgbClr val="9900FF"/>
              </a:solidFill>
              <a:prstDash val="solid"/>
              <a:headEnd type="none" w="med" len="med"/>
              <a:tailEnd type="none" w="med" len="med"/>
            </a:ln>
          </p:spPr>
        </p:sp>
        <p:sp>
          <p:nvSpPr>
            <p:cNvPr id="282638" name="Straight Connector 282637"/>
            <p:cNvSpPr/>
            <p:nvPr/>
          </p:nvSpPr>
          <p:spPr>
            <a:xfrm>
              <a:off x="3792" y="2592"/>
              <a:ext cx="1536" cy="0"/>
            </a:xfrm>
            <a:prstGeom prst="line">
              <a:avLst/>
            </a:prstGeom>
            <a:ln w="38100" cap="flat" cmpd="sng">
              <a:solidFill>
                <a:srgbClr val="9900FF"/>
              </a:solidFill>
              <a:prstDash val="solid"/>
              <a:headEnd type="none" w="med" len="med"/>
              <a:tailEnd type="none" w="med" len="med"/>
            </a:ln>
          </p:spPr>
        </p:sp>
        <p:sp>
          <p:nvSpPr>
            <p:cNvPr id="282639" name="Straight Connector 282638"/>
            <p:cNvSpPr/>
            <p:nvPr/>
          </p:nvSpPr>
          <p:spPr>
            <a:xfrm>
              <a:off x="2400" y="1488"/>
              <a:ext cx="912" cy="48"/>
            </a:xfrm>
            <a:prstGeom prst="line">
              <a:avLst/>
            </a:prstGeom>
            <a:ln w="9525">
              <a:noFill/>
            </a:ln>
          </p:spPr>
        </p:sp>
        <p:sp>
          <p:nvSpPr>
            <p:cNvPr id="282640" name="Straight Connector 282639"/>
            <p:cNvSpPr/>
            <p:nvPr/>
          </p:nvSpPr>
          <p:spPr>
            <a:xfrm>
              <a:off x="2448" y="1488"/>
              <a:ext cx="1248" cy="0"/>
            </a:xfrm>
            <a:prstGeom prst="line">
              <a:avLst/>
            </a:prstGeom>
            <a:ln w="38100" cap="flat" cmpd="sng">
              <a:solidFill>
                <a:srgbClr val="9900FF"/>
              </a:solidFill>
              <a:prstDash val="sysDot"/>
              <a:headEnd type="none" w="med" len="med"/>
              <a:tailEnd type="triangle" w="med" len="med"/>
            </a:ln>
          </p:spPr>
        </p:sp>
        <p:sp>
          <p:nvSpPr>
            <p:cNvPr id="282641" name="Text Box 282640"/>
            <p:cNvSpPr txBox="1"/>
            <p:nvPr/>
          </p:nvSpPr>
          <p:spPr>
            <a:xfrm>
              <a:off x="2534" y="1224"/>
              <a:ext cx="1064" cy="231"/>
            </a:xfrm>
            <a:prstGeom prst="rect">
              <a:avLst/>
            </a:prstGeom>
            <a:noFill/>
            <a:ln w="9525">
              <a:noFill/>
            </a:ln>
          </p:spPr>
          <p:txBody>
            <a:bodyPr wrap="none" anchor="t" anchorCtr="0">
              <a:spAutoFit/>
            </a:bodyPr>
            <a:lstStyle/>
            <a:p>
              <a:r>
                <a:rPr sz="1800">
                  <a:solidFill>
                    <a:srgbClr val="9900FF"/>
                  </a:solidFill>
                  <a:latin typeface="Times New Roman" panose="02020603050405020304" pitchFamily="18" charset="0"/>
                </a:rPr>
                <a:t>&lt;&lt;instanceOf&gt;&gt;</a:t>
              </a:r>
            </a:p>
          </p:txBody>
        </p:sp>
        <p:sp>
          <p:nvSpPr>
            <p:cNvPr id="282642" name="Straight Connector 282641"/>
            <p:cNvSpPr/>
            <p:nvPr/>
          </p:nvSpPr>
          <p:spPr>
            <a:xfrm>
              <a:off x="2410" y="2424"/>
              <a:ext cx="912" cy="48"/>
            </a:xfrm>
            <a:prstGeom prst="line">
              <a:avLst/>
            </a:prstGeom>
            <a:ln w="9525">
              <a:noFill/>
            </a:ln>
          </p:spPr>
        </p:sp>
        <p:sp>
          <p:nvSpPr>
            <p:cNvPr id="282643" name="Straight Connector 282642"/>
            <p:cNvSpPr/>
            <p:nvPr/>
          </p:nvSpPr>
          <p:spPr>
            <a:xfrm>
              <a:off x="2458" y="2424"/>
              <a:ext cx="1248" cy="0"/>
            </a:xfrm>
            <a:prstGeom prst="line">
              <a:avLst/>
            </a:prstGeom>
            <a:ln w="38100" cap="flat" cmpd="sng">
              <a:solidFill>
                <a:srgbClr val="9900FF"/>
              </a:solidFill>
              <a:prstDash val="sysDot"/>
              <a:headEnd type="none" w="med" len="med"/>
              <a:tailEnd type="triangle" w="med" len="med"/>
            </a:ln>
          </p:spPr>
        </p:sp>
        <p:sp>
          <p:nvSpPr>
            <p:cNvPr id="282644" name="Text Box 282643"/>
            <p:cNvSpPr txBox="1"/>
            <p:nvPr/>
          </p:nvSpPr>
          <p:spPr>
            <a:xfrm>
              <a:off x="2544" y="2160"/>
              <a:ext cx="1064" cy="231"/>
            </a:xfrm>
            <a:prstGeom prst="rect">
              <a:avLst/>
            </a:prstGeom>
            <a:noFill/>
            <a:ln w="9525">
              <a:noFill/>
            </a:ln>
          </p:spPr>
          <p:txBody>
            <a:bodyPr wrap="none" anchor="t" anchorCtr="0">
              <a:spAutoFit/>
            </a:bodyPr>
            <a:lstStyle/>
            <a:p>
              <a:r>
                <a:rPr sz="1800">
                  <a:solidFill>
                    <a:srgbClr val="9900FF"/>
                  </a:solidFill>
                  <a:latin typeface="Times New Roman" panose="02020603050405020304" pitchFamily="18" charset="0"/>
                </a:rPr>
                <a:t>&lt;&lt;instanceOf&gt;&gt;</a:t>
              </a:r>
            </a:p>
          </p:txBody>
        </p:sp>
        <p:sp>
          <p:nvSpPr>
            <p:cNvPr id="282645" name="Straight Connector 282644"/>
            <p:cNvSpPr/>
            <p:nvPr/>
          </p:nvSpPr>
          <p:spPr>
            <a:xfrm>
              <a:off x="2458" y="3240"/>
              <a:ext cx="912" cy="48"/>
            </a:xfrm>
            <a:prstGeom prst="line">
              <a:avLst/>
            </a:prstGeom>
            <a:ln w="9525">
              <a:noFill/>
            </a:ln>
          </p:spPr>
        </p:sp>
        <p:sp>
          <p:nvSpPr>
            <p:cNvPr id="282646" name="Straight Connector 282645"/>
            <p:cNvSpPr/>
            <p:nvPr/>
          </p:nvSpPr>
          <p:spPr>
            <a:xfrm>
              <a:off x="2506" y="3240"/>
              <a:ext cx="1248" cy="0"/>
            </a:xfrm>
            <a:prstGeom prst="line">
              <a:avLst/>
            </a:prstGeom>
            <a:ln w="38100" cap="flat" cmpd="sng">
              <a:solidFill>
                <a:srgbClr val="9900FF"/>
              </a:solidFill>
              <a:prstDash val="sysDot"/>
              <a:headEnd type="none" w="med" len="med"/>
              <a:tailEnd type="triangle" w="med" len="med"/>
            </a:ln>
          </p:spPr>
        </p:sp>
        <p:sp>
          <p:nvSpPr>
            <p:cNvPr id="282647" name="Text Box 282646"/>
            <p:cNvSpPr txBox="1"/>
            <p:nvPr/>
          </p:nvSpPr>
          <p:spPr>
            <a:xfrm>
              <a:off x="2592" y="2976"/>
              <a:ext cx="1064" cy="231"/>
            </a:xfrm>
            <a:prstGeom prst="rect">
              <a:avLst/>
            </a:prstGeom>
            <a:noFill/>
            <a:ln w="9525">
              <a:noFill/>
            </a:ln>
          </p:spPr>
          <p:txBody>
            <a:bodyPr wrap="none" anchor="t" anchorCtr="0">
              <a:spAutoFit/>
            </a:bodyPr>
            <a:lstStyle/>
            <a:p>
              <a:r>
                <a:rPr sz="1800">
                  <a:solidFill>
                    <a:srgbClr val="9900FF"/>
                  </a:solidFill>
                  <a:latin typeface="Times New Roman" panose="02020603050405020304" pitchFamily="18" charset="0"/>
                </a:rPr>
                <a:t>&lt;&lt;instanceOf&gt;&gt;</a:t>
              </a:r>
            </a:p>
          </p:txBody>
        </p:sp>
      </p:grpSp>
      <p:sp>
        <p:nvSpPr>
          <p:cNvPr id="282649" name="Text Box 282648"/>
          <p:cNvSpPr txBox="1"/>
          <p:nvPr/>
        </p:nvSpPr>
        <p:spPr>
          <a:xfrm>
            <a:off x="5645150" y="5791200"/>
            <a:ext cx="3435350" cy="915988"/>
          </a:xfrm>
          <a:prstGeom prst="rect">
            <a:avLst/>
          </a:prstGeom>
          <a:noFill/>
          <a:ln w="9525">
            <a:noFill/>
          </a:ln>
        </p:spPr>
        <p:txBody>
          <a:bodyPr wrap="none" anchor="t" anchorCtr="0">
            <a:spAutoFit/>
          </a:bodyPr>
          <a:lstStyle/>
          <a:p>
            <a:pPr algn="ctr">
              <a:spcBef>
                <a:spcPct val="0"/>
              </a:spcBef>
            </a:pPr>
            <a:r>
              <a:rPr sz="1800" b="1" i="1">
                <a:solidFill>
                  <a:srgbClr val="FF0000"/>
                </a:solidFill>
                <a:latin typeface="Arial" panose="020B0604020202020204" pitchFamily="34" charset="0"/>
              </a:rPr>
              <a:t>What is generalization? </a:t>
            </a:r>
          </a:p>
          <a:p>
            <a:pPr algn="ctr">
              <a:spcBef>
                <a:spcPct val="0"/>
              </a:spcBef>
            </a:pPr>
            <a:r>
              <a:rPr sz="1800" b="1" i="1">
                <a:solidFill>
                  <a:srgbClr val="FF0000"/>
                </a:solidFill>
                <a:latin typeface="Arial" panose="020B0604020202020204" pitchFamily="34" charset="0"/>
              </a:rPr>
              <a:t>What is over-generalization??</a:t>
            </a:r>
          </a:p>
          <a:p>
            <a:pPr algn="ctr">
              <a:spcBef>
                <a:spcPct val="0"/>
              </a:spcBef>
            </a:pPr>
            <a:r>
              <a:rPr sz="1800" b="1" i="1" err="1">
                <a:solidFill>
                  <a:srgbClr val="FF0000"/>
                </a:solidFill>
                <a:latin typeface="Arial" panose="020B0604020202020204" pitchFamily="34" charset="0"/>
              </a:rPr>
              <a:t>Forall</a:t>
            </a:r>
            <a:r>
              <a:rPr sz="1800" b="1" i="1">
                <a:solidFill>
                  <a:srgbClr val="FF0000"/>
                </a:solidFill>
                <a:latin typeface="Arial" panose="020B0604020202020204" pitchFamily="34" charset="0"/>
              </a:rPr>
              <a:t> x [</a:t>
            </a:r>
            <a:r>
              <a:rPr sz="1800" b="1" i="1" err="1">
                <a:solidFill>
                  <a:srgbClr val="FF0000"/>
                </a:solidFill>
                <a:latin typeface="Arial" panose="020B0604020202020204" pitchFamily="34" charset="0"/>
              </a:rPr>
              <a:t>Car(x</a:t>
            </a:r>
            <a:r>
              <a:rPr sz="1800" b="1" i="1">
                <a:solidFill>
                  <a:srgbClr val="FF0000"/>
                </a:solidFill>
                <a:latin typeface="Arial" panose="020B0604020202020204" pitchFamily="34" charset="0"/>
              </a:rPr>
              <a:t>) -&gt; …]</a:t>
            </a:r>
          </a:p>
        </p:txBody>
      </p:sp>
      <p:pic>
        <p:nvPicPr>
          <p:cNvPr id="3" name="Picture 2">
            <a:extLst>
              <a:ext uri="{FF2B5EF4-FFF2-40B4-BE49-F238E27FC236}">
                <a16:creationId xmlns:a16="http://schemas.microsoft.com/office/drawing/2014/main" id="{307CE11B-25A6-94D3-6037-888DFEF5704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9B6B8842-57EA-CAC8-8065-68DA2971F05E}"/>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6E424D2-8630-D22B-FDB9-9B1BBA543381}"/>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15</a:t>
            </a:fld>
            <a:endParaRPr lang="en-US">
              <a:latin typeface="Arial" panose="020B0604020202020204" pitchFamily="34" charset="0"/>
            </a:endParaRPr>
          </a:p>
        </p:txBody>
      </p:sp>
      <p:sp>
        <p:nvSpPr>
          <p:cNvPr id="220162" name="Title 220161"/>
          <p:cNvSpPr>
            <a:spLocks noGrp="1"/>
          </p:cNvSpPr>
          <p:nvPr>
            <p:ph type="title" idx="4294967295"/>
          </p:nvPr>
        </p:nvSpPr>
        <p:spPr>
          <a:xfrm>
            <a:off x="0" y="228600"/>
            <a:ext cx="8015288" cy="914400"/>
          </a:xfrm>
        </p:spPr>
        <p:txBody>
          <a:bodyPr anchor="ctr" anchorCtr="0">
            <a:normAutofit fontScale="90000"/>
          </a:bodyPr>
          <a:lstStyle/>
          <a:p>
            <a:pPr algn="ctr"/>
            <a:r>
              <a:rPr sz="3800" b="1" dirty="0"/>
              <a:t>What is Object-Orientation?</a:t>
            </a:r>
            <a:br>
              <a:rPr sz="3800" dirty="0"/>
            </a:br>
            <a:r>
              <a:rPr sz="2400" dirty="0"/>
              <a:t>- Class</a:t>
            </a:r>
          </a:p>
        </p:txBody>
      </p:sp>
      <p:sp>
        <p:nvSpPr>
          <p:cNvPr id="220164" name="Text Placeholder 220163"/>
          <p:cNvSpPr>
            <a:spLocks noGrp="1"/>
          </p:cNvSpPr>
          <p:nvPr>
            <p:ph type="body" idx="4294967295"/>
          </p:nvPr>
        </p:nvSpPr>
        <p:spPr>
          <a:xfrm>
            <a:off x="0" y="4038600"/>
            <a:ext cx="8305800" cy="2819400"/>
          </a:xfrm>
          <a:solidFill>
            <a:srgbClr val="FFFF99">
              <a:alpha val="100000"/>
            </a:srgbClr>
          </a:solidFill>
        </p:spPr>
        <p:txBody>
          <a:bodyPr vert="horz" wrap="square" lIns="91440" tIns="45720" rIns="91440" bIns="45720" anchor="t" anchorCtr="0">
            <a:normAutofit lnSpcReduction="10000"/>
          </a:bodyPr>
          <a:lstStyle/>
          <a:p>
            <a:pPr>
              <a:lnSpc>
                <a:spcPct val="80000"/>
              </a:lnSpc>
            </a:pPr>
            <a:r>
              <a:rPr sz="1800" b="1">
                <a:solidFill>
                  <a:srgbClr val="3333CC"/>
                </a:solidFill>
              </a:rPr>
              <a:t>What is </a:t>
            </a:r>
            <a:r>
              <a:rPr sz="1800" b="1" i="1">
                <a:solidFill>
                  <a:srgbClr val="3333CC"/>
                </a:solidFill>
              </a:rPr>
              <a:t>CLASS</a:t>
            </a:r>
            <a:r>
              <a:rPr sz="1800" b="1">
                <a:solidFill>
                  <a:srgbClr val="3333CC"/>
                </a:solidFill>
              </a:rPr>
              <a:t>?</a:t>
            </a:r>
          </a:p>
          <a:p>
            <a:pPr lvl="1">
              <a:lnSpc>
                <a:spcPct val="80000"/>
              </a:lnSpc>
            </a:pPr>
            <a:r>
              <a:rPr sz="1600"/>
              <a:t>a collection of objects that share common properties, attributes, behavior and semantics, in general. 		</a:t>
            </a:r>
            <a:r>
              <a:rPr sz="1600" b="1" i="1">
                <a:solidFill>
                  <a:srgbClr val="FF0000"/>
                </a:solidFill>
              </a:rPr>
              <a:t>What are all these???</a:t>
            </a:r>
          </a:p>
          <a:p>
            <a:pPr lvl="1">
              <a:lnSpc>
                <a:spcPct val="80000"/>
              </a:lnSpc>
              <a:buNone/>
            </a:pPr>
            <a:endParaRPr sz="1600" b="1" i="1">
              <a:solidFill>
                <a:srgbClr val="FF0000"/>
              </a:solidFill>
            </a:endParaRPr>
          </a:p>
          <a:p>
            <a:pPr lvl="1">
              <a:lnSpc>
                <a:spcPct val="80000"/>
              </a:lnSpc>
            </a:pPr>
            <a:r>
              <a:rPr sz="1600"/>
              <a:t>A collection of objects with the same data structure (attributes, state variables) and behavior (function/code/operations) in the solution space.</a:t>
            </a:r>
          </a:p>
          <a:p>
            <a:pPr lvl="1">
              <a:lnSpc>
                <a:spcPct val="80000"/>
              </a:lnSpc>
            </a:pPr>
            <a:endParaRPr sz="1600"/>
          </a:p>
          <a:p>
            <a:pPr>
              <a:lnSpc>
                <a:spcPct val="80000"/>
              </a:lnSpc>
            </a:pPr>
            <a:r>
              <a:rPr sz="1800" b="1">
                <a:solidFill>
                  <a:srgbClr val="3333CC"/>
                </a:solidFill>
              </a:rPr>
              <a:t>Classification</a:t>
            </a:r>
          </a:p>
          <a:p>
            <a:pPr lvl="1">
              <a:lnSpc>
                <a:spcPct val="80000"/>
              </a:lnSpc>
            </a:pPr>
            <a:r>
              <a:rPr sz="1600"/>
              <a:t>Grouping of common objects into a class</a:t>
            </a:r>
          </a:p>
          <a:p>
            <a:pPr>
              <a:lnSpc>
                <a:spcPct val="80000"/>
              </a:lnSpc>
            </a:pPr>
            <a:r>
              <a:rPr sz="2000">
                <a:solidFill>
                  <a:srgbClr val="3333CC"/>
                </a:solidFill>
              </a:rPr>
              <a:t>Instantiation</a:t>
            </a:r>
            <a:r>
              <a:rPr sz="1600"/>
              <a:t>.</a:t>
            </a:r>
          </a:p>
          <a:p>
            <a:pPr lvl="1">
              <a:lnSpc>
                <a:spcPct val="80000"/>
              </a:lnSpc>
            </a:pPr>
            <a:r>
              <a:rPr sz="1600"/>
              <a:t>The act of creating an instance</a:t>
            </a:r>
            <a:r>
              <a:rPr sz="1200"/>
              <a:t>.</a:t>
            </a:r>
          </a:p>
        </p:txBody>
      </p:sp>
      <p:sp>
        <p:nvSpPr>
          <p:cNvPr id="220204" name="Text Box 220203"/>
          <p:cNvSpPr txBox="1"/>
          <p:nvPr/>
        </p:nvSpPr>
        <p:spPr>
          <a:xfrm>
            <a:off x="5105400" y="1676400"/>
            <a:ext cx="1903413" cy="2047875"/>
          </a:xfrm>
          <a:prstGeom prst="rect">
            <a:avLst/>
          </a:prstGeom>
          <a:noFill/>
          <a:ln w="9525">
            <a:noFill/>
          </a:ln>
        </p:spPr>
        <p:txBody>
          <a:bodyPr wrap="none" anchor="t" anchorCtr="0">
            <a:spAutoFit/>
          </a:bodyPr>
          <a:lstStyle/>
          <a:p>
            <a:pPr eaLnBrk="0" hangingPunct="0">
              <a:spcBef>
                <a:spcPct val="0"/>
              </a:spcBef>
            </a:pPr>
            <a:r>
              <a:rPr sz="1600" u="sng">
                <a:latin typeface="Times New Roman" panose="02020603050405020304" pitchFamily="18" charset="0"/>
              </a:rPr>
              <a:t>Class</a:t>
            </a:r>
            <a:r>
              <a:rPr sz="1600">
                <a:latin typeface="Times New Roman" panose="02020603050405020304" pitchFamily="18" charset="0"/>
              </a:rPr>
              <a:t> Car</a:t>
            </a:r>
          </a:p>
          <a:p>
            <a:pPr eaLnBrk="0" hangingPunct="0">
              <a:spcBef>
                <a:spcPct val="0"/>
              </a:spcBef>
            </a:pPr>
            <a:r>
              <a:rPr sz="1600" u="sng">
                <a:latin typeface="Times New Roman" panose="02020603050405020304" pitchFamily="18" charset="0"/>
              </a:rPr>
              <a:t>Attributes</a:t>
            </a:r>
          </a:p>
          <a:p>
            <a:pPr lvl="1" eaLnBrk="0" hangingPunct="0">
              <a:spcBef>
                <a:spcPct val="0"/>
              </a:spcBef>
              <a:buFont typeface="Wingdings" panose="05000000000000000000" pitchFamily="2" charset="2"/>
              <a:buChar char="q"/>
            </a:pPr>
            <a:r>
              <a:rPr sz="1600">
                <a:latin typeface="Times New Roman" panose="02020603050405020304" pitchFamily="18" charset="0"/>
              </a:rPr>
              <a:t> Model</a:t>
            </a:r>
          </a:p>
          <a:p>
            <a:pPr lvl="1" eaLnBrk="0" hangingPunct="0">
              <a:spcBef>
                <a:spcPct val="0"/>
              </a:spcBef>
              <a:buFont typeface="Wingdings" panose="05000000000000000000" pitchFamily="2" charset="2"/>
              <a:buChar char="q"/>
            </a:pPr>
            <a:r>
              <a:rPr sz="1600">
                <a:latin typeface="Times New Roman" panose="02020603050405020304" pitchFamily="18" charset="0"/>
              </a:rPr>
              <a:t> Location</a:t>
            </a:r>
          </a:p>
          <a:p>
            <a:pPr lvl="1" eaLnBrk="0" hangingPunct="0">
              <a:spcBef>
                <a:spcPct val="0"/>
              </a:spcBef>
              <a:buFont typeface="Wingdings" panose="05000000000000000000" pitchFamily="2" charset="2"/>
              <a:buChar char="q"/>
            </a:pPr>
            <a:r>
              <a:rPr sz="1600">
                <a:latin typeface="Times New Roman" panose="02020603050405020304" pitchFamily="18" charset="0"/>
              </a:rPr>
              <a:t> #Wheels = 4</a:t>
            </a:r>
            <a:endParaRPr sz="2400">
              <a:latin typeface="Times New Roman" panose="02020603050405020304" pitchFamily="18" charset="0"/>
            </a:endParaRPr>
          </a:p>
          <a:p>
            <a:pPr eaLnBrk="0" hangingPunct="0">
              <a:spcBef>
                <a:spcPct val="0"/>
              </a:spcBef>
            </a:pPr>
            <a:r>
              <a:rPr sz="1600" u="sng">
                <a:latin typeface="Times New Roman" panose="02020603050405020304" pitchFamily="18" charset="0"/>
              </a:rPr>
              <a:t>Operations</a:t>
            </a:r>
          </a:p>
          <a:p>
            <a:pPr lvl="1" eaLnBrk="0" hangingPunct="0">
              <a:spcBef>
                <a:spcPct val="0"/>
              </a:spcBef>
              <a:buFont typeface="Wingdings" panose="05000000000000000000" pitchFamily="2" charset="2"/>
              <a:buChar char="q"/>
            </a:pPr>
            <a:r>
              <a:rPr sz="1600">
                <a:latin typeface="Times New Roman" panose="02020603050405020304" pitchFamily="18" charset="0"/>
              </a:rPr>
              <a:t> Start</a:t>
            </a:r>
          </a:p>
          <a:p>
            <a:pPr lvl="1" eaLnBrk="0" hangingPunct="0">
              <a:spcBef>
                <a:spcPct val="0"/>
              </a:spcBef>
              <a:buFont typeface="Wingdings" panose="05000000000000000000" pitchFamily="2" charset="2"/>
              <a:buChar char="q"/>
            </a:pPr>
            <a:r>
              <a:rPr sz="1600">
                <a:latin typeface="Times New Roman" panose="02020603050405020304" pitchFamily="18" charset="0"/>
              </a:rPr>
              <a:t> Accelerate</a:t>
            </a:r>
          </a:p>
        </p:txBody>
      </p:sp>
      <p:sp>
        <p:nvSpPr>
          <p:cNvPr id="220205" name="Rectangles 220204"/>
          <p:cNvSpPr/>
          <p:nvPr/>
        </p:nvSpPr>
        <p:spPr>
          <a:xfrm>
            <a:off x="1447800" y="1524000"/>
            <a:ext cx="1522413" cy="2209800"/>
          </a:xfrm>
          <a:prstGeom prst="rect">
            <a:avLst/>
          </a:prstGeom>
          <a:solidFill>
            <a:srgbClr val="CCFFFF"/>
          </a:solidFill>
          <a:ln w="9525">
            <a:noFill/>
          </a:ln>
        </p:spPr>
        <p:txBody>
          <a:bodyPr/>
          <a:lstStyle/>
          <a:p>
            <a:endParaRPr lang="en-US"/>
          </a:p>
        </p:txBody>
      </p:sp>
      <p:pic>
        <p:nvPicPr>
          <p:cNvPr id="220206" name="Picture 220205" descr="TN00557_"/>
          <p:cNvPicPr>
            <a:picLocks noChangeAspect="1"/>
          </p:cNvPicPr>
          <p:nvPr/>
        </p:nvPicPr>
        <p:blipFill>
          <a:blip r:embed="rId2"/>
          <a:stretch>
            <a:fillRect/>
          </a:stretch>
        </p:blipFill>
        <p:spPr>
          <a:xfrm>
            <a:off x="1493838" y="2432050"/>
            <a:ext cx="1246187" cy="404813"/>
          </a:xfrm>
          <a:prstGeom prst="rect">
            <a:avLst/>
          </a:prstGeom>
          <a:noFill/>
          <a:ln w="9525">
            <a:noFill/>
          </a:ln>
        </p:spPr>
      </p:pic>
      <p:pic>
        <p:nvPicPr>
          <p:cNvPr id="220207" name="Picture 220206" descr="TN00545_"/>
          <p:cNvPicPr>
            <a:picLocks noChangeAspect="1"/>
          </p:cNvPicPr>
          <p:nvPr/>
        </p:nvPicPr>
        <p:blipFill>
          <a:blip r:embed="rId3"/>
          <a:stretch>
            <a:fillRect/>
          </a:stretch>
        </p:blipFill>
        <p:spPr>
          <a:xfrm>
            <a:off x="1585913" y="3181350"/>
            <a:ext cx="1246187" cy="517525"/>
          </a:xfrm>
          <a:prstGeom prst="rect">
            <a:avLst/>
          </a:prstGeom>
          <a:noFill/>
          <a:ln w="9525">
            <a:noFill/>
          </a:ln>
        </p:spPr>
      </p:pic>
      <p:pic>
        <p:nvPicPr>
          <p:cNvPr id="220208" name="Picture 220207" descr="TN00542_"/>
          <p:cNvPicPr>
            <a:picLocks noChangeAspect="1"/>
          </p:cNvPicPr>
          <p:nvPr/>
        </p:nvPicPr>
        <p:blipFill>
          <a:blip r:embed="rId4"/>
          <a:stretch>
            <a:fillRect/>
          </a:stretch>
        </p:blipFill>
        <p:spPr>
          <a:xfrm>
            <a:off x="1493838" y="1682750"/>
            <a:ext cx="1430337" cy="350838"/>
          </a:xfrm>
          <a:prstGeom prst="rect">
            <a:avLst/>
          </a:prstGeom>
          <a:noFill/>
          <a:ln w="9525">
            <a:noFill/>
          </a:ln>
        </p:spPr>
      </p:pic>
      <p:sp>
        <p:nvSpPr>
          <p:cNvPr id="220209" name="Rectangles 220208"/>
          <p:cNvSpPr/>
          <p:nvPr/>
        </p:nvSpPr>
        <p:spPr>
          <a:xfrm>
            <a:off x="5105400" y="1616075"/>
            <a:ext cx="1828800" cy="2117725"/>
          </a:xfrm>
          <a:prstGeom prst="rect">
            <a:avLst/>
          </a:prstGeom>
          <a:noFill/>
          <a:ln w="38100" cap="flat" cmpd="sng">
            <a:solidFill>
              <a:srgbClr val="9900FF"/>
            </a:solidFill>
            <a:prstDash val="solid"/>
            <a:miter/>
            <a:headEnd type="none" w="med" len="med"/>
            <a:tailEnd type="none" w="med" len="med"/>
          </a:ln>
        </p:spPr>
        <p:txBody>
          <a:bodyPr/>
          <a:lstStyle/>
          <a:p>
            <a:endParaRPr lang="en-US"/>
          </a:p>
        </p:txBody>
      </p:sp>
      <p:sp>
        <p:nvSpPr>
          <p:cNvPr id="220210" name="Straight Connector 220209"/>
          <p:cNvSpPr/>
          <p:nvPr/>
        </p:nvSpPr>
        <p:spPr>
          <a:xfrm flipV="1">
            <a:off x="5029200" y="1981200"/>
            <a:ext cx="1905000" cy="0"/>
          </a:xfrm>
          <a:prstGeom prst="line">
            <a:avLst/>
          </a:prstGeom>
          <a:ln w="38100" cap="flat" cmpd="sng">
            <a:solidFill>
              <a:srgbClr val="9900FF"/>
            </a:solidFill>
            <a:prstDash val="solid"/>
            <a:headEnd type="none" w="med" len="med"/>
            <a:tailEnd type="none" w="med" len="med"/>
          </a:ln>
        </p:spPr>
      </p:sp>
      <p:sp>
        <p:nvSpPr>
          <p:cNvPr id="220211" name="Straight Connector 220210"/>
          <p:cNvSpPr/>
          <p:nvPr/>
        </p:nvSpPr>
        <p:spPr>
          <a:xfrm flipV="1">
            <a:off x="5105400" y="2971800"/>
            <a:ext cx="1828800" cy="11113"/>
          </a:xfrm>
          <a:prstGeom prst="line">
            <a:avLst/>
          </a:prstGeom>
          <a:ln w="38100" cap="flat" cmpd="sng">
            <a:solidFill>
              <a:srgbClr val="9900FF"/>
            </a:solidFill>
            <a:prstDash val="solid"/>
            <a:headEnd type="none" w="med" len="med"/>
            <a:tailEnd type="none" w="med" len="med"/>
          </a:ln>
        </p:spPr>
      </p:sp>
      <p:sp>
        <p:nvSpPr>
          <p:cNvPr id="220212" name="Straight Connector 220211"/>
          <p:cNvSpPr/>
          <p:nvPr/>
        </p:nvSpPr>
        <p:spPr>
          <a:xfrm>
            <a:off x="3254375" y="1879600"/>
            <a:ext cx="658813" cy="36513"/>
          </a:xfrm>
          <a:prstGeom prst="line">
            <a:avLst/>
          </a:prstGeom>
          <a:ln w="9525">
            <a:noFill/>
          </a:ln>
        </p:spPr>
      </p:sp>
      <p:sp>
        <p:nvSpPr>
          <p:cNvPr id="220213" name="Straight Connector 220212"/>
          <p:cNvSpPr/>
          <p:nvPr/>
        </p:nvSpPr>
        <p:spPr>
          <a:xfrm>
            <a:off x="3124200" y="1981200"/>
            <a:ext cx="1676400" cy="0"/>
          </a:xfrm>
          <a:prstGeom prst="line">
            <a:avLst/>
          </a:prstGeom>
          <a:ln w="38100" cap="flat" cmpd="sng">
            <a:solidFill>
              <a:srgbClr val="9900FF"/>
            </a:solidFill>
            <a:prstDash val="sysDot"/>
            <a:headEnd type="none" w="med" len="med"/>
            <a:tailEnd type="triangle" w="med" len="med"/>
          </a:ln>
        </p:spPr>
      </p:sp>
      <p:sp>
        <p:nvSpPr>
          <p:cNvPr id="220214" name="Text Box 220213"/>
          <p:cNvSpPr txBox="1"/>
          <p:nvPr/>
        </p:nvSpPr>
        <p:spPr>
          <a:xfrm>
            <a:off x="3200400" y="1600200"/>
            <a:ext cx="1600200" cy="336550"/>
          </a:xfrm>
          <a:prstGeom prst="rect">
            <a:avLst/>
          </a:prstGeom>
          <a:noFill/>
          <a:ln w="9525">
            <a:noFill/>
          </a:ln>
        </p:spPr>
        <p:txBody>
          <a:bodyPr>
            <a:spAutoFit/>
          </a:bodyPr>
          <a:lstStyle/>
          <a:p>
            <a:r>
              <a:rPr sz="1600">
                <a:solidFill>
                  <a:srgbClr val="9900FF"/>
                </a:solidFill>
                <a:latin typeface="Times New Roman" panose="02020603050405020304" pitchFamily="18" charset="0"/>
              </a:rPr>
              <a:t>&lt;&lt;instanceOf&gt;&gt;</a:t>
            </a:r>
          </a:p>
        </p:txBody>
      </p:sp>
      <p:sp>
        <p:nvSpPr>
          <p:cNvPr id="220221" name="Straight Connector 220220"/>
          <p:cNvSpPr/>
          <p:nvPr/>
        </p:nvSpPr>
        <p:spPr>
          <a:xfrm>
            <a:off x="3254375" y="2641600"/>
            <a:ext cx="658813" cy="36513"/>
          </a:xfrm>
          <a:prstGeom prst="line">
            <a:avLst/>
          </a:prstGeom>
          <a:ln w="9525">
            <a:noFill/>
          </a:ln>
        </p:spPr>
      </p:sp>
      <p:sp>
        <p:nvSpPr>
          <p:cNvPr id="220222" name="Straight Connector 220221"/>
          <p:cNvSpPr/>
          <p:nvPr/>
        </p:nvSpPr>
        <p:spPr>
          <a:xfrm>
            <a:off x="3124200" y="2743200"/>
            <a:ext cx="1676400" cy="0"/>
          </a:xfrm>
          <a:prstGeom prst="line">
            <a:avLst/>
          </a:prstGeom>
          <a:ln w="38100" cap="flat" cmpd="sng">
            <a:solidFill>
              <a:srgbClr val="9900FF"/>
            </a:solidFill>
            <a:prstDash val="sysDot"/>
            <a:headEnd type="none" w="med" len="med"/>
            <a:tailEnd type="triangle" w="med" len="med"/>
          </a:ln>
        </p:spPr>
      </p:sp>
      <p:sp>
        <p:nvSpPr>
          <p:cNvPr id="220223" name="Text Box 220222"/>
          <p:cNvSpPr txBox="1"/>
          <p:nvPr/>
        </p:nvSpPr>
        <p:spPr>
          <a:xfrm>
            <a:off x="3200400" y="2362200"/>
            <a:ext cx="1600200" cy="336550"/>
          </a:xfrm>
          <a:prstGeom prst="rect">
            <a:avLst/>
          </a:prstGeom>
          <a:noFill/>
          <a:ln w="9525">
            <a:noFill/>
          </a:ln>
        </p:spPr>
        <p:txBody>
          <a:bodyPr>
            <a:spAutoFit/>
          </a:bodyPr>
          <a:lstStyle/>
          <a:p>
            <a:r>
              <a:rPr sz="1600">
                <a:solidFill>
                  <a:srgbClr val="9900FF"/>
                </a:solidFill>
                <a:latin typeface="Times New Roman" panose="02020603050405020304" pitchFamily="18" charset="0"/>
              </a:rPr>
              <a:t>&lt;&lt;instanceOf&gt;&gt;</a:t>
            </a:r>
          </a:p>
        </p:txBody>
      </p:sp>
      <p:sp>
        <p:nvSpPr>
          <p:cNvPr id="220224" name="Straight Connector 220223"/>
          <p:cNvSpPr/>
          <p:nvPr/>
        </p:nvSpPr>
        <p:spPr>
          <a:xfrm>
            <a:off x="3254375" y="3403600"/>
            <a:ext cx="658813" cy="36513"/>
          </a:xfrm>
          <a:prstGeom prst="line">
            <a:avLst/>
          </a:prstGeom>
          <a:ln w="9525">
            <a:noFill/>
          </a:ln>
        </p:spPr>
      </p:sp>
      <p:sp>
        <p:nvSpPr>
          <p:cNvPr id="220225" name="Straight Connector 220224"/>
          <p:cNvSpPr/>
          <p:nvPr/>
        </p:nvSpPr>
        <p:spPr>
          <a:xfrm>
            <a:off x="3124200" y="3505200"/>
            <a:ext cx="1676400" cy="0"/>
          </a:xfrm>
          <a:prstGeom prst="line">
            <a:avLst/>
          </a:prstGeom>
          <a:ln w="38100" cap="flat" cmpd="sng">
            <a:solidFill>
              <a:srgbClr val="9900FF"/>
            </a:solidFill>
            <a:prstDash val="sysDot"/>
            <a:headEnd type="none" w="med" len="med"/>
            <a:tailEnd type="triangle" w="med" len="med"/>
          </a:ln>
        </p:spPr>
      </p:sp>
      <p:sp>
        <p:nvSpPr>
          <p:cNvPr id="220226" name="Text Box 220225"/>
          <p:cNvSpPr txBox="1"/>
          <p:nvPr/>
        </p:nvSpPr>
        <p:spPr>
          <a:xfrm>
            <a:off x="3200400" y="3124200"/>
            <a:ext cx="1600200" cy="336550"/>
          </a:xfrm>
          <a:prstGeom prst="rect">
            <a:avLst/>
          </a:prstGeom>
          <a:noFill/>
          <a:ln w="9525">
            <a:noFill/>
          </a:ln>
        </p:spPr>
        <p:txBody>
          <a:bodyPr>
            <a:spAutoFit/>
          </a:bodyPr>
          <a:lstStyle/>
          <a:p>
            <a:r>
              <a:rPr sz="1600">
                <a:solidFill>
                  <a:srgbClr val="9900FF"/>
                </a:solidFill>
                <a:latin typeface="Times New Roman" panose="02020603050405020304" pitchFamily="18" charset="0"/>
              </a:rPr>
              <a:t>&lt;&lt;instanceOf&gt;&gt;</a:t>
            </a:r>
          </a:p>
        </p:txBody>
      </p:sp>
      <p:pic>
        <p:nvPicPr>
          <p:cNvPr id="3" name="Picture 2">
            <a:extLst>
              <a:ext uri="{FF2B5EF4-FFF2-40B4-BE49-F238E27FC236}">
                <a16:creationId xmlns:a16="http://schemas.microsoft.com/office/drawing/2014/main" id="{BA065656-FDF0-9B66-B02C-EFD22379123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36C7EF52-96AD-DB76-B4F8-E4E6A3FE89D7}"/>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5C46DC-AE78-8ABD-8FFE-232126A266D6}"/>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16</a:t>
            </a:fld>
            <a:endParaRPr lang="en-US">
              <a:latin typeface="Arial" panose="020B0604020202020204" pitchFamily="34" charset="0"/>
            </a:endParaRPr>
          </a:p>
        </p:txBody>
      </p:sp>
      <p:sp>
        <p:nvSpPr>
          <p:cNvPr id="279554" name="Rectangles 279553"/>
          <p:cNvSpPr/>
          <p:nvPr/>
        </p:nvSpPr>
        <p:spPr>
          <a:xfrm>
            <a:off x="0" y="0"/>
            <a:ext cx="7315200" cy="1143000"/>
          </a:xfrm>
          <a:prstGeom prst="rect">
            <a:avLst/>
          </a:prstGeom>
          <a:noFill/>
          <a:ln w="9525">
            <a:noFill/>
          </a:ln>
        </p:spPr>
        <p:txBody>
          <a:bodyPr anchor="ctr" anchorCtr="0"/>
          <a:lstStyle/>
          <a:p>
            <a:pPr algn="r">
              <a:spcBef>
                <a:spcPct val="0"/>
              </a:spcBef>
            </a:pPr>
            <a:r>
              <a:rPr sz="3800" dirty="0">
                <a:solidFill>
                  <a:schemeClr val="tx2"/>
                </a:solidFill>
                <a:latin typeface="Arial" panose="020B0604020202020204" pitchFamily="34" charset="0"/>
              </a:rPr>
              <a:t>What is Object-Orientation </a:t>
            </a:r>
            <a:endParaRPr dirty="0">
              <a:solidFill>
                <a:schemeClr val="tx2"/>
              </a:solidFill>
              <a:latin typeface="Arial" panose="020B0604020202020204" pitchFamily="34" charset="0"/>
            </a:endParaRPr>
          </a:p>
          <a:p>
            <a:pPr algn="r">
              <a:spcBef>
                <a:spcPct val="0"/>
              </a:spcBef>
            </a:pPr>
            <a:r>
              <a:rPr dirty="0">
                <a:solidFill>
                  <a:schemeClr val="tx2"/>
                </a:solidFill>
                <a:latin typeface="Arial" panose="020B0604020202020204" pitchFamily="34" charset="0"/>
              </a:rPr>
              <a:t>- Subclass vs. Superclass</a:t>
            </a:r>
          </a:p>
        </p:txBody>
      </p:sp>
      <p:sp>
        <p:nvSpPr>
          <p:cNvPr id="279555" name="Rectangles 279554"/>
          <p:cNvSpPr/>
          <p:nvPr/>
        </p:nvSpPr>
        <p:spPr>
          <a:xfrm>
            <a:off x="0" y="1447800"/>
            <a:ext cx="9144000" cy="2209800"/>
          </a:xfrm>
          <a:prstGeom prst="rect">
            <a:avLst/>
          </a:prstGeom>
          <a:solidFill>
            <a:srgbClr val="FFFF99"/>
          </a:solidFill>
          <a:ln w="9525">
            <a:noFill/>
          </a:ln>
        </p:spPr>
        <p:txBody>
          <a:bodyPr/>
          <a:lstStyle/>
          <a:p>
            <a:pPr marL="342900" indent="-342900">
              <a:lnSpc>
                <a:spcPct val="70000"/>
              </a:lnSpc>
              <a:spcBef>
                <a:spcPct val="10000"/>
              </a:spcBef>
              <a:buChar char="•"/>
            </a:pPr>
            <a:r>
              <a:rPr>
                <a:solidFill>
                  <a:srgbClr val="3333CC"/>
                </a:solidFill>
                <a:latin typeface="Arial" panose="020B0604020202020204" pitchFamily="34" charset="0"/>
              </a:rPr>
              <a:t>Specialization</a:t>
            </a:r>
            <a:r>
              <a:rPr>
                <a:latin typeface="Arial" panose="020B0604020202020204" pitchFamily="34" charset="0"/>
              </a:rPr>
              <a:t>: </a:t>
            </a:r>
            <a:r>
              <a:rPr sz="2000">
                <a:latin typeface="Arial" panose="020B0604020202020204" pitchFamily="34" charset="0"/>
              </a:rPr>
              <a:t>The act of defining one class as a refinement of another.</a:t>
            </a:r>
          </a:p>
          <a:p>
            <a:pPr marL="742950" lvl="1" indent="-285750">
              <a:lnSpc>
                <a:spcPct val="70000"/>
              </a:lnSpc>
              <a:spcBef>
                <a:spcPct val="5000"/>
              </a:spcBef>
            </a:pPr>
            <a:endParaRPr sz="2000">
              <a:latin typeface="Arial" panose="020B0604020202020204" pitchFamily="34" charset="0"/>
            </a:endParaRPr>
          </a:p>
          <a:p>
            <a:pPr marL="342900" indent="-342900">
              <a:lnSpc>
                <a:spcPct val="70000"/>
              </a:lnSpc>
              <a:spcBef>
                <a:spcPct val="5000"/>
              </a:spcBef>
              <a:buChar char="•"/>
            </a:pPr>
            <a:r>
              <a:rPr>
                <a:solidFill>
                  <a:srgbClr val="3333CC"/>
                </a:solidFill>
                <a:latin typeface="Arial" panose="020B0604020202020204" pitchFamily="34" charset="0"/>
              </a:rPr>
              <a:t>Subclass</a:t>
            </a:r>
            <a:r>
              <a:rPr>
                <a:latin typeface="Arial" panose="020B0604020202020204" pitchFamily="34" charset="0"/>
              </a:rPr>
              <a:t>: </a:t>
            </a:r>
            <a:r>
              <a:rPr sz="2000">
                <a:latin typeface="Arial" panose="020B0604020202020204" pitchFamily="34" charset="0"/>
              </a:rPr>
              <a:t>A class defined in terms of a specialization of a </a:t>
            </a:r>
            <a:r>
              <a:rPr sz="2000" err="1">
                <a:latin typeface="Arial" panose="020B0604020202020204" pitchFamily="34" charset="0"/>
              </a:rPr>
              <a:t>superclass</a:t>
            </a:r>
            <a:r>
              <a:rPr sz="2000">
                <a:latin typeface="Arial" panose="020B0604020202020204" pitchFamily="34" charset="0"/>
              </a:rPr>
              <a:t> using inheritance.</a:t>
            </a:r>
          </a:p>
          <a:p>
            <a:pPr marL="742950" lvl="1" indent="-285750">
              <a:lnSpc>
                <a:spcPct val="70000"/>
              </a:lnSpc>
              <a:spcBef>
                <a:spcPct val="5000"/>
              </a:spcBef>
            </a:pPr>
            <a:endParaRPr sz="2000">
              <a:latin typeface="Arial" panose="020B0604020202020204" pitchFamily="34" charset="0"/>
            </a:endParaRPr>
          </a:p>
          <a:p>
            <a:pPr marL="342900" indent="-342900">
              <a:lnSpc>
                <a:spcPct val="70000"/>
              </a:lnSpc>
              <a:spcBef>
                <a:spcPct val="5000"/>
              </a:spcBef>
              <a:buChar char="•"/>
            </a:pPr>
            <a:r>
              <a:rPr>
                <a:solidFill>
                  <a:srgbClr val="3333CC"/>
                </a:solidFill>
                <a:latin typeface="Arial" panose="020B0604020202020204" pitchFamily="34" charset="0"/>
              </a:rPr>
              <a:t>Superclass</a:t>
            </a:r>
            <a:r>
              <a:rPr>
                <a:latin typeface="Arial" panose="020B0604020202020204" pitchFamily="34" charset="0"/>
              </a:rPr>
              <a:t>: </a:t>
            </a:r>
            <a:r>
              <a:rPr sz="1800">
                <a:latin typeface="Arial" panose="020B0604020202020204" pitchFamily="34" charset="0"/>
              </a:rPr>
              <a:t>A class serving as a base for inheritance in a class hierarchy </a:t>
            </a:r>
          </a:p>
          <a:p>
            <a:pPr marL="742950" lvl="1" indent="-285750">
              <a:lnSpc>
                <a:spcPct val="70000"/>
              </a:lnSpc>
              <a:spcBef>
                <a:spcPct val="10000"/>
              </a:spcBef>
            </a:pPr>
            <a:endParaRPr sz="1800">
              <a:latin typeface="Arial" panose="020B0604020202020204" pitchFamily="34" charset="0"/>
            </a:endParaRPr>
          </a:p>
          <a:p>
            <a:pPr marL="342900" indent="-342900">
              <a:lnSpc>
                <a:spcPct val="70000"/>
              </a:lnSpc>
              <a:spcBef>
                <a:spcPct val="5000"/>
              </a:spcBef>
              <a:buChar char="•"/>
            </a:pPr>
            <a:r>
              <a:rPr>
                <a:solidFill>
                  <a:srgbClr val="3333CC"/>
                </a:solidFill>
                <a:latin typeface="Arial" panose="020B0604020202020204" pitchFamily="34" charset="0"/>
              </a:rPr>
              <a:t>Inheritance</a:t>
            </a:r>
            <a:r>
              <a:rPr>
                <a:latin typeface="Arial" panose="020B0604020202020204" pitchFamily="34" charset="0"/>
              </a:rPr>
              <a:t>: </a:t>
            </a:r>
            <a:r>
              <a:rPr sz="2000">
                <a:latin typeface="Arial" panose="020B0604020202020204" pitchFamily="34" charset="0"/>
              </a:rPr>
              <a:t>Automatic duplication of </a:t>
            </a:r>
            <a:r>
              <a:rPr sz="2000" err="1">
                <a:latin typeface="Arial" panose="020B0604020202020204" pitchFamily="34" charset="0"/>
              </a:rPr>
              <a:t>superclass</a:t>
            </a:r>
            <a:r>
              <a:rPr sz="2000">
                <a:latin typeface="Arial" panose="020B0604020202020204" pitchFamily="34" charset="0"/>
              </a:rPr>
              <a:t> attribute and behavior definitions in subclass. </a:t>
            </a:r>
          </a:p>
          <a:p>
            <a:pPr marL="742950" lvl="1" indent="-285750">
              <a:lnSpc>
                <a:spcPct val="90000"/>
              </a:lnSpc>
              <a:spcBef>
                <a:spcPct val="20000"/>
              </a:spcBef>
            </a:pPr>
            <a:endParaRPr sz="2000">
              <a:latin typeface="Arial" panose="020B0604020202020204" pitchFamily="34" charset="0"/>
            </a:endParaRPr>
          </a:p>
        </p:txBody>
      </p:sp>
      <p:sp>
        <p:nvSpPr>
          <p:cNvPr id="279556" name="Text Box 279555"/>
          <p:cNvSpPr txBox="1"/>
          <p:nvPr/>
        </p:nvSpPr>
        <p:spPr>
          <a:xfrm>
            <a:off x="5943600" y="5562600"/>
            <a:ext cx="2482850" cy="366713"/>
          </a:xfrm>
          <a:prstGeom prst="rect">
            <a:avLst/>
          </a:prstGeom>
          <a:noFill/>
          <a:ln w="9525">
            <a:noFill/>
          </a:ln>
        </p:spPr>
        <p:txBody>
          <a:bodyPr wrap="none" anchor="t" anchorCtr="0">
            <a:spAutoFit/>
          </a:bodyPr>
          <a:lstStyle/>
          <a:p>
            <a:pPr algn="ctr">
              <a:spcBef>
                <a:spcPct val="0"/>
              </a:spcBef>
            </a:pPr>
            <a:r>
              <a:rPr sz="1800" b="1" i="1">
                <a:solidFill>
                  <a:srgbClr val="FF0000"/>
                </a:solidFill>
                <a:latin typeface="Arial" panose="020B0604020202020204" pitchFamily="34" charset="0"/>
              </a:rPr>
              <a:t>multiple inheritance?</a:t>
            </a:r>
          </a:p>
        </p:txBody>
      </p:sp>
      <p:sp>
        <p:nvSpPr>
          <p:cNvPr id="279557" name="Rectangles 279556"/>
          <p:cNvSpPr/>
          <p:nvPr/>
        </p:nvSpPr>
        <p:spPr>
          <a:xfrm>
            <a:off x="2798763" y="3886200"/>
            <a:ext cx="8064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Person</a:t>
            </a:r>
          </a:p>
        </p:txBody>
      </p:sp>
      <p:sp>
        <p:nvSpPr>
          <p:cNvPr id="279559" name="Rectangles 279558"/>
          <p:cNvSpPr/>
          <p:nvPr/>
        </p:nvSpPr>
        <p:spPr>
          <a:xfrm>
            <a:off x="2667000" y="4191000"/>
            <a:ext cx="990600" cy="366713"/>
          </a:xfrm>
          <a:prstGeom prst="rect">
            <a:avLst/>
          </a:prstGeom>
          <a:noFill/>
          <a:ln w="9525">
            <a:noFill/>
          </a:ln>
        </p:spPr>
        <p:txBody>
          <a:bodyPr anchor="ctr" anchorCtr="0">
            <a:spAutoFit/>
          </a:bodyPr>
          <a:lstStyle/>
          <a:p>
            <a:pPr algn="ctr"/>
            <a:r>
              <a:rPr sz="1800">
                <a:latin typeface="Times New Roman" panose="02020603050405020304" pitchFamily="18" charset="0"/>
              </a:rPr>
              <a:t>name</a:t>
            </a:r>
          </a:p>
        </p:txBody>
      </p:sp>
      <p:sp>
        <p:nvSpPr>
          <p:cNvPr id="279560" name="Rectangles 279559"/>
          <p:cNvSpPr/>
          <p:nvPr/>
        </p:nvSpPr>
        <p:spPr>
          <a:xfrm>
            <a:off x="2819400" y="4419600"/>
            <a:ext cx="603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SSN</a:t>
            </a:r>
          </a:p>
        </p:txBody>
      </p:sp>
      <p:sp>
        <p:nvSpPr>
          <p:cNvPr id="279561" name="Rectangles 279560"/>
          <p:cNvSpPr/>
          <p:nvPr/>
        </p:nvSpPr>
        <p:spPr>
          <a:xfrm>
            <a:off x="2667000" y="3841750"/>
            <a:ext cx="1019175" cy="9906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279562" name="Straight Connector 279561"/>
          <p:cNvSpPr/>
          <p:nvPr/>
        </p:nvSpPr>
        <p:spPr>
          <a:xfrm>
            <a:off x="2667000" y="4222750"/>
            <a:ext cx="1019175" cy="0"/>
          </a:xfrm>
          <a:prstGeom prst="line">
            <a:avLst/>
          </a:prstGeom>
          <a:ln w="9525" cap="flat" cmpd="sng">
            <a:solidFill>
              <a:srgbClr val="9900FF"/>
            </a:solidFill>
            <a:prstDash val="solid"/>
            <a:headEnd type="none" w="med" len="med"/>
            <a:tailEnd type="none" w="med" len="med"/>
          </a:ln>
        </p:spPr>
      </p:sp>
      <p:sp>
        <p:nvSpPr>
          <p:cNvPr id="279563" name="Straight Connector 279562"/>
          <p:cNvSpPr/>
          <p:nvPr/>
        </p:nvSpPr>
        <p:spPr>
          <a:xfrm>
            <a:off x="2667000" y="4724400"/>
            <a:ext cx="990600" cy="0"/>
          </a:xfrm>
          <a:prstGeom prst="line">
            <a:avLst/>
          </a:prstGeom>
          <a:ln w="9525" cap="flat" cmpd="sng">
            <a:solidFill>
              <a:srgbClr val="9900FF"/>
            </a:solidFill>
            <a:prstDash val="solid"/>
            <a:headEnd type="none" w="med" len="med"/>
            <a:tailEnd type="none" w="med" len="med"/>
          </a:ln>
        </p:spPr>
      </p:sp>
      <p:sp>
        <p:nvSpPr>
          <p:cNvPr id="279564" name="Rectangles 279563"/>
          <p:cNvSpPr/>
          <p:nvPr/>
        </p:nvSpPr>
        <p:spPr>
          <a:xfrm>
            <a:off x="1600200" y="5181600"/>
            <a:ext cx="8826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Student</a:t>
            </a:r>
          </a:p>
        </p:txBody>
      </p:sp>
      <p:sp>
        <p:nvSpPr>
          <p:cNvPr id="279565" name="Rectangles 279564"/>
          <p:cNvSpPr/>
          <p:nvPr/>
        </p:nvSpPr>
        <p:spPr>
          <a:xfrm>
            <a:off x="1506538" y="5486400"/>
            <a:ext cx="990600" cy="366713"/>
          </a:xfrm>
          <a:prstGeom prst="rect">
            <a:avLst/>
          </a:prstGeom>
          <a:noFill/>
          <a:ln w="9525">
            <a:noFill/>
          </a:ln>
        </p:spPr>
        <p:txBody>
          <a:bodyPr anchor="ctr" anchorCtr="0">
            <a:spAutoFit/>
          </a:bodyPr>
          <a:lstStyle/>
          <a:p>
            <a:pPr algn="ctr"/>
            <a:r>
              <a:rPr sz="1800">
                <a:latin typeface="Times New Roman" panose="02020603050405020304" pitchFamily="18" charset="0"/>
              </a:rPr>
              <a:t>std-id</a:t>
            </a:r>
          </a:p>
        </p:txBody>
      </p:sp>
      <p:sp>
        <p:nvSpPr>
          <p:cNvPr id="279566" name="Rectangles 279565"/>
          <p:cNvSpPr/>
          <p:nvPr/>
        </p:nvSpPr>
        <p:spPr>
          <a:xfrm>
            <a:off x="1674813" y="5746750"/>
            <a:ext cx="6286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level</a:t>
            </a:r>
          </a:p>
        </p:txBody>
      </p:sp>
      <p:sp>
        <p:nvSpPr>
          <p:cNvPr id="279567" name="Rectangles 279566"/>
          <p:cNvSpPr/>
          <p:nvPr/>
        </p:nvSpPr>
        <p:spPr>
          <a:xfrm>
            <a:off x="1506538" y="5137150"/>
            <a:ext cx="1019175" cy="9906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279568" name="Straight Connector 279567"/>
          <p:cNvSpPr/>
          <p:nvPr/>
        </p:nvSpPr>
        <p:spPr>
          <a:xfrm>
            <a:off x="1506538" y="5518150"/>
            <a:ext cx="1019175" cy="0"/>
          </a:xfrm>
          <a:prstGeom prst="line">
            <a:avLst/>
          </a:prstGeom>
          <a:ln w="9525" cap="flat" cmpd="sng">
            <a:solidFill>
              <a:srgbClr val="9900FF"/>
            </a:solidFill>
            <a:prstDash val="solid"/>
            <a:headEnd type="none" w="med" len="med"/>
            <a:tailEnd type="none" w="med" len="med"/>
          </a:ln>
        </p:spPr>
      </p:sp>
      <p:sp>
        <p:nvSpPr>
          <p:cNvPr id="279569" name="Straight Connector 279568"/>
          <p:cNvSpPr/>
          <p:nvPr/>
        </p:nvSpPr>
        <p:spPr>
          <a:xfrm>
            <a:off x="1535113" y="6051550"/>
            <a:ext cx="990600" cy="0"/>
          </a:xfrm>
          <a:prstGeom prst="line">
            <a:avLst/>
          </a:prstGeom>
          <a:ln w="9525" cap="flat" cmpd="sng">
            <a:solidFill>
              <a:srgbClr val="9900FF"/>
            </a:solidFill>
            <a:prstDash val="solid"/>
            <a:headEnd type="none" w="med" len="med"/>
            <a:tailEnd type="none" w="med" len="med"/>
          </a:ln>
        </p:spPr>
      </p:sp>
      <p:sp>
        <p:nvSpPr>
          <p:cNvPr id="279570" name="Rectangles 279569"/>
          <p:cNvSpPr/>
          <p:nvPr/>
        </p:nvSpPr>
        <p:spPr>
          <a:xfrm>
            <a:off x="3924300" y="5181600"/>
            <a:ext cx="1111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Employee</a:t>
            </a:r>
          </a:p>
        </p:txBody>
      </p:sp>
      <p:sp>
        <p:nvSpPr>
          <p:cNvPr id="279571" name="Rectangles 279570"/>
          <p:cNvSpPr/>
          <p:nvPr/>
        </p:nvSpPr>
        <p:spPr>
          <a:xfrm>
            <a:off x="3944938" y="5486400"/>
            <a:ext cx="990600" cy="366713"/>
          </a:xfrm>
          <a:prstGeom prst="rect">
            <a:avLst/>
          </a:prstGeom>
          <a:noFill/>
          <a:ln w="9525">
            <a:noFill/>
          </a:ln>
        </p:spPr>
        <p:txBody>
          <a:bodyPr anchor="ctr" anchorCtr="0">
            <a:spAutoFit/>
          </a:bodyPr>
          <a:lstStyle/>
          <a:p>
            <a:pPr algn="ctr"/>
            <a:r>
              <a:rPr sz="1800" err="1">
                <a:latin typeface="Times New Roman" panose="02020603050405020304" pitchFamily="18" charset="0"/>
              </a:rPr>
              <a:t>emp</a:t>
            </a:r>
            <a:r>
              <a:rPr sz="1800">
                <a:latin typeface="Times New Roman" panose="02020603050405020304" pitchFamily="18" charset="0"/>
              </a:rPr>
              <a:t>-id</a:t>
            </a:r>
          </a:p>
        </p:txBody>
      </p:sp>
      <p:sp>
        <p:nvSpPr>
          <p:cNvPr id="279572" name="Rectangles 279571"/>
          <p:cNvSpPr/>
          <p:nvPr/>
        </p:nvSpPr>
        <p:spPr>
          <a:xfrm>
            <a:off x="4032250" y="5715000"/>
            <a:ext cx="514350" cy="366713"/>
          </a:xfrm>
          <a:prstGeom prst="rect">
            <a:avLst/>
          </a:prstGeom>
          <a:noFill/>
          <a:ln w="9525">
            <a:noFill/>
          </a:ln>
        </p:spPr>
        <p:txBody>
          <a:bodyPr wrap="none" anchor="ctr" anchorCtr="0">
            <a:spAutoFit/>
          </a:bodyPr>
          <a:lstStyle/>
          <a:p>
            <a:pPr algn="ctr"/>
            <a:r>
              <a:rPr sz="1800" i="1">
                <a:solidFill>
                  <a:srgbClr val="FF0000"/>
                </a:solidFill>
                <a:latin typeface="Times New Roman" panose="02020603050405020304" pitchFamily="18" charset="0"/>
              </a:rPr>
              <a:t>age</a:t>
            </a:r>
          </a:p>
        </p:txBody>
      </p:sp>
      <p:sp>
        <p:nvSpPr>
          <p:cNvPr id="279573" name="Rectangles 279572"/>
          <p:cNvSpPr/>
          <p:nvPr/>
        </p:nvSpPr>
        <p:spPr>
          <a:xfrm>
            <a:off x="3944938" y="5137150"/>
            <a:ext cx="1019175" cy="9906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279574" name="Straight Connector 279573"/>
          <p:cNvSpPr/>
          <p:nvPr/>
        </p:nvSpPr>
        <p:spPr>
          <a:xfrm>
            <a:off x="3944938" y="5518150"/>
            <a:ext cx="1019175" cy="0"/>
          </a:xfrm>
          <a:prstGeom prst="line">
            <a:avLst/>
          </a:prstGeom>
          <a:ln w="9525" cap="flat" cmpd="sng">
            <a:solidFill>
              <a:srgbClr val="9900FF"/>
            </a:solidFill>
            <a:prstDash val="solid"/>
            <a:headEnd type="none" w="med" len="med"/>
            <a:tailEnd type="none" w="med" len="med"/>
          </a:ln>
        </p:spPr>
      </p:sp>
      <p:sp>
        <p:nvSpPr>
          <p:cNvPr id="279575" name="Straight Connector 279574"/>
          <p:cNvSpPr/>
          <p:nvPr/>
        </p:nvSpPr>
        <p:spPr>
          <a:xfrm>
            <a:off x="3973513" y="6051550"/>
            <a:ext cx="990600" cy="0"/>
          </a:xfrm>
          <a:prstGeom prst="line">
            <a:avLst/>
          </a:prstGeom>
          <a:ln w="9525" cap="flat" cmpd="sng">
            <a:solidFill>
              <a:srgbClr val="9900FF"/>
            </a:solidFill>
            <a:prstDash val="solid"/>
            <a:headEnd type="none" w="med" len="med"/>
            <a:tailEnd type="none" w="med" len="med"/>
          </a:ln>
        </p:spPr>
      </p:sp>
      <p:sp>
        <p:nvSpPr>
          <p:cNvPr id="279576" name="Straight Connector 279575"/>
          <p:cNvSpPr/>
          <p:nvPr/>
        </p:nvSpPr>
        <p:spPr>
          <a:xfrm>
            <a:off x="1981200" y="5029200"/>
            <a:ext cx="2438400" cy="0"/>
          </a:xfrm>
          <a:prstGeom prst="line">
            <a:avLst/>
          </a:prstGeom>
          <a:ln w="9525" cap="flat" cmpd="sng">
            <a:solidFill>
              <a:srgbClr val="9900FF"/>
            </a:solidFill>
            <a:prstDash val="solid"/>
            <a:headEnd type="none" w="med" len="med"/>
            <a:tailEnd type="none" w="med" len="med"/>
          </a:ln>
        </p:spPr>
      </p:sp>
      <p:sp>
        <p:nvSpPr>
          <p:cNvPr id="279577" name="Straight Connector 279576"/>
          <p:cNvSpPr/>
          <p:nvPr/>
        </p:nvSpPr>
        <p:spPr>
          <a:xfrm>
            <a:off x="1981200" y="5029200"/>
            <a:ext cx="0" cy="76200"/>
          </a:xfrm>
          <a:prstGeom prst="line">
            <a:avLst/>
          </a:prstGeom>
          <a:ln w="9525" cap="flat" cmpd="sng">
            <a:solidFill>
              <a:srgbClr val="9900FF"/>
            </a:solidFill>
            <a:prstDash val="solid"/>
            <a:headEnd type="none" w="med" len="med"/>
            <a:tailEnd type="none" w="med" len="med"/>
          </a:ln>
        </p:spPr>
      </p:sp>
      <p:sp>
        <p:nvSpPr>
          <p:cNvPr id="279578" name="Straight Connector 279577"/>
          <p:cNvSpPr/>
          <p:nvPr/>
        </p:nvSpPr>
        <p:spPr>
          <a:xfrm>
            <a:off x="4419600" y="5029200"/>
            <a:ext cx="0" cy="76200"/>
          </a:xfrm>
          <a:prstGeom prst="line">
            <a:avLst/>
          </a:prstGeom>
          <a:ln w="9525" cap="flat" cmpd="sng">
            <a:solidFill>
              <a:srgbClr val="9900FF"/>
            </a:solidFill>
            <a:prstDash val="solid"/>
            <a:headEnd type="none" w="med" len="med"/>
            <a:tailEnd type="none" w="med" len="med"/>
          </a:ln>
        </p:spPr>
      </p:sp>
      <p:sp>
        <p:nvSpPr>
          <p:cNvPr id="279579" name="Straight Connector 279578"/>
          <p:cNvSpPr/>
          <p:nvPr/>
        </p:nvSpPr>
        <p:spPr>
          <a:xfrm>
            <a:off x="3124200" y="4953000"/>
            <a:ext cx="0" cy="76200"/>
          </a:xfrm>
          <a:prstGeom prst="line">
            <a:avLst/>
          </a:prstGeom>
          <a:ln w="9525" cap="flat" cmpd="sng">
            <a:solidFill>
              <a:srgbClr val="9900FF"/>
            </a:solidFill>
            <a:prstDash val="solid"/>
            <a:headEnd type="none" w="med" len="med"/>
            <a:tailEnd type="none" w="med" len="med"/>
          </a:ln>
        </p:spPr>
      </p:sp>
      <p:sp>
        <p:nvSpPr>
          <p:cNvPr id="279580" name="Isosceles Triangle 279579"/>
          <p:cNvSpPr/>
          <p:nvPr/>
        </p:nvSpPr>
        <p:spPr>
          <a:xfrm>
            <a:off x="3048000" y="48006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pic>
        <p:nvPicPr>
          <p:cNvPr id="3" name="Picture 2">
            <a:extLst>
              <a:ext uri="{FF2B5EF4-FFF2-40B4-BE49-F238E27FC236}">
                <a16:creationId xmlns:a16="http://schemas.microsoft.com/office/drawing/2014/main" id="{32C4C3C6-B180-7B8D-A6C1-7596ABB547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AB8EFB72-20F2-22B5-9E1B-BBC27C3417E1}"/>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0F082D8-A7D4-FC2B-F6A6-05F4EF592271}"/>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17</a:t>
            </a:fld>
            <a:endParaRPr lang="en-US">
              <a:latin typeface="Arial" panose="020B0604020202020204" pitchFamily="34" charset="0"/>
            </a:endParaRPr>
          </a:p>
        </p:txBody>
      </p:sp>
      <p:sp>
        <p:nvSpPr>
          <p:cNvPr id="316418" name="Rectangles 316417"/>
          <p:cNvSpPr/>
          <p:nvPr/>
        </p:nvSpPr>
        <p:spPr>
          <a:xfrm>
            <a:off x="0" y="0"/>
            <a:ext cx="7315200" cy="1143000"/>
          </a:xfrm>
          <a:prstGeom prst="rect">
            <a:avLst/>
          </a:prstGeom>
          <a:noFill/>
          <a:ln w="9525">
            <a:noFill/>
          </a:ln>
        </p:spPr>
        <p:txBody>
          <a:bodyPr anchor="ctr" anchorCtr="0"/>
          <a:lstStyle/>
          <a:p>
            <a:pPr algn="ctr">
              <a:spcBef>
                <a:spcPct val="0"/>
              </a:spcBef>
            </a:pPr>
            <a:r>
              <a:rPr dirty="0">
                <a:solidFill>
                  <a:schemeClr val="tx2"/>
                </a:solidFill>
                <a:latin typeface="Arial" panose="020B0604020202020204" pitchFamily="34" charset="0"/>
              </a:rPr>
              <a:t>What is Object-Orientation </a:t>
            </a:r>
          </a:p>
          <a:p>
            <a:pPr algn="ctr">
              <a:spcBef>
                <a:spcPct val="0"/>
              </a:spcBef>
            </a:pPr>
            <a:r>
              <a:rPr dirty="0">
                <a:solidFill>
                  <a:schemeClr val="tx2"/>
                </a:solidFill>
                <a:latin typeface="Arial" panose="020B0604020202020204" pitchFamily="34" charset="0"/>
              </a:rPr>
              <a:t>- Subclass vs. Superclass</a:t>
            </a:r>
          </a:p>
        </p:txBody>
      </p:sp>
      <p:sp>
        <p:nvSpPr>
          <p:cNvPr id="316421" name="Rectangles 316420"/>
          <p:cNvSpPr/>
          <p:nvPr/>
        </p:nvSpPr>
        <p:spPr>
          <a:xfrm>
            <a:off x="5638800" y="152400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16424" name="Rectangles 316423"/>
          <p:cNvSpPr/>
          <p:nvPr/>
        </p:nvSpPr>
        <p:spPr>
          <a:xfrm>
            <a:off x="5278438" y="14795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42" name="Straight Connector 316441"/>
          <p:cNvSpPr/>
          <p:nvPr/>
        </p:nvSpPr>
        <p:spPr>
          <a:xfrm>
            <a:off x="5811838" y="2165350"/>
            <a:ext cx="0" cy="76200"/>
          </a:xfrm>
          <a:prstGeom prst="line">
            <a:avLst/>
          </a:prstGeom>
          <a:ln w="9525" cap="flat" cmpd="sng">
            <a:solidFill>
              <a:srgbClr val="9900FF"/>
            </a:solidFill>
            <a:prstDash val="solid"/>
            <a:headEnd type="none" w="med" len="med"/>
            <a:tailEnd type="none" w="med" len="med"/>
          </a:ln>
        </p:spPr>
      </p:sp>
      <p:sp>
        <p:nvSpPr>
          <p:cNvPr id="316443" name="Isosceles Triangle 316442"/>
          <p:cNvSpPr/>
          <p:nvPr/>
        </p:nvSpPr>
        <p:spPr>
          <a:xfrm>
            <a:off x="5735638" y="201295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448" name="Rectangles 316447"/>
          <p:cNvSpPr/>
          <p:nvPr/>
        </p:nvSpPr>
        <p:spPr>
          <a:xfrm>
            <a:off x="5665788" y="231775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16449" name="Rectangles 316448"/>
          <p:cNvSpPr/>
          <p:nvPr/>
        </p:nvSpPr>
        <p:spPr>
          <a:xfrm>
            <a:off x="5299075" y="22733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50" name="Straight Connector 316449"/>
          <p:cNvSpPr/>
          <p:nvPr/>
        </p:nvSpPr>
        <p:spPr>
          <a:xfrm>
            <a:off x="5832475" y="2959100"/>
            <a:ext cx="0" cy="76200"/>
          </a:xfrm>
          <a:prstGeom prst="line">
            <a:avLst/>
          </a:prstGeom>
          <a:ln w="9525" cap="flat" cmpd="sng">
            <a:solidFill>
              <a:srgbClr val="9900FF"/>
            </a:solidFill>
            <a:prstDash val="solid"/>
            <a:headEnd type="none" w="med" len="med"/>
            <a:tailEnd type="none" w="med" len="med"/>
          </a:ln>
        </p:spPr>
      </p:sp>
      <p:sp>
        <p:nvSpPr>
          <p:cNvPr id="316451" name="Isosceles Triangle 316450"/>
          <p:cNvSpPr/>
          <p:nvPr/>
        </p:nvSpPr>
        <p:spPr>
          <a:xfrm>
            <a:off x="5756275" y="28067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452" name="Rectangles 316451"/>
          <p:cNvSpPr/>
          <p:nvPr/>
        </p:nvSpPr>
        <p:spPr>
          <a:xfrm>
            <a:off x="5645150" y="31242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C</a:t>
            </a:r>
          </a:p>
        </p:txBody>
      </p:sp>
      <p:sp>
        <p:nvSpPr>
          <p:cNvPr id="316453" name="Rectangles 316452"/>
          <p:cNvSpPr/>
          <p:nvPr/>
        </p:nvSpPr>
        <p:spPr>
          <a:xfrm>
            <a:off x="5278438" y="30797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54" name="Rectangles 316453"/>
          <p:cNvSpPr/>
          <p:nvPr/>
        </p:nvSpPr>
        <p:spPr>
          <a:xfrm>
            <a:off x="1087438" y="155575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16455" name="Rectangles 316454"/>
          <p:cNvSpPr/>
          <p:nvPr/>
        </p:nvSpPr>
        <p:spPr>
          <a:xfrm>
            <a:off x="727075" y="15113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56" name="Straight Connector 316455"/>
          <p:cNvSpPr/>
          <p:nvPr/>
        </p:nvSpPr>
        <p:spPr>
          <a:xfrm>
            <a:off x="1260475" y="2197100"/>
            <a:ext cx="0" cy="76200"/>
          </a:xfrm>
          <a:prstGeom prst="line">
            <a:avLst/>
          </a:prstGeom>
          <a:ln w="9525" cap="flat" cmpd="sng">
            <a:solidFill>
              <a:srgbClr val="9900FF"/>
            </a:solidFill>
            <a:prstDash val="solid"/>
            <a:headEnd type="none" w="med" len="med"/>
            <a:tailEnd type="none" w="med" len="med"/>
          </a:ln>
        </p:spPr>
      </p:sp>
      <p:sp>
        <p:nvSpPr>
          <p:cNvPr id="316457" name="Isosceles Triangle 316456"/>
          <p:cNvSpPr/>
          <p:nvPr/>
        </p:nvSpPr>
        <p:spPr>
          <a:xfrm>
            <a:off x="1184275" y="20447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458" name="Rectangles 316457"/>
          <p:cNvSpPr/>
          <p:nvPr/>
        </p:nvSpPr>
        <p:spPr>
          <a:xfrm>
            <a:off x="1114425" y="23495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16459" name="Rectangles 316458"/>
          <p:cNvSpPr/>
          <p:nvPr/>
        </p:nvSpPr>
        <p:spPr>
          <a:xfrm>
            <a:off x="747713" y="23050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64" name="Isosceles Triangle 316463"/>
          <p:cNvSpPr/>
          <p:nvPr/>
        </p:nvSpPr>
        <p:spPr>
          <a:xfrm rot="-5400000">
            <a:off x="6269038" y="163195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465" name="Straight Connector 316464"/>
          <p:cNvSpPr/>
          <p:nvPr/>
        </p:nvSpPr>
        <p:spPr>
          <a:xfrm>
            <a:off x="6269038" y="3308350"/>
            <a:ext cx="304800" cy="0"/>
          </a:xfrm>
          <a:prstGeom prst="line">
            <a:avLst/>
          </a:prstGeom>
          <a:ln w="9525" cap="flat" cmpd="sng">
            <a:solidFill>
              <a:srgbClr val="9900FF"/>
            </a:solidFill>
            <a:prstDash val="solid"/>
            <a:headEnd type="none" w="med" len="med"/>
            <a:tailEnd type="none" w="med" len="med"/>
          </a:ln>
        </p:spPr>
      </p:sp>
      <p:sp>
        <p:nvSpPr>
          <p:cNvPr id="316466" name="Straight Connector 316465"/>
          <p:cNvSpPr/>
          <p:nvPr/>
        </p:nvSpPr>
        <p:spPr>
          <a:xfrm>
            <a:off x="6421438" y="1708150"/>
            <a:ext cx="152400" cy="0"/>
          </a:xfrm>
          <a:prstGeom prst="line">
            <a:avLst/>
          </a:prstGeom>
          <a:ln w="9525" cap="flat" cmpd="sng">
            <a:solidFill>
              <a:srgbClr val="9900FF"/>
            </a:solidFill>
            <a:prstDash val="solid"/>
            <a:headEnd type="none" w="med" len="med"/>
            <a:tailEnd type="none" w="med" len="med"/>
          </a:ln>
        </p:spPr>
      </p:sp>
      <p:sp>
        <p:nvSpPr>
          <p:cNvPr id="316467" name="Straight Connector 316466"/>
          <p:cNvSpPr/>
          <p:nvPr/>
        </p:nvSpPr>
        <p:spPr>
          <a:xfrm flipV="1">
            <a:off x="6573838" y="1708150"/>
            <a:ext cx="0" cy="1600200"/>
          </a:xfrm>
          <a:prstGeom prst="line">
            <a:avLst/>
          </a:prstGeom>
          <a:ln w="9525" cap="flat" cmpd="sng">
            <a:solidFill>
              <a:srgbClr val="9900FF"/>
            </a:solidFill>
            <a:prstDash val="solid"/>
            <a:headEnd type="none" w="med" len="med"/>
            <a:tailEnd type="none" w="med" len="med"/>
          </a:ln>
        </p:spPr>
      </p:sp>
      <p:sp>
        <p:nvSpPr>
          <p:cNvPr id="316468" name="Rectangles 316467"/>
          <p:cNvSpPr/>
          <p:nvPr/>
        </p:nvSpPr>
        <p:spPr>
          <a:xfrm>
            <a:off x="3346450" y="152400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16469" name="Rectangles 316468"/>
          <p:cNvSpPr/>
          <p:nvPr/>
        </p:nvSpPr>
        <p:spPr>
          <a:xfrm>
            <a:off x="2986088" y="14795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70" name="Straight Connector 316469"/>
          <p:cNvSpPr/>
          <p:nvPr/>
        </p:nvSpPr>
        <p:spPr>
          <a:xfrm>
            <a:off x="3519488" y="2165350"/>
            <a:ext cx="0" cy="76200"/>
          </a:xfrm>
          <a:prstGeom prst="line">
            <a:avLst/>
          </a:prstGeom>
          <a:ln w="9525" cap="flat" cmpd="sng">
            <a:solidFill>
              <a:srgbClr val="9900FF"/>
            </a:solidFill>
            <a:prstDash val="solid"/>
            <a:headEnd type="none" w="med" len="med"/>
            <a:tailEnd type="none" w="med" len="med"/>
          </a:ln>
        </p:spPr>
      </p:sp>
      <p:sp>
        <p:nvSpPr>
          <p:cNvPr id="316471" name="Isosceles Triangle 316470"/>
          <p:cNvSpPr/>
          <p:nvPr/>
        </p:nvSpPr>
        <p:spPr>
          <a:xfrm>
            <a:off x="3443288" y="201295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472" name="Rectangles 316471"/>
          <p:cNvSpPr/>
          <p:nvPr/>
        </p:nvSpPr>
        <p:spPr>
          <a:xfrm>
            <a:off x="3373438" y="231775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16473" name="Rectangles 316472"/>
          <p:cNvSpPr/>
          <p:nvPr/>
        </p:nvSpPr>
        <p:spPr>
          <a:xfrm>
            <a:off x="3006725" y="22733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74" name="Straight Connector 316473"/>
          <p:cNvSpPr/>
          <p:nvPr/>
        </p:nvSpPr>
        <p:spPr>
          <a:xfrm>
            <a:off x="3540125" y="2959100"/>
            <a:ext cx="0" cy="76200"/>
          </a:xfrm>
          <a:prstGeom prst="line">
            <a:avLst/>
          </a:prstGeom>
          <a:ln w="9525" cap="flat" cmpd="sng">
            <a:solidFill>
              <a:srgbClr val="9900FF"/>
            </a:solidFill>
            <a:prstDash val="solid"/>
            <a:headEnd type="none" w="med" len="med"/>
            <a:tailEnd type="none" w="med" len="med"/>
          </a:ln>
        </p:spPr>
      </p:sp>
      <p:sp>
        <p:nvSpPr>
          <p:cNvPr id="316475" name="Isosceles Triangle 316474"/>
          <p:cNvSpPr/>
          <p:nvPr/>
        </p:nvSpPr>
        <p:spPr>
          <a:xfrm>
            <a:off x="3463925" y="28067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476" name="Rectangles 316475"/>
          <p:cNvSpPr/>
          <p:nvPr/>
        </p:nvSpPr>
        <p:spPr>
          <a:xfrm>
            <a:off x="3352800" y="31242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C</a:t>
            </a:r>
          </a:p>
        </p:txBody>
      </p:sp>
      <p:sp>
        <p:nvSpPr>
          <p:cNvPr id="316477" name="Rectangles 316476"/>
          <p:cNvSpPr/>
          <p:nvPr/>
        </p:nvSpPr>
        <p:spPr>
          <a:xfrm>
            <a:off x="2986088" y="30797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78" name="Isosceles Triangle 316477"/>
          <p:cNvSpPr/>
          <p:nvPr/>
        </p:nvSpPr>
        <p:spPr>
          <a:xfrm rot="-5400000">
            <a:off x="3983038" y="323215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479" name="Straight Connector 316478"/>
          <p:cNvSpPr/>
          <p:nvPr/>
        </p:nvSpPr>
        <p:spPr>
          <a:xfrm>
            <a:off x="3983038" y="1708150"/>
            <a:ext cx="304800" cy="0"/>
          </a:xfrm>
          <a:prstGeom prst="line">
            <a:avLst/>
          </a:prstGeom>
          <a:ln w="9525" cap="flat" cmpd="sng">
            <a:solidFill>
              <a:srgbClr val="9900FF"/>
            </a:solidFill>
            <a:prstDash val="solid"/>
            <a:headEnd type="none" w="med" len="med"/>
            <a:tailEnd type="none" w="med" len="med"/>
          </a:ln>
        </p:spPr>
      </p:sp>
      <p:sp>
        <p:nvSpPr>
          <p:cNvPr id="316480" name="Straight Connector 316479"/>
          <p:cNvSpPr/>
          <p:nvPr/>
        </p:nvSpPr>
        <p:spPr>
          <a:xfrm>
            <a:off x="4135438" y="3308350"/>
            <a:ext cx="152400" cy="0"/>
          </a:xfrm>
          <a:prstGeom prst="line">
            <a:avLst/>
          </a:prstGeom>
          <a:ln w="9525" cap="flat" cmpd="sng">
            <a:solidFill>
              <a:srgbClr val="9900FF"/>
            </a:solidFill>
            <a:prstDash val="solid"/>
            <a:headEnd type="none" w="med" len="med"/>
            <a:tailEnd type="none" w="med" len="med"/>
          </a:ln>
        </p:spPr>
      </p:sp>
      <p:sp>
        <p:nvSpPr>
          <p:cNvPr id="316481" name="Straight Connector 316480"/>
          <p:cNvSpPr/>
          <p:nvPr/>
        </p:nvSpPr>
        <p:spPr>
          <a:xfrm flipV="1">
            <a:off x="4281488" y="1708150"/>
            <a:ext cx="0" cy="1600200"/>
          </a:xfrm>
          <a:prstGeom prst="line">
            <a:avLst/>
          </a:prstGeom>
          <a:ln w="9525" cap="flat" cmpd="sng">
            <a:solidFill>
              <a:srgbClr val="9900FF"/>
            </a:solidFill>
            <a:prstDash val="solid"/>
            <a:headEnd type="none" w="med" len="med"/>
            <a:tailEnd type="none" w="med" len="med"/>
          </a:ln>
        </p:spPr>
      </p:sp>
      <p:sp>
        <p:nvSpPr>
          <p:cNvPr id="316482" name="Rectangles 316481"/>
          <p:cNvSpPr/>
          <p:nvPr/>
        </p:nvSpPr>
        <p:spPr>
          <a:xfrm>
            <a:off x="5284788" y="399415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16483" name="Rectangles 316482"/>
          <p:cNvSpPr/>
          <p:nvPr/>
        </p:nvSpPr>
        <p:spPr>
          <a:xfrm>
            <a:off x="4924425" y="39497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84" name="Straight Connector 316483"/>
          <p:cNvSpPr/>
          <p:nvPr/>
        </p:nvSpPr>
        <p:spPr>
          <a:xfrm>
            <a:off x="5457825" y="4635500"/>
            <a:ext cx="0" cy="76200"/>
          </a:xfrm>
          <a:prstGeom prst="line">
            <a:avLst/>
          </a:prstGeom>
          <a:ln w="9525" cap="flat" cmpd="sng">
            <a:solidFill>
              <a:srgbClr val="9900FF"/>
            </a:solidFill>
            <a:prstDash val="solid"/>
            <a:headEnd type="none" w="med" len="med"/>
            <a:tailEnd type="none" w="med" len="med"/>
          </a:ln>
        </p:spPr>
      </p:sp>
      <p:sp>
        <p:nvSpPr>
          <p:cNvPr id="316485" name="Isosceles Triangle 316484"/>
          <p:cNvSpPr/>
          <p:nvPr/>
        </p:nvSpPr>
        <p:spPr>
          <a:xfrm>
            <a:off x="5381625" y="44831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486" name="Rectangles 316485"/>
          <p:cNvSpPr/>
          <p:nvPr/>
        </p:nvSpPr>
        <p:spPr>
          <a:xfrm>
            <a:off x="5311775" y="47879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16487" name="Rectangles 316486"/>
          <p:cNvSpPr/>
          <p:nvPr/>
        </p:nvSpPr>
        <p:spPr>
          <a:xfrm>
            <a:off x="4945063" y="47434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88" name="Straight Connector 316487"/>
          <p:cNvSpPr/>
          <p:nvPr/>
        </p:nvSpPr>
        <p:spPr>
          <a:xfrm flipH="1">
            <a:off x="5437188" y="5213350"/>
            <a:ext cx="6350" cy="381000"/>
          </a:xfrm>
          <a:prstGeom prst="line">
            <a:avLst/>
          </a:prstGeom>
          <a:ln w="25400" cap="flat" cmpd="sng">
            <a:solidFill>
              <a:srgbClr val="9900FF"/>
            </a:solidFill>
            <a:prstDash val="sysDot"/>
            <a:headEnd type="arrow" w="med" len="med"/>
            <a:tailEnd type="none" w="med" len="med"/>
          </a:ln>
        </p:spPr>
      </p:sp>
      <p:sp>
        <p:nvSpPr>
          <p:cNvPr id="316490" name="Rectangles 316489"/>
          <p:cNvSpPr/>
          <p:nvPr/>
        </p:nvSpPr>
        <p:spPr>
          <a:xfrm>
            <a:off x="5173663" y="5670550"/>
            <a:ext cx="558800" cy="366713"/>
          </a:xfrm>
          <a:prstGeom prst="rect">
            <a:avLst/>
          </a:prstGeom>
          <a:noFill/>
          <a:ln w="9525">
            <a:noFill/>
          </a:ln>
        </p:spPr>
        <p:txBody>
          <a:bodyPr wrap="none" anchor="ctr" anchorCtr="0">
            <a:spAutoFit/>
          </a:bodyPr>
          <a:lstStyle/>
          <a:p>
            <a:pPr algn="ctr"/>
            <a:r>
              <a:rPr sz="1800" u="sng">
                <a:latin typeface="Times New Roman" panose="02020603050405020304" pitchFamily="18" charset="0"/>
              </a:rPr>
              <a:t>c: C</a:t>
            </a:r>
          </a:p>
        </p:txBody>
      </p:sp>
      <p:sp>
        <p:nvSpPr>
          <p:cNvPr id="316491" name="Rectangles 316490"/>
          <p:cNvSpPr/>
          <p:nvPr/>
        </p:nvSpPr>
        <p:spPr>
          <a:xfrm>
            <a:off x="4918075" y="56261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92" name="Isosceles Triangle 316491"/>
          <p:cNvSpPr/>
          <p:nvPr/>
        </p:nvSpPr>
        <p:spPr>
          <a:xfrm rot="-5400000">
            <a:off x="5915025" y="41021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493" name="Straight Connector 316492"/>
          <p:cNvSpPr/>
          <p:nvPr/>
        </p:nvSpPr>
        <p:spPr>
          <a:xfrm>
            <a:off x="5908675" y="5854700"/>
            <a:ext cx="304800" cy="0"/>
          </a:xfrm>
          <a:prstGeom prst="line">
            <a:avLst/>
          </a:prstGeom>
          <a:ln w="9525" cap="flat" cmpd="sng">
            <a:solidFill>
              <a:srgbClr val="9900FF"/>
            </a:solidFill>
            <a:prstDash val="solid"/>
            <a:headEnd type="none" w="med" len="med"/>
            <a:tailEnd type="none" w="med" len="med"/>
          </a:ln>
        </p:spPr>
      </p:sp>
      <p:sp>
        <p:nvSpPr>
          <p:cNvPr id="316494" name="Straight Connector 316493"/>
          <p:cNvSpPr/>
          <p:nvPr/>
        </p:nvSpPr>
        <p:spPr>
          <a:xfrm>
            <a:off x="6067425" y="4178300"/>
            <a:ext cx="152400" cy="0"/>
          </a:xfrm>
          <a:prstGeom prst="line">
            <a:avLst/>
          </a:prstGeom>
          <a:ln w="9525" cap="flat" cmpd="sng">
            <a:solidFill>
              <a:srgbClr val="9900FF"/>
            </a:solidFill>
            <a:prstDash val="solid"/>
            <a:headEnd type="none" w="med" len="med"/>
            <a:tailEnd type="none" w="med" len="med"/>
          </a:ln>
        </p:spPr>
      </p:sp>
      <p:sp>
        <p:nvSpPr>
          <p:cNvPr id="316495" name="Straight Connector 316494"/>
          <p:cNvSpPr/>
          <p:nvPr/>
        </p:nvSpPr>
        <p:spPr>
          <a:xfrm flipV="1">
            <a:off x="6205538" y="4146550"/>
            <a:ext cx="0" cy="1676400"/>
          </a:xfrm>
          <a:prstGeom prst="line">
            <a:avLst/>
          </a:prstGeom>
          <a:ln w="9525" cap="flat" cmpd="sng">
            <a:solidFill>
              <a:srgbClr val="9900FF"/>
            </a:solidFill>
            <a:prstDash val="solid"/>
            <a:headEnd type="none" w="med" len="med"/>
            <a:tailEnd type="none" w="med" len="med"/>
          </a:ln>
        </p:spPr>
      </p:sp>
      <p:sp>
        <p:nvSpPr>
          <p:cNvPr id="316496" name="Rectangles 316495"/>
          <p:cNvSpPr/>
          <p:nvPr/>
        </p:nvSpPr>
        <p:spPr>
          <a:xfrm>
            <a:off x="7543800" y="403860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16497" name="Rectangles 316496"/>
          <p:cNvSpPr/>
          <p:nvPr/>
        </p:nvSpPr>
        <p:spPr>
          <a:xfrm>
            <a:off x="7183438" y="39941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498" name="Straight Connector 316497"/>
          <p:cNvSpPr/>
          <p:nvPr/>
        </p:nvSpPr>
        <p:spPr>
          <a:xfrm>
            <a:off x="7716838" y="4679950"/>
            <a:ext cx="0" cy="76200"/>
          </a:xfrm>
          <a:prstGeom prst="line">
            <a:avLst/>
          </a:prstGeom>
          <a:ln w="9525" cap="flat" cmpd="sng">
            <a:solidFill>
              <a:srgbClr val="9900FF"/>
            </a:solidFill>
            <a:prstDash val="solid"/>
            <a:headEnd type="none" w="med" len="med"/>
            <a:tailEnd type="none" w="med" len="med"/>
          </a:ln>
        </p:spPr>
      </p:sp>
      <p:sp>
        <p:nvSpPr>
          <p:cNvPr id="316499" name="Isosceles Triangle 316498"/>
          <p:cNvSpPr/>
          <p:nvPr/>
        </p:nvSpPr>
        <p:spPr>
          <a:xfrm>
            <a:off x="7640638" y="452755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500" name="Rectangles 316499"/>
          <p:cNvSpPr/>
          <p:nvPr/>
        </p:nvSpPr>
        <p:spPr>
          <a:xfrm>
            <a:off x="7570788" y="483235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16501" name="Rectangles 316500"/>
          <p:cNvSpPr/>
          <p:nvPr/>
        </p:nvSpPr>
        <p:spPr>
          <a:xfrm>
            <a:off x="7204075" y="47879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504" name="Rectangles 316503"/>
          <p:cNvSpPr/>
          <p:nvPr/>
        </p:nvSpPr>
        <p:spPr>
          <a:xfrm>
            <a:off x="7432675" y="5715000"/>
            <a:ext cx="558800" cy="366713"/>
          </a:xfrm>
          <a:prstGeom prst="rect">
            <a:avLst/>
          </a:prstGeom>
          <a:noFill/>
          <a:ln w="9525">
            <a:noFill/>
          </a:ln>
        </p:spPr>
        <p:txBody>
          <a:bodyPr wrap="none" anchor="ctr" anchorCtr="0">
            <a:spAutoFit/>
          </a:bodyPr>
          <a:lstStyle/>
          <a:p>
            <a:pPr algn="ctr"/>
            <a:r>
              <a:rPr sz="1800" u="sng">
                <a:latin typeface="Times New Roman" panose="02020603050405020304" pitchFamily="18" charset="0"/>
              </a:rPr>
              <a:t>c: C</a:t>
            </a:r>
          </a:p>
        </p:txBody>
      </p:sp>
      <p:sp>
        <p:nvSpPr>
          <p:cNvPr id="316505" name="Rectangles 316504"/>
          <p:cNvSpPr/>
          <p:nvPr/>
        </p:nvSpPr>
        <p:spPr>
          <a:xfrm>
            <a:off x="7177088" y="56705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507" name="Straight Connector 316506"/>
          <p:cNvSpPr/>
          <p:nvPr/>
        </p:nvSpPr>
        <p:spPr>
          <a:xfrm>
            <a:off x="8167688" y="5899150"/>
            <a:ext cx="304800" cy="0"/>
          </a:xfrm>
          <a:prstGeom prst="line">
            <a:avLst/>
          </a:prstGeom>
          <a:ln w="28575" cap="flat" cmpd="sng">
            <a:solidFill>
              <a:srgbClr val="9900FF"/>
            </a:solidFill>
            <a:prstDash val="sysDot"/>
            <a:headEnd type="none" w="med" len="med"/>
            <a:tailEnd type="none" w="med" len="med"/>
          </a:ln>
        </p:spPr>
      </p:sp>
      <p:sp>
        <p:nvSpPr>
          <p:cNvPr id="316508" name="Straight Connector 316507"/>
          <p:cNvSpPr/>
          <p:nvPr/>
        </p:nvSpPr>
        <p:spPr>
          <a:xfrm>
            <a:off x="8186738" y="4222750"/>
            <a:ext cx="292100" cy="0"/>
          </a:xfrm>
          <a:prstGeom prst="line">
            <a:avLst/>
          </a:prstGeom>
          <a:ln w="25400" cap="flat" cmpd="sng">
            <a:solidFill>
              <a:srgbClr val="9900FF"/>
            </a:solidFill>
            <a:prstDash val="sysDot"/>
            <a:headEnd type="arrow" w="med" len="med"/>
            <a:tailEnd type="none" w="med" len="med"/>
          </a:ln>
        </p:spPr>
      </p:sp>
      <p:sp>
        <p:nvSpPr>
          <p:cNvPr id="316509" name="Straight Connector 316508"/>
          <p:cNvSpPr/>
          <p:nvPr/>
        </p:nvSpPr>
        <p:spPr>
          <a:xfrm flipH="1" flipV="1">
            <a:off x="8478838" y="4222750"/>
            <a:ext cx="12700" cy="1676400"/>
          </a:xfrm>
          <a:prstGeom prst="line">
            <a:avLst/>
          </a:prstGeom>
          <a:ln w="25400" cap="flat" cmpd="sng">
            <a:solidFill>
              <a:srgbClr val="9900FF"/>
            </a:solidFill>
            <a:prstDash val="sysDot"/>
            <a:headEnd type="none" w="med" len="med"/>
            <a:tailEnd type="none" w="med" len="med"/>
          </a:ln>
        </p:spPr>
      </p:sp>
      <p:sp>
        <p:nvSpPr>
          <p:cNvPr id="316510" name="Text Box 316509"/>
          <p:cNvSpPr txBox="1"/>
          <p:nvPr/>
        </p:nvSpPr>
        <p:spPr>
          <a:xfrm>
            <a:off x="4495800" y="5257800"/>
            <a:ext cx="1447800" cy="304800"/>
          </a:xfrm>
          <a:prstGeom prst="rect">
            <a:avLst/>
          </a:prstGeom>
          <a:noFill/>
          <a:ln w="9525">
            <a:noFill/>
          </a:ln>
        </p:spPr>
        <p:txBody>
          <a:bodyPr>
            <a:spAutoFit/>
          </a:bodyPr>
          <a:lstStyle/>
          <a:p>
            <a:r>
              <a:rPr sz="1400">
                <a:solidFill>
                  <a:srgbClr val="9900FF"/>
                </a:solidFill>
                <a:latin typeface="Times New Roman" panose="02020603050405020304" pitchFamily="18" charset="0"/>
              </a:rPr>
              <a:t>&lt;&lt;instanceOf&gt;&gt;</a:t>
            </a:r>
          </a:p>
        </p:txBody>
      </p:sp>
      <p:sp>
        <p:nvSpPr>
          <p:cNvPr id="316511" name="Straight Connector 316510"/>
          <p:cNvSpPr/>
          <p:nvPr/>
        </p:nvSpPr>
        <p:spPr>
          <a:xfrm flipH="1">
            <a:off x="7723188" y="5289550"/>
            <a:ext cx="6350" cy="381000"/>
          </a:xfrm>
          <a:prstGeom prst="line">
            <a:avLst/>
          </a:prstGeom>
          <a:ln w="25400" cap="flat" cmpd="sng">
            <a:solidFill>
              <a:srgbClr val="9900FF"/>
            </a:solidFill>
            <a:prstDash val="sysDot"/>
            <a:headEnd type="arrow" w="med" len="med"/>
            <a:tailEnd type="none" w="med" len="med"/>
          </a:ln>
        </p:spPr>
      </p:sp>
      <p:sp>
        <p:nvSpPr>
          <p:cNvPr id="316512" name="Text Box 316511"/>
          <p:cNvSpPr txBox="1"/>
          <p:nvPr/>
        </p:nvSpPr>
        <p:spPr>
          <a:xfrm>
            <a:off x="6705600" y="5334000"/>
            <a:ext cx="1447800" cy="304800"/>
          </a:xfrm>
          <a:prstGeom prst="rect">
            <a:avLst/>
          </a:prstGeom>
          <a:noFill/>
          <a:ln w="9525">
            <a:noFill/>
          </a:ln>
        </p:spPr>
        <p:txBody>
          <a:bodyPr>
            <a:spAutoFit/>
          </a:bodyPr>
          <a:lstStyle/>
          <a:p>
            <a:r>
              <a:rPr sz="1400">
                <a:solidFill>
                  <a:srgbClr val="9900FF"/>
                </a:solidFill>
                <a:latin typeface="Times New Roman" panose="02020603050405020304" pitchFamily="18" charset="0"/>
              </a:rPr>
              <a:t>&lt;&lt;instanceOf&gt;&gt;</a:t>
            </a:r>
          </a:p>
        </p:txBody>
      </p:sp>
      <p:sp>
        <p:nvSpPr>
          <p:cNvPr id="316513" name="Isosceles Triangle 316512"/>
          <p:cNvSpPr/>
          <p:nvPr/>
        </p:nvSpPr>
        <p:spPr>
          <a:xfrm rot="-5400000">
            <a:off x="1752600" y="25146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514" name="Straight Connector 316513"/>
          <p:cNvSpPr/>
          <p:nvPr/>
        </p:nvSpPr>
        <p:spPr>
          <a:xfrm>
            <a:off x="1758950" y="1752600"/>
            <a:ext cx="304800" cy="0"/>
          </a:xfrm>
          <a:prstGeom prst="line">
            <a:avLst/>
          </a:prstGeom>
          <a:ln w="9525" cap="flat" cmpd="sng">
            <a:solidFill>
              <a:srgbClr val="9900FF"/>
            </a:solidFill>
            <a:prstDash val="solid"/>
            <a:headEnd type="none" w="med" len="med"/>
            <a:tailEnd type="none" w="med" len="med"/>
          </a:ln>
        </p:spPr>
      </p:sp>
      <p:sp>
        <p:nvSpPr>
          <p:cNvPr id="316515" name="Straight Connector 316514"/>
          <p:cNvSpPr/>
          <p:nvPr/>
        </p:nvSpPr>
        <p:spPr>
          <a:xfrm>
            <a:off x="1905000" y="2590800"/>
            <a:ext cx="152400" cy="0"/>
          </a:xfrm>
          <a:prstGeom prst="line">
            <a:avLst/>
          </a:prstGeom>
          <a:ln w="9525" cap="flat" cmpd="sng">
            <a:solidFill>
              <a:srgbClr val="9900FF"/>
            </a:solidFill>
            <a:prstDash val="solid"/>
            <a:headEnd type="none" w="med" len="med"/>
            <a:tailEnd type="none" w="med" len="med"/>
          </a:ln>
        </p:spPr>
      </p:sp>
      <p:sp>
        <p:nvSpPr>
          <p:cNvPr id="316516" name="Straight Connector 316515"/>
          <p:cNvSpPr/>
          <p:nvPr/>
        </p:nvSpPr>
        <p:spPr>
          <a:xfrm flipV="1">
            <a:off x="2057400" y="1752600"/>
            <a:ext cx="0" cy="838200"/>
          </a:xfrm>
          <a:prstGeom prst="line">
            <a:avLst/>
          </a:prstGeom>
          <a:ln w="9525" cap="flat" cmpd="sng">
            <a:solidFill>
              <a:srgbClr val="9900FF"/>
            </a:solidFill>
            <a:prstDash val="solid"/>
            <a:headEnd type="none" w="med" len="med"/>
            <a:tailEnd type="none" w="med" len="med"/>
          </a:ln>
        </p:spPr>
      </p:sp>
      <p:sp>
        <p:nvSpPr>
          <p:cNvPr id="316517" name="Rectangles 316516"/>
          <p:cNvSpPr/>
          <p:nvPr/>
        </p:nvSpPr>
        <p:spPr>
          <a:xfrm>
            <a:off x="811213" y="400685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16518" name="Rectangles 316517"/>
          <p:cNvSpPr/>
          <p:nvPr/>
        </p:nvSpPr>
        <p:spPr>
          <a:xfrm>
            <a:off x="450850" y="39624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519" name="Straight Connector 316518"/>
          <p:cNvSpPr/>
          <p:nvPr/>
        </p:nvSpPr>
        <p:spPr>
          <a:xfrm>
            <a:off x="984250" y="4648200"/>
            <a:ext cx="0" cy="76200"/>
          </a:xfrm>
          <a:prstGeom prst="line">
            <a:avLst/>
          </a:prstGeom>
          <a:ln w="9525" cap="flat" cmpd="sng">
            <a:solidFill>
              <a:srgbClr val="9900FF"/>
            </a:solidFill>
            <a:prstDash val="solid"/>
            <a:headEnd type="none" w="med" len="med"/>
            <a:tailEnd type="none" w="med" len="med"/>
          </a:ln>
        </p:spPr>
      </p:sp>
      <p:sp>
        <p:nvSpPr>
          <p:cNvPr id="316520" name="Isosceles Triangle 316519"/>
          <p:cNvSpPr/>
          <p:nvPr/>
        </p:nvSpPr>
        <p:spPr>
          <a:xfrm>
            <a:off x="908050" y="44958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521" name="Rectangles 316520"/>
          <p:cNvSpPr/>
          <p:nvPr/>
        </p:nvSpPr>
        <p:spPr>
          <a:xfrm>
            <a:off x="838200" y="48006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16522" name="Rectangles 316521"/>
          <p:cNvSpPr/>
          <p:nvPr/>
        </p:nvSpPr>
        <p:spPr>
          <a:xfrm>
            <a:off x="471488" y="47561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524" name="Straight Connector 316523"/>
          <p:cNvSpPr/>
          <p:nvPr/>
        </p:nvSpPr>
        <p:spPr>
          <a:xfrm>
            <a:off x="1482725" y="4203700"/>
            <a:ext cx="304800" cy="0"/>
          </a:xfrm>
          <a:prstGeom prst="line">
            <a:avLst/>
          </a:prstGeom>
          <a:ln w="25400" cap="flat" cmpd="sng">
            <a:solidFill>
              <a:srgbClr val="9900FF"/>
            </a:solidFill>
            <a:prstDash val="sysDot"/>
            <a:headEnd type="none" w="med" len="med"/>
            <a:tailEnd type="none" w="med" len="med"/>
          </a:ln>
        </p:spPr>
      </p:sp>
      <p:sp>
        <p:nvSpPr>
          <p:cNvPr id="316526" name="Straight Connector 316525"/>
          <p:cNvSpPr/>
          <p:nvPr/>
        </p:nvSpPr>
        <p:spPr>
          <a:xfrm flipV="1">
            <a:off x="1781175" y="4203700"/>
            <a:ext cx="0" cy="838200"/>
          </a:xfrm>
          <a:prstGeom prst="line">
            <a:avLst/>
          </a:prstGeom>
          <a:ln w="25400" cap="flat" cmpd="sng">
            <a:solidFill>
              <a:srgbClr val="9900FF"/>
            </a:solidFill>
            <a:prstDash val="sysDot"/>
            <a:headEnd type="none" w="med" len="med"/>
            <a:tailEnd type="none" w="med" len="med"/>
          </a:ln>
        </p:spPr>
      </p:sp>
      <p:sp>
        <p:nvSpPr>
          <p:cNvPr id="316527" name="Text Box 316526"/>
          <p:cNvSpPr txBox="1"/>
          <p:nvPr/>
        </p:nvSpPr>
        <p:spPr>
          <a:xfrm>
            <a:off x="1066800" y="4495800"/>
            <a:ext cx="1447800" cy="304800"/>
          </a:xfrm>
          <a:prstGeom prst="rect">
            <a:avLst/>
          </a:prstGeom>
          <a:noFill/>
          <a:ln w="9525">
            <a:noFill/>
          </a:ln>
        </p:spPr>
        <p:txBody>
          <a:bodyPr>
            <a:spAutoFit/>
          </a:bodyPr>
          <a:lstStyle/>
          <a:p>
            <a:r>
              <a:rPr sz="1400">
                <a:solidFill>
                  <a:srgbClr val="9900FF"/>
                </a:solidFill>
                <a:latin typeface="Times New Roman" panose="02020603050405020304" pitchFamily="18" charset="0"/>
              </a:rPr>
              <a:t>&lt;&lt;instanceOf&gt;&gt;</a:t>
            </a:r>
          </a:p>
        </p:txBody>
      </p:sp>
      <p:sp>
        <p:nvSpPr>
          <p:cNvPr id="316537" name="Rectangles 316536"/>
          <p:cNvSpPr/>
          <p:nvPr/>
        </p:nvSpPr>
        <p:spPr>
          <a:xfrm>
            <a:off x="3021013" y="415925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16538" name="Rectangles 316537"/>
          <p:cNvSpPr/>
          <p:nvPr/>
        </p:nvSpPr>
        <p:spPr>
          <a:xfrm>
            <a:off x="2660650" y="41148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539" name="Straight Connector 316538"/>
          <p:cNvSpPr/>
          <p:nvPr/>
        </p:nvSpPr>
        <p:spPr>
          <a:xfrm>
            <a:off x="3194050" y="4800600"/>
            <a:ext cx="0" cy="76200"/>
          </a:xfrm>
          <a:prstGeom prst="line">
            <a:avLst/>
          </a:prstGeom>
          <a:ln w="9525" cap="flat" cmpd="sng">
            <a:solidFill>
              <a:srgbClr val="9900FF"/>
            </a:solidFill>
            <a:prstDash val="solid"/>
            <a:headEnd type="none" w="med" len="med"/>
            <a:tailEnd type="none" w="med" len="med"/>
          </a:ln>
        </p:spPr>
      </p:sp>
      <p:sp>
        <p:nvSpPr>
          <p:cNvPr id="316540" name="Isosceles Triangle 316539"/>
          <p:cNvSpPr/>
          <p:nvPr/>
        </p:nvSpPr>
        <p:spPr>
          <a:xfrm>
            <a:off x="3117850" y="46482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6541" name="Rectangles 316540"/>
          <p:cNvSpPr/>
          <p:nvPr/>
        </p:nvSpPr>
        <p:spPr>
          <a:xfrm>
            <a:off x="3048000" y="49530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16542" name="Rectangles 316541"/>
          <p:cNvSpPr/>
          <p:nvPr/>
        </p:nvSpPr>
        <p:spPr>
          <a:xfrm>
            <a:off x="2681288" y="49085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6543" name="Straight Connector 316542"/>
          <p:cNvSpPr/>
          <p:nvPr/>
        </p:nvSpPr>
        <p:spPr>
          <a:xfrm>
            <a:off x="3692525" y="4356100"/>
            <a:ext cx="304800" cy="0"/>
          </a:xfrm>
          <a:prstGeom prst="line">
            <a:avLst/>
          </a:prstGeom>
          <a:ln w="25400" cap="flat" cmpd="sng">
            <a:solidFill>
              <a:srgbClr val="9900FF"/>
            </a:solidFill>
            <a:prstDash val="sysDot"/>
            <a:headEnd type="arrow" w="med" len="med"/>
            <a:tailEnd type="none" w="med" len="med"/>
          </a:ln>
        </p:spPr>
      </p:sp>
      <p:sp>
        <p:nvSpPr>
          <p:cNvPr id="316544" name="Straight Connector 316543"/>
          <p:cNvSpPr/>
          <p:nvPr/>
        </p:nvSpPr>
        <p:spPr>
          <a:xfrm>
            <a:off x="3657600" y="5181600"/>
            <a:ext cx="333375" cy="12700"/>
          </a:xfrm>
          <a:prstGeom prst="line">
            <a:avLst/>
          </a:prstGeom>
          <a:ln w="9525" cap="flat" cmpd="sng">
            <a:solidFill>
              <a:srgbClr val="9900FF"/>
            </a:solidFill>
            <a:prstDash val="dash"/>
            <a:headEnd type="none" w="med" len="med"/>
            <a:tailEnd type="none" w="med" len="med"/>
          </a:ln>
        </p:spPr>
      </p:sp>
      <p:sp>
        <p:nvSpPr>
          <p:cNvPr id="316545" name="Straight Connector 316544"/>
          <p:cNvSpPr/>
          <p:nvPr/>
        </p:nvSpPr>
        <p:spPr>
          <a:xfrm flipV="1">
            <a:off x="3990975" y="4356100"/>
            <a:ext cx="0" cy="838200"/>
          </a:xfrm>
          <a:prstGeom prst="line">
            <a:avLst/>
          </a:prstGeom>
          <a:ln w="25400" cap="flat" cmpd="sng">
            <a:solidFill>
              <a:srgbClr val="9900FF"/>
            </a:solidFill>
            <a:prstDash val="sysDot"/>
            <a:headEnd type="none" w="med" len="med"/>
            <a:tailEnd type="none" w="med" len="med"/>
          </a:ln>
        </p:spPr>
      </p:sp>
      <p:sp>
        <p:nvSpPr>
          <p:cNvPr id="316546" name="Text Box 316545"/>
          <p:cNvSpPr txBox="1"/>
          <p:nvPr/>
        </p:nvSpPr>
        <p:spPr>
          <a:xfrm>
            <a:off x="3276600" y="4648200"/>
            <a:ext cx="1447800" cy="304800"/>
          </a:xfrm>
          <a:prstGeom prst="rect">
            <a:avLst/>
          </a:prstGeom>
          <a:noFill/>
          <a:ln w="9525">
            <a:noFill/>
          </a:ln>
        </p:spPr>
        <p:txBody>
          <a:bodyPr>
            <a:spAutoFit/>
          </a:bodyPr>
          <a:lstStyle/>
          <a:p>
            <a:r>
              <a:rPr sz="1400">
                <a:solidFill>
                  <a:srgbClr val="9900FF"/>
                </a:solidFill>
                <a:latin typeface="Times New Roman" panose="02020603050405020304" pitchFamily="18" charset="0"/>
              </a:rPr>
              <a:t>&lt;&lt;instanceOf&gt;&gt;</a:t>
            </a:r>
          </a:p>
        </p:txBody>
      </p:sp>
      <p:sp>
        <p:nvSpPr>
          <p:cNvPr id="316547" name="Straight Connector 316546"/>
          <p:cNvSpPr/>
          <p:nvPr/>
        </p:nvSpPr>
        <p:spPr>
          <a:xfrm>
            <a:off x="1447800" y="5029200"/>
            <a:ext cx="304800" cy="0"/>
          </a:xfrm>
          <a:prstGeom prst="line">
            <a:avLst/>
          </a:prstGeom>
          <a:ln w="25400" cap="flat" cmpd="sng">
            <a:solidFill>
              <a:srgbClr val="9900FF"/>
            </a:solidFill>
            <a:prstDash val="sysDot"/>
            <a:headEnd type="arrow" w="med" len="med"/>
            <a:tailEnd type="none" w="med" len="med"/>
          </a:ln>
        </p:spPr>
      </p:sp>
      <p:pic>
        <p:nvPicPr>
          <p:cNvPr id="3" name="Picture 2">
            <a:extLst>
              <a:ext uri="{FF2B5EF4-FFF2-40B4-BE49-F238E27FC236}">
                <a16:creationId xmlns:a16="http://schemas.microsoft.com/office/drawing/2014/main" id="{02897361-3A7F-CC61-5C66-BE19246018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939EDCE2-FA59-C93C-B0BE-71FF91C3DF65}"/>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CFCB17D-4022-E6AF-E204-CE02600437A3}"/>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18</a:t>
            </a:fld>
            <a:endParaRPr lang="en-US">
              <a:latin typeface="Arial" panose="020B0604020202020204" pitchFamily="34" charset="0"/>
            </a:endParaRPr>
          </a:p>
        </p:txBody>
      </p:sp>
      <p:sp>
        <p:nvSpPr>
          <p:cNvPr id="326658" name="Rectangles 326657"/>
          <p:cNvSpPr/>
          <p:nvPr/>
        </p:nvSpPr>
        <p:spPr>
          <a:xfrm>
            <a:off x="0" y="0"/>
            <a:ext cx="7315200" cy="1143000"/>
          </a:xfrm>
          <a:prstGeom prst="rect">
            <a:avLst/>
          </a:prstGeom>
          <a:noFill/>
          <a:ln w="9525">
            <a:noFill/>
          </a:ln>
        </p:spPr>
        <p:txBody>
          <a:bodyPr anchor="ctr" anchorCtr="0"/>
          <a:lstStyle/>
          <a:p>
            <a:pPr algn="ctr">
              <a:spcBef>
                <a:spcPct val="0"/>
              </a:spcBef>
            </a:pPr>
            <a:r>
              <a:rPr dirty="0">
                <a:solidFill>
                  <a:schemeClr val="tx2"/>
                </a:solidFill>
                <a:latin typeface="Arial" panose="020B0604020202020204" pitchFamily="34" charset="0"/>
              </a:rPr>
              <a:t>What is Object-Orientation </a:t>
            </a:r>
          </a:p>
          <a:p>
            <a:pPr algn="ctr">
              <a:spcBef>
                <a:spcPct val="0"/>
              </a:spcBef>
            </a:pPr>
            <a:r>
              <a:rPr dirty="0">
                <a:solidFill>
                  <a:schemeClr val="tx2"/>
                </a:solidFill>
                <a:latin typeface="Arial" panose="020B0604020202020204" pitchFamily="34" charset="0"/>
              </a:rPr>
              <a:t>- Subclass vs. Superclass and …</a:t>
            </a:r>
          </a:p>
        </p:txBody>
      </p:sp>
      <p:sp>
        <p:nvSpPr>
          <p:cNvPr id="326706" name="Rectangles 326705"/>
          <p:cNvSpPr/>
          <p:nvPr/>
        </p:nvSpPr>
        <p:spPr>
          <a:xfrm>
            <a:off x="4267200" y="152400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26707" name="Rectangles 326706"/>
          <p:cNvSpPr/>
          <p:nvPr/>
        </p:nvSpPr>
        <p:spPr>
          <a:xfrm>
            <a:off x="3906838" y="14795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08" name="Straight Connector 326707"/>
          <p:cNvSpPr/>
          <p:nvPr/>
        </p:nvSpPr>
        <p:spPr>
          <a:xfrm>
            <a:off x="4419600" y="3048000"/>
            <a:ext cx="0" cy="152400"/>
          </a:xfrm>
          <a:prstGeom prst="line">
            <a:avLst/>
          </a:prstGeom>
          <a:ln w="9525" cap="flat" cmpd="sng">
            <a:solidFill>
              <a:srgbClr val="9900FF"/>
            </a:solidFill>
            <a:prstDash val="solid"/>
            <a:headEnd type="none" w="med" len="med"/>
            <a:tailEnd type="none" w="med" len="med"/>
          </a:ln>
        </p:spPr>
      </p:sp>
      <p:sp>
        <p:nvSpPr>
          <p:cNvPr id="326709" name="Isosceles Triangle 326708"/>
          <p:cNvSpPr/>
          <p:nvPr/>
        </p:nvSpPr>
        <p:spPr>
          <a:xfrm>
            <a:off x="4343400" y="28956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26710" name="Rectangles 326709"/>
          <p:cNvSpPr/>
          <p:nvPr/>
        </p:nvSpPr>
        <p:spPr>
          <a:xfrm>
            <a:off x="4294188" y="239395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26711" name="Rectangles 326710"/>
          <p:cNvSpPr/>
          <p:nvPr/>
        </p:nvSpPr>
        <p:spPr>
          <a:xfrm>
            <a:off x="3927475" y="23495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12" name="Rectangles 326711"/>
          <p:cNvSpPr/>
          <p:nvPr/>
        </p:nvSpPr>
        <p:spPr>
          <a:xfrm>
            <a:off x="4225925" y="32766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C</a:t>
            </a:r>
          </a:p>
        </p:txBody>
      </p:sp>
      <p:sp>
        <p:nvSpPr>
          <p:cNvPr id="326713" name="Rectangles 326712"/>
          <p:cNvSpPr/>
          <p:nvPr/>
        </p:nvSpPr>
        <p:spPr>
          <a:xfrm>
            <a:off x="3886200" y="32004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14" name="Straight Connector 326713"/>
          <p:cNvSpPr/>
          <p:nvPr/>
        </p:nvSpPr>
        <p:spPr>
          <a:xfrm>
            <a:off x="4891088" y="3460750"/>
            <a:ext cx="304800" cy="0"/>
          </a:xfrm>
          <a:prstGeom prst="line">
            <a:avLst/>
          </a:prstGeom>
          <a:ln w="28575" cap="flat" cmpd="sng">
            <a:solidFill>
              <a:srgbClr val="9900FF"/>
            </a:solidFill>
            <a:prstDash val="sysDot"/>
            <a:headEnd type="none" w="med" len="med"/>
            <a:tailEnd type="none" w="med" len="med"/>
          </a:ln>
        </p:spPr>
      </p:sp>
      <p:sp>
        <p:nvSpPr>
          <p:cNvPr id="326715" name="Straight Connector 326714"/>
          <p:cNvSpPr/>
          <p:nvPr/>
        </p:nvSpPr>
        <p:spPr>
          <a:xfrm>
            <a:off x="4910138" y="1784350"/>
            <a:ext cx="292100" cy="0"/>
          </a:xfrm>
          <a:prstGeom prst="line">
            <a:avLst/>
          </a:prstGeom>
          <a:ln w="25400" cap="flat" cmpd="sng">
            <a:solidFill>
              <a:srgbClr val="9900FF"/>
            </a:solidFill>
            <a:prstDash val="sysDot"/>
            <a:headEnd type="arrow" w="med" len="med"/>
            <a:tailEnd type="none" w="med" len="med"/>
          </a:ln>
        </p:spPr>
      </p:sp>
      <p:sp>
        <p:nvSpPr>
          <p:cNvPr id="326716" name="Straight Connector 326715"/>
          <p:cNvSpPr/>
          <p:nvPr/>
        </p:nvSpPr>
        <p:spPr>
          <a:xfrm flipH="1" flipV="1">
            <a:off x="5202238" y="1784350"/>
            <a:ext cx="12700" cy="1676400"/>
          </a:xfrm>
          <a:prstGeom prst="line">
            <a:avLst/>
          </a:prstGeom>
          <a:ln w="25400" cap="flat" cmpd="sng">
            <a:solidFill>
              <a:srgbClr val="9900FF"/>
            </a:solidFill>
            <a:prstDash val="sysDot"/>
            <a:headEnd type="none" w="med" len="med"/>
            <a:tailEnd type="none" w="med" len="med"/>
          </a:ln>
        </p:spPr>
      </p:sp>
      <p:sp>
        <p:nvSpPr>
          <p:cNvPr id="326718" name="Straight Connector 326717"/>
          <p:cNvSpPr/>
          <p:nvPr/>
        </p:nvSpPr>
        <p:spPr>
          <a:xfrm flipH="1">
            <a:off x="4446588" y="2012950"/>
            <a:ext cx="6350" cy="381000"/>
          </a:xfrm>
          <a:prstGeom prst="line">
            <a:avLst/>
          </a:prstGeom>
          <a:ln w="25400" cap="flat" cmpd="sng">
            <a:solidFill>
              <a:srgbClr val="9900FF"/>
            </a:solidFill>
            <a:prstDash val="sysDot"/>
            <a:headEnd type="arrow" w="med" len="med"/>
            <a:tailEnd type="none" w="med" len="med"/>
          </a:ln>
        </p:spPr>
      </p:sp>
      <p:sp>
        <p:nvSpPr>
          <p:cNvPr id="326719" name="Text Box 326718"/>
          <p:cNvSpPr txBox="1"/>
          <p:nvPr/>
        </p:nvSpPr>
        <p:spPr>
          <a:xfrm>
            <a:off x="3429000" y="2057400"/>
            <a:ext cx="1447800" cy="304800"/>
          </a:xfrm>
          <a:prstGeom prst="rect">
            <a:avLst/>
          </a:prstGeom>
          <a:noFill/>
          <a:ln w="9525">
            <a:noFill/>
          </a:ln>
        </p:spPr>
        <p:txBody>
          <a:bodyPr>
            <a:spAutoFit/>
          </a:bodyPr>
          <a:lstStyle/>
          <a:p>
            <a:r>
              <a:rPr sz="1400">
                <a:solidFill>
                  <a:srgbClr val="9900FF"/>
                </a:solidFill>
                <a:latin typeface="Times New Roman" panose="02020603050405020304" pitchFamily="18" charset="0"/>
              </a:rPr>
              <a:t>&lt;&lt;instanceOf&gt;&gt;</a:t>
            </a:r>
          </a:p>
        </p:txBody>
      </p:sp>
      <p:sp>
        <p:nvSpPr>
          <p:cNvPr id="326744" name="Rectangles 326743"/>
          <p:cNvSpPr/>
          <p:nvPr/>
        </p:nvSpPr>
        <p:spPr>
          <a:xfrm>
            <a:off x="762000" y="152400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26745" name="Rectangles 326744"/>
          <p:cNvSpPr/>
          <p:nvPr/>
        </p:nvSpPr>
        <p:spPr>
          <a:xfrm>
            <a:off x="401638" y="14795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48" name="Rectangles 326747"/>
          <p:cNvSpPr/>
          <p:nvPr/>
        </p:nvSpPr>
        <p:spPr>
          <a:xfrm>
            <a:off x="815975" y="24257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26749" name="Rectangles 326748"/>
          <p:cNvSpPr/>
          <p:nvPr/>
        </p:nvSpPr>
        <p:spPr>
          <a:xfrm>
            <a:off x="449263" y="23812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50" name="Straight Connector 326749"/>
          <p:cNvSpPr/>
          <p:nvPr/>
        </p:nvSpPr>
        <p:spPr>
          <a:xfrm flipH="1">
            <a:off x="941388" y="2851150"/>
            <a:ext cx="6350" cy="381000"/>
          </a:xfrm>
          <a:prstGeom prst="line">
            <a:avLst/>
          </a:prstGeom>
          <a:ln w="25400" cap="flat" cmpd="sng">
            <a:solidFill>
              <a:srgbClr val="9900FF"/>
            </a:solidFill>
            <a:prstDash val="sysDot"/>
            <a:headEnd type="arrow" w="med" len="med"/>
            <a:tailEnd type="none" w="med" len="med"/>
          </a:ln>
        </p:spPr>
      </p:sp>
      <p:sp>
        <p:nvSpPr>
          <p:cNvPr id="326751" name="Rectangles 326750"/>
          <p:cNvSpPr/>
          <p:nvPr/>
        </p:nvSpPr>
        <p:spPr>
          <a:xfrm>
            <a:off x="677863" y="3308350"/>
            <a:ext cx="558800" cy="366713"/>
          </a:xfrm>
          <a:prstGeom prst="rect">
            <a:avLst/>
          </a:prstGeom>
          <a:noFill/>
          <a:ln w="9525">
            <a:noFill/>
          </a:ln>
        </p:spPr>
        <p:txBody>
          <a:bodyPr wrap="none" anchor="ctr" anchorCtr="0">
            <a:spAutoFit/>
          </a:bodyPr>
          <a:lstStyle/>
          <a:p>
            <a:pPr algn="ctr"/>
            <a:r>
              <a:rPr sz="1800" u="sng">
                <a:latin typeface="Times New Roman" panose="02020603050405020304" pitchFamily="18" charset="0"/>
              </a:rPr>
              <a:t>c: C</a:t>
            </a:r>
          </a:p>
        </p:txBody>
      </p:sp>
      <p:sp>
        <p:nvSpPr>
          <p:cNvPr id="326752" name="Rectangles 326751"/>
          <p:cNvSpPr/>
          <p:nvPr/>
        </p:nvSpPr>
        <p:spPr>
          <a:xfrm>
            <a:off x="422275" y="32639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53" name="Isosceles Triangle 326752"/>
          <p:cNvSpPr/>
          <p:nvPr/>
        </p:nvSpPr>
        <p:spPr>
          <a:xfrm rot="-5400000">
            <a:off x="1392238" y="163195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26754" name="Straight Connector 326753"/>
          <p:cNvSpPr/>
          <p:nvPr/>
        </p:nvSpPr>
        <p:spPr>
          <a:xfrm>
            <a:off x="1412875" y="3492500"/>
            <a:ext cx="304800" cy="0"/>
          </a:xfrm>
          <a:prstGeom prst="line">
            <a:avLst/>
          </a:prstGeom>
          <a:ln w="9525" cap="flat" cmpd="sng">
            <a:solidFill>
              <a:srgbClr val="9900FF"/>
            </a:solidFill>
            <a:prstDash val="solid"/>
            <a:headEnd type="none" w="med" len="med"/>
            <a:tailEnd type="none" w="med" len="med"/>
          </a:ln>
        </p:spPr>
      </p:sp>
      <p:sp>
        <p:nvSpPr>
          <p:cNvPr id="326755" name="Straight Connector 326754"/>
          <p:cNvSpPr/>
          <p:nvPr/>
        </p:nvSpPr>
        <p:spPr>
          <a:xfrm>
            <a:off x="1544638" y="1708150"/>
            <a:ext cx="152400" cy="0"/>
          </a:xfrm>
          <a:prstGeom prst="line">
            <a:avLst/>
          </a:prstGeom>
          <a:ln w="9525" cap="flat" cmpd="sng">
            <a:solidFill>
              <a:srgbClr val="9900FF"/>
            </a:solidFill>
            <a:prstDash val="solid"/>
            <a:headEnd type="none" w="med" len="med"/>
            <a:tailEnd type="none" w="med" len="med"/>
          </a:ln>
        </p:spPr>
      </p:sp>
      <p:sp>
        <p:nvSpPr>
          <p:cNvPr id="326756" name="Straight Connector 326755"/>
          <p:cNvSpPr/>
          <p:nvPr/>
        </p:nvSpPr>
        <p:spPr>
          <a:xfrm flipH="1" flipV="1">
            <a:off x="1676400" y="1676400"/>
            <a:ext cx="33338" cy="1784350"/>
          </a:xfrm>
          <a:prstGeom prst="line">
            <a:avLst/>
          </a:prstGeom>
          <a:ln w="9525" cap="flat" cmpd="sng">
            <a:solidFill>
              <a:srgbClr val="9900FF"/>
            </a:solidFill>
            <a:prstDash val="solid"/>
            <a:headEnd type="none" w="med" len="med"/>
            <a:tailEnd type="none" w="med" len="med"/>
          </a:ln>
        </p:spPr>
      </p:sp>
      <p:sp>
        <p:nvSpPr>
          <p:cNvPr id="326757" name="Text Box 326756"/>
          <p:cNvSpPr txBox="1"/>
          <p:nvPr/>
        </p:nvSpPr>
        <p:spPr>
          <a:xfrm>
            <a:off x="0" y="2895600"/>
            <a:ext cx="1447800" cy="304800"/>
          </a:xfrm>
          <a:prstGeom prst="rect">
            <a:avLst/>
          </a:prstGeom>
          <a:noFill/>
          <a:ln w="9525">
            <a:noFill/>
          </a:ln>
        </p:spPr>
        <p:txBody>
          <a:bodyPr>
            <a:spAutoFit/>
          </a:bodyPr>
          <a:lstStyle/>
          <a:p>
            <a:r>
              <a:rPr sz="1400">
                <a:solidFill>
                  <a:srgbClr val="9900FF"/>
                </a:solidFill>
                <a:latin typeface="Times New Roman" panose="02020603050405020304" pitchFamily="18" charset="0"/>
              </a:rPr>
              <a:t>&lt;&lt;instanceOf&gt;&gt;</a:t>
            </a:r>
          </a:p>
        </p:txBody>
      </p:sp>
      <p:sp>
        <p:nvSpPr>
          <p:cNvPr id="326758" name="Straight Connector 326757"/>
          <p:cNvSpPr/>
          <p:nvPr/>
        </p:nvSpPr>
        <p:spPr>
          <a:xfrm flipH="1">
            <a:off x="941388" y="2012950"/>
            <a:ext cx="6350" cy="381000"/>
          </a:xfrm>
          <a:prstGeom prst="line">
            <a:avLst/>
          </a:prstGeom>
          <a:ln w="25400" cap="flat" cmpd="sng">
            <a:solidFill>
              <a:srgbClr val="9900FF"/>
            </a:solidFill>
            <a:prstDash val="sysDot"/>
            <a:headEnd type="arrow" w="med" len="med"/>
            <a:tailEnd type="none" w="med" len="med"/>
          </a:ln>
        </p:spPr>
      </p:sp>
      <p:sp>
        <p:nvSpPr>
          <p:cNvPr id="326759" name="Text Box 326758"/>
          <p:cNvSpPr txBox="1"/>
          <p:nvPr/>
        </p:nvSpPr>
        <p:spPr>
          <a:xfrm>
            <a:off x="0" y="2057400"/>
            <a:ext cx="1447800" cy="304800"/>
          </a:xfrm>
          <a:prstGeom prst="rect">
            <a:avLst/>
          </a:prstGeom>
          <a:noFill/>
          <a:ln w="9525">
            <a:noFill/>
          </a:ln>
        </p:spPr>
        <p:txBody>
          <a:bodyPr>
            <a:spAutoFit/>
          </a:bodyPr>
          <a:lstStyle/>
          <a:p>
            <a:r>
              <a:rPr sz="1400">
                <a:solidFill>
                  <a:srgbClr val="9900FF"/>
                </a:solidFill>
                <a:latin typeface="Times New Roman" panose="02020603050405020304" pitchFamily="18" charset="0"/>
              </a:rPr>
              <a:t>&lt;&lt;instanceOf&gt;&gt;</a:t>
            </a:r>
          </a:p>
        </p:txBody>
      </p:sp>
      <p:sp>
        <p:nvSpPr>
          <p:cNvPr id="326760" name="Rectangles 326759"/>
          <p:cNvSpPr/>
          <p:nvPr/>
        </p:nvSpPr>
        <p:spPr>
          <a:xfrm>
            <a:off x="2460625" y="153670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26761" name="Rectangles 326760"/>
          <p:cNvSpPr/>
          <p:nvPr/>
        </p:nvSpPr>
        <p:spPr>
          <a:xfrm>
            <a:off x="2100263" y="14922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62" name="Rectangles 326761"/>
          <p:cNvSpPr/>
          <p:nvPr/>
        </p:nvSpPr>
        <p:spPr>
          <a:xfrm>
            <a:off x="2514600" y="24384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26763" name="Rectangles 326762"/>
          <p:cNvSpPr/>
          <p:nvPr/>
        </p:nvSpPr>
        <p:spPr>
          <a:xfrm>
            <a:off x="2147888" y="23939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67" name="Isosceles Triangle 326766"/>
          <p:cNvSpPr/>
          <p:nvPr/>
        </p:nvSpPr>
        <p:spPr>
          <a:xfrm rot="-5400000">
            <a:off x="3090863" y="164465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26768" name="Straight Connector 326767"/>
          <p:cNvSpPr/>
          <p:nvPr/>
        </p:nvSpPr>
        <p:spPr>
          <a:xfrm flipV="1">
            <a:off x="3146425" y="3505200"/>
            <a:ext cx="269875" cy="12700"/>
          </a:xfrm>
          <a:prstGeom prst="line">
            <a:avLst/>
          </a:prstGeom>
          <a:ln w="9525" cap="flat" cmpd="sng">
            <a:solidFill>
              <a:srgbClr val="9900FF"/>
            </a:solidFill>
            <a:prstDash val="solid"/>
            <a:headEnd type="none" w="med" len="med"/>
            <a:tailEnd type="none" w="med" len="med"/>
          </a:ln>
        </p:spPr>
      </p:sp>
      <p:sp>
        <p:nvSpPr>
          <p:cNvPr id="326769" name="Straight Connector 326768"/>
          <p:cNvSpPr/>
          <p:nvPr/>
        </p:nvSpPr>
        <p:spPr>
          <a:xfrm>
            <a:off x="3243263" y="1720850"/>
            <a:ext cx="152400" cy="0"/>
          </a:xfrm>
          <a:prstGeom prst="line">
            <a:avLst/>
          </a:prstGeom>
          <a:ln w="9525" cap="flat" cmpd="sng">
            <a:solidFill>
              <a:srgbClr val="9900FF"/>
            </a:solidFill>
            <a:prstDash val="solid"/>
            <a:headEnd type="none" w="med" len="med"/>
            <a:tailEnd type="none" w="med" len="med"/>
          </a:ln>
        </p:spPr>
      </p:sp>
      <p:sp>
        <p:nvSpPr>
          <p:cNvPr id="326770" name="Straight Connector 326769"/>
          <p:cNvSpPr/>
          <p:nvPr/>
        </p:nvSpPr>
        <p:spPr>
          <a:xfrm flipH="1" flipV="1">
            <a:off x="3375025" y="1689100"/>
            <a:ext cx="33338" cy="1784350"/>
          </a:xfrm>
          <a:prstGeom prst="line">
            <a:avLst/>
          </a:prstGeom>
          <a:ln w="9525" cap="flat" cmpd="sng">
            <a:solidFill>
              <a:srgbClr val="9900FF"/>
            </a:solidFill>
            <a:prstDash val="solid"/>
            <a:headEnd type="none" w="med" len="med"/>
            <a:tailEnd type="none" w="med" len="med"/>
          </a:ln>
        </p:spPr>
      </p:sp>
      <p:sp>
        <p:nvSpPr>
          <p:cNvPr id="326772" name="Straight Connector 326771"/>
          <p:cNvSpPr/>
          <p:nvPr/>
        </p:nvSpPr>
        <p:spPr>
          <a:xfrm flipH="1">
            <a:off x="2640013" y="2025650"/>
            <a:ext cx="6350" cy="381000"/>
          </a:xfrm>
          <a:prstGeom prst="line">
            <a:avLst/>
          </a:prstGeom>
          <a:ln w="25400" cap="flat" cmpd="sng">
            <a:solidFill>
              <a:srgbClr val="9900FF"/>
            </a:solidFill>
            <a:prstDash val="sysDot"/>
            <a:headEnd type="arrow" w="med" len="med"/>
            <a:tailEnd type="none" w="med" len="med"/>
          </a:ln>
        </p:spPr>
      </p:sp>
      <p:sp>
        <p:nvSpPr>
          <p:cNvPr id="326773" name="Text Box 326772"/>
          <p:cNvSpPr txBox="1"/>
          <p:nvPr/>
        </p:nvSpPr>
        <p:spPr>
          <a:xfrm>
            <a:off x="1981200" y="2057400"/>
            <a:ext cx="1447800" cy="304800"/>
          </a:xfrm>
          <a:prstGeom prst="rect">
            <a:avLst/>
          </a:prstGeom>
          <a:noFill/>
          <a:ln w="9525">
            <a:noFill/>
          </a:ln>
        </p:spPr>
        <p:txBody>
          <a:bodyPr>
            <a:spAutoFit/>
          </a:bodyPr>
          <a:lstStyle/>
          <a:p>
            <a:r>
              <a:rPr sz="1400">
                <a:solidFill>
                  <a:srgbClr val="9900FF"/>
                </a:solidFill>
                <a:latin typeface="Times New Roman" panose="02020603050405020304" pitchFamily="18" charset="0"/>
              </a:rPr>
              <a:t>&lt;&lt;instanceOf&gt;&gt;</a:t>
            </a:r>
          </a:p>
        </p:txBody>
      </p:sp>
      <p:sp>
        <p:nvSpPr>
          <p:cNvPr id="326774" name="Straight Connector 326773"/>
          <p:cNvSpPr/>
          <p:nvPr/>
        </p:nvSpPr>
        <p:spPr>
          <a:xfrm>
            <a:off x="2689225" y="3060700"/>
            <a:ext cx="0" cy="152400"/>
          </a:xfrm>
          <a:prstGeom prst="line">
            <a:avLst/>
          </a:prstGeom>
          <a:ln w="9525" cap="flat" cmpd="sng">
            <a:solidFill>
              <a:srgbClr val="9900FF"/>
            </a:solidFill>
            <a:prstDash val="solid"/>
            <a:headEnd type="none" w="med" len="med"/>
            <a:tailEnd type="none" w="med" len="med"/>
          </a:ln>
        </p:spPr>
      </p:sp>
      <p:sp>
        <p:nvSpPr>
          <p:cNvPr id="326775" name="Isosceles Triangle 326774"/>
          <p:cNvSpPr/>
          <p:nvPr/>
        </p:nvSpPr>
        <p:spPr>
          <a:xfrm>
            <a:off x="2613025" y="29083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26776" name="Rectangles 326775"/>
          <p:cNvSpPr/>
          <p:nvPr/>
        </p:nvSpPr>
        <p:spPr>
          <a:xfrm>
            <a:off x="2536825" y="32893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C</a:t>
            </a:r>
          </a:p>
        </p:txBody>
      </p:sp>
      <p:sp>
        <p:nvSpPr>
          <p:cNvPr id="326777" name="Rectangles 326776"/>
          <p:cNvSpPr/>
          <p:nvPr/>
        </p:nvSpPr>
        <p:spPr>
          <a:xfrm>
            <a:off x="2170113" y="32448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78" name="Rectangles 326777"/>
          <p:cNvSpPr/>
          <p:nvPr/>
        </p:nvSpPr>
        <p:spPr>
          <a:xfrm>
            <a:off x="6096000" y="152400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26779" name="Rectangles 326778"/>
          <p:cNvSpPr/>
          <p:nvPr/>
        </p:nvSpPr>
        <p:spPr>
          <a:xfrm>
            <a:off x="5735638" y="14795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80" name="Straight Connector 326779"/>
          <p:cNvSpPr/>
          <p:nvPr/>
        </p:nvSpPr>
        <p:spPr>
          <a:xfrm>
            <a:off x="6248400" y="3048000"/>
            <a:ext cx="0" cy="152400"/>
          </a:xfrm>
          <a:prstGeom prst="line">
            <a:avLst/>
          </a:prstGeom>
          <a:ln w="9525" cap="flat" cmpd="sng">
            <a:solidFill>
              <a:srgbClr val="9900FF"/>
            </a:solidFill>
            <a:prstDash val="solid"/>
            <a:headEnd type="none" w="med" len="med"/>
            <a:tailEnd type="none" w="med" len="med"/>
          </a:ln>
        </p:spPr>
      </p:sp>
      <p:sp>
        <p:nvSpPr>
          <p:cNvPr id="326781" name="Isosceles Triangle 326780"/>
          <p:cNvSpPr/>
          <p:nvPr/>
        </p:nvSpPr>
        <p:spPr>
          <a:xfrm>
            <a:off x="6172200" y="28956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26782" name="Rectangles 326781"/>
          <p:cNvSpPr/>
          <p:nvPr/>
        </p:nvSpPr>
        <p:spPr>
          <a:xfrm>
            <a:off x="6122988" y="239395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26783" name="Rectangles 326782"/>
          <p:cNvSpPr/>
          <p:nvPr/>
        </p:nvSpPr>
        <p:spPr>
          <a:xfrm>
            <a:off x="5756275" y="23495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84" name="Rectangles 326783"/>
          <p:cNvSpPr/>
          <p:nvPr/>
        </p:nvSpPr>
        <p:spPr>
          <a:xfrm>
            <a:off x="6054725" y="32766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C</a:t>
            </a:r>
          </a:p>
        </p:txBody>
      </p:sp>
      <p:sp>
        <p:nvSpPr>
          <p:cNvPr id="326785" name="Rectangles 326784"/>
          <p:cNvSpPr/>
          <p:nvPr/>
        </p:nvSpPr>
        <p:spPr>
          <a:xfrm>
            <a:off x="5715000" y="32004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86" name="Straight Connector 326785"/>
          <p:cNvSpPr/>
          <p:nvPr/>
        </p:nvSpPr>
        <p:spPr>
          <a:xfrm>
            <a:off x="6781800" y="4343400"/>
            <a:ext cx="228600" cy="0"/>
          </a:xfrm>
          <a:prstGeom prst="line">
            <a:avLst/>
          </a:prstGeom>
          <a:ln w="28575" cap="flat" cmpd="sng">
            <a:solidFill>
              <a:srgbClr val="9900FF"/>
            </a:solidFill>
            <a:prstDash val="sysDot"/>
            <a:headEnd type="none" w="med" len="med"/>
            <a:tailEnd type="none" w="med" len="med"/>
          </a:ln>
        </p:spPr>
      </p:sp>
      <p:sp>
        <p:nvSpPr>
          <p:cNvPr id="326787" name="Straight Connector 326786"/>
          <p:cNvSpPr/>
          <p:nvPr/>
        </p:nvSpPr>
        <p:spPr>
          <a:xfrm>
            <a:off x="6738938" y="1784350"/>
            <a:ext cx="292100" cy="0"/>
          </a:xfrm>
          <a:prstGeom prst="line">
            <a:avLst/>
          </a:prstGeom>
          <a:ln w="25400" cap="flat" cmpd="sng">
            <a:solidFill>
              <a:srgbClr val="9900FF"/>
            </a:solidFill>
            <a:prstDash val="sysDot"/>
            <a:headEnd type="arrow" w="med" len="med"/>
            <a:tailEnd type="none" w="med" len="med"/>
          </a:ln>
        </p:spPr>
      </p:sp>
      <p:sp>
        <p:nvSpPr>
          <p:cNvPr id="326788" name="Straight Connector 326787"/>
          <p:cNvSpPr/>
          <p:nvPr/>
        </p:nvSpPr>
        <p:spPr>
          <a:xfrm flipV="1">
            <a:off x="7010400" y="1784350"/>
            <a:ext cx="20638" cy="2559050"/>
          </a:xfrm>
          <a:prstGeom prst="line">
            <a:avLst/>
          </a:prstGeom>
          <a:ln w="25400" cap="flat" cmpd="sng">
            <a:solidFill>
              <a:srgbClr val="9900FF"/>
            </a:solidFill>
            <a:prstDash val="sysDot"/>
            <a:headEnd type="none" w="med" len="med"/>
            <a:tailEnd type="none" w="med" len="med"/>
          </a:ln>
        </p:spPr>
      </p:sp>
      <p:sp>
        <p:nvSpPr>
          <p:cNvPr id="326789" name="Straight Connector 326788"/>
          <p:cNvSpPr/>
          <p:nvPr/>
        </p:nvSpPr>
        <p:spPr>
          <a:xfrm flipH="1">
            <a:off x="6275388" y="2012950"/>
            <a:ext cx="6350" cy="381000"/>
          </a:xfrm>
          <a:prstGeom prst="line">
            <a:avLst/>
          </a:prstGeom>
          <a:ln w="25400" cap="flat" cmpd="sng">
            <a:solidFill>
              <a:srgbClr val="9900FF"/>
            </a:solidFill>
            <a:prstDash val="sysDot"/>
            <a:headEnd type="arrow" w="med" len="med"/>
            <a:tailEnd type="none" w="med" len="med"/>
          </a:ln>
        </p:spPr>
      </p:sp>
      <p:sp>
        <p:nvSpPr>
          <p:cNvPr id="326790" name="Text Box 326789"/>
          <p:cNvSpPr txBox="1"/>
          <p:nvPr/>
        </p:nvSpPr>
        <p:spPr>
          <a:xfrm>
            <a:off x="5257800" y="2057400"/>
            <a:ext cx="1447800" cy="304800"/>
          </a:xfrm>
          <a:prstGeom prst="rect">
            <a:avLst/>
          </a:prstGeom>
          <a:noFill/>
          <a:ln w="9525">
            <a:noFill/>
          </a:ln>
        </p:spPr>
        <p:txBody>
          <a:bodyPr>
            <a:spAutoFit/>
          </a:bodyPr>
          <a:lstStyle/>
          <a:p>
            <a:r>
              <a:rPr sz="1400">
                <a:solidFill>
                  <a:srgbClr val="9900FF"/>
                </a:solidFill>
                <a:latin typeface="Times New Roman" panose="02020603050405020304" pitchFamily="18" charset="0"/>
              </a:rPr>
              <a:t>&lt;&lt;instanceOf&gt;&gt;</a:t>
            </a:r>
          </a:p>
        </p:txBody>
      </p:sp>
      <p:sp>
        <p:nvSpPr>
          <p:cNvPr id="326791" name="Rectangles 326790"/>
          <p:cNvSpPr/>
          <p:nvPr/>
        </p:nvSpPr>
        <p:spPr>
          <a:xfrm>
            <a:off x="5972175" y="4191000"/>
            <a:ext cx="584200" cy="366713"/>
          </a:xfrm>
          <a:prstGeom prst="rect">
            <a:avLst/>
          </a:prstGeom>
          <a:noFill/>
          <a:ln w="9525">
            <a:noFill/>
          </a:ln>
        </p:spPr>
        <p:txBody>
          <a:bodyPr wrap="none" anchor="ctr" anchorCtr="0">
            <a:spAutoFit/>
          </a:bodyPr>
          <a:lstStyle/>
          <a:p>
            <a:pPr algn="ctr"/>
            <a:r>
              <a:rPr sz="1800" u="sng">
                <a:latin typeface="Times New Roman" panose="02020603050405020304" pitchFamily="18" charset="0"/>
              </a:rPr>
              <a:t>d: D</a:t>
            </a:r>
          </a:p>
        </p:txBody>
      </p:sp>
      <p:sp>
        <p:nvSpPr>
          <p:cNvPr id="326792" name="Rectangles 326791"/>
          <p:cNvSpPr/>
          <p:nvPr/>
        </p:nvSpPr>
        <p:spPr>
          <a:xfrm>
            <a:off x="5791200" y="41148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793" name="Straight Connector 326792"/>
          <p:cNvSpPr/>
          <p:nvPr/>
        </p:nvSpPr>
        <p:spPr>
          <a:xfrm flipH="1">
            <a:off x="6275388" y="3765550"/>
            <a:ext cx="6350" cy="381000"/>
          </a:xfrm>
          <a:prstGeom prst="line">
            <a:avLst/>
          </a:prstGeom>
          <a:ln w="25400" cap="flat" cmpd="sng">
            <a:solidFill>
              <a:srgbClr val="9900FF"/>
            </a:solidFill>
            <a:prstDash val="sysDot"/>
            <a:headEnd type="arrow" w="med" len="med"/>
            <a:tailEnd type="none" w="med" len="med"/>
          </a:ln>
        </p:spPr>
      </p:sp>
      <p:sp>
        <p:nvSpPr>
          <p:cNvPr id="326794" name="Text Box 326793"/>
          <p:cNvSpPr txBox="1"/>
          <p:nvPr/>
        </p:nvSpPr>
        <p:spPr>
          <a:xfrm>
            <a:off x="5257800" y="3810000"/>
            <a:ext cx="1447800" cy="304800"/>
          </a:xfrm>
          <a:prstGeom prst="rect">
            <a:avLst/>
          </a:prstGeom>
          <a:noFill/>
          <a:ln w="9525">
            <a:noFill/>
          </a:ln>
        </p:spPr>
        <p:txBody>
          <a:bodyPr>
            <a:spAutoFit/>
          </a:bodyPr>
          <a:lstStyle/>
          <a:p>
            <a:r>
              <a:rPr sz="1400">
                <a:solidFill>
                  <a:srgbClr val="9900FF"/>
                </a:solidFill>
                <a:latin typeface="Times New Roman" panose="02020603050405020304" pitchFamily="18" charset="0"/>
              </a:rPr>
              <a:t>&lt;&lt;instanceOf&gt;&gt;</a:t>
            </a:r>
          </a:p>
        </p:txBody>
      </p:sp>
      <p:sp>
        <p:nvSpPr>
          <p:cNvPr id="326808" name="Rectangles 326807"/>
          <p:cNvSpPr/>
          <p:nvPr/>
        </p:nvSpPr>
        <p:spPr>
          <a:xfrm>
            <a:off x="7891463" y="152400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A</a:t>
            </a:r>
          </a:p>
        </p:txBody>
      </p:sp>
      <p:sp>
        <p:nvSpPr>
          <p:cNvPr id="326809" name="Rectangles 326808"/>
          <p:cNvSpPr/>
          <p:nvPr/>
        </p:nvSpPr>
        <p:spPr>
          <a:xfrm>
            <a:off x="7531100" y="14795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810" name="Straight Connector 326809"/>
          <p:cNvSpPr/>
          <p:nvPr/>
        </p:nvSpPr>
        <p:spPr>
          <a:xfrm>
            <a:off x="8001000" y="3886200"/>
            <a:ext cx="0" cy="152400"/>
          </a:xfrm>
          <a:prstGeom prst="line">
            <a:avLst/>
          </a:prstGeom>
          <a:ln w="9525" cap="flat" cmpd="sng">
            <a:solidFill>
              <a:srgbClr val="9900FF"/>
            </a:solidFill>
            <a:prstDash val="solid"/>
            <a:headEnd type="none" w="med" len="med"/>
            <a:tailEnd type="none" w="med" len="med"/>
          </a:ln>
        </p:spPr>
      </p:sp>
      <p:sp>
        <p:nvSpPr>
          <p:cNvPr id="326811" name="Isosceles Triangle 326810"/>
          <p:cNvSpPr/>
          <p:nvPr/>
        </p:nvSpPr>
        <p:spPr>
          <a:xfrm>
            <a:off x="7924800" y="37338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26812" name="Rectangles 326811"/>
          <p:cNvSpPr/>
          <p:nvPr/>
        </p:nvSpPr>
        <p:spPr>
          <a:xfrm>
            <a:off x="7875588" y="323215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C</a:t>
            </a:r>
          </a:p>
        </p:txBody>
      </p:sp>
      <p:sp>
        <p:nvSpPr>
          <p:cNvPr id="326813" name="Rectangles 326812"/>
          <p:cNvSpPr/>
          <p:nvPr/>
        </p:nvSpPr>
        <p:spPr>
          <a:xfrm>
            <a:off x="7508875" y="31877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814" name="Rectangles 326813"/>
          <p:cNvSpPr/>
          <p:nvPr/>
        </p:nvSpPr>
        <p:spPr>
          <a:xfrm>
            <a:off x="7848600" y="4114800"/>
            <a:ext cx="349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D</a:t>
            </a:r>
          </a:p>
        </p:txBody>
      </p:sp>
      <p:sp>
        <p:nvSpPr>
          <p:cNvPr id="326815" name="Rectangles 326814"/>
          <p:cNvSpPr/>
          <p:nvPr/>
        </p:nvSpPr>
        <p:spPr>
          <a:xfrm>
            <a:off x="7515225" y="403860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816" name="Straight Connector 326815"/>
          <p:cNvSpPr/>
          <p:nvPr/>
        </p:nvSpPr>
        <p:spPr>
          <a:xfrm>
            <a:off x="8515350" y="3460750"/>
            <a:ext cx="304800" cy="0"/>
          </a:xfrm>
          <a:prstGeom prst="line">
            <a:avLst/>
          </a:prstGeom>
          <a:ln w="28575" cap="flat" cmpd="sng">
            <a:solidFill>
              <a:srgbClr val="9900FF"/>
            </a:solidFill>
            <a:prstDash val="sysDot"/>
            <a:headEnd type="none" w="med" len="med"/>
            <a:tailEnd type="none" w="med" len="med"/>
          </a:ln>
        </p:spPr>
      </p:sp>
      <p:sp>
        <p:nvSpPr>
          <p:cNvPr id="326817" name="Straight Connector 326816"/>
          <p:cNvSpPr/>
          <p:nvPr/>
        </p:nvSpPr>
        <p:spPr>
          <a:xfrm>
            <a:off x="8534400" y="1784350"/>
            <a:ext cx="292100" cy="0"/>
          </a:xfrm>
          <a:prstGeom prst="line">
            <a:avLst/>
          </a:prstGeom>
          <a:ln w="25400" cap="flat" cmpd="sng">
            <a:solidFill>
              <a:srgbClr val="9900FF"/>
            </a:solidFill>
            <a:prstDash val="sysDot"/>
            <a:headEnd type="arrow" w="med" len="med"/>
            <a:tailEnd type="none" w="med" len="med"/>
          </a:ln>
        </p:spPr>
      </p:sp>
      <p:sp>
        <p:nvSpPr>
          <p:cNvPr id="326818" name="Straight Connector 326817"/>
          <p:cNvSpPr/>
          <p:nvPr/>
        </p:nvSpPr>
        <p:spPr>
          <a:xfrm flipH="1" flipV="1">
            <a:off x="8826500" y="1784350"/>
            <a:ext cx="12700" cy="1676400"/>
          </a:xfrm>
          <a:prstGeom prst="line">
            <a:avLst/>
          </a:prstGeom>
          <a:ln w="25400" cap="flat" cmpd="sng">
            <a:solidFill>
              <a:srgbClr val="9900FF"/>
            </a:solidFill>
            <a:prstDash val="sysDot"/>
            <a:headEnd type="none" w="med" len="med"/>
            <a:tailEnd type="none" w="med" len="med"/>
          </a:ln>
        </p:spPr>
      </p:sp>
      <p:sp>
        <p:nvSpPr>
          <p:cNvPr id="326819" name="Straight Connector 326818"/>
          <p:cNvSpPr/>
          <p:nvPr/>
        </p:nvSpPr>
        <p:spPr>
          <a:xfrm flipH="1">
            <a:off x="8027988" y="2851150"/>
            <a:ext cx="6350" cy="381000"/>
          </a:xfrm>
          <a:prstGeom prst="line">
            <a:avLst/>
          </a:prstGeom>
          <a:ln w="25400" cap="flat" cmpd="sng">
            <a:solidFill>
              <a:srgbClr val="9900FF"/>
            </a:solidFill>
            <a:prstDash val="sysDot"/>
            <a:headEnd type="arrow" w="med" len="med"/>
            <a:tailEnd type="none" w="med" len="med"/>
          </a:ln>
        </p:spPr>
      </p:sp>
      <p:sp>
        <p:nvSpPr>
          <p:cNvPr id="326820" name="Text Box 326819"/>
          <p:cNvSpPr txBox="1"/>
          <p:nvPr/>
        </p:nvSpPr>
        <p:spPr>
          <a:xfrm>
            <a:off x="7010400" y="2895600"/>
            <a:ext cx="1447800" cy="304800"/>
          </a:xfrm>
          <a:prstGeom prst="rect">
            <a:avLst/>
          </a:prstGeom>
          <a:noFill/>
          <a:ln w="9525">
            <a:noFill/>
          </a:ln>
        </p:spPr>
        <p:txBody>
          <a:bodyPr>
            <a:spAutoFit/>
          </a:bodyPr>
          <a:lstStyle/>
          <a:p>
            <a:r>
              <a:rPr sz="1400">
                <a:solidFill>
                  <a:srgbClr val="9900FF"/>
                </a:solidFill>
                <a:latin typeface="Times New Roman" panose="02020603050405020304" pitchFamily="18" charset="0"/>
              </a:rPr>
              <a:t>&lt;&lt;instanceOf&gt;&gt;</a:t>
            </a:r>
          </a:p>
        </p:txBody>
      </p:sp>
      <p:sp>
        <p:nvSpPr>
          <p:cNvPr id="326821" name="Rectangles 326820"/>
          <p:cNvSpPr/>
          <p:nvPr/>
        </p:nvSpPr>
        <p:spPr>
          <a:xfrm>
            <a:off x="7924800" y="2362200"/>
            <a:ext cx="3365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B</a:t>
            </a:r>
          </a:p>
        </p:txBody>
      </p:sp>
      <p:sp>
        <p:nvSpPr>
          <p:cNvPr id="326822" name="Rectangles 326821"/>
          <p:cNvSpPr/>
          <p:nvPr/>
        </p:nvSpPr>
        <p:spPr>
          <a:xfrm>
            <a:off x="7558088" y="2317750"/>
            <a:ext cx="990600" cy="5334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6823" name="Straight Connector 326822"/>
          <p:cNvSpPr/>
          <p:nvPr/>
        </p:nvSpPr>
        <p:spPr>
          <a:xfrm>
            <a:off x="8077200" y="2133600"/>
            <a:ext cx="0" cy="152400"/>
          </a:xfrm>
          <a:prstGeom prst="line">
            <a:avLst/>
          </a:prstGeom>
          <a:ln w="9525" cap="flat" cmpd="sng">
            <a:solidFill>
              <a:srgbClr val="9900FF"/>
            </a:solidFill>
            <a:prstDash val="solid"/>
            <a:headEnd type="none" w="med" len="med"/>
            <a:tailEnd type="none" w="med" len="med"/>
          </a:ln>
        </p:spPr>
      </p:sp>
      <p:sp>
        <p:nvSpPr>
          <p:cNvPr id="326824" name="Isosceles Triangle 326823"/>
          <p:cNvSpPr/>
          <p:nvPr/>
        </p:nvSpPr>
        <p:spPr>
          <a:xfrm>
            <a:off x="8001000" y="19812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26825" name="Straight Connector 326824"/>
          <p:cNvSpPr/>
          <p:nvPr/>
        </p:nvSpPr>
        <p:spPr>
          <a:xfrm>
            <a:off x="8528050" y="4191000"/>
            <a:ext cx="158750" cy="0"/>
          </a:xfrm>
          <a:prstGeom prst="line">
            <a:avLst/>
          </a:prstGeom>
          <a:ln w="28575" cap="flat" cmpd="sng">
            <a:solidFill>
              <a:srgbClr val="9900FF"/>
            </a:solidFill>
            <a:prstDash val="sysDot"/>
            <a:headEnd type="none" w="med" len="med"/>
            <a:tailEnd type="none" w="med" len="med"/>
          </a:ln>
        </p:spPr>
      </p:sp>
      <p:sp>
        <p:nvSpPr>
          <p:cNvPr id="326826" name="Straight Connector 326825"/>
          <p:cNvSpPr/>
          <p:nvPr/>
        </p:nvSpPr>
        <p:spPr>
          <a:xfrm>
            <a:off x="8547100" y="2514600"/>
            <a:ext cx="139700" cy="0"/>
          </a:xfrm>
          <a:prstGeom prst="line">
            <a:avLst/>
          </a:prstGeom>
          <a:ln w="25400" cap="flat" cmpd="sng">
            <a:solidFill>
              <a:srgbClr val="9900FF"/>
            </a:solidFill>
            <a:prstDash val="sysDot"/>
            <a:headEnd type="arrow" w="med" len="med"/>
            <a:tailEnd type="none" w="med" len="med"/>
          </a:ln>
        </p:spPr>
      </p:sp>
      <p:sp>
        <p:nvSpPr>
          <p:cNvPr id="326827" name="Straight Connector 326826"/>
          <p:cNvSpPr/>
          <p:nvPr/>
        </p:nvSpPr>
        <p:spPr>
          <a:xfrm flipV="1">
            <a:off x="8686800" y="2514600"/>
            <a:ext cx="0" cy="1676400"/>
          </a:xfrm>
          <a:prstGeom prst="line">
            <a:avLst/>
          </a:prstGeom>
          <a:ln w="25400" cap="flat" cmpd="sng">
            <a:solidFill>
              <a:srgbClr val="9900FF"/>
            </a:solidFill>
            <a:prstDash val="sysDot"/>
            <a:headEnd type="none" w="med" len="med"/>
            <a:tailEnd type="none" w="med" len="med"/>
          </a:ln>
        </p:spPr>
      </p:sp>
      <p:sp>
        <p:nvSpPr>
          <p:cNvPr id="326828" name="Straight Connector 326827"/>
          <p:cNvSpPr/>
          <p:nvPr/>
        </p:nvSpPr>
        <p:spPr>
          <a:xfrm>
            <a:off x="8458200" y="4419600"/>
            <a:ext cx="520700" cy="0"/>
          </a:xfrm>
          <a:prstGeom prst="line">
            <a:avLst/>
          </a:prstGeom>
          <a:ln w="28575" cap="flat" cmpd="sng">
            <a:solidFill>
              <a:srgbClr val="9900FF"/>
            </a:solidFill>
            <a:prstDash val="sysDot"/>
            <a:headEnd type="none" w="med" len="med"/>
            <a:tailEnd type="none" w="med" len="med"/>
          </a:ln>
        </p:spPr>
      </p:sp>
      <p:sp>
        <p:nvSpPr>
          <p:cNvPr id="326829" name="Straight Connector 326828"/>
          <p:cNvSpPr/>
          <p:nvPr/>
        </p:nvSpPr>
        <p:spPr>
          <a:xfrm>
            <a:off x="8534400" y="1600200"/>
            <a:ext cx="457200" cy="0"/>
          </a:xfrm>
          <a:prstGeom prst="line">
            <a:avLst/>
          </a:prstGeom>
          <a:ln w="25400" cap="flat" cmpd="sng">
            <a:solidFill>
              <a:srgbClr val="9900FF"/>
            </a:solidFill>
            <a:prstDash val="sysDot"/>
            <a:headEnd type="arrow" w="med" len="med"/>
            <a:tailEnd type="none" w="med" len="med"/>
          </a:ln>
        </p:spPr>
      </p:sp>
      <p:sp>
        <p:nvSpPr>
          <p:cNvPr id="326830" name="Straight Connector 326829"/>
          <p:cNvSpPr/>
          <p:nvPr/>
        </p:nvSpPr>
        <p:spPr>
          <a:xfrm flipV="1">
            <a:off x="8978900" y="1600200"/>
            <a:ext cx="12700" cy="2819400"/>
          </a:xfrm>
          <a:prstGeom prst="line">
            <a:avLst/>
          </a:prstGeom>
          <a:ln w="25400" cap="flat" cmpd="sng">
            <a:solidFill>
              <a:srgbClr val="9900FF"/>
            </a:solidFill>
            <a:prstDash val="sysDot"/>
            <a:headEnd type="none" w="med" len="med"/>
            <a:tailEnd type="none" w="med" len="med"/>
          </a:ln>
        </p:spPr>
      </p:sp>
      <p:sp>
        <p:nvSpPr>
          <p:cNvPr id="326831" name="Text Box 326830"/>
          <p:cNvSpPr txBox="1"/>
          <p:nvPr/>
        </p:nvSpPr>
        <p:spPr>
          <a:xfrm>
            <a:off x="8458200" y="3733800"/>
            <a:ext cx="336550" cy="457200"/>
          </a:xfrm>
          <a:prstGeom prst="rect">
            <a:avLst/>
          </a:prstGeom>
          <a:noFill/>
          <a:ln w="9525">
            <a:noFill/>
          </a:ln>
        </p:spPr>
        <p:txBody>
          <a:bodyPr wrap="none" anchor="t" anchorCtr="0">
            <a:spAutoFit/>
          </a:bodyPr>
          <a:lstStyle/>
          <a:p>
            <a:r>
              <a:rPr>
                <a:solidFill>
                  <a:srgbClr val="FF0066"/>
                </a:solidFill>
                <a:latin typeface="Times New Roman" panose="02020603050405020304" pitchFamily="18" charset="0"/>
              </a:rPr>
              <a:t>1</a:t>
            </a:r>
          </a:p>
        </p:txBody>
      </p:sp>
      <p:sp>
        <p:nvSpPr>
          <p:cNvPr id="326832" name="Text Box 326831"/>
          <p:cNvSpPr txBox="1"/>
          <p:nvPr/>
        </p:nvSpPr>
        <p:spPr>
          <a:xfrm>
            <a:off x="8610600" y="1905000"/>
            <a:ext cx="336550" cy="457200"/>
          </a:xfrm>
          <a:prstGeom prst="rect">
            <a:avLst/>
          </a:prstGeom>
          <a:noFill/>
          <a:ln w="9525">
            <a:noFill/>
          </a:ln>
        </p:spPr>
        <p:txBody>
          <a:bodyPr wrap="none" anchor="t" anchorCtr="0">
            <a:spAutoFit/>
          </a:bodyPr>
          <a:lstStyle/>
          <a:p>
            <a:r>
              <a:rPr>
                <a:solidFill>
                  <a:srgbClr val="FF0066"/>
                </a:solidFill>
                <a:latin typeface="Times New Roman" panose="02020603050405020304" pitchFamily="18" charset="0"/>
              </a:rPr>
              <a:t>2</a:t>
            </a:r>
          </a:p>
        </p:txBody>
      </p:sp>
      <p:sp>
        <p:nvSpPr>
          <p:cNvPr id="326833" name="Text Box 326832"/>
          <p:cNvSpPr txBox="1"/>
          <p:nvPr/>
        </p:nvSpPr>
        <p:spPr>
          <a:xfrm>
            <a:off x="8686800" y="1219200"/>
            <a:ext cx="336550" cy="457200"/>
          </a:xfrm>
          <a:prstGeom prst="rect">
            <a:avLst/>
          </a:prstGeom>
          <a:noFill/>
          <a:ln w="9525">
            <a:noFill/>
          </a:ln>
        </p:spPr>
        <p:txBody>
          <a:bodyPr wrap="none" anchor="t" anchorCtr="0">
            <a:spAutoFit/>
          </a:bodyPr>
          <a:lstStyle/>
          <a:p>
            <a:r>
              <a:rPr>
                <a:solidFill>
                  <a:srgbClr val="FF0066"/>
                </a:solidFill>
                <a:latin typeface="Times New Roman" panose="02020603050405020304" pitchFamily="18" charset="0"/>
              </a:rPr>
              <a:t>3</a:t>
            </a:r>
          </a:p>
        </p:txBody>
      </p:sp>
      <p:pic>
        <p:nvPicPr>
          <p:cNvPr id="3" name="Picture 2">
            <a:extLst>
              <a:ext uri="{FF2B5EF4-FFF2-40B4-BE49-F238E27FC236}">
                <a16:creationId xmlns:a16="http://schemas.microsoft.com/office/drawing/2014/main" id="{B64BC6E4-0C0A-AA4C-D49A-4277CD5D79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90770272-0C56-803C-2427-8FE8F27F8E1D}"/>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F575FA3-A3E8-2D22-2DA5-D4D8C4D1285C}"/>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19</a:t>
            </a:fld>
            <a:endParaRPr lang="en-US">
              <a:latin typeface="Arial" panose="020B0604020202020204" pitchFamily="34" charset="0"/>
            </a:endParaRPr>
          </a:p>
        </p:txBody>
      </p:sp>
      <p:sp>
        <p:nvSpPr>
          <p:cNvPr id="318466" name="Rectangles 318465"/>
          <p:cNvSpPr/>
          <p:nvPr/>
        </p:nvSpPr>
        <p:spPr>
          <a:xfrm>
            <a:off x="0" y="228600"/>
            <a:ext cx="7772400" cy="99060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200" u="none" kern="1200" baseline="0">
                <a:solidFill>
                  <a:schemeClr val="tx2"/>
                </a:solidFill>
                <a:latin typeface="Arial" panose="020B0604020202020204" pitchFamily="34" charset="0"/>
              </a:defRPr>
            </a:lvl1pPr>
          </a:lstStyle>
          <a:p>
            <a:pPr lvl="0" algn="ctr"/>
            <a:r>
              <a:rPr sz="3200" dirty="0"/>
              <a:t>What is Object-Orientation</a:t>
            </a:r>
            <a:br>
              <a:rPr sz="3200" dirty="0"/>
            </a:br>
            <a:r>
              <a:rPr sz="2400" dirty="0"/>
              <a:t>- Polymorphism</a:t>
            </a:r>
          </a:p>
        </p:txBody>
      </p:sp>
      <p:sp>
        <p:nvSpPr>
          <p:cNvPr id="318467" name="Text Box 318466"/>
          <p:cNvSpPr txBox="1"/>
          <p:nvPr/>
        </p:nvSpPr>
        <p:spPr>
          <a:xfrm>
            <a:off x="381000" y="1600200"/>
            <a:ext cx="8229600" cy="366713"/>
          </a:xfrm>
          <a:prstGeom prst="rect">
            <a:avLst/>
          </a:prstGeom>
          <a:noFill/>
          <a:ln w="9525">
            <a:noFill/>
          </a:ln>
        </p:spPr>
        <p:txBody>
          <a:bodyPr>
            <a:spAutoFit/>
          </a:bodyPr>
          <a:lstStyle/>
          <a:p>
            <a:pPr lvl="1">
              <a:spcBef>
                <a:spcPct val="0"/>
              </a:spcBef>
            </a:pPr>
            <a:r>
              <a:rPr sz="1800">
                <a:solidFill>
                  <a:srgbClr val="3333CC"/>
                </a:solidFill>
                <a:latin typeface="Arial" panose="020B0604020202020204" pitchFamily="34" charset="0"/>
              </a:rPr>
              <a:t>Objects of different classes respond to the same message differently.</a:t>
            </a:r>
            <a:endParaRPr sz="2400">
              <a:solidFill>
                <a:srgbClr val="3333CC"/>
              </a:solidFill>
              <a:latin typeface="Times New Roman" panose="02020603050405020304" pitchFamily="18" charset="0"/>
            </a:endParaRPr>
          </a:p>
        </p:txBody>
      </p:sp>
      <p:sp>
        <p:nvSpPr>
          <p:cNvPr id="318472" name="Text Box 318471"/>
          <p:cNvSpPr txBox="1"/>
          <p:nvPr/>
        </p:nvSpPr>
        <p:spPr>
          <a:xfrm>
            <a:off x="3276600" y="4267200"/>
            <a:ext cx="954088" cy="304800"/>
          </a:xfrm>
          <a:prstGeom prst="rect">
            <a:avLst/>
          </a:prstGeom>
          <a:noFill/>
          <a:ln w="9525">
            <a:noFill/>
          </a:ln>
        </p:spPr>
        <p:txBody>
          <a:bodyPr wrap="none" anchor="t" anchorCtr="0">
            <a:spAutoFit/>
          </a:bodyPr>
          <a:lstStyle/>
          <a:p>
            <a:r>
              <a:rPr sz="1400" i="1">
                <a:solidFill>
                  <a:srgbClr val="3333CC"/>
                </a:solidFill>
                <a:latin typeface="Times New Roman" panose="02020603050405020304" pitchFamily="18" charset="0"/>
              </a:rPr>
              <a:t>payTuition</a:t>
            </a:r>
          </a:p>
        </p:txBody>
      </p:sp>
      <p:sp>
        <p:nvSpPr>
          <p:cNvPr id="318473" name="Rectangles 318472"/>
          <p:cNvSpPr/>
          <p:nvPr/>
        </p:nvSpPr>
        <p:spPr>
          <a:xfrm>
            <a:off x="4495800" y="2286000"/>
            <a:ext cx="8064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Person</a:t>
            </a:r>
          </a:p>
        </p:txBody>
      </p:sp>
      <p:sp>
        <p:nvSpPr>
          <p:cNvPr id="318474" name="Rectangles 318473"/>
          <p:cNvSpPr/>
          <p:nvPr/>
        </p:nvSpPr>
        <p:spPr>
          <a:xfrm>
            <a:off x="4364038" y="2590800"/>
            <a:ext cx="990600" cy="366713"/>
          </a:xfrm>
          <a:prstGeom prst="rect">
            <a:avLst/>
          </a:prstGeom>
          <a:noFill/>
          <a:ln w="9525">
            <a:noFill/>
          </a:ln>
        </p:spPr>
        <p:txBody>
          <a:bodyPr anchor="ctr" anchorCtr="0">
            <a:spAutoFit/>
          </a:bodyPr>
          <a:lstStyle/>
          <a:p>
            <a:pPr algn="ctr"/>
            <a:r>
              <a:rPr sz="1800">
                <a:latin typeface="Times New Roman" panose="02020603050405020304" pitchFamily="18" charset="0"/>
              </a:rPr>
              <a:t>name</a:t>
            </a:r>
          </a:p>
        </p:txBody>
      </p:sp>
      <p:sp>
        <p:nvSpPr>
          <p:cNvPr id="318475" name="Rectangles 318474"/>
          <p:cNvSpPr/>
          <p:nvPr/>
        </p:nvSpPr>
        <p:spPr>
          <a:xfrm>
            <a:off x="4516438" y="2819400"/>
            <a:ext cx="603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SSN</a:t>
            </a:r>
          </a:p>
        </p:txBody>
      </p:sp>
      <p:sp>
        <p:nvSpPr>
          <p:cNvPr id="318476" name="Rectangles 318475"/>
          <p:cNvSpPr/>
          <p:nvPr/>
        </p:nvSpPr>
        <p:spPr>
          <a:xfrm>
            <a:off x="4364038" y="2241550"/>
            <a:ext cx="1019175" cy="9906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8477" name="Straight Connector 318476"/>
          <p:cNvSpPr/>
          <p:nvPr/>
        </p:nvSpPr>
        <p:spPr>
          <a:xfrm>
            <a:off x="4364038" y="2622550"/>
            <a:ext cx="1019175" cy="0"/>
          </a:xfrm>
          <a:prstGeom prst="line">
            <a:avLst/>
          </a:prstGeom>
          <a:ln w="9525" cap="flat" cmpd="sng">
            <a:solidFill>
              <a:srgbClr val="9900FF"/>
            </a:solidFill>
            <a:prstDash val="solid"/>
            <a:headEnd type="none" w="med" len="med"/>
            <a:tailEnd type="none" w="med" len="med"/>
          </a:ln>
        </p:spPr>
      </p:sp>
      <p:sp>
        <p:nvSpPr>
          <p:cNvPr id="318478" name="Straight Connector 318477"/>
          <p:cNvSpPr/>
          <p:nvPr/>
        </p:nvSpPr>
        <p:spPr>
          <a:xfrm>
            <a:off x="4364038" y="3124200"/>
            <a:ext cx="990600" cy="0"/>
          </a:xfrm>
          <a:prstGeom prst="line">
            <a:avLst/>
          </a:prstGeom>
          <a:ln w="9525" cap="flat" cmpd="sng">
            <a:solidFill>
              <a:srgbClr val="9900FF"/>
            </a:solidFill>
            <a:prstDash val="solid"/>
            <a:headEnd type="none" w="med" len="med"/>
            <a:tailEnd type="none" w="med" len="med"/>
          </a:ln>
        </p:spPr>
      </p:sp>
      <p:sp>
        <p:nvSpPr>
          <p:cNvPr id="318479" name="Rectangles 318478"/>
          <p:cNvSpPr/>
          <p:nvPr/>
        </p:nvSpPr>
        <p:spPr>
          <a:xfrm>
            <a:off x="3297238" y="3551238"/>
            <a:ext cx="893762" cy="366712"/>
          </a:xfrm>
          <a:prstGeom prst="rect">
            <a:avLst/>
          </a:prstGeom>
          <a:noFill/>
          <a:ln w="9525">
            <a:noFill/>
          </a:ln>
        </p:spPr>
        <p:txBody>
          <a:bodyPr anchor="ctr" anchorCtr="0">
            <a:spAutoFit/>
          </a:bodyPr>
          <a:lstStyle/>
          <a:p>
            <a:pPr algn="ctr"/>
            <a:r>
              <a:rPr sz="1800">
                <a:latin typeface="Times New Roman" panose="02020603050405020304" pitchFamily="18" charset="0"/>
              </a:rPr>
              <a:t>Student</a:t>
            </a:r>
          </a:p>
        </p:txBody>
      </p:sp>
      <p:sp>
        <p:nvSpPr>
          <p:cNvPr id="318480" name="Rectangles 318479"/>
          <p:cNvSpPr/>
          <p:nvPr/>
        </p:nvSpPr>
        <p:spPr>
          <a:xfrm>
            <a:off x="3200400" y="4000500"/>
            <a:ext cx="990600" cy="395288"/>
          </a:xfrm>
          <a:prstGeom prst="rect">
            <a:avLst/>
          </a:prstGeom>
          <a:noFill/>
          <a:ln w="9525">
            <a:noFill/>
          </a:ln>
        </p:spPr>
        <p:txBody>
          <a:bodyPr anchor="ctr" anchorCtr="0">
            <a:spAutoFit/>
          </a:bodyPr>
          <a:lstStyle/>
          <a:p>
            <a:pPr algn="ctr">
              <a:lnSpc>
                <a:spcPct val="30000"/>
              </a:lnSpc>
            </a:pPr>
            <a:r>
              <a:rPr sz="1800">
                <a:latin typeface="Times New Roman" panose="02020603050405020304" pitchFamily="18" charset="0"/>
              </a:rPr>
              <a:t>std-id</a:t>
            </a:r>
          </a:p>
          <a:p>
            <a:pPr algn="ctr">
              <a:lnSpc>
                <a:spcPct val="30000"/>
              </a:lnSpc>
            </a:pPr>
            <a:r>
              <a:rPr sz="1800">
                <a:latin typeface="Times New Roman" panose="02020603050405020304" pitchFamily="18" charset="0"/>
              </a:rPr>
              <a:t>level</a:t>
            </a:r>
          </a:p>
        </p:txBody>
      </p:sp>
      <p:sp>
        <p:nvSpPr>
          <p:cNvPr id="318482" name="Rectangles 318481"/>
          <p:cNvSpPr/>
          <p:nvPr/>
        </p:nvSpPr>
        <p:spPr>
          <a:xfrm>
            <a:off x="3203575" y="3536950"/>
            <a:ext cx="1019175" cy="9906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8483" name="Straight Connector 318482"/>
          <p:cNvSpPr/>
          <p:nvPr/>
        </p:nvSpPr>
        <p:spPr>
          <a:xfrm>
            <a:off x="3203575" y="3917950"/>
            <a:ext cx="1019175" cy="0"/>
          </a:xfrm>
          <a:prstGeom prst="line">
            <a:avLst/>
          </a:prstGeom>
          <a:ln w="9525" cap="flat" cmpd="sng">
            <a:solidFill>
              <a:srgbClr val="9900FF"/>
            </a:solidFill>
            <a:prstDash val="solid"/>
            <a:headEnd type="none" w="med" len="med"/>
            <a:tailEnd type="none" w="med" len="med"/>
          </a:ln>
        </p:spPr>
      </p:sp>
      <p:sp>
        <p:nvSpPr>
          <p:cNvPr id="318484" name="Straight Connector 318483"/>
          <p:cNvSpPr/>
          <p:nvPr/>
        </p:nvSpPr>
        <p:spPr>
          <a:xfrm>
            <a:off x="3200400" y="4343400"/>
            <a:ext cx="990600" cy="0"/>
          </a:xfrm>
          <a:prstGeom prst="line">
            <a:avLst/>
          </a:prstGeom>
          <a:ln w="9525" cap="flat" cmpd="sng">
            <a:solidFill>
              <a:srgbClr val="9900FF"/>
            </a:solidFill>
            <a:prstDash val="solid"/>
            <a:headEnd type="none" w="med" len="med"/>
            <a:tailEnd type="none" w="med" len="med"/>
          </a:ln>
        </p:spPr>
      </p:sp>
      <p:sp>
        <p:nvSpPr>
          <p:cNvPr id="318485" name="Rectangles 318484"/>
          <p:cNvSpPr/>
          <p:nvPr/>
        </p:nvSpPr>
        <p:spPr>
          <a:xfrm>
            <a:off x="5621338" y="3581400"/>
            <a:ext cx="1111250" cy="366713"/>
          </a:xfrm>
          <a:prstGeom prst="rect">
            <a:avLst/>
          </a:prstGeom>
          <a:noFill/>
          <a:ln w="9525">
            <a:noFill/>
          </a:ln>
        </p:spPr>
        <p:txBody>
          <a:bodyPr wrap="none" anchor="ctr" anchorCtr="0">
            <a:spAutoFit/>
          </a:bodyPr>
          <a:lstStyle/>
          <a:p>
            <a:pPr algn="ctr"/>
            <a:r>
              <a:rPr sz="1800">
                <a:latin typeface="Times New Roman" panose="02020603050405020304" pitchFamily="18" charset="0"/>
              </a:rPr>
              <a:t>Employee</a:t>
            </a:r>
          </a:p>
        </p:txBody>
      </p:sp>
      <p:sp>
        <p:nvSpPr>
          <p:cNvPr id="318486" name="Rectangles 318485"/>
          <p:cNvSpPr/>
          <p:nvPr/>
        </p:nvSpPr>
        <p:spPr>
          <a:xfrm>
            <a:off x="5641975" y="3886200"/>
            <a:ext cx="990600" cy="366713"/>
          </a:xfrm>
          <a:prstGeom prst="rect">
            <a:avLst/>
          </a:prstGeom>
          <a:noFill/>
          <a:ln w="9525">
            <a:noFill/>
          </a:ln>
        </p:spPr>
        <p:txBody>
          <a:bodyPr anchor="ctr" anchorCtr="0">
            <a:spAutoFit/>
          </a:bodyPr>
          <a:lstStyle/>
          <a:p>
            <a:pPr algn="ctr"/>
            <a:r>
              <a:rPr sz="1800" err="1">
                <a:latin typeface="Times New Roman" panose="02020603050405020304" pitchFamily="18" charset="0"/>
              </a:rPr>
              <a:t>emp</a:t>
            </a:r>
            <a:r>
              <a:rPr sz="1800">
                <a:latin typeface="Times New Roman" panose="02020603050405020304" pitchFamily="18" charset="0"/>
              </a:rPr>
              <a:t>-id</a:t>
            </a:r>
          </a:p>
        </p:txBody>
      </p:sp>
      <p:sp>
        <p:nvSpPr>
          <p:cNvPr id="318488" name="Rectangles 318487"/>
          <p:cNvSpPr/>
          <p:nvPr/>
        </p:nvSpPr>
        <p:spPr>
          <a:xfrm>
            <a:off x="5641975" y="3536950"/>
            <a:ext cx="1019175" cy="9906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8489" name="Straight Connector 318488"/>
          <p:cNvSpPr/>
          <p:nvPr/>
        </p:nvSpPr>
        <p:spPr>
          <a:xfrm>
            <a:off x="5641975" y="3917950"/>
            <a:ext cx="1019175" cy="0"/>
          </a:xfrm>
          <a:prstGeom prst="line">
            <a:avLst/>
          </a:prstGeom>
          <a:ln w="9525" cap="flat" cmpd="sng">
            <a:solidFill>
              <a:srgbClr val="9900FF"/>
            </a:solidFill>
            <a:prstDash val="solid"/>
            <a:headEnd type="none" w="med" len="med"/>
            <a:tailEnd type="none" w="med" len="med"/>
          </a:ln>
        </p:spPr>
      </p:sp>
      <p:sp>
        <p:nvSpPr>
          <p:cNvPr id="318490" name="Straight Connector 318489"/>
          <p:cNvSpPr/>
          <p:nvPr/>
        </p:nvSpPr>
        <p:spPr>
          <a:xfrm>
            <a:off x="5670550" y="4451350"/>
            <a:ext cx="990600" cy="0"/>
          </a:xfrm>
          <a:prstGeom prst="line">
            <a:avLst/>
          </a:prstGeom>
          <a:ln w="9525" cap="flat" cmpd="sng">
            <a:solidFill>
              <a:srgbClr val="9900FF"/>
            </a:solidFill>
            <a:prstDash val="solid"/>
            <a:headEnd type="none" w="med" len="med"/>
            <a:tailEnd type="none" w="med" len="med"/>
          </a:ln>
        </p:spPr>
      </p:sp>
      <p:sp>
        <p:nvSpPr>
          <p:cNvPr id="318491" name="Straight Connector 318490"/>
          <p:cNvSpPr/>
          <p:nvPr/>
        </p:nvSpPr>
        <p:spPr>
          <a:xfrm>
            <a:off x="3678238" y="3429000"/>
            <a:ext cx="2438400" cy="0"/>
          </a:xfrm>
          <a:prstGeom prst="line">
            <a:avLst/>
          </a:prstGeom>
          <a:ln w="9525" cap="flat" cmpd="sng">
            <a:solidFill>
              <a:srgbClr val="9900FF"/>
            </a:solidFill>
            <a:prstDash val="solid"/>
            <a:headEnd type="none" w="med" len="med"/>
            <a:tailEnd type="none" w="med" len="med"/>
          </a:ln>
        </p:spPr>
      </p:sp>
      <p:sp>
        <p:nvSpPr>
          <p:cNvPr id="318492" name="Straight Connector 318491"/>
          <p:cNvSpPr/>
          <p:nvPr/>
        </p:nvSpPr>
        <p:spPr>
          <a:xfrm>
            <a:off x="3678238" y="3429000"/>
            <a:ext cx="0" cy="76200"/>
          </a:xfrm>
          <a:prstGeom prst="line">
            <a:avLst/>
          </a:prstGeom>
          <a:ln w="9525" cap="flat" cmpd="sng">
            <a:solidFill>
              <a:srgbClr val="9900FF"/>
            </a:solidFill>
            <a:prstDash val="solid"/>
            <a:headEnd type="none" w="med" len="med"/>
            <a:tailEnd type="none" w="med" len="med"/>
          </a:ln>
        </p:spPr>
      </p:sp>
      <p:sp>
        <p:nvSpPr>
          <p:cNvPr id="318493" name="Straight Connector 318492"/>
          <p:cNvSpPr/>
          <p:nvPr/>
        </p:nvSpPr>
        <p:spPr>
          <a:xfrm>
            <a:off x="6116638" y="3429000"/>
            <a:ext cx="0" cy="76200"/>
          </a:xfrm>
          <a:prstGeom prst="line">
            <a:avLst/>
          </a:prstGeom>
          <a:ln w="9525" cap="flat" cmpd="sng">
            <a:solidFill>
              <a:srgbClr val="9900FF"/>
            </a:solidFill>
            <a:prstDash val="solid"/>
            <a:headEnd type="none" w="med" len="med"/>
            <a:tailEnd type="none" w="med" len="med"/>
          </a:ln>
        </p:spPr>
      </p:sp>
      <p:sp>
        <p:nvSpPr>
          <p:cNvPr id="318494" name="Straight Connector 318493"/>
          <p:cNvSpPr/>
          <p:nvPr/>
        </p:nvSpPr>
        <p:spPr>
          <a:xfrm>
            <a:off x="4821238" y="3352800"/>
            <a:ext cx="0" cy="76200"/>
          </a:xfrm>
          <a:prstGeom prst="line">
            <a:avLst/>
          </a:prstGeom>
          <a:ln w="9525" cap="flat" cmpd="sng">
            <a:solidFill>
              <a:srgbClr val="9900FF"/>
            </a:solidFill>
            <a:prstDash val="solid"/>
            <a:headEnd type="none" w="med" len="med"/>
            <a:tailEnd type="none" w="med" len="med"/>
          </a:ln>
        </p:spPr>
      </p:sp>
      <p:sp>
        <p:nvSpPr>
          <p:cNvPr id="318495" name="Isosceles Triangle 318494"/>
          <p:cNvSpPr/>
          <p:nvPr/>
        </p:nvSpPr>
        <p:spPr>
          <a:xfrm>
            <a:off x="4745038" y="32004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8496" name="Rectangles 318495"/>
          <p:cNvSpPr/>
          <p:nvPr/>
        </p:nvSpPr>
        <p:spPr>
          <a:xfrm>
            <a:off x="2209800" y="4970463"/>
            <a:ext cx="900113" cy="325437"/>
          </a:xfrm>
          <a:prstGeom prst="rect">
            <a:avLst/>
          </a:prstGeom>
          <a:noFill/>
          <a:ln w="9525">
            <a:noFill/>
          </a:ln>
        </p:spPr>
        <p:txBody>
          <a:bodyPr anchor="ctr" anchorCtr="0">
            <a:spAutoFit/>
          </a:bodyPr>
          <a:lstStyle/>
          <a:p>
            <a:pPr algn="ctr">
              <a:lnSpc>
                <a:spcPct val="30000"/>
              </a:lnSpc>
            </a:pPr>
            <a:r>
              <a:rPr sz="1400">
                <a:latin typeface="Times New Roman" panose="02020603050405020304" pitchFamily="18" charset="0"/>
              </a:rPr>
              <a:t>In-State</a:t>
            </a:r>
          </a:p>
          <a:p>
            <a:pPr algn="ctr">
              <a:lnSpc>
                <a:spcPct val="30000"/>
              </a:lnSpc>
            </a:pPr>
            <a:r>
              <a:rPr sz="1400">
                <a:latin typeface="Times New Roman" panose="02020603050405020304" pitchFamily="18" charset="0"/>
              </a:rPr>
              <a:t>Student</a:t>
            </a:r>
          </a:p>
        </p:txBody>
      </p:sp>
      <p:sp>
        <p:nvSpPr>
          <p:cNvPr id="318499" name="Rectangles 318498"/>
          <p:cNvSpPr/>
          <p:nvPr/>
        </p:nvSpPr>
        <p:spPr>
          <a:xfrm>
            <a:off x="2133600" y="4908550"/>
            <a:ext cx="1019175" cy="9906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8500" name="Straight Connector 318499"/>
          <p:cNvSpPr/>
          <p:nvPr/>
        </p:nvSpPr>
        <p:spPr>
          <a:xfrm>
            <a:off x="2133600" y="5289550"/>
            <a:ext cx="1019175" cy="0"/>
          </a:xfrm>
          <a:prstGeom prst="line">
            <a:avLst/>
          </a:prstGeom>
          <a:ln w="9525" cap="flat" cmpd="sng">
            <a:solidFill>
              <a:srgbClr val="9900FF"/>
            </a:solidFill>
            <a:prstDash val="solid"/>
            <a:headEnd type="none" w="med" len="med"/>
            <a:tailEnd type="none" w="med" len="med"/>
          </a:ln>
        </p:spPr>
      </p:sp>
      <p:sp>
        <p:nvSpPr>
          <p:cNvPr id="318501" name="Straight Connector 318500"/>
          <p:cNvSpPr/>
          <p:nvPr/>
        </p:nvSpPr>
        <p:spPr>
          <a:xfrm>
            <a:off x="2133600" y="5715000"/>
            <a:ext cx="990600" cy="0"/>
          </a:xfrm>
          <a:prstGeom prst="line">
            <a:avLst/>
          </a:prstGeom>
          <a:ln w="9525" cap="flat" cmpd="sng">
            <a:solidFill>
              <a:srgbClr val="9900FF"/>
            </a:solidFill>
            <a:prstDash val="solid"/>
            <a:headEnd type="none" w="med" len="med"/>
            <a:tailEnd type="none" w="med" len="med"/>
          </a:ln>
        </p:spPr>
      </p:sp>
      <p:sp>
        <p:nvSpPr>
          <p:cNvPr id="318503" name="Rectangles 318502"/>
          <p:cNvSpPr/>
          <p:nvPr/>
        </p:nvSpPr>
        <p:spPr>
          <a:xfrm>
            <a:off x="4572000" y="5257800"/>
            <a:ext cx="990600" cy="366713"/>
          </a:xfrm>
          <a:prstGeom prst="rect">
            <a:avLst/>
          </a:prstGeom>
          <a:noFill/>
          <a:ln w="9525">
            <a:noFill/>
          </a:ln>
        </p:spPr>
        <p:txBody>
          <a:bodyPr anchor="ctr" anchorCtr="0">
            <a:spAutoFit/>
          </a:bodyPr>
          <a:lstStyle/>
          <a:p>
            <a:pPr algn="ctr"/>
            <a:r>
              <a:rPr sz="1800">
                <a:latin typeface="Times New Roman" panose="02020603050405020304" pitchFamily="18" charset="0"/>
              </a:rPr>
              <a:t>state</a:t>
            </a:r>
          </a:p>
        </p:txBody>
      </p:sp>
      <p:sp>
        <p:nvSpPr>
          <p:cNvPr id="318505" name="Rectangles 318504"/>
          <p:cNvSpPr/>
          <p:nvPr/>
        </p:nvSpPr>
        <p:spPr>
          <a:xfrm>
            <a:off x="4572000" y="4908550"/>
            <a:ext cx="1019175" cy="9906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8506" name="Straight Connector 318505"/>
          <p:cNvSpPr/>
          <p:nvPr/>
        </p:nvSpPr>
        <p:spPr>
          <a:xfrm>
            <a:off x="4572000" y="5289550"/>
            <a:ext cx="1019175" cy="0"/>
          </a:xfrm>
          <a:prstGeom prst="line">
            <a:avLst/>
          </a:prstGeom>
          <a:ln w="9525" cap="flat" cmpd="sng">
            <a:solidFill>
              <a:srgbClr val="9900FF"/>
            </a:solidFill>
            <a:prstDash val="solid"/>
            <a:headEnd type="none" w="med" len="med"/>
            <a:tailEnd type="none" w="med" len="med"/>
          </a:ln>
        </p:spPr>
      </p:sp>
      <p:sp>
        <p:nvSpPr>
          <p:cNvPr id="318507" name="Straight Connector 318506"/>
          <p:cNvSpPr/>
          <p:nvPr/>
        </p:nvSpPr>
        <p:spPr>
          <a:xfrm>
            <a:off x="4572000" y="5638800"/>
            <a:ext cx="990600" cy="0"/>
          </a:xfrm>
          <a:prstGeom prst="line">
            <a:avLst/>
          </a:prstGeom>
          <a:ln w="9525" cap="flat" cmpd="sng">
            <a:solidFill>
              <a:srgbClr val="9900FF"/>
            </a:solidFill>
            <a:prstDash val="solid"/>
            <a:headEnd type="none" w="med" len="med"/>
            <a:tailEnd type="none" w="med" len="med"/>
          </a:ln>
        </p:spPr>
      </p:sp>
      <p:sp>
        <p:nvSpPr>
          <p:cNvPr id="318508" name="Straight Connector 318507"/>
          <p:cNvSpPr/>
          <p:nvPr/>
        </p:nvSpPr>
        <p:spPr>
          <a:xfrm>
            <a:off x="2608263" y="4800600"/>
            <a:ext cx="2438400" cy="0"/>
          </a:xfrm>
          <a:prstGeom prst="line">
            <a:avLst/>
          </a:prstGeom>
          <a:ln w="9525" cap="flat" cmpd="sng">
            <a:solidFill>
              <a:srgbClr val="9900FF"/>
            </a:solidFill>
            <a:prstDash val="solid"/>
            <a:headEnd type="none" w="med" len="med"/>
            <a:tailEnd type="none" w="med" len="med"/>
          </a:ln>
        </p:spPr>
      </p:sp>
      <p:sp>
        <p:nvSpPr>
          <p:cNvPr id="318509" name="Straight Connector 318508"/>
          <p:cNvSpPr/>
          <p:nvPr/>
        </p:nvSpPr>
        <p:spPr>
          <a:xfrm>
            <a:off x="2608263" y="4800600"/>
            <a:ext cx="0" cy="76200"/>
          </a:xfrm>
          <a:prstGeom prst="line">
            <a:avLst/>
          </a:prstGeom>
          <a:ln w="9525" cap="flat" cmpd="sng">
            <a:solidFill>
              <a:srgbClr val="9900FF"/>
            </a:solidFill>
            <a:prstDash val="solid"/>
            <a:headEnd type="none" w="med" len="med"/>
            <a:tailEnd type="none" w="med" len="med"/>
          </a:ln>
        </p:spPr>
      </p:sp>
      <p:sp>
        <p:nvSpPr>
          <p:cNvPr id="318510" name="Straight Connector 318509"/>
          <p:cNvSpPr/>
          <p:nvPr/>
        </p:nvSpPr>
        <p:spPr>
          <a:xfrm>
            <a:off x="5046663" y="4800600"/>
            <a:ext cx="0" cy="76200"/>
          </a:xfrm>
          <a:prstGeom prst="line">
            <a:avLst/>
          </a:prstGeom>
          <a:ln w="9525" cap="flat" cmpd="sng">
            <a:solidFill>
              <a:srgbClr val="9900FF"/>
            </a:solidFill>
            <a:prstDash val="solid"/>
            <a:headEnd type="none" w="med" len="med"/>
            <a:tailEnd type="none" w="med" len="med"/>
          </a:ln>
        </p:spPr>
      </p:sp>
      <p:sp>
        <p:nvSpPr>
          <p:cNvPr id="318511" name="Straight Connector 318510"/>
          <p:cNvSpPr/>
          <p:nvPr/>
        </p:nvSpPr>
        <p:spPr>
          <a:xfrm>
            <a:off x="3751263" y="4724400"/>
            <a:ext cx="0" cy="76200"/>
          </a:xfrm>
          <a:prstGeom prst="line">
            <a:avLst/>
          </a:prstGeom>
          <a:ln w="9525" cap="flat" cmpd="sng">
            <a:solidFill>
              <a:srgbClr val="9900FF"/>
            </a:solidFill>
            <a:prstDash val="solid"/>
            <a:headEnd type="none" w="med" len="med"/>
            <a:tailEnd type="none" w="med" len="med"/>
          </a:ln>
        </p:spPr>
      </p:sp>
      <p:sp>
        <p:nvSpPr>
          <p:cNvPr id="318512" name="Isosceles Triangle 318511"/>
          <p:cNvSpPr/>
          <p:nvPr/>
        </p:nvSpPr>
        <p:spPr>
          <a:xfrm>
            <a:off x="3675063" y="4572000"/>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18514" name="Text Box 318513"/>
          <p:cNvSpPr txBox="1"/>
          <p:nvPr/>
        </p:nvSpPr>
        <p:spPr>
          <a:xfrm>
            <a:off x="2133600" y="5638800"/>
            <a:ext cx="963613" cy="304800"/>
          </a:xfrm>
          <a:prstGeom prst="rect">
            <a:avLst/>
          </a:prstGeom>
          <a:noFill/>
          <a:ln w="9525">
            <a:noFill/>
          </a:ln>
        </p:spPr>
        <p:txBody>
          <a:bodyPr wrap="none" anchor="t" anchorCtr="0">
            <a:spAutoFit/>
          </a:bodyPr>
          <a:lstStyle/>
          <a:p>
            <a:r>
              <a:rPr sz="1400">
                <a:solidFill>
                  <a:srgbClr val="3333CC"/>
                </a:solidFill>
                <a:latin typeface="Times New Roman" panose="02020603050405020304" pitchFamily="18" charset="0"/>
              </a:rPr>
              <a:t>payTuition</a:t>
            </a:r>
          </a:p>
        </p:txBody>
      </p:sp>
      <p:sp>
        <p:nvSpPr>
          <p:cNvPr id="318516" name="Text Box 318515"/>
          <p:cNvSpPr txBox="1"/>
          <p:nvPr/>
        </p:nvSpPr>
        <p:spPr>
          <a:xfrm>
            <a:off x="4572000" y="5638800"/>
            <a:ext cx="963613" cy="304800"/>
          </a:xfrm>
          <a:prstGeom prst="rect">
            <a:avLst/>
          </a:prstGeom>
          <a:noFill/>
          <a:ln w="9525">
            <a:noFill/>
          </a:ln>
        </p:spPr>
        <p:txBody>
          <a:bodyPr wrap="none" anchor="t" anchorCtr="0">
            <a:spAutoFit/>
          </a:bodyPr>
          <a:lstStyle/>
          <a:p>
            <a:r>
              <a:rPr sz="1400">
                <a:solidFill>
                  <a:srgbClr val="3333CC"/>
                </a:solidFill>
                <a:latin typeface="Times New Roman" panose="02020603050405020304" pitchFamily="18" charset="0"/>
              </a:rPr>
              <a:t>payTuition</a:t>
            </a:r>
          </a:p>
        </p:txBody>
      </p:sp>
      <p:sp>
        <p:nvSpPr>
          <p:cNvPr id="318517" name="Rectangles 318516"/>
          <p:cNvSpPr/>
          <p:nvPr/>
        </p:nvSpPr>
        <p:spPr>
          <a:xfrm>
            <a:off x="4495800" y="4984750"/>
            <a:ext cx="1143000" cy="325438"/>
          </a:xfrm>
          <a:prstGeom prst="rect">
            <a:avLst/>
          </a:prstGeom>
          <a:noFill/>
          <a:ln w="9525">
            <a:noFill/>
          </a:ln>
        </p:spPr>
        <p:txBody>
          <a:bodyPr anchor="ctr" anchorCtr="0">
            <a:spAutoFit/>
          </a:bodyPr>
          <a:lstStyle/>
          <a:p>
            <a:pPr algn="ctr">
              <a:lnSpc>
                <a:spcPct val="30000"/>
              </a:lnSpc>
            </a:pPr>
            <a:r>
              <a:rPr sz="1400">
                <a:latin typeface="Times New Roman" panose="02020603050405020304" pitchFamily="18" charset="0"/>
              </a:rPr>
              <a:t>Out-of-State</a:t>
            </a:r>
          </a:p>
          <a:p>
            <a:pPr algn="ctr">
              <a:lnSpc>
                <a:spcPct val="30000"/>
              </a:lnSpc>
            </a:pPr>
            <a:r>
              <a:rPr sz="1400">
                <a:latin typeface="Times New Roman" panose="02020603050405020304" pitchFamily="18" charset="0"/>
              </a:rPr>
              <a:t>Student</a:t>
            </a:r>
          </a:p>
        </p:txBody>
      </p:sp>
      <p:sp>
        <p:nvSpPr>
          <p:cNvPr id="318530" name="Straight Connector 318529"/>
          <p:cNvSpPr/>
          <p:nvPr/>
        </p:nvSpPr>
        <p:spPr>
          <a:xfrm>
            <a:off x="1752600" y="4038600"/>
            <a:ext cx="1447800" cy="0"/>
          </a:xfrm>
          <a:prstGeom prst="line">
            <a:avLst/>
          </a:prstGeom>
          <a:ln w="9525" cap="flat" cmpd="sng">
            <a:solidFill>
              <a:srgbClr val="9900FF"/>
            </a:solidFill>
            <a:prstDash val="solid"/>
            <a:headEnd type="none" w="med" len="med"/>
            <a:tailEnd type="arrow" w="med" len="med"/>
          </a:ln>
        </p:spPr>
      </p:sp>
      <p:sp>
        <p:nvSpPr>
          <p:cNvPr id="318531" name="Text Box 318530"/>
          <p:cNvSpPr txBox="1"/>
          <p:nvPr/>
        </p:nvSpPr>
        <p:spPr>
          <a:xfrm>
            <a:off x="1981200" y="3733800"/>
            <a:ext cx="963613" cy="304800"/>
          </a:xfrm>
          <a:prstGeom prst="rect">
            <a:avLst/>
          </a:prstGeom>
          <a:noFill/>
          <a:ln w="9525">
            <a:noFill/>
          </a:ln>
        </p:spPr>
        <p:txBody>
          <a:bodyPr wrap="none" anchor="t" anchorCtr="0">
            <a:spAutoFit/>
          </a:bodyPr>
          <a:lstStyle/>
          <a:p>
            <a:r>
              <a:rPr sz="1400">
                <a:solidFill>
                  <a:srgbClr val="3333CC"/>
                </a:solidFill>
                <a:latin typeface="Times New Roman" panose="02020603050405020304" pitchFamily="18" charset="0"/>
              </a:rPr>
              <a:t>payTuition</a:t>
            </a:r>
          </a:p>
        </p:txBody>
      </p:sp>
      <p:pic>
        <p:nvPicPr>
          <p:cNvPr id="4" name="Picture 3">
            <a:extLst>
              <a:ext uri="{FF2B5EF4-FFF2-40B4-BE49-F238E27FC236}">
                <a16:creationId xmlns:a16="http://schemas.microsoft.com/office/drawing/2014/main" id="{2C8BB7E8-55C8-D7B3-C780-52CFC3A1B1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5" name="Rectangle 4">
            <a:extLst>
              <a:ext uri="{FF2B5EF4-FFF2-40B4-BE49-F238E27FC236}">
                <a16:creationId xmlns:a16="http://schemas.microsoft.com/office/drawing/2014/main" id="{55E773FC-2D40-495C-9DB8-8B8DA5408136}"/>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F611AD0-3163-7747-2CF8-8BDCD5A7B5DA}"/>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20</a:t>
            </a:fld>
            <a:endParaRPr lang="en-US">
              <a:latin typeface="Arial" panose="020B0604020202020204" pitchFamily="34" charset="0"/>
            </a:endParaRPr>
          </a:p>
        </p:txBody>
      </p:sp>
      <p:sp>
        <p:nvSpPr>
          <p:cNvPr id="320518" name="Text Box 320517"/>
          <p:cNvSpPr txBox="1"/>
          <p:nvPr/>
        </p:nvSpPr>
        <p:spPr>
          <a:xfrm>
            <a:off x="23813" y="244475"/>
            <a:ext cx="8129587" cy="954107"/>
          </a:xfrm>
          <a:prstGeom prst="rect">
            <a:avLst/>
          </a:prstGeom>
          <a:noFill/>
          <a:ln w="9525">
            <a:noFill/>
          </a:ln>
        </p:spPr>
        <p:txBody>
          <a:bodyPr>
            <a:spAutoFit/>
          </a:bodyPr>
          <a:lstStyle/>
          <a:p>
            <a:pPr algn="ctr">
              <a:spcBef>
                <a:spcPct val="0"/>
              </a:spcBef>
            </a:pPr>
            <a:r>
              <a:rPr sz="3200" b="1" dirty="0">
                <a:solidFill>
                  <a:schemeClr val="tx1">
                    <a:lumMod val="65000"/>
                    <a:lumOff val="35000"/>
                  </a:schemeClr>
                </a:solidFill>
                <a:latin typeface="Arial" panose="020B0604020202020204" pitchFamily="34" charset="0"/>
              </a:rPr>
              <a:t>What is Object-Orientation</a:t>
            </a:r>
            <a:endParaRPr sz="2000" b="1" dirty="0">
              <a:solidFill>
                <a:schemeClr val="tx1">
                  <a:lumMod val="65000"/>
                  <a:lumOff val="35000"/>
                </a:schemeClr>
              </a:solidFill>
              <a:latin typeface="Arial" panose="020B0604020202020204" pitchFamily="34" charset="0"/>
            </a:endParaRPr>
          </a:p>
          <a:p>
            <a:pPr algn="ctr">
              <a:spcBef>
                <a:spcPct val="0"/>
              </a:spcBef>
            </a:pPr>
            <a:r>
              <a:rPr dirty="0">
                <a:solidFill>
                  <a:schemeClr val="bg1"/>
                </a:solidFill>
                <a:latin typeface="Arial" panose="020B0604020202020204" pitchFamily="34" charset="0"/>
              </a:rPr>
              <a:t>- Interfaces</a:t>
            </a:r>
          </a:p>
        </p:txBody>
      </p:sp>
      <p:sp>
        <p:nvSpPr>
          <p:cNvPr id="320519" name="Text Box 320518"/>
          <p:cNvSpPr txBox="1"/>
          <p:nvPr/>
        </p:nvSpPr>
        <p:spPr>
          <a:xfrm>
            <a:off x="1889125" y="5446713"/>
            <a:ext cx="184150" cy="366712"/>
          </a:xfrm>
          <a:prstGeom prst="rect">
            <a:avLst/>
          </a:prstGeom>
          <a:noFill/>
          <a:ln w="9525">
            <a:noFill/>
          </a:ln>
        </p:spPr>
        <p:txBody>
          <a:bodyPr wrap="none" anchor="t" anchorCtr="0">
            <a:spAutoFit/>
          </a:bodyPr>
          <a:lstStyle/>
          <a:p>
            <a:pPr algn="ctr">
              <a:spcBef>
                <a:spcPct val="0"/>
              </a:spcBef>
            </a:pPr>
            <a:endParaRPr sz="1800">
              <a:latin typeface="Arial" panose="020B0604020202020204" pitchFamily="34" charset="0"/>
            </a:endParaRPr>
          </a:p>
        </p:txBody>
      </p:sp>
      <p:sp>
        <p:nvSpPr>
          <p:cNvPr id="320520" name="Rectangles 320519"/>
          <p:cNvSpPr/>
          <p:nvPr/>
        </p:nvSpPr>
        <p:spPr>
          <a:xfrm>
            <a:off x="457200" y="1524000"/>
            <a:ext cx="8534400" cy="1739900"/>
          </a:xfrm>
          <a:prstGeom prst="rect">
            <a:avLst/>
          </a:prstGeom>
          <a:noFill/>
          <a:ln w="9525">
            <a:noFill/>
          </a:ln>
        </p:spPr>
        <p:txBody>
          <a:bodyPr>
            <a:spAutoFit/>
          </a:bodyPr>
          <a:lstStyle/>
          <a:p>
            <a:pPr>
              <a:spcBef>
                <a:spcPct val="0"/>
              </a:spcBef>
              <a:buChar char="•"/>
            </a:pPr>
            <a:r>
              <a:rPr sz="1800" dirty="0">
                <a:latin typeface="Arial" panose="020B0604020202020204" pitchFamily="34" charset="0"/>
              </a:rPr>
              <a:t>  Information hiding - all data should be hidden within a class, at least in principle.</a:t>
            </a:r>
          </a:p>
          <a:p>
            <a:pPr>
              <a:spcBef>
                <a:spcPct val="0"/>
              </a:spcBef>
              <a:buChar char="•"/>
            </a:pPr>
            <a:r>
              <a:rPr sz="1800" dirty="0">
                <a:latin typeface="Arial" panose="020B0604020202020204" pitchFamily="34" charset="0"/>
              </a:rPr>
              <a:t>  make all data attributes private</a:t>
            </a:r>
          </a:p>
          <a:p>
            <a:pPr>
              <a:spcBef>
                <a:spcPct val="0"/>
              </a:spcBef>
              <a:buChar char="•"/>
            </a:pPr>
            <a:r>
              <a:rPr sz="1800" dirty="0">
                <a:latin typeface="Arial" panose="020B0604020202020204" pitchFamily="34" charset="0"/>
              </a:rPr>
              <a:t>  provide public methods to get and set the data values </a:t>
            </a:r>
            <a:r>
              <a:rPr sz="1600" dirty="0">
                <a:latin typeface="Arial" panose="020B0604020202020204" pitchFamily="34" charset="0"/>
              </a:rPr>
              <a:t>(cf. Java design patterns)</a:t>
            </a:r>
          </a:p>
          <a:p>
            <a:pPr>
              <a:spcBef>
                <a:spcPct val="0"/>
              </a:spcBef>
              <a:buChar char="•"/>
            </a:pPr>
            <a:r>
              <a:rPr sz="1800" dirty="0">
                <a:latin typeface="Arial" panose="020B0604020202020204" pitchFamily="34" charset="0"/>
              </a:rPr>
              <a:t>  e.g. Grade information is usually confidential, hence it should be kept </a:t>
            </a:r>
          </a:p>
          <a:p>
            <a:pPr>
              <a:spcBef>
                <a:spcPct val="0"/>
              </a:spcBef>
            </a:pPr>
            <a:r>
              <a:rPr sz="1800" dirty="0">
                <a:latin typeface="Arial" panose="020B0604020202020204" pitchFamily="34" charset="0"/>
              </a:rPr>
              <a:t>           private to the student.  Access to the grade information should be </a:t>
            </a:r>
          </a:p>
          <a:p>
            <a:pPr>
              <a:spcBef>
                <a:spcPct val="0"/>
              </a:spcBef>
            </a:pPr>
            <a:r>
              <a:rPr sz="1800" dirty="0">
                <a:latin typeface="Arial" panose="020B0604020202020204" pitchFamily="34" charset="0"/>
              </a:rPr>
              <a:t>           done through </a:t>
            </a:r>
            <a:r>
              <a:rPr sz="1800" i="1" dirty="0">
                <a:solidFill>
                  <a:srgbClr val="FF00FF"/>
                </a:solidFill>
                <a:latin typeface="Arial" panose="020B0604020202020204" pitchFamily="34" charset="0"/>
              </a:rPr>
              <a:t>interfaces</a:t>
            </a:r>
            <a:r>
              <a:rPr sz="1800" dirty="0">
                <a:latin typeface="Arial" panose="020B0604020202020204" pitchFamily="34" charset="0"/>
              </a:rPr>
              <a:t>, such as </a:t>
            </a:r>
            <a:r>
              <a:rPr sz="1800" dirty="0" err="1">
                <a:solidFill>
                  <a:srgbClr val="FF00FF"/>
                </a:solidFill>
                <a:latin typeface="Arial" panose="020B0604020202020204" pitchFamily="34" charset="0"/>
              </a:rPr>
              <a:t>setGrade</a:t>
            </a:r>
            <a:r>
              <a:rPr sz="1800" dirty="0">
                <a:latin typeface="Arial" panose="020B0604020202020204" pitchFamily="34" charset="0"/>
              </a:rPr>
              <a:t> and </a:t>
            </a:r>
            <a:r>
              <a:rPr sz="1800" dirty="0" err="1">
                <a:solidFill>
                  <a:srgbClr val="FF00FF"/>
                </a:solidFill>
                <a:latin typeface="Arial" panose="020B0604020202020204" pitchFamily="34" charset="0"/>
              </a:rPr>
              <a:t>getGrade</a:t>
            </a:r>
            <a:endParaRPr sz="1800" dirty="0">
              <a:solidFill>
                <a:srgbClr val="FF00FF"/>
              </a:solidFill>
              <a:latin typeface="Arial" panose="020B0604020202020204" pitchFamily="34" charset="0"/>
            </a:endParaRPr>
          </a:p>
        </p:txBody>
      </p:sp>
      <p:sp>
        <p:nvSpPr>
          <p:cNvPr id="320524" name="Text Box 320523"/>
          <p:cNvSpPr txBox="1"/>
          <p:nvPr/>
        </p:nvSpPr>
        <p:spPr>
          <a:xfrm>
            <a:off x="4170363" y="4373563"/>
            <a:ext cx="954087" cy="942975"/>
          </a:xfrm>
          <a:prstGeom prst="rect">
            <a:avLst/>
          </a:prstGeom>
          <a:noFill/>
          <a:ln w="9525">
            <a:noFill/>
          </a:ln>
        </p:spPr>
        <p:txBody>
          <a:bodyPr wrap="none" anchor="t" anchorCtr="0">
            <a:spAutoFit/>
          </a:bodyPr>
          <a:lstStyle/>
          <a:p>
            <a:r>
              <a:rPr sz="1400" i="1">
                <a:solidFill>
                  <a:srgbClr val="3333CC"/>
                </a:solidFill>
                <a:latin typeface="Times New Roman" panose="02020603050405020304" pitchFamily="18" charset="0"/>
              </a:rPr>
              <a:t>payTuition</a:t>
            </a:r>
          </a:p>
          <a:p>
            <a:r>
              <a:rPr sz="1400">
                <a:solidFill>
                  <a:srgbClr val="3333CC"/>
                </a:solidFill>
                <a:latin typeface="Times New Roman" panose="02020603050405020304" pitchFamily="18" charset="0"/>
              </a:rPr>
              <a:t>setGrade()</a:t>
            </a:r>
          </a:p>
          <a:p>
            <a:r>
              <a:rPr sz="1400">
                <a:solidFill>
                  <a:srgbClr val="3333CC"/>
                </a:solidFill>
                <a:latin typeface="Times New Roman" panose="02020603050405020304" pitchFamily="18" charset="0"/>
              </a:rPr>
              <a:t>getGrade()</a:t>
            </a:r>
          </a:p>
        </p:txBody>
      </p:sp>
      <p:sp>
        <p:nvSpPr>
          <p:cNvPr id="320525" name="Rectangles 320524"/>
          <p:cNvSpPr/>
          <p:nvPr/>
        </p:nvSpPr>
        <p:spPr>
          <a:xfrm>
            <a:off x="4191000" y="3657600"/>
            <a:ext cx="893763" cy="366713"/>
          </a:xfrm>
          <a:prstGeom prst="rect">
            <a:avLst/>
          </a:prstGeom>
          <a:noFill/>
          <a:ln w="9525">
            <a:noFill/>
          </a:ln>
        </p:spPr>
        <p:txBody>
          <a:bodyPr anchor="ctr" anchorCtr="0">
            <a:spAutoFit/>
          </a:bodyPr>
          <a:lstStyle/>
          <a:p>
            <a:pPr algn="ctr"/>
            <a:r>
              <a:rPr sz="1800">
                <a:latin typeface="Times New Roman" panose="02020603050405020304" pitchFamily="18" charset="0"/>
              </a:rPr>
              <a:t>Student</a:t>
            </a:r>
          </a:p>
        </p:txBody>
      </p:sp>
      <p:sp>
        <p:nvSpPr>
          <p:cNvPr id="320526" name="Rectangles 320525"/>
          <p:cNvSpPr/>
          <p:nvPr/>
        </p:nvSpPr>
        <p:spPr>
          <a:xfrm>
            <a:off x="4094163" y="4106863"/>
            <a:ext cx="990600" cy="395287"/>
          </a:xfrm>
          <a:prstGeom prst="rect">
            <a:avLst/>
          </a:prstGeom>
          <a:noFill/>
          <a:ln w="9525">
            <a:noFill/>
          </a:ln>
        </p:spPr>
        <p:txBody>
          <a:bodyPr anchor="ctr" anchorCtr="0">
            <a:spAutoFit/>
          </a:bodyPr>
          <a:lstStyle/>
          <a:p>
            <a:pPr algn="ctr">
              <a:lnSpc>
                <a:spcPct val="30000"/>
              </a:lnSpc>
            </a:pPr>
            <a:r>
              <a:rPr sz="1800">
                <a:latin typeface="Times New Roman" panose="02020603050405020304" pitchFamily="18" charset="0"/>
              </a:rPr>
              <a:t>std-id</a:t>
            </a:r>
          </a:p>
          <a:p>
            <a:pPr algn="ctr">
              <a:lnSpc>
                <a:spcPct val="30000"/>
              </a:lnSpc>
            </a:pPr>
            <a:r>
              <a:rPr sz="1800">
                <a:latin typeface="Times New Roman" panose="02020603050405020304" pitchFamily="18" charset="0"/>
              </a:rPr>
              <a:t>level</a:t>
            </a:r>
          </a:p>
        </p:txBody>
      </p:sp>
      <p:sp>
        <p:nvSpPr>
          <p:cNvPr id="320527" name="Rectangles 320526"/>
          <p:cNvSpPr/>
          <p:nvPr/>
        </p:nvSpPr>
        <p:spPr>
          <a:xfrm>
            <a:off x="4097338" y="3643313"/>
            <a:ext cx="1008062" cy="1614487"/>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20528" name="Straight Connector 320527"/>
          <p:cNvSpPr/>
          <p:nvPr/>
        </p:nvSpPr>
        <p:spPr>
          <a:xfrm>
            <a:off x="4097338" y="4024313"/>
            <a:ext cx="1019175" cy="0"/>
          </a:xfrm>
          <a:prstGeom prst="line">
            <a:avLst/>
          </a:prstGeom>
          <a:ln w="9525" cap="flat" cmpd="sng">
            <a:solidFill>
              <a:srgbClr val="9900FF"/>
            </a:solidFill>
            <a:prstDash val="solid"/>
            <a:headEnd type="none" w="med" len="med"/>
            <a:tailEnd type="none" w="med" len="med"/>
          </a:ln>
        </p:spPr>
      </p:sp>
      <p:sp>
        <p:nvSpPr>
          <p:cNvPr id="320529" name="Straight Connector 320528"/>
          <p:cNvSpPr/>
          <p:nvPr/>
        </p:nvSpPr>
        <p:spPr>
          <a:xfrm>
            <a:off x="4094163" y="4449763"/>
            <a:ext cx="990600" cy="0"/>
          </a:xfrm>
          <a:prstGeom prst="line">
            <a:avLst/>
          </a:prstGeom>
          <a:ln w="9525" cap="flat" cmpd="sng">
            <a:solidFill>
              <a:srgbClr val="9900FF"/>
            </a:solidFill>
            <a:prstDash val="solid"/>
            <a:headEnd type="none" w="med" len="med"/>
            <a:tailEnd type="none" w="med" len="med"/>
          </a:ln>
        </p:spPr>
      </p:sp>
      <p:sp>
        <p:nvSpPr>
          <p:cNvPr id="320531" name="Rectangles 320530"/>
          <p:cNvSpPr/>
          <p:nvPr/>
        </p:nvSpPr>
        <p:spPr>
          <a:xfrm>
            <a:off x="4038600" y="4648200"/>
            <a:ext cx="152400" cy="152400"/>
          </a:xfrm>
          <a:prstGeom prst="rect">
            <a:avLst/>
          </a:prstGeom>
          <a:solidFill>
            <a:schemeClr val="tx2"/>
          </a:solidFill>
          <a:ln w="9525" cap="flat" cmpd="sng">
            <a:solidFill>
              <a:srgbClr val="9900FF"/>
            </a:solidFill>
            <a:prstDash val="solid"/>
            <a:miter/>
            <a:headEnd type="none" w="med" len="med"/>
            <a:tailEnd type="none" w="med" len="med"/>
          </a:ln>
        </p:spPr>
        <p:txBody>
          <a:bodyPr/>
          <a:lstStyle/>
          <a:p>
            <a:endParaRPr lang="en-US"/>
          </a:p>
        </p:txBody>
      </p:sp>
      <p:sp>
        <p:nvSpPr>
          <p:cNvPr id="320532" name="Straight Connector 320531"/>
          <p:cNvSpPr/>
          <p:nvPr/>
        </p:nvSpPr>
        <p:spPr>
          <a:xfrm flipH="1" flipV="1">
            <a:off x="2895600" y="4343400"/>
            <a:ext cx="1143000" cy="304800"/>
          </a:xfrm>
          <a:prstGeom prst="line">
            <a:avLst/>
          </a:prstGeom>
          <a:ln w="9525" cap="flat" cmpd="sng">
            <a:solidFill>
              <a:srgbClr val="9900FF"/>
            </a:solidFill>
            <a:prstDash val="solid"/>
            <a:headEnd type="none" w="med" len="med"/>
            <a:tailEnd type="none" w="med" len="med"/>
          </a:ln>
        </p:spPr>
      </p:sp>
      <p:sp>
        <p:nvSpPr>
          <p:cNvPr id="320533" name="Straight Connector 320532"/>
          <p:cNvSpPr/>
          <p:nvPr/>
        </p:nvSpPr>
        <p:spPr>
          <a:xfrm flipH="1">
            <a:off x="2895600" y="4800600"/>
            <a:ext cx="1143000" cy="304800"/>
          </a:xfrm>
          <a:prstGeom prst="line">
            <a:avLst/>
          </a:prstGeom>
          <a:ln w="9525" cap="flat" cmpd="sng">
            <a:solidFill>
              <a:srgbClr val="9900FF"/>
            </a:solidFill>
            <a:prstDash val="solid"/>
            <a:headEnd type="none" w="med" len="med"/>
            <a:tailEnd type="none" w="med" len="med"/>
          </a:ln>
        </p:spPr>
      </p:sp>
      <p:sp>
        <p:nvSpPr>
          <p:cNvPr id="320534" name="Oval 320533"/>
          <p:cNvSpPr/>
          <p:nvPr/>
        </p:nvSpPr>
        <p:spPr>
          <a:xfrm>
            <a:off x="2743200" y="5029200"/>
            <a:ext cx="152400" cy="152400"/>
          </a:xfrm>
          <a:prstGeom prst="ellipse">
            <a:avLst/>
          </a:prstGeom>
          <a:noFill/>
          <a:ln w="9525" cap="flat" cmpd="sng">
            <a:solidFill>
              <a:srgbClr val="9900FF"/>
            </a:solidFill>
            <a:prstDash val="solid"/>
            <a:headEnd type="none" w="med" len="med"/>
            <a:tailEnd type="none" w="med" len="med"/>
          </a:ln>
        </p:spPr>
        <p:txBody>
          <a:bodyPr/>
          <a:lstStyle/>
          <a:p>
            <a:endParaRPr lang="en-US"/>
          </a:p>
        </p:txBody>
      </p:sp>
      <p:sp>
        <p:nvSpPr>
          <p:cNvPr id="320536" name="Rectangles 320535"/>
          <p:cNvSpPr/>
          <p:nvPr/>
        </p:nvSpPr>
        <p:spPr>
          <a:xfrm>
            <a:off x="2209800" y="5105400"/>
            <a:ext cx="1022350" cy="366713"/>
          </a:xfrm>
          <a:prstGeom prst="rect">
            <a:avLst/>
          </a:prstGeom>
          <a:noFill/>
          <a:ln w="9525">
            <a:noFill/>
          </a:ln>
        </p:spPr>
        <p:txBody>
          <a:bodyPr wrap="none" anchor="t" anchorCtr="0">
            <a:spAutoFit/>
          </a:bodyPr>
          <a:lstStyle/>
          <a:p>
            <a:pPr>
              <a:spcBef>
                <a:spcPct val="0"/>
              </a:spcBef>
            </a:pPr>
            <a:r>
              <a:rPr sz="1800">
                <a:solidFill>
                  <a:srgbClr val="9900FF"/>
                </a:solidFill>
                <a:latin typeface="Times New Roman" panose="02020603050405020304" pitchFamily="18" charset="0"/>
              </a:rPr>
              <a:t>getGrade</a:t>
            </a:r>
          </a:p>
        </p:txBody>
      </p:sp>
      <p:sp>
        <p:nvSpPr>
          <p:cNvPr id="320537" name="Rectangles 320536"/>
          <p:cNvSpPr/>
          <p:nvPr/>
        </p:nvSpPr>
        <p:spPr>
          <a:xfrm>
            <a:off x="2209800" y="3886200"/>
            <a:ext cx="996950" cy="366713"/>
          </a:xfrm>
          <a:prstGeom prst="rect">
            <a:avLst/>
          </a:prstGeom>
          <a:noFill/>
          <a:ln w="9525">
            <a:noFill/>
          </a:ln>
        </p:spPr>
        <p:txBody>
          <a:bodyPr wrap="none" anchor="t" anchorCtr="0">
            <a:spAutoFit/>
          </a:bodyPr>
          <a:lstStyle/>
          <a:p>
            <a:pPr>
              <a:spcBef>
                <a:spcPct val="0"/>
              </a:spcBef>
            </a:pPr>
            <a:r>
              <a:rPr sz="1800">
                <a:solidFill>
                  <a:srgbClr val="9900FF"/>
                </a:solidFill>
                <a:latin typeface="Times New Roman" panose="02020603050405020304" pitchFamily="18" charset="0"/>
              </a:rPr>
              <a:t>setGrade</a:t>
            </a:r>
          </a:p>
        </p:txBody>
      </p:sp>
      <p:sp>
        <p:nvSpPr>
          <p:cNvPr id="320538" name="Freeform 320537"/>
          <p:cNvSpPr/>
          <p:nvPr/>
        </p:nvSpPr>
        <p:spPr>
          <a:xfrm>
            <a:off x="2819400" y="4267200"/>
            <a:ext cx="77788" cy="152400"/>
          </a:xfrm>
          <a:custGeom>
            <a:avLst/>
            <a:gdLst>
              <a:gd name="txL" fmla="*/ 0 w 22944"/>
              <a:gd name="txT" fmla="*/ 0 h 43200"/>
              <a:gd name="txR" fmla="*/ 22944 w 22944"/>
              <a:gd name="txB" fmla="*/ 43200 h 43200"/>
            </a:gdLst>
            <a:ahLst/>
            <a:cxnLst>
              <a:cxn ang="270">
                <a:pos x="1344" y="0"/>
              </a:cxn>
              <a:cxn ang="90">
                <a:pos x="0" y="43158"/>
              </a:cxn>
              <a:cxn ang="90">
                <a:pos x="1344" y="21600"/>
              </a:cxn>
            </a:cxnLst>
            <a:rect l="txL" t="txT" r="txR" b="txB"/>
            <a:pathLst>
              <a:path w="22944" h="43200" fill="none">
                <a:moveTo>
                  <a:pt x="1344" y="0"/>
                </a:moveTo>
                <a:arcTo wR="21600" hR="21600" stAng="-5400000" swAng="11014044"/>
              </a:path>
              <a:path w="22944" h="43200" stroke="0">
                <a:moveTo>
                  <a:pt x="1344" y="0"/>
                </a:moveTo>
                <a:arcTo wR="21600" hR="21600" stAng="-5400000" swAng="11014044"/>
                <a:lnTo>
                  <a:pt x="1344" y="21600"/>
                </a:lnTo>
                <a:close/>
              </a:path>
            </a:pathLst>
          </a:custGeom>
          <a:noFill/>
          <a:ln w="9525" cap="flat" cmpd="sng">
            <a:solidFill>
              <a:srgbClr val="9900FF"/>
            </a:solidFill>
            <a:prstDash val="solid"/>
            <a:headEnd type="none" w="med" len="med"/>
            <a:tailEnd type="none" w="med" len="med"/>
          </a:ln>
        </p:spPr>
        <p:txBody>
          <a:bodyPr/>
          <a:lstStyle/>
          <a:p>
            <a:endParaRPr lang="en-US"/>
          </a:p>
        </p:txBody>
      </p:sp>
      <p:sp>
        <p:nvSpPr>
          <p:cNvPr id="320539" name="Rectangles 320538"/>
          <p:cNvSpPr/>
          <p:nvPr/>
        </p:nvSpPr>
        <p:spPr>
          <a:xfrm>
            <a:off x="3352800" y="4495800"/>
            <a:ext cx="692150" cy="366713"/>
          </a:xfrm>
          <a:prstGeom prst="rect">
            <a:avLst/>
          </a:prstGeom>
          <a:noFill/>
          <a:ln w="9525">
            <a:noFill/>
          </a:ln>
        </p:spPr>
        <p:txBody>
          <a:bodyPr wrap="none" anchor="t" anchorCtr="0">
            <a:spAutoFit/>
          </a:bodyPr>
          <a:lstStyle/>
          <a:p>
            <a:pPr>
              <a:spcBef>
                <a:spcPct val="0"/>
              </a:spcBef>
            </a:pPr>
            <a:r>
              <a:rPr sz="1800">
                <a:solidFill>
                  <a:srgbClr val="9900FF"/>
                </a:solidFill>
                <a:latin typeface="Times New Roman" panose="02020603050405020304" pitchFamily="18" charset="0"/>
              </a:rPr>
              <a:t>grade</a:t>
            </a:r>
          </a:p>
        </p:txBody>
      </p:sp>
      <p:pic>
        <p:nvPicPr>
          <p:cNvPr id="3" name="Picture 2">
            <a:extLst>
              <a:ext uri="{FF2B5EF4-FFF2-40B4-BE49-F238E27FC236}">
                <a16:creationId xmlns:a16="http://schemas.microsoft.com/office/drawing/2014/main" id="{60D2211A-D65D-2B39-42C6-47CAFE5B07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0BFA27C8-4A7E-3545-89B0-7F861AD7A0A1}"/>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5CBD41F-66A8-6FAD-DC7F-F7FE2DA7DB54}"/>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21</a:t>
            </a:fld>
            <a:endParaRPr lang="en-US">
              <a:latin typeface="Arial" panose="020B0604020202020204" pitchFamily="34" charset="0"/>
            </a:endParaRPr>
          </a:p>
        </p:txBody>
      </p:sp>
      <p:sp>
        <p:nvSpPr>
          <p:cNvPr id="322562" name="Title 322561"/>
          <p:cNvSpPr>
            <a:spLocks noGrp="1"/>
          </p:cNvSpPr>
          <p:nvPr>
            <p:ph type="title" idx="4294967295"/>
          </p:nvPr>
        </p:nvSpPr>
        <p:spPr>
          <a:xfrm>
            <a:off x="0" y="228600"/>
            <a:ext cx="8015288" cy="914400"/>
          </a:xfrm>
        </p:spPr>
        <p:txBody>
          <a:bodyPr anchor="ctr" anchorCtr="0">
            <a:normAutofit fontScale="90000"/>
          </a:bodyPr>
          <a:lstStyle/>
          <a:p>
            <a:pPr algn="ctr"/>
            <a:r>
              <a:rPr sz="3800" dirty="0"/>
              <a:t>What is Object-Orientation </a:t>
            </a:r>
            <a:br>
              <a:rPr sz="3800" dirty="0"/>
            </a:br>
            <a:r>
              <a:rPr sz="2400" dirty="0"/>
              <a:t>- Abstract Class vs. Concrete Class</a:t>
            </a:r>
          </a:p>
        </p:txBody>
      </p:sp>
      <p:sp>
        <p:nvSpPr>
          <p:cNvPr id="322563" name="Text Placeholder 322562"/>
          <p:cNvSpPr>
            <a:spLocks noGrp="1"/>
          </p:cNvSpPr>
          <p:nvPr>
            <p:ph type="body" idx="4294967295"/>
          </p:nvPr>
        </p:nvSpPr>
        <p:spPr>
          <a:xfrm>
            <a:off x="0" y="1524000"/>
            <a:ext cx="8229600" cy="2819400"/>
          </a:xfrm>
        </p:spPr>
        <p:txBody>
          <a:bodyPr/>
          <a:lstStyle/>
          <a:p>
            <a:pPr>
              <a:lnSpc>
                <a:spcPct val="90000"/>
              </a:lnSpc>
            </a:pPr>
            <a:r>
              <a:rPr sz="2800"/>
              <a:t>Abstract Class.</a:t>
            </a:r>
          </a:p>
          <a:p>
            <a:pPr lvl="1">
              <a:lnSpc>
                <a:spcPct val="90000"/>
              </a:lnSpc>
            </a:pPr>
            <a:r>
              <a:rPr sz="2200"/>
              <a:t>An </a:t>
            </a:r>
            <a:r>
              <a:rPr sz="2200" i="1"/>
              <a:t>incomplete</a:t>
            </a:r>
            <a:r>
              <a:rPr sz="2200"/>
              <a:t> </a:t>
            </a:r>
            <a:r>
              <a:rPr sz="2200" err="1"/>
              <a:t>superclass</a:t>
            </a:r>
            <a:r>
              <a:rPr sz="2200"/>
              <a:t> that defines common parts.</a:t>
            </a:r>
          </a:p>
          <a:p>
            <a:pPr lvl="1">
              <a:lnSpc>
                <a:spcPct val="90000"/>
              </a:lnSpc>
            </a:pPr>
            <a:r>
              <a:rPr sz="2200"/>
              <a:t>Not instantiated.</a:t>
            </a:r>
          </a:p>
          <a:p>
            <a:pPr>
              <a:lnSpc>
                <a:spcPct val="90000"/>
              </a:lnSpc>
            </a:pPr>
            <a:r>
              <a:rPr sz="2800"/>
              <a:t>Concrete class.</a:t>
            </a:r>
          </a:p>
          <a:p>
            <a:pPr lvl="1">
              <a:lnSpc>
                <a:spcPct val="90000"/>
              </a:lnSpc>
            </a:pPr>
            <a:r>
              <a:rPr sz="2200"/>
              <a:t>Is a </a:t>
            </a:r>
            <a:r>
              <a:rPr sz="2200" i="1"/>
              <a:t>complete</a:t>
            </a:r>
            <a:r>
              <a:rPr sz="2200"/>
              <a:t> class.</a:t>
            </a:r>
          </a:p>
          <a:p>
            <a:pPr lvl="1">
              <a:lnSpc>
                <a:spcPct val="90000"/>
              </a:lnSpc>
            </a:pPr>
            <a:r>
              <a:rPr sz="2200"/>
              <a:t>Describes a concept completely.</a:t>
            </a:r>
          </a:p>
          <a:p>
            <a:pPr lvl="1">
              <a:lnSpc>
                <a:spcPct val="90000"/>
              </a:lnSpc>
            </a:pPr>
            <a:r>
              <a:rPr sz="2200"/>
              <a:t>Is intended to be instantiated.</a:t>
            </a:r>
          </a:p>
          <a:p>
            <a:pPr lvl="1">
              <a:lnSpc>
                <a:spcPct val="90000"/>
              </a:lnSpc>
              <a:buFontTx/>
              <a:buNone/>
            </a:pPr>
            <a:endParaRPr sz="2200"/>
          </a:p>
        </p:txBody>
      </p:sp>
      <p:sp>
        <p:nvSpPr>
          <p:cNvPr id="322564" name="Text Box 322563"/>
          <p:cNvSpPr txBox="1"/>
          <p:nvPr/>
        </p:nvSpPr>
        <p:spPr>
          <a:xfrm>
            <a:off x="2667000" y="4724400"/>
            <a:ext cx="3003550" cy="457200"/>
          </a:xfrm>
          <a:prstGeom prst="rect">
            <a:avLst/>
          </a:prstGeom>
          <a:noFill/>
          <a:ln w="9525">
            <a:noFill/>
          </a:ln>
        </p:spPr>
        <p:txBody>
          <a:bodyPr wrap="none" anchor="t" anchorCtr="0">
            <a:spAutoFit/>
          </a:bodyPr>
          <a:lstStyle/>
          <a:p>
            <a:r>
              <a:rPr b="1" i="1">
                <a:solidFill>
                  <a:srgbClr val="FF00FF"/>
                </a:solidFill>
                <a:latin typeface="Times New Roman" panose="02020603050405020304" pitchFamily="18" charset="0"/>
              </a:rPr>
              <a:t>Work out an example!</a:t>
            </a:r>
          </a:p>
        </p:txBody>
      </p:sp>
      <p:pic>
        <p:nvPicPr>
          <p:cNvPr id="3" name="Picture 2">
            <a:extLst>
              <a:ext uri="{FF2B5EF4-FFF2-40B4-BE49-F238E27FC236}">
                <a16:creationId xmlns:a16="http://schemas.microsoft.com/office/drawing/2014/main" id="{A3761FE5-96BC-057C-10F3-F7AECDF30B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6449C52A-EE7F-2F3D-CFFC-6F9D484C215A}"/>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AC891AB-B88A-20AE-4671-3A751037BF8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22</a:t>
            </a:fld>
            <a:endParaRPr lang="en-US">
              <a:latin typeface="Arial" panose="020B0604020202020204" pitchFamily="34" charset="0"/>
            </a:endParaRPr>
          </a:p>
        </p:txBody>
      </p:sp>
      <p:sp>
        <p:nvSpPr>
          <p:cNvPr id="107522" name="Title 107521"/>
          <p:cNvSpPr>
            <a:spLocks noGrp="1"/>
          </p:cNvSpPr>
          <p:nvPr>
            <p:ph type="title" idx="4294967295"/>
          </p:nvPr>
        </p:nvSpPr>
        <p:spPr>
          <a:xfrm>
            <a:off x="0" y="228600"/>
            <a:ext cx="8015288" cy="914400"/>
          </a:xfrm>
        </p:spPr>
        <p:txBody>
          <a:bodyPr anchor="ctr" anchorCtr="0">
            <a:normAutofit fontScale="90000"/>
          </a:bodyPr>
          <a:lstStyle/>
          <a:p>
            <a:pPr algn="ctr"/>
            <a:r>
              <a:rPr sz="3800" b="1" dirty="0"/>
              <a:t>What is Object-Orientation?</a:t>
            </a:r>
            <a:br>
              <a:rPr sz="3800" dirty="0"/>
            </a:br>
            <a:r>
              <a:rPr sz="2400" dirty="0"/>
              <a:t>-State</a:t>
            </a:r>
          </a:p>
        </p:txBody>
      </p:sp>
      <p:sp>
        <p:nvSpPr>
          <p:cNvPr id="107525" name="Text Placeholder 107524"/>
          <p:cNvSpPr>
            <a:spLocks noGrp="1"/>
          </p:cNvSpPr>
          <p:nvPr>
            <p:ph type="body" idx="4294967295"/>
          </p:nvPr>
        </p:nvSpPr>
        <p:spPr>
          <a:xfrm>
            <a:off x="0" y="1524000"/>
            <a:ext cx="8153400" cy="2362200"/>
          </a:xfrm>
          <a:solidFill>
            <a:srgbClr val="FFFF99">
              <a:alpha val="100000"/>
            </a:srgbClr>
          </a:solidFill>
        </p:spPr>
        <p:txBody>
          <a:bodyPr/>
          <a:lstStyle/>
          <a:p>
            <a:pPr>
              <a:lnSpc>
                <a:spcPct val="80000"/>
              </a:lnSpc>
              <a:spcBef>
                <a:spcPct val="5000"/>
              </a:spcBef>
            </a:pPr>
            <a:r>
              <a:rPr sz="1800" b="1" dirty="0"/>
              <a:t>What is </a:t>
            </a:r>
            <a:r>
              <a:rPr sz="1800" b="1" i="1" dirty="0">
                <a:solidFill>
                  <a:srgbClr val="3333CC"/>
                </a:solidFill>
              </a:rPr>
              <a:t>STATE</a:t>
            </a:r>
            <a:r>
              <a:rPr sz="1800" b="1" dirty="0"/>
              <a:t>?</a:t>
            </a:r>
          </a:p>
          <a:p>
            <a:pPr>
              <a:lnSpc>
                <a:spcPct val="80000"/>
              </a:lnSpc>
              <a:spcBef>
                <a:spcPct val="5000"/>
              </a:spcBef>
              <a:buNone/>
            </a:pPr>
            <a:r>
              <a:rPr sz="2400" b="1" dirty="0"/>
              <a:t>  </a:t>
            </a:r>
            <a:r>
              <a:rPr sz="1600" dirty="0"/>
              <a:t>"State" is a collection of association an object has with </a:t>
            </a:r>
            <a:r>
              <a:rPr sz="1600" dirty="0">
                <a:solidFill>
                  <a:srgbClr val="FF00FF"/>
                </a:solidFill>
              </a:rPr>
              <a:t>other objects</a:t>
            </a:r>
            <a:r>
              <a:rPr sz="1600" dirty="0"/>
              <a:t> and </a:t>
            </a:r>
            <a:r>
              <a:rPr sz="1600" dirty="0">
                <a:solidFill>
                  <a:srgbClr val="FF00FF"/>
                </a:solidFill>
              </a:rPr>
              <a:t>object types</a:t>
            </a:r>
            <a:r>
              <a:rPr sz="1600" dirty="0"/>
              <a:t>.</a:t>
            </a:r>
          </a:p>
          <a:p>
            <a:pPr>
              <a:lnSpc>
                <a:spcPct val="80000"/>
              </a:lnSpc>
              <a:spcBef>
                <a:spcPct val="5000"/>
              </a:spcBef>
              <a:buNone/>
            </a:pPr>
            <a:endParaRPr sz="1600" dirty="0"/>
          </a:p>
          <a:p>
            <a:pPr>
              <a:lnSpc>
                <a:spcPct val="80000"/>
              </a:lnSpc>
              <a:spcBef>
                <a:spcPct val="5000"/>
              </a:spcBef>
            </a:pPr>
            <a:r>
              <a:rPr sz="1800" b="1" dirty="0"/>
              <a:t>What is </a:t>
            </a:r>
            <a:r>
              <a:rPr sz="1800" b="1" i="1" dirty="0">
                <a:solidFill>
                  <a:srgbClr val="3333CC"/>
                </a:solidFill>
              </a:rPr>
              <a:t>STATE CHANGE</a:t>
            </a:r>
            <a:r>
              <a:rPr sz="1800" b="1" dirty="0"/>
              <a:t>?</a:t>
            </a:r>
            <a:r>
              <a:rPr sz="2400" b="1" dirty="0"/>
              <a:t>	</a:t>
            </a:r>
          </a:p>
          <a:p>
            <a:pPr>
              <a:lnSpc>
                <a:spcPct val="80000"/>
              </a:lnSpc>
              <a:spcBef>
                <a:spcPct val="5000"/>
              </a:spcBef>
              <a:buNone/>
            </a:pPr>
            <a:r>
              <a:rPr sz="2400" b="1" dirty="0"/>
              <a:t>	</a:t>
            </a:r>
            <a:r>
              <a:rPr sz="1600" dirty="0"/>
              <a:t>A "state change" is the </a:t>
            </a:r>
            <a:r>
              <a:rPr sz="1600" b="1" i="1" dirty="0">
                <a:solidFill>
                  <a:srgbClr val="FF00FF"/>
                </a:solidFill>
              </a:rPr>
              <a:t>transition</a:t>
            </a:r>
            <a:r>
              <a:rPr sz="1600" dirty="0"/>
              <a:t> of an object from one state to another.</a:t>
            </a:r>
          </a:p>
          <a:p>
            <a:pPr>
              <a:lnSpc>
                <a:spcPct val="80000"/>
              </a:lnSpc>
              <a:spcBef>
                <a:spcPct val="5000"/>
              </a:spcBef>
              <a:buNone/>
            </a:pPr>
            <a:r>
              <a:rPr sz="2400" b="1" dirty="0"/>
              <a:t>		</a:t>
            </a:r>
          </a:p>
          <a:p>
            <a:pPr>
              <a:lnSpc>
                <a:spcPct val="80000"/>
              </a:lnSpc>
              <a:spcBef>
                <a:spcPct val="5000"/>
              </a:spcBef>
            </a:pPr>
            <a:r>
              <a:rPr sz="1800" b="1" dirty="0"/>
              <a:t>What is </a:t>
            </a:r>
            <a:r>
              <a:rPr sz="1800" b="1" i="1" dirty="0">
                <a:solidFill>
                  <a:srgbClr val="3333CC"/>
                </a:solidFill>
              </a:rPr>
              <a:t>EVENT</a:t>
            </a:r>
            <a:r>
              <a:rPr sz="1800" b="1" dirty="0"/>
              <a:t>?</a:t>
            </a:r>
          </a:p>
          <a:p>
            <a:pPr>
              <a:lnSpc>
                <a:spcPct val="80000"/>
              </a:lnSpc>
              <a:spcBef>
                <a:spcPct val="5000"/>
              </a:spcBef>
              <a:buNone/>
            </a:pPr>
            <a:r>
              <a:rPr sz="2400" b="1" dirty="0"/>
              <a:t>	</a:t>
            </a:r>
            <a:r>
              <a:rPr sz="1400" dirty="0"/>
              <a:t>An "event" is a noteworthy change in state [Rumbaugh]</a:t>
            </a:r>
          </a:p>
        </p:txBody>
      </p:sp>
      <p:sp>
        <p:nvSpPr>
          <p:cNvPr id="107526" name="Text Box 107525"/>
          <p:cNvSpPr txBox="1"/>
          <p:nvPr/>
        </p:nvSpPr>
        <p:spPr>
          <a:xfrm>
            <a:off x="2667000" y="4724400"/>
            <a:ext cx="3003550" cy="457200"/>
          </a:xfrm>
          <a:prstGeom prst="rect">
            <a:avLst/>
          </a:prstGeom>
          <a:noFill/>
          <a:ln w="9525">
            <a:noFill/>
          </a:ln>
        </p:spPr>
        <p:txBody>
          <a:bodyPr wrap="none" anchor="t" anchorCtr="0">
            <a:spAutoFit/>
          </a:bodyPr>
          <a:lstStyle/>
          <a:p>
            <a:r>
              <a:rPr b="1" i="1" dirty="0">
                <a:solidFill>
                  <a:srgbClr val="FF00FF"/>
                </a:solidFill>
                <a:latin typeface="Times New Roman" panose="02020603050405020304" pitchFamily="18" charset="0"/>
              </a:rPr>
              <a:t>Work out an example!</a:t>
            </a:r>
          </a:p>
        </p:txBody>
      </p:sp>
      <p:pic>
        <p:nvPicPr>
          <p:cNvPr id="3" name="Picture 2">
            <a:extLst>
              <a:ext uri="{FF2B5EF4-FFF2-40B4-BE49-F238E27FC236}">
                <a16:creationId xmlns:a16="http://schemas.microsoft.com/office/drawing/2014/main" id="{8204FDDB-729C-FA0E-93A0-EEDCC3B3E5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6626AF76-CEDB-D96D-8B85-37E34F7EBDD3}"/>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24CAFF2-2F4E-B121-5BD5-DE9824F6D588}"/>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23</a:t>
            </a:fld>
            <a:endParaRPr lang="en-US">
              <a:latin typeface="Arial" panose="020B0604020202020204" pitchFamily="34" charset="0"/>
            </a:endParaRPr>
          </a:p>
        </p:txBody>
      </p:sp>
      <p:sp>
        <p:nvSpPr>
          <p:cNvPr id="317442" name="Title 317441"/>
          <p:cNvSpPr>
            <a:spLocks noGrp="1"/>
          </p:cNvSpPr>
          <p:nvPr>
            <p:ph type="title" idx="4294967295"/>
          </p:nvPr>
        </p:nvSpPr>
        <p:spPr>
          <a:xfrm>
            <a:off x="0" y="228600"/>
            <a:ext cx="8015288" cy="914400"/>
          </a:xfrm>
        </p:spPr>
        <p:txBody>
          <a:bodyPr anchor="ctr" anchorCtr="0">
            <a:normAutofit fontScale="90000"/>
          </a:bodyPr>
          <a:lstStyle/>
          <a:p>
            <a:pPr algn="ctr"/>
            <a:r>
              <a:rPr sz="3800" b="1" dirty="0"/>
              <a:t>What is Object-Orientation?</a:t>
            </a:r>
            <a:br>
              <a:rPr sz="3800" dirty="0"/>
            </a:br>
            <a:r>
              <a:rPr sz="2400" dirty="0"/>
              <a:t>-State transition impossible?</a:t>
            </a:r>
          </a:p>
        </p:txBody>
      </p:sp>
      <p:sp>
        <p:nvSpPr>
          <p:cNvPr id="317448" name="Rectangles 317447"/>
          <p:cNvSpPr/>
          <p:nvPr/>
        </p:nvSpPr>
        <p:spPr>
          <a:xfrm>
            <a:off x="665163" y="1690688"/>
            <a:ext cx="1073150" cy="336550"/>
          </a:xfrm>
          <a:prstGeom prst="rect">
            <a:avLst/>
          </a:prstGeom>
          <a:noFill/>
          <a:ln w="9525">
            <a:noFill/>
          </a:ln>
        </p:spPr>
        <p:txBody>
          <a:bodyPr wrap="none" anchor="ctr" anchorCtr="0">
            <a:spAutoFit/>
          </a:bodyPr>
          <a:lstStyle/>
          <a:p>
            <a:pPr algn="ctr"/>
            <a:r>
              <a:rPr sz="1600" u="sng">
                <a:latin typeface="Times New Roman" panose="02020603050405020304" pitchFamily="18" charset="0"/>
              </a:rPr>
              <a:t>tom: Actor</a:t>
            </a:r>
          </a:p>
        </p:txBody>
      </p:sp>
      <p:sp>
        <p:nvSpPr>
          <p:cNvPr id="317449" name="Rectangles 317448"/>
          <p:cNvSpPr/>
          <p:nvPr/>
        </p:nvSpPr>
        <p:spPr>
          <a:xfrm>
            <a:off x="533400" y="2087563"/>
            <a:ext cx="2133600" cy="304800"/>
          </a:xfrm>
          <a:prstGeom prst="rect">
            <a:avLst/>
          </a:prstGeom>
          <a:noFill/>
          <a:ln w="9525">
            <a:noFill/>
          </a:ln>
        </p:spPr>
        <p:txBody>
          <a:bodyPr anchor="ctr" anchorCtr="0">
            <a:spAutoFit/>
          </a:bodyPr>
          <a:lstStyle/>
          <a:p>
            <a:pPr algn="ctr"/>
            <a:r>
              <a:rPr sz="1400">
                <a:latin typeface="Times New Roman" panose="02020603050405020304" pitchFamily="18" charset="0"/>
              </a:rPr>
              <a:t>name = “Tom Cruise”</a:t>
            </a:r>
          </a:p>
        </p:txBody>
      </p:sp>
      <p:sp>
        <p:nvSpPr>
          <p:cNvPr id="317451" name="Rectangles 317450"/>
          <p:cNvSpPr/>
          <p:nvPr/>
        </p:nvSpPr>
        <p:spPr>
          <a:xfrm>
            <a:off x="668338" y="1600200"/>
            <a:ext cx="1770062" cy="8382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7452" name="Straight Connector 317451"/>
          <p:cNvSpPr/>
          <p:nvPr/>
        </p:nvSpPr>
        <p:spPr>
          <a:xfrm flipV="1">
            <a:off x="668338" y="1981200"/>
            <a:ext cx="1770062" cy="31750"/>
          </a:xfrm>
          <a:prstGeom prst="line">
            <a:avLst/>
          </a:prstGeom>
          <a:ln w="9525" cap="flat" cmpd="sng">
            <a:solidFill>
              <a:srgbClr val="9900FF"/>
            </a:solidFill>
            <a:prstDash val="solid"/>
            <a:headEnd type="none" w="med" len="med"/>
            <a:tailEnd type="none" w="med" len="med"/>
          </a:ln>
        </p:spPr>
      </p:sp>
      <p:sp>
        <p:nvSpPr>
          <p:cNvPr id="317454" name="Rectangles 317453"/>
          <p:cNvSpPr/>
          <p:nvPr/>
        </p:nvSpPr>
        <p:spPr>
          <a:xfrm>
            <a:off x="736600" y="3048000"/>
            <a:ext cx="1152525" cy="336550"/>
          </a:xfrm>
          <a:prstGeom prst="rect">
            <a:avLst/>
          </a:prstGeom>
          <a:noFill/>
          <a:ln w="9525">
            <a:noFill/>
          </a:ln>
        </p:spPr>
        <p:txBody>
          <a:bodyPr wrap="none" anchor="ctr" anchorCtr="0">
            <a:spAutoFit/>
          </a:bodyPr>
          <a:lstStyle/>
          <a:p>
            <a:pPr algn="ctr"/>
            <a:r>
              <a:rPr sz="1600" u="sng" err="1">
                <a:latin typeface="Times New Roman" panose="02020603050405020304" pitchFamily="18" charset="0"/>
              </a:rPr>
              <a:t>katie</a:t>
            </a:r>
            <a:r>
              <a:rPr sz="1600" u="sng">
                <a:latin typeface="Times New Roman" panose="02020603050405020304" pitchFamily="18" charset="0"/>
              </a:rPr>
              <a:t>: Actor</a:t>
            </a:r>
          </a:p>
        </p:txBody>
      </p:sp>
      <p:sp>
        <p:nvSpPr>
          <p:cNvPr id="317455" name="Rectangles 317454"/>
          <p:cNvSpPr/>
          <p:nvPr/>
        </p:nvSpPr>
        <p:spPr>
          <a:xfrm>
            <a:off x="533400" y="3429000"/>
            <a:ext cx="2133600" cy="304800"/>
          </a:xfrm>
          <a:prstGeom prst="rect">
            <a:avLst/>
          </a:prstGeom>
          <a:noFill/>
          <a:ln w="9525">
            <a:noFill/>
          </a:ln>
        </p:spPr>
        <p:txBody>
          <a:bodyPr anchor="ctr" anchorCtr="0">
            <a:spAutoFit/>
          </a:bodyPr>
          <a:lstStyle/>
          <a:p>
            <a:pPr algn="ctr"/>
            <a:r>
              <a:rPr sz="1400">
                <a:latin typeface="Times New Roman" panose="02020603050405020304" pitchFamily="18" charset="0"/>
              </a:rPr>
              <a:t>name = “Katie Holmes”</a:t>
            </a:r>
          </a:p>
        </p:txBody>
      </p:sp>
      <p:sp>
        <p:nvSpPr>
          <p:cNvPr id="317456" name="Rectangles 317455"/>
          <p:cNvSpPr/>
          <p:nvPr/>
        </p:nvSpPr>
        <p:spPr>
          <a:xfrm>
            <a:off x="685800" y="2971800"/>
            <a:ext cx="1770063" cy="8382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7457" name="Straight Connector 317456"/>
          <p:cNvSpPr/>
          <p:nvPr/>
        </p:nvSpPr>
        <p:spPr>
          <a:xfrm flipV="1">
            <a:off x="685800" y="3352800"/>
            <a:ext cx="1770063" cy="31750"/>
          </a:xfrm>
          <a:prstGeom prst="line">
            <a:avLst/>
          </a:prstGeom>
          <a:ln w="9525" cap="flat" cmpd="sng">
            <a:solidFill>
              <a:srgbClr val="9900FF"/>
            </a:solidFill>
            <a:prstDash val="solid"/>
            <a:headEnd type="none" w="med" len="med"/>
            <a:tailEnd type="none" w="med" len="med"/>
          </a:ln>
        </p:spPr>
      </p:sp>
      <p:sp>
        <p:nvSpPr>
          <p:cNvPr id="317458" name="Rounded Rectangle 317457"/>
          <p:cNvSpPr/>
          <p:nvPr/>
        </p:nvSpPr>
        <p:spPr>
          <a:xfrm>
            <a:off x="457200" y="1447800"/>
            <a:ext cx="2209800" cy="2743200"/>
          </a:xfrm>
          <a:prstGeom prst="roundRect">
            <a:avLst>
              <a:gd name="adj" fmla="val 16667"/>
            </a:avLst>
          </a:prstGeom>
          <a:noFill/>
          <a:ln w="9525" cap="flat" cmpd="sng">
            <a:solidFill>
              <a:srgbClr val="9900FF"/>
            </a:solidFill>
            <a:prstDash val="solid"/>
            <a:headEnd type="none" w="med" len="med"/>
            <a:tailEnd type="none" w="med" len="med"/>
          </a:ln>
        </p:spPr>
        <p:txBody>
          <a:bodyPr/>
          <a:lstStyle/>
          <a:p>
            <a:endParaRPr lang="en-US"/>
          </a:p>
        </p:txBody>
      </p:sp>
      <p:sp>
        <p:nvSpPr>
          <p:cNvPr id="317459" name="Straight Connector 317458"/>
          <p:cNvSpPr/>
          <p:nvPr/>
        </p:nvSpPr>
        <p:spPr>
          <a:xfrm>
            <a:off x="2667000" y="2743200"/>
            <a:ext cx="2514600" cy="0"/>
          </a:xfrm>
          <a:prstGeom prst="line">
            <a:avLst/>
          </a:prstGeom>
          <a:ln w="9525" cap="flat" cmpd="sng">
            <a:solidFill>
              <a:srgbClr val="9900FF"/>
            </a:solidFill>
            <a:prstDash val="solid"/>
            <a:headEnd type="none" w="med" len="med"/>
            <a:tailEnd type="triangle" w="med" len="med"/>
          </a:ln>
        </p:spPr>
      </p:sp>
      <p:sp>
        <p:nvSpPr>
          <p:cNvPr id="317469" name="Rectangles 317468"/>
          <p:cNvSpPr/>
          <p:nvPr/>
        </p:nvSpPr>
        <p:spPr>
          <a:xfrm>
            <a:off x="5389563" y="1843088"/>
            <a:ext cx="1073150" cy="336550"/>
          </a:xfrm>
          <a:prstGeom prst="rect">
            <a:avLst/>
          </a:prstGeom>
          <a:noFill/>
          <a:ln w="9525">
            <a:noFill/>
          </a:ln>
        </p:spPr>
        <p:txBody>
          <a:bodyPr wrap="none" anchor="ctr" anchorCtr="0">
            <a:spAutoFit/>
          </a:bodyPr>
          <a:lstStyle/>
          <a:p>
            <a:pPr algn="ctr"/>
            <a:r>
              <a:rPr sz="1600" u="sng">
                <a:latin typeface="Times New Roman" panose="02020603050405020304" pitchFamily="18" charset="0"/>
              </a:rPr>
              <a:t>tom: Actor</a:t>
            </a:r>
          </a:p>
        </p:txBody>
      </p:sp>
      <p:sp>
        <p:nvSpPr>
          <p:cNvPr id="317470" name="Rectangles 317469"/>
          <p:cNvSpPr/>
          <p:nvPr/>
        </p:nvSpPr>
        <p:spPr>
          <a:xfrm>
            <a:off x="5257800" y="2239963"/>
            <a:ext cx="2133600" cy="304800"/>
          </a:xfrm>
          <a:prstGeom prst="rect">
            <a:avLst/>
          </a:prstGeom>
          <a:noFill/>
          <a:ln w="9525">
            <a:noFill/>
          </a:ln>
        </p:spPr>
        <p:txBody>
          <a:bodyPr anchor="ctr" anchorCtr="0">
            <a:spAutoFit/>
          </a:bodyPr>
          <a:lstStyle/>
          <a:p>
            <a:pPr algn="ctr"/>
            <a:r>
              <a:rPr sz="1400">
                <a:latin typeface="Times New Roman" panose="02020603050405020304" pitchFamily="18" charset="0"/>
              </a:rPr>
              <a:t>name = “Tom Holmes”</a:t>
            </a:r>
          </a:p>
        </p:txBody>
      </p:sp>
      <p:sp>
        <p:nvSpPr>
          <p:cNvPr id="317471" name="Rectangles 317470"/>
          <p:cNvSpPr/>
          <p:nvPr/>
        </p:nvSpPr>
        <p:spPr>
          <a:xfrm>
            <a:off x="5392738" y="1752600"/>
            <a:ext cx="1770062" cy="8382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7472" name="Straight Connector 317471"/>
          <p:cNvSpPr/>
          <p:nvPr/>
        </p:nvSpPr>
        <p:spPr>
          <a:xfrm flipV="1">
            <a:off x="5392738" y="2133600"/>
            <a:ext cx="1770062" cy="31750"/>
          </a:xfrm>
          <a:prstGeom prst="line">
            <a:avLst/>
          </a:prstGeom>
          <a:ln w="9525" cap="flat" cmpd="sng">
            <a:solidFill>
              <a:srgbClr val="9900FF"/>
            </a:solidFill>
            <a:prstDash val="solid"/>
            <a:headEnd type="none" w="med" len="med"/>
            <a:tailEnd type="none" w="med" len="med"/>
          </a:ln>
        </p:spPr>
      </p:sp>
      <p:sp>
        <p:nvSpPr>
          <p:cNvPr id="317473" name="Rectangles 317472"/>
          <p:cNvSpPr/>
          <p:nvPr/>
        </p:nvSpPr>
        <p:spPr>
          <a:xfrm>
            <a:off x="5461000" y="3200400"/>
            <a:ext cx="1152525" cy="336550"/>
          </a:xfrm>
          <a:prstGeom prst="rect">
            <a:avLst/>
          </a:prstGeom>
          <a:noFill/>
          <a:ln w="9525">
            <a:noFill/>
          </a:ln>
        </p:spPr>
        <p:txBody>
          <a:bodyPr wrap="none" anchor="ctr" anchorCtr="0">
            <a:spAutoFit/>
          </a:bodyPr>
          <a:lstStyle/>
          <a:p>
            <a:pPr algn="ctr"/>
            <a:r>
              <a:rPr sz="1600" u="sng" err="1">
                <a:latin typeface="Times New Roman" panose="02020603050405020304" pitchFamily="18" charset="0"/>
              </a:rPr>
              <a:t>katie</a:t>
            </a:r>
            <a:r>
              <a:rPr sz="1600" u="sng">
                <a:latin typeface="Times New Roman" panose="02020603050405020304" pitchFamily="18" charset="0"/>
              </a:rPr>
              <a:t>: Actor</a:t>
            </a:r>
          </a:p>
        </p:txBody>
      </p:sp>
      <p:sp>
        <p:nvSpPr>
          <p:cNvPr id="317474" name="Rectangles 317473"/>
          <p:cNvSpPr/>
          <p:nvPr/>
        </p:nvSpPr>
        <p:spPr>
          <a:xfrm>
            <a:off x="5257800" y="3581400"/>
            <a:ext cx="2133600" cy="304800"/>
          </a:xfrm>
          <a:prstGeom prst="rect">
            <a:avLst/>
          </a:prstGeom>
          <a:noFill/>
          <a:ln w="9525">
            <a:noFill/>
          </a:ln>
        </p:spPr>
        <p:txBody>
          <a:bodyPr anchor="ctr" anchorCtr="0">
            <a:spAutoFit/>
          </a:bodyPr>
          <a:lstStyle/>
          <a:p>
            <a:pPr algn="ctr"/>
            <a:r>
              <a:rPr sz="1400">
                <a:latin typeface="Times New Roman" panose="02020603050405020304" pitchFamily="18" charset="0"/>
              </a:rPr>
              <a:t>name = “Katie Holmes”</a:t>
            </a:r>
          </a:p>
        </p:txBody>
      </p:sp>
      <p:sp>
        <p:nvSpPr>
          <p:cNvPr id="317475" name="Rectangles 317474"/>
          <p:cNvSpPr/>
          <p:nvPr/>
        </p:nvSpPr>
        <p:spPr>
          <a:xfrm>
            <a:off x="5410200" y="3124200"/>
            <a:ext cx="1770063" cy="8382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7476" name="Straight Connector 317475"/>
          <p:cNvSpPr/>
          <p:nvPr/>
        </p:nvSpPr>
        <p:spPr>
          <a:xfrm flipV="1">
            <a:off x="5410200" y="3505200"/>
            <a:ext cx="1770063" cy="31750"/>
          </a:xfrm>
          <a:prstGeom prst="line">
            <a:avLst/>
          </a:prstGeom>
          <a:ln w="9525" cap="flat" cmpd="sng">
            <a:solidFill>
              <a:srgbClr val="9900FF"/>
            </a:solidFill>
            <a:prstDash val="solid"/>
            <a:headEnd type="none" w="med" len="med"/>
            <a:tailEnd type="none" w="med" len="med"/>
          </a:ln>
        </p:spPr>
      </p:sp>
      <p:sp>
        <p:nvSpPr>
          <p:cNvPr id="317477" name="Rounded Rectangle 317476"/>
          <p:cNvSpPr/>
          <p:nvPr/>
        </p:nvSpPr>
        <p:spPr>
          <a:xfrm>
            <a:off x="5181600" y="1600200"/>
            <a:ext cx="2209800" cy="2743200"/>
          </a:xfrm>
          <a:prstGeom prst="roundRect">
            <a:avLst>
              <a:gd name="adj" fmla="val 16667"/>
            </a:avLst>
          </a:prstGeom>
          <a:noFill/>
          <a:ln w="9525" cap="flat" cmpd="sng">
            <a:solidFill>
              <a:srgbClr val="9900FF"/>
            </a:solidFill>
            <a:prstDash val="solid"/>
            <a:headEnd type="none" w="med" len="med"/>
            <a:tailEnd type="none" w="med" len="med"/>
          </a:ln>
        </p:spPr>
        <p:txBody>
          <a:bodyPr/>
          <a:lstStyle/>
          <a:p>
            <a:endParaRPr lang="en-US"/>
          </a:p>
        </p:txBody>
      </p:sp>
      <p:sp>
        <p:nvSpPr>
          <p:cNvPr id="317478" name="Rectangles 317477"/>
          <p:cNvSpPr/>
          <p:nvPr/>
        </p:nvSpPr>
        <p:spPr>
          <a:xfrm>
            <a:off x="2743200" y="2438400"/>
            <a:ext cx="2289175" cy="336550"/>
          </a:xfrm>
          <a:prstGeom prst="rect">
            <a:avLst/>
          </a:prstGeom>
          <a:noFill/>
          <a:ln w="9525">
            <a:noFill/>
          </a:ln>
        </p:spPr>
        <p:txBody>
          <a:bodyPr wrap="none" anchor="ctr" anchorCtr="0">
            <a:spAutoFit/>
          </a:bodyPr>
          <a:lstStyle/>
          <a:p>
            <a:pPr algn="ctr"/>
            <a:r>
              <a:rPr sz="1600">
                <a:latin typeface="Times New Roman" panose="02020603050405020304" pitchFamily="18" charset="0"/>
              </a:rPr>
              <a:t>married/</a:t>
            </a:r>
            <a:r>
              <a:rPr sz="1600" err="1">
                <a:latin typeface="Times New Roman" panose="02020603050405020304" pitchFamily="18" charset="0"/>
              </a:rPr>
              <a:t>changeLastName</a:t>
            </a:r>
            <a:endParaRPr sz="1600">
              <a:latin typeface="Times New Roman" panose="02020603050405020304" pitchFamily="18" charset="0"/>
            </a:endParaRPr>
          </a:p>
        </p:txBody>
      </p:sp>
      <p:sp>
        <p:nvSpPr>
          <p:cNvPr id="317479" name="Rectangles 317478"/>
          <p:cNvSpPr/>
          <p:nvPr/>
        </p:nvSpPr>
        <p:spPr>
          <a:xfrm>
            <a:off x="2971800" y="4267200"/>
            <a:ext cx="1073150" cy="336550"/>
          </a:xfrm>
          <a:prstGeom prst="rect">
            <a:avLst/>
          </a:prstGeom>
          <a:noFill/>
          <a:ln w="9525">
            <a:noFill/>
          </a:ln>
        </p:spPr>
        <p:txBody>
          <a:bodyPr wrap="none" anchor="ctr" anchorCtr="0">
            <a:spAutoFit/>
          </a:bodyPr>
          <a:lstStyle/>
          <a:p>
            <a:pPr algn="ctr"/>
            <a:r>
              <a:rPr sz="1600" u="sng">
                <a:latin typeface="Times New Roman" panose="02020603050405020304" pitchFamily="18" charset="0"/>
              </a:rPr>
              <a:t>tom: Actor</a:t>
            </a:r>
          </a:p>
        </p:txBody>
      </p:sp>
      <p:sp>
        <p:nvSpPr>
          <p:cNvPr id="317480" name="Rectangles 317479"/>
          <p:cNvSpPr/>
          <p:nvPr/>
        </p:nvSpPr>
        <p:spPr>
          <a:xfrm>
            <a:off x="2840038" y="4664075"/>
            <a:ext cx="2133600" cy="304800"/>
          </a:xfrm>
          <a:prstGeom prst="rect">
            <a:avLst/>
          </a:prstGeom>
          <a:noFill/>
          <a:ln w="9525">
            <a:noFill/>
          </a:ln>
        </p:spPr>
        <p:txBody>
          <a:bodyPr anchor="ctr" anchorCtr="0">
            <a:spAutoFit/>
          </a:bodyPr>
          <a:lstStyle/>
          <a:p>
            <a:pPr algn="ctr"/>
            <a:r>
              <a:rPr sz="1400">
                <a:latin typeface="Times New Roman" panose="02020603050405020304" pitchFamily="18" charset="0"/>
              </a:rPr>
              <a:t>name = “Tom Holmes”</a:t>
            </a:r>
          </a:p>
        </p:txBody>
      </p:sp>
      <p:sp>
        <p:nvSpPr>
          <p:cNvPr id="317481" name="Rectangles 317480"/>
          <p:cNvSpPr/>
          <p:nvPr/>
        </p:nvSpPr>
        <p:spPr>
          <a:xfrm>
            <a:off x="2974975" y="4176713"/>
            <a:ext cx="1770063" cy="8382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7482" name="Straight Connector 317481"/>
          <p:cNvSpPr/>
          <p:nvPr/>
        </p:nvSpPr>
        <p:spPr>
          <a:xfrm flipV="1">
            <a:off x="2974975" y="4557713"/>
            <a:ext cx="1770063" cy="31750"/>
          </a:xfrm>
          <a:prstGeom prst="line">
            <a:avLst/>
          </a:prstGeom>
          <a:ln w="9525" cap="flat" cmpd="sng">
            <a:solidFill>
              <a:srgbClr val="9900FF"/>
            </a:solidFill>
            <a:prstDash val="solid"/>
            <a:headEnd type="none" w="med" len="med"/>
            <a:tailEnd type="none" w="med" len="med"/>
          </a:ln>
        </p:spPr>
      </p:sp>
      <p:sp>
        <p:nvSpPr>
          <p:cNvPr id="317483" name="Rectangles 317482"/>
          <p:cNvSpPr/>
          <p:nvPr/>
        </p:nvSpPr>
        <p:spPr>
          <a:xfrm>
            <a:off x="3068638" y="5167313"/>
            <a:ext cx="1152525" cy="336550"/>
          </a:xfrm>
          <a:prstGeom prst="rect">
            <a:avLst/>
          </a:prstGeom>
          <a:noFill/>
          <a:ln w="9525">
            <a:noFill/>
          </a:ln>
        </p:spPr>
        <p:txBody>
          <a:bodyPr wrap="none" anchor="ctr" anchorCtr="0">
            <a:spAutoFit/>
          </a:bodyPr>
          <a:lstStyle/>
          <a:p>
            <a:pPr algn="ctr"/>
            <a:r>
              <a:rPr sz="1600" u="sng" err="1">
                <a:latin typeface="Times New Roman" panose="02020603050405020304" pitchFamily="18" charset="0"/>
              </a:rPr>
              <a:t>katie</a:t>
            </a:r>
            <a:r>
              <a:rPr sz="1600" u="sng">
                <a:latin typeface="Times New Roman" panose="02020603050405020304" pitchFamily="18" charset="0"/>
              </a:rPr>
              <a:t>: Actor</a:t>
            </a:r>
          </a:p>
        </p:txBody>
      </p:sp>
      <p:sp>
        <p:nvSpPr>
          <p:cNvPr id="317484" name="Rectangles 317483"/>
          <p:cNvSpPr/>
          <p:nvPr/>
        </p:nvSpPr>
        <p:spPr>
          <a:xfrm>
            <a:off x="2865438" y="5548313"/>
            <a:ext cx="2133600" cy="304800"/>
          </a:xfrm>
          <a:prstGeom prst="rect">
            <a:avLst/>
          </a:prstGeom>
          <a:noFill/>
          <a:ln w="9525">
            <a:noFill/>
          </a:ln>
        </p:spPr>
        <p:txBody>
          <a:bodyPr anchor="ctr" anchorCtr="0">
            <a:spAutoFit/>
          </a:bodyPr>
          <a:lstStyle/>
          <a:p>
            <a:pPr algn="ctr"/>
            <a:r>
              <a:rPr sz="1400">
                <a:latin typeface="Times New Roman" panose="02020603050405020304" pitchFamily="18" charset="0"/>
              </a:rPr>
              <a:t>name = “Katie Holmes”</a:t>
            </a:r>
          </a:p>
        </p:txBody>
      </p:sp>
      <p:sp>
        <p:nvSpPr>
          <p:cNvPr id="317485" name="Rectangles 317484"/>
          <p:cNvSpPr/>
          <p:nvPr/>
        </p:nvSpPr>
        <p:spPr>
          <a:xfrm>
            <a:off x="3017838" y="5091113"/>
            <a:ext cx="1770062" cy="8382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7486" name="Straight Connector 317485"/>
          <p:cNvSpPr/>
          <p:nvPr/>
        </p:nvSpPr>
        <p:spPr>
          <a:xfrm flipV="1">
            <a:off x="3017838" y="5472113"/>
            <a:ext cx="1770062" cy="31750"/>
          </a:xfrm>
          <a:prstGeom prst="line">
            <a:avLst/>
          </a:prstGeom>
          <a:ln w="9525" cap="flat" cmpd="sng">
            <a:solidFill>
              <a:srgbClr val="9900FF"/>
            </a:solidFill>
            <a:prstDash val="solid"/>
            <a:headEnd type="none" w="med" len="med"/>
            <a:tailEnd type="none" w="med" len="med"/>
          </a:ln>
        </p:spPr>
      </p:sp>
      <p:sp>
        <p:nvSpPr>
          <p:cNvPr id="317487" name="Rounded Rectangle 317486"/>
          <p:cNvSpPr/>
          <p:nvPr/>
        </p:nvSpPr>
        <p:spPr>
          <a:xfrm>
            <a:off x="2743200" y="4114800"/>
            <a:ext cx="2209800" cy="2743200"/>
          </a:xfrm>
          <a:prstGeom prst="roundRect">
            <a:avLst>
              <a:gd name="adj" fmla="val 16667"/>
            </a:avLst>
          </a:prstGeom>
          <a:noFill/>
          <a:ln w="9525" cap="flat" cmpd="sng">
            <a:solidFill>
              <a:srgbClr val="9900FF"/>
            </a:solidFill>
            <a:prstDash val="solid"/>
            <a:headEnd type="none" w="med" len="med"/>
            <a:tailEnd type="none" w="med" len="med"/>
          </a:ln>
        </p:spPr>
        <p:txBody>
          <a:bodyPr/>
          <a:lstStyle/>
          <a:p>
            <a:endParaRPr lang="en-US"/>
          </a:p>
        </p:txBody>
      </p:sp>
      <p:sp>
        <p:nvSpPr>
          <p:cNvPr id="317488" name="Rectangles 317487"/>
          <p:cNvSpPr/>
          <p:nvPr/>
        </p:nvSpPr>
        <p:spPr>
          <a:xfrm>
            <a:off x="3124200" y="6096000"/>
            <a:ext cx="1490663" cy="336550"/>
          </a:xfrm>
          <a:prstGeom prst="rect">
            <a:avLst/>
          </a:prstGeom>
          <a:noFill/>
          <a:ln w="9525">
            <a:noFill/>
          </a:ln>
        </p:spPr>
        <p:txBody>
          <a:bodyPr wrap="none" anchor="ctr" anchorCtr="0">
            <a:spAutoFit/>
          </a:bodyPr>
          <a:lstStyle/>
          <a:p>
            <a:pPr algn="ctr"/>
            <a:r>
              <a:rPr sz="1600" u="sng" err="1">
                <a:latin typeface="Times New Roman" panose="02020603050405020304" pitchFamily="18" charset="0"/>
              </a:rPr>
              <a:t>suri</a:t>
            </a:r>
            <a:r>
              <a:rPr sz="1600" u="sng">
                <a:latin typeface="Times New Roman" panose="02020603050405020304" pitchFamily="18" charset="0"/>
              </a:rPr>
              <a:t>: </a:t>
            </a:r>
            <a:r>
              <a:rPr sz="1600" u="sng" err="1">
                <a:latin typeface="Times New Roman" panose="02020603050405020304" pitchFamily="18" charset="0"/>
              </a:rPr>
              <a:t>BabyActor</a:t>
            </a:r>
            <a:endParaRPr sz="1600" u="sng">
              <a:latin typeface="Times New Roman" panose="02020603050405020304" pitchFamily="18" charset="0"/>
            </a:endParaRPr>
          </a:p>
        </p:txBody>
      </p:sp>
      <p:sp>
        <p:nvSpPr>
          <p:cNvPr id="317489" name="Rectangles 317488"/>
          <p:cNvSpPr/>
          <p:nvPr/>
        </p:nvSpPr>
        <p:spPr>
          <a:xfrm>
            <a:off x="2819400" y="6477000"/>
            <a:ext cx="2133600" cy="304800"/>
          </a:xfrm>
          <a:prstGeom prst="rect">
            <a:avLst/>
          </a:prstGeom>
          <a:noFill/>
          <a:ln w="9525">
            <a:noFill/>
          </a:ln>
        </p:spPr>
        <p:txBody>
          <a:bodyPr anchor="ctr" anchorCtr="0">
            <a:spAutoFit/>
          </a:bodyPr>
          <a:lstStyle/>
          <a:p>
            <a:pPr algn="ctr"/>
            <a:r>
              <a:rPr sz="1400">
                <a:latin typeface="Times New Roman" panose="02020603050405020304" pitchFamily="18" charset="0"/>
              </a:rPr>
              <a:t>name = “</a:t>
            </a:r>
            <a:r>
              <a:rPr sz="1400" err="1">
                <a:latin typeface="Times New Roman" panose="02020603050405020304" pitchFamily="18" charset="0"/>
              </a:rPr>
              <a:t>Suri</a:t>
            </a:r>
            <a:r>
              <a:rPr sz="1400">
                <a:latin typeface="Times New Roman" panose="02020603050405020304" pitchFamily="18" charset="0"/>
              </a:rPr>
              <a:t> Holmes”</a:t>
            </a:r>
          </a:p>
        </p:txBody>
      </p:sp>
      <p:sp>
        <p:nvSpPr>
          <p:cNvPr id="317490" name="Rectangles 317489"/>
          <p:cNvSpPr/>
          <p:nvPr/>
        </p:nvSpPr>
        <p:spPr>
          <a:xfrm>
            <a:off x="2971800" y="6019800"/>
            <a:ext cx="1770063" cy="838200"/>
          </a:xfrm>
          <a:prstGeom prst="rect">
            <a:avLst/>
          </a:prstGeom>
          <a:noFill/>
          <a:ln w="9525" cap="flat" cmpd="sng">
            <a:solidFill>
              <a:srgbClr val="9900FF"/>
            </a:solidFill>
            <a:prstDash val="solid"/>
            <a:miter/>
            <a:headEnd type="none" w="med" len="med"/>
            <a:tailEnd type="none" w="med" len="med"/>
          </a:ln>
        </p:spPr>
        <p:txBody>
          <a:bodyPr/>
          <a:lstStyle/>
          <a:p>
            <a:endParaRPr lang="en-US"/>
          </a:p>
        </p:txBody>
      </p:sp>
      <p:sp>
        <p:nvSpPr>
          <p:cNvPr id="317491" name="Straight Connector 317490"/>
          <p:cNvSpPr/>
          <p:nvPr/>
        </p:nvSpPr>
        <p:spPr>
          <a:xfrm flipV="1">
            <a:off x="2971800" y="6400800"/>
            <a:ext cx="1770063" cy="31750"/>
          </a:xfrm>
          <a:prstGeom prst="line">
            <a:avLst/>
          </a:prstGeom>
          <a:ln w="9525" cap="flat" cmpd="sng">
            <a:solidFill>
              <a:srgbClr val="9900FF"/>
            </a:solidFill>
            <a:prstDash val="solid"/>
            <a:headEnd type="none" w="med" len="med"/>
            <a:tailEnd type="none" w="med" len="med"/>
          </a:ln>
        </p:spPr>
      </p:sp>
      <p:sp>
        <p:nvSpPr>
          <p:cNvPr id="317492" name="Rectangles 317491"/>
          <p:cNvSpPr/>
          <p:nvPr/>
        </p:nvSpPr>
        <p:spPr>
          <a:xfrm>
            <a:off x="5486400" y="4953000"/>
            <a:ext cx="1903413" cy="336550"/>
          </a:xfrm>
          <a:prstGeom prst="rect">
            <a:avLst/>
          </a:prstGeom>
          <a:noFill/>
          <a:ln w="9525">
            <a:noFill/>
          </a:ln>
        </p:spPr>
        <p:txBody>
          <a:bodyPr wrap="none" anchor="ctr" anchorCtr="0">
            <a:spAutoFit/>
          </a:bodyPr>
          <a:lstStyle/>
          <a:p>
            <a:pPr algn="ctr"/>
            <a:r>
              <a:rPr sz="1600" err="1">
                <a:latin typeface="Times New Roman" panose="02020603050405020304" pitchFamily="18" charset="0"/>
              </a:rPr>
              <a:t>newArrival/getName</a:t>
            </a:r>
            <a:endParaRPr sz="1600">
              <a:latin typeface="Times New Roman" panose="02020603050405020304" pitchFamily="18" charset="0"/>
            </a:endParaRPr>
          </a:p>
        </p:txBody>
      </p:sp>
      <p:sp>
        <p:nvSpPr>
          <p:cNvPr id="317493" name="Straight Connector 317492"/>
          <p:cNvSpPr/>
          <p:nvPr/>
        </p:nvSpPr>
        <p:spPr>
          <a:xfrm flipH="1">
            <a:off x="4953000" y="4343400"/>
            <a:ext cx="1447800" cy="1295400"/>
          </a:xfrm>
          <a:prstGeom prst="line">
            <a:avLst/>
          </a:prstGeom>
          <a:ln w="9525" cap="flat" cmpd="sng">
            <a:solidFill>
              <a:srgbClr val="9900FF"/>
            </a:solidFill>
            <a:prstDash val="solid"/>
            <a:headEnd type="none" w="med" len="med"/>
            <a:tailEnd type="triangle" w="med" len="med"/>
          </a:ln>
        </p:spPr>
      </p:sp>
      <p:pic>
        <p:nvPicPr>
          <p:cNvPr id="3" name="Picture 2">
            <a:extLst>
              <a:ext uri="{FF2B5EF4-FFF2-40B4-BE49-F238E27FC236}">
                <a16:creationId xmlns:a16="http://schemas.microsoft.com/office/drawing/2014/main" id="{1061E65D-578B-4BB9-51DA-198F19B2D0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7097"/>
            <a:ext cx="990599" cy="968779"/>
          </a:xfrm>
          <a:prstGeom prst="rect">
            <a:avLst/>
          </a:prstGeom>
        </p:spPr>
      </p:pic>
      <p:sp>
        <p:nvSpPr>
          <p:cNvPr id="4" name="Rectangle 3">
            <a:extLst>
              <a:ext uri="{FF2B5EF4-FFF2-40B4-BE49-F238E27FC236}">
                <a16:creationId xmlns:a16="http://schemas.microsoft.com/office/drawing/2014/main" id="{C469F778-0030-4CCD-2912-668B11BEEF5A}"/>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875E930-87D2-65B4-A187-5CD9D97CF73A}"/>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fld id="{9A0DB2DC-4C9A-4742-B13C-FB6460FD3503}" type="slidenum">
              <a:rPr lang="en-US"/>
              <a:pPr lvl="0"/>
              <a:t>24</a:t>
            </a:fld>
            <a:endParaRPr lang="en-US"/>
          </a:p>
        </p:txBody>
      </p:sp>
      <p:sp>
        <p:nvSpPr>
          <p:cNvPr id="145410" name="Title 145409"/>
          <p:cNvSpPr>
            <a:spLocks noGrp="1"/>
          </p:cNvSpPr>
          <p:nvPr>
            <p:ph type="title" idx="4294967295"/>
          </p:nvPr>
        </p:nvSpPr>
        <p:spPr>
          <a:xfrm>
            <a:off x="0" y="228600"/>
            <a:ext cx="8015288" cy="914400"/>
          </a:xfrm>
        </p:spPr>
        <p:txBody>
          <a:bodyPr anchor="ctr" anchorCtr="0">
            <a:normAutofit fontScale="90000"/>
          </a:bodyPr>
          <a:lstStyle/>
          <a:p>
            <a:pPr algn="ctr"/>
            <a:br>
              <a:rPr sz="3800" dirty="0"/>
            </a:br>
            <a:r>
              <a:rPr sz="3200" dirty="0"/>
              <a:t>What is </a:t>
            </a:r>
            <a:r>
              <a:rPr sz="2400" dirty="0"/>
              <a:t>Object-Oriented Application?</a:t>
            </a:r>
            <a:br>
              <a:rPr sz="3800" dirty="0"/>
            </a:br>
            <a:endParaRPr sz="3800" dirty="0"/>
          </a:p>
        </p:txBody>
      </p:sp>
      <p:sp>
        <p:nvSpPr>
          <p:cNvPr id="145411" name="Text Box 145410"/>
          <p:cNvSpPr txBox="1"/>
          <p:nvPr/>
        </p:nvSpPr>
        <p:spPr>
          <a:xfrm>
            <a:off x="685800" y="1447800"/>
            <a:ext cx="15522575" cy="2879725"/>
          </a:xfrm>
          <a:prstGeom prst="rect">
            <a:avLst/>
          </a:prstGeom>
          <a:noFill/>
          <a:ln w="9525">
            <a:noFill/>
          </a:ln>
        </p:spPr>
        <p:txBody>
          <a:bodyPr>
            <a:spAutoFit/>
          </a:bodyPr>
          <a:lstStyle/>
          <a:p>
            <a:pPr eaLnBrk="0" hangingPunct="0">
              <a:spcBef>
                <a:spcPct val="0"/>
              </a:spcBef>
              <a:buChar char="•"/>
            </a:pPr>
            <a:r>
              <a:rPr dirty="0">
                <a:latin typeface="Times New Roman" panose="02020603050405020304" pitchFamily="18" charset="0"/>
              </a:rPr>
              <a:t> Collection of discrete objects, interacting w. each other</a:t>
            </a:r>
          </a:p>
          <a:p>
            <a:pPr eaLnBrk="0" hangingPunct="0">
              <a:spcBef>
                <a:spcPct val="0"/>
              </a:spcBef>
              <a:buChar char="•"/>
            </a:pPr>
            <a:r>
              <a:rPr dirty="0">
                <a:latin typeface="Times New Roman" panose="02020603050405020304" pitchFamily="18" charset="0"/>
              </a:rPr>
              <a:t> Objects have </a:t>
            </a:r>
            <a:r>
              <a:rPr dirty="0">
                <a:solidFill>
                  <a:srgbClr val="33CCFF"/>
                </a:solidFill>
                <a:latin typeface="Times New Roman" panose="02020603050405020304" pitchFamily="18" charset="0"/>
              </a:rPr>
              <a:t>property</a:t>
            </a:r>
            <a:r>
              <a:rPr dirty="0">
                <a:latin typeface="Times New Roman" panose="02020603050405020304" pitchFamily="18" charset="0"/>
              </a:rPr>
              <a:t> and </a:t>
            </a:r>
            <a:r>
              <a:rPr dirty="0">
                <a:solidFill>
                  <a:srgbClr val="009900"/>
                </a:solidFill>
                <a:latin typeface="Times New Roman" panose="02020603050405020304" pitchFamily="18" charset="0"/>
              </a:rPr>
              <a:t>behavior </a:t>
            </a:r>
            <a:r>
              <a:rPr sz="1800" dirty="0">
                <a:solidFill>
                  <a:srgbClr val="009900"/>
                </a:solidFill>
                <a:latin typeface="Times New Roman" panose="02020603050405020304" pitchFamily="18" charset="0"/>
              </a:rPr>
              <a:t>(causing state transition)</a:t>
            </a:r>
          </a:p>
          <a:p>
            <a:pPr eaLnBrk="0" hangingPunct="0">
              <a:spcBef>
                <a:spcPct val="0"/>
              </a:spcBef>
              <a:buChar char="•"/>
            </a:pPr>
            <a:r>
              <a:rPr sz="1800" dirty="0">
                <a:solidFill>
                  <a:srgbClr val="009900"/>
                </a:solidFill>
                <a:latin typeface="Times New Roman" panose="02020603050405020304" pitchFamily="18" charset="0"/>
              </a:rPr>
              <a:t> </a:t>
            </a:r>
            <a:r>
              <a:rPr dirty="0">
                <a:latin typeface="Times New Roman" panose="02020603050405020304" pitchFamily="18" charset="0"/>
              </a:rPr>
              <a:t>Interactions through </a:t>
            </a:r>
            <a:r>
              <a:rPr dirty="0">
                <a:solidFill>
                  <a:srgbClr val="9900FF"/>
                </a:solidFill>
                <a:latin typeface="Times New Roman" panose="02020603050405020304" pitchFamily="18" charset="0"/>
              </a:rPr>
              <a:t>message</a:t>
            </a:r>
            <a:r>
              <a:rPr dirty="0">
                <a:latin typeface="Times New Roman" panose="02020603050405020304" pitchFamily="18" charset="0"/>
              </a:rPr>
              <a:t> passing </a:t>
            </a:r>
          </a:p>
          <a:p>
            <a:pPr eaLnBrk="0" hangingPunct="0">
              <a:spcBef>
                <a:spcPct val="0"/>
              </a:spcBef>
            </a:pPr>
            <a:r>
              <a:rPr sz="1800" dirty="0">
                <a:solidFill>
                  <a:srgbClr val="9900FF"/>
                </a:solidFill>
                <a:latin typeface="Times New Roman" panose="02020603050405020304" pitchFamily="18" charset="0"/>
              </a:rPr>
              <a:t>   (A sender object  sends a request (message) to another object (receiver) </a:t>
            </a:r>
          </a:p>
          <a:p>
            <a:pPr eaLnBrk="0" hangingPunct="0">
              <a:spcBef>
                <a:spcPct val="0"/>
              </a:spcBef>
            </a:pPr>
            <a:r>
              <a:rPr sz="1800" dirty="0">
                <a:solidFill>
                  <a:srgbClr val="9900FF"/>
                </a:solidFill>
                <a:latin typeface="Times New Roman" panose="02020603050405020304" pitchFamily="18" charset="0"/>
              </a:rPr>
              <a:t>     to invoke a method of the receiver object’s)</a:t>
            </a:r>
          </a:p>
          <a:p>
            <a:endParaRPr sz="1800" dirty="0">
              <a:solidFill>
                <a:srgbClr val="9900FF"/>
              </a:solidFill>
              <a:latin typeface="Times New Roman" panose="02020603050405020304" pitchFamily="18" charset="0"/>
            </a:endParaRPr>
          </a:p>
          <a:p>
            <a:pPr>
              <a:spcBef>
                <a:spcPct val="0"/>
              </a:spcBef>
            </a:pPr>
            <a:endParaRPr dirty="0">
              <a:latin typeface="Times New Roman" panose="02020603050405020304" pitchFamily="18" charset="0"/>
            </a:endParaRPr>
          </a:p>
          <a:p>
            <a:pPr eaLnBrk="0" hangingPunct="0">
              <a:spcBef>
                <a:spcPct val="0"/>
              </a:spcBef>
            </a:pPr>
            <a:endParaRPr dirty="0">
              <a:latin typeface="Times New Roman" panose="02020603050405020304" pitchFamily="18" charset="0"/>
            </a:endParaRPr>
          </a:p>
        </p:txBody>
      </p:sp>
      <p:sp>
        <p:nvSpPr>
          <p:cNvPr id="145452" name="Straight Connector 145451"/>
          <p:cNvSpPr/>
          <p:nvPr/>
        </p:nvSpPr>
        <p:spPr>
          <a:xfrm>
            <a:off x="3749675" y="4149725"/>
            <a:ext cx="1066800" cy="1588"/>
          </a:xfrm>
          <a:prstGeom prst="line">
            <a:avLst/>
          </a:prstGeom>
          <a:ln w="9525" cap="flat" cmpd="sng">
            <a:solidFill>
              <a:schemeClr val="tx1"/>
            </a:solidFill>
            <a:prstDash val="solid"/>
            <a:headEnd type="none" w="med" len="med"/>
            <a:tailEnd type="triangle" w="med" len="med"/>
          </a:ln>
        </p:spPr>
      </p:sp>
      <p:sp>
        <p:nvSpPr>
          <p:cNvPr id="145453" name="Straight Connector 145452"/>
          <p:cNvSpPr/>
          <p:nvPr/>
        </p:nvSpPr>
        <p:spPr>
          <a:xfrm>
            <a:off x="3276600" y="4343400"/>
            <a:ext cx="609600" cy="762000"/>
          </a:xfrm>
          <a:prstGeom prst="line">
            <a:avLst/>
          </a:prstGeom>
          <a:ln w="9525" cap="flat" cmpd="sng">
            <a:solidFill>
              <a:schemeClr val="tx1"/>
            </a:solidFill>
            <a:prstDash val="solid"/>
            <a:headEnd type="none" w="med" len="med"/>
            <a:tailEnd type="triangle" w="med" len="med"/>
          </a:ln>
        </p:spPr>
      </p:sp>
      <p:sp>
        <p:nvSpPr>
          <p:cNvPr id="145454" name="Straight Connector 145453"/>
          <p:cNvSpPr/>
          <p:nvPr/>
        </p:nvSpPr>
        <p:spPr>
          <a:xfrm flipH="1">
            <a:off x="4648200" y="4267200"/>
            <a:ext cx="533400" cy="838200"/>
          </a:xfrm>
          <a:prstGeom prst="line">
            <a:avLst/>
          </a:prstGeom>
          <a:ln w="9525" cap="flat" cmpd="sng">
            <a:solidFill>
              <a:schemeClr val="tx1"/>
            </a:solidFill>
            <a:prstDash val="solid"/>
            <a:headEnd type="none" w="med" len="med"/>
            <a:tailEnd type="triangle" w="med" len="med"/>
          </a:ln>
        </p:spPr>
      </p:sp>
      <p:grpSp>
        <p:nvGrpSpPr>
          <p:cNvPr id="145458" name="Group 145457"/>
          <p:cNvGrpSpPr/>
          <p:nvPr/>
        </p:nvGrpSpPr>
        <p:grpSpPr>
          <a:xfrm>
            <a:off x="2911475" y="3387725"/>
            <a:ext cx="685800" cy="1143000"/>
            <a:chOff x="1824" y="1824"/>
            <a:chExt cx="432" cy="720"/>
          </a:xfrm>
        </p:grpSpPr>
        <p:sp>
          <p:nvSpPr>
            <p:cNvPr id="145443" name="Rectangles 145442"/>
            <p:cNvSpPr/>
            <p:nvPr/>
          </p:nvSpPr>
          <p:spPr>
            <a:xfrm>
              <a:off x="1824" y="2304"/>
              <a:ext cx="432" cy="240"/>
            </a:xfrm>
            <a:prstGeom prst="rect">
              <a:avLst/>
            </a:prstGeom>
            <a:solidFill>
              <a:srgbClr val="00CC00"/>
            </a:solidFill>
            <a:ln w="9525" cap="flat" cmpd="sng">
              <a:solidFill>
                <a:schemeClr val="tx1"/>
              </a:solidFill>
              <a:prstDash val="solid"/>
              <a:miter/>
              <a:headEnd type="none" w="med" len="med"/>
              <a:tailEnd type="none" w="med" len="med"/>
            </a:ln>
          </p:spPr>
          <p:txBody>
            <a:bodyPr wrap="none" anchor="ctr" anchorCtr="0"/>
            <a:lstStyle/>
            <a:p>
              <a:pPr algn="ctr">
                <a:spcBef>
                  <a:spcPct val="0"/>
                </a:spcBef>
              </a:pPr>
              <a:r>
                <a:rPr sz="1800">
                  <a:latin typeface="Arial" panose="020B0604020202020204" pitchFamily="34" charset="0"/>
                </a:rPr>
                <a:t>Fn</a:t>
              </a:r>
            </a:p>
          </p:txBody>
        </p:sp>
        <p:sp>
          <p:nvSpPr>
            <p:cNvPr id="145444" name="Rectangles 145443"/>
            <p:cNvSpPr/>
            <p:nvPr/>
          </p:nvSpPr>
          <p:spPr>
            <a:xfrm>
              <a:off x="1824" y="2064"/>
              <a:ext cx="432" cy="240"/>
            </a:xfrm>
            <a:prstGeom prst="rect">
              <a:avLst/>
            </a:prstGeom>
            <a:noFill/>
            <a:ln w="9525" cap="flat" cmpd="sng">
              <a:solidFill>
                <a:schemeClr val="tx1"/>
              </a:solidFill>
              <a:prstDash val="solid"/>
              <a:miter/>
              <a:headEnd type="none" w="med" len="med"/>
              <a:tailEnd type="none" w="med" len="med"/>
            </a:ln>
          </p:spPr>
          <p:txBody>
            <a:bodyPr/>
            <a:lstStyle/>
            <a:p>
              <a:endParaRPr lang="en-US"/>
            </a:p>
          </p:txBody>
        </p:sp>
        <p:sp>
          <p:nvSpPr>
            <p:cNvPr id="145445" name="Text Box 145444"/>
            <p:cNvSpPr txBox="1"/>
            <p:nvPr/>
          </p:nvSpPr>
          <p:spPr>
            <a:xfrm>
              <a:off x="1824" y="2064"/>
              <a:ext cx="432" cy="231"/>
            </a:xfrm>
            <a:prstGeom prst="rect">
              <a:avLst/>
            </a:prstGeom>
            <a:solidFill>
              <a:srgbClr val="00FFFF"/>
            </a:solidFill>
            <a:ln w="9525">
              <a:noFill/>
            </a:ln>
          </p:spPr>
          <p:txBody>
            <a:bodyPr>
              <a:spAutoFit/>
            </a:bodyPr>
            <a:lstStyle/>
            <a:p>
              <a:pPr algn="ctr">
                <a:spcBef>
                  <a:spcPct val="0"/>
                </a:spcBef>
              </a:pPr>
              <a:r>
                <a:rPr sz="1800">
                  <a:latin typeface="Arial" panose="020B0604020202020204" pitchFamily="34" charset="0"/>
                </a:rPr>
                <a:t>Data</a:t>
              </a:r>
            </a:p>
          </p:txBody>
        </p:sp>
        <p:sp>
          <p:nvSpPr>
            <p:cNvPr id="145457" name="Rectangles 145456"/>
            <p:cNvSpPr/>
            <p:nvPr/>
          </p:nvSpPr>
          <p:spPr>
            <a:xfrm>
              <a:off x="1824" y="1824"/>
              <a:ext cx="432" cy="240"/>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a:spcBef>
                  <a:spcPct val="0"/>
                </a:spcBef>
              </a:pPr>
              <a:r>
                <a:rPr sz="1800">
                  <a:latin typeface="Arial" panose="020B0604020202020204" pitchFamily="34" charset="0"/>
                </a:rPr>
                <a:t>O1</a:t>
              </a:r>
            </a:p>
          </p:txBody>
        </p:sp>
      </p:grpSp>
      <p:grpSp>
        <p:nvGrpSpPr>
          <p:cNvPr id="145459" name="Group 145458"/>
          <p:cNvGrpSpPr/>
          <p:nvPr/>
        </p:nvGrpSpPr>
        <p:grpSpPr>
          <a:xfrm>
            <a:off x="4876800" y="3352800"/>
            <a:ext cx="685800" cy="1143000"/>
            <a:chOff x="1824" y="1824"/>
            <a:chExt cx="432" cy="720"/>
          </a:xfrm>
        </p:grpSpPr>
        <p:sp>
          <p:nvSpPr>
            <p:cNvPr id="145460" name="Rectangles 145459"/>
            <p:cNvSpPr/>
            <p:nvPr/>
          </p:nvSpPr>
          <p:spPr>
            <a:xfrm>
              <a:off x="1824" y="2304"/>
              <a:ext cx="432" cy="240"/>
            </a:xfrm>
            <a:prstGeom prst="rect">
              <a:avLst/>
            </a:prstGeom>
            <a:solidFill>
              <a:srgbClr val="00CC00"/>
            </a:solidFill>
            <a:ln w="9525" cap="flat" cmpd="sng">
              <a:solidFill>
                <a:schemeClr val="tx1"/>
              </a:solidFill>
              <a:prstDash val="solid"/>
              <a:miter/>
              <a:headEnd type="none" w="med" len="med"/>
              <a:tailEnd type="none" w="med" len="med"/>
            </a:ln>
          </p:spPr>
          <p:txBody>
            <a:bodyPr wrap="none" anchor="ctr" anchorCtr="0"/>
            <a:lstStyle/>
            <a:p>
              <a:pPr algn="ctr">
                <a:spcBef>
                  <a:spcPct val="0"/>
                </a:spcBef>
              </a:pPr>
              <a:r>
                <a:rPr sz="1800">
                  <a:latin typeface="Arial" panose="020B0604020202020204" pitchFamily="34" charset="0"/>
                </a:rPr>
                <a:t>Fn</a:t>
              </a:r>
            </a:p>
          </p:txBody>
        </p:sp>
        <p:sp>
          <p:nvSpPr>
            <p:cNvPr id="145461" name="Rectangles 145460"/>
            <p:cNvSpPr/>
            <p:nvPr/>
          </p:nvSpPr>
          <p:spPr>
            <a:xfrm>
              <a:off x="1824" y="2064"/>
              <a:ext cx="432" cy="240"/>
            </a:xfrm>
            <a:prstGeom prst="rect">
              <a:avLst/>
            </a:prstGeom>
            <a:noFill/>
            <a:ln w="9525" cap="flat" cmpd="sng">
              <a:solidFill>
                <a:schemeClr val="tx1"/>
              </a:solidFill>
              <a:prstDash val="solid"/>
              <a:miter/>
              <a:headEnd type="none" w="med" len="med"/>
              <a:tailEnd type="none" w="med" len="med"/>
            </a:ln>
          </p:spPr>
          <p:txBody>
            <a:bodyPr/>
            <a:lstStyle/>
            <a:p>
              <a:endParaRPr lang="en-US"/>
            </a:p>
          </p:txBody>
        </p:sp>
        <p:sp>
          <p:nvSpPr>
            <p:cNvPr id="145462" name="Text Box 145461"/>
            <p:cNvSpPr txBox="1"/>
            <p:nvPr/>
          </p:nvSpPr>
          <p:spPr>
            <a:xfrm>
              <a:off x="1824" y="2064"/>
              <a:ext cx="432" cy="231"/>
            </a:xfrm>
            <a:prstGeom prst="rect">
              <a:avLst/>
            </a:prstGeom>
            <a:solidFill>
              <a:srgbClr val="FFFF99"/>
            </a:solidFill>
            <a:ln w="9525">
              <a:noFill/>
            </a:ln>
          </p:spPr>
          <p:txBody>
            <a:bodyPr>
              <a:spAutoFit/>
            </a:bodyPr>
            <a:lstStyle/>
            <a:p>
              <a:pPr algn="ctr">
                <a:spcBef>
                  <a:spcPct val="0"/>
                </a:spcBef>
              </a:pPr>
              <a:r>
                <a:rPr sz="1800">
                  <a:latin typeface="Arial" panose="020B0604020202020204" pitchFamily="34" charset="0"/>
                </a:rPr>
                <a:t>Data</a:t>
              </a:r>
            </a:p>
          </p:txBody>
        </p:sp>
        <p:sp>
          <p:nvSpPr>
            <p:cNvPr id="145463" name="Rectangles 145462"/>
            <p:cNvSpPr/>
            <p:nvPr/>
          </p:nvSpPr>
          <p:spPr>
            <a:xfrm>
              <a:off x="1824" y="1824"/>
              <a:ext cx="432" cy="240"/>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a:spcBef>
                  <a:spcPct val="0"/>
                </a:spcBef>
              </a:pPr>
              <a:r>
                <a:rPr sz="1800">
                  <a:latin typeface="Arial" panose="020B0604020202020204" pitchFamily="34" charset="0"/>
                </a:rPr>
                <a:t>O2</a:t>
              </a:r>
            </a:p>
          </p:txBody>
        </p:sp>
      </p:grpSp>
      <p:grpSp>
        <p:nvGrpSpPr>
          <p:cNvPr id="145464" name="Group 145463"/>
          <p:cNvGrpSpPr/>
          <p:nvPr/>
        </p:nvGrpSpPr>
        <p:grpSpPr>
          <a:xfrm>
            <a:off x="3962400" y="5029200"/>
            <a:ext cx="685800" cy="1143000"/>
            <a:chOff x="1824" y="1824"/>
            <a:chExt cx="432" cy="720"/>
          </a:xfrm>
        </p:grpSpPr>
        <p:sp>
          <p:nvSpPr>
            <p:cNvPr id="145465" name="Rectangles 145464"/>
            <p:cNvSpPr/>
            <p:nvPr/>
          </p:nvSpPr>
          <p:spPr>
            <a:xfrm>
              <a:off x="1824" y="2304"/>
              <a:ext cx="432" cy="240"/>
            </a:xfrm>
            <a:prstGeom prst="rect">
              <a:avLst/>
            </a:prstGeom>
            <a:solidFill>
              <a:srgbClr val="00CC00"/>
            </a:solidFill>
            <a:ln w="9525" cap="flat" cmpd="sng">
              <a:solidFill>
                <a:schemeClr val="tx1"/>
              </a:solidFill>
              <a:prstDash val="solid"/>
              <a:miter/>
              <a:headEnd type="none" w="med" len="med"/>
              <a:tailEnd type="none" w="med" len="med"/>
            </a:ln>
          </p:spPr>
          <p:txBody>
            <a:bodyPr wrap="none" anchor="ctr" anchorCtr="0"/>
            <a:lstStyle/>
            <a:p>
              <a:pPr algn="ctr">
                <a:spcBef>
                  <a:spcPct val="0"/>
                </a:spcBef>
              </a:pPr>
              <a:r>
                <a:rPr sz="1800">
                  <a:latin typeface="Arial" panose="020B0604020202020204" pitchFamily="34" charset="0"/>
                </a:rPr>
                <a:t>Fn</a:t>
              </a:r>
            </a:p>
          </p:txBody>
        </p:sp>
        <p:sp>
          <p:nvSpPr>
            <p:cNvPr id="145466" name="Rectangles 145465"/>
            <p:cNvSpPr/>
            <p:nvPr/>
          </p:nvSpPr>
          <p:spPr>
            <a:xfrm>
              <a:off x="1824" y="2064"/>
              <a:ext cx="432" cy="240"/>
            </a:xfrm>
            <a:prstGeom prst="rect">
              <a:avLst/>
            </a:prstGeom>
            <a:noFill/>
            <a:ln w="9525" cap="flat" cmpd="sng">
              <a:solidFill>
                <a:schemeClr val="tx1"/>
              </a:solidFill>
              <a:prstDash val="solid"/>
              <a:miter/>
              <a:headEnd type="none" w="med" len="med"/>
              <a:tailEnd type="none" w="med" len="med"/>
            </a:ln>
          </p:spPr>
          <p:txBody>
            <a:bodyPr/>
            <a:lstStyle/>
            <a:p>
              <a:endParaRPr lang="en-US"/>
            </a:p>
          </p:txBody>
        </p:sp>
        <p:sp>
          <p:nvSpPr>
            <p:cNvPr id="145467" name="Text Box 145466"/>
            <p:cNvSpPr txBox="1"/>
            <p:nvPr/>
          </p:nvSpPr>
          <p:spPr>
            <a:xfrm>
              <a:off x="1824" y="2064"/>
              <a:ext cx="432" cy="231"/>
            </a:xfrm>
            <a:prstGeom prst="rect">
              <a:avLst/>
            </a:prstGeom>
            <a:solidFill>
              <a:srgbClr val="FFFF99"/>
            </a:solidFill>
            <a:ln w="9525">
              <a:noFill/>
            </a:ln>
          </p:spPr>
          <p:txBody>
            <a:bodyPr>
              <a:spAutoFit/>
            </a:bodyPr>
            <a:lstStyle/>
            <a:p>
              <a:pPr algn="ctr">
                <a:spcBef>
                  <a:spcPct val="0"/>
                </a:spcBef>
              </a:pPr>
              <a:r>
                <a:rPr sz="1800">
                  <a:latin typeface="Arial" panose="020B0604020202020204" pitchFamily="34" charset="0"/>
                </a:rPr>
                <a:t>Data</a:t>
              </a:r>
            </a:p>
          </p:txBody>
        </p:sp>
        <p:sp>
          <p:nvSpPr>
            <p:cNvPr id="145468" name="Rectangles 145467"/>
            <p:cNvSpPr/>
            <p:nvPr/>
          </p:nvSpPr>
          <p:spPr>
            <a:xfrm>
              <a:off x="1824" y="1824"/>
              <a:ext cx="432" cy="240"/>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ctr">
                <a:spcBef>
                  <a:spcPct val="0"/>
                </a:spcBef>
              </a:pPr>
              <a:r>
                <a:rPr sz="1800">
                  <a:latin typeface="Arial" panose="020B0604020202020204" pitchFamily="34" charset="0"/>
                </a:rPr>
                <a:t>O3</a:t>
              </a:r>
            </a:p>
          </p:txBody>
        </p:sp>
      </p:grpSp>
      <p:sp>
        <p:nvSpPr>
          <p:cNvPr id="145469" name="Text Box 145468"/>
          <p:cNvSpPr txBox="1"/>
          <p:nvPr/>
        </p:nvSpPr>
        <p:spPr>
          <a:xfrm>
            <a:off x="3962400" y="3657600"/>
            <a:ext cx="573088" cy="457200"/>
          </a:xfrm>
          <a:prstGeom prst="rect">
            <a:avLst/>
          </a:prstGeom>
          <a:noFill/>
          <a:ln w="9525">
            <a:noFill/>
          </a:ln>
        </p:spPr>
        <p:txBody>
          <a:bodyPr wrap="none" anchor="t" anchorCtr="0">
            <a:spAutoFit/>
          </a:bodyPr>
          <a:lstStyle/>
          <a:p>
            <a:r>
              <a:rPr>
                <a:solidFill>
                  <a:srgbClr val="9900FF"/>
                </a:solidFill>
                <a:latin typeface="Times New Roman" panose="02020603050405020304" pitchFamily="18" charset="0"/>
              </a:rPr>
              <a:t>m1</a:t>
            </a:r>
          </a:p>
        </p:txBody>
      </p:sp>
      <p:sp>
        <p:nvSpPr>
          <p:cNvPr id="145470" name="Text Box 145469"/>
          <p:cNvSpPr txBox="1"/>
          <p:nvPr/>
        </p:nvSpPr>
        <p:spPr>
          <a:xfrm>
            <a:off x="5045075" y="4683125"/>
            <a:ext cx="573088" cy="457200"/>
          </a:xfrm>
          <a:prstGeom prst="rect">
            <a:avLst/>
          </a:prstGeom>
          <a:noFill/>
          <a:ln w="9525">
            <a:noFill/>
          </a:ln>
        </p:spPr>
        <p:txBody>
          <a:bodyPr wrap="none" anchor="t" anchorCtr="0">
            <a:spAutoFit/>
          </a:bodyPr>
          <a:lstStyle/>
          <a:p>
            <a:r>
              <a:rPr>
                <a:solidFill>
                  <a:srgbClr val="9900FF"/>
                </a:solidFill>
                <a:latin typeface="Times New Roman" panose="02020603050405020304" pitchFamily="18" charset="0"/>
              </a:rPr>
              <a:t>m2</a:t>
            </a:r>
          </a:p>
        </p:txBody>
      </p:sp>
      <p:sp>
        <p:nvSpPr>
          <p:cNvPr id="145471" name="Text Box 145470"/>
          <p:cNvSpPr txBox="1"/>
          <p:nvPr/>
        </p:nvSpPr>
        <p:spPr>
          <a:xfrm>
            <a:off x="2835275" y="4683125"/>
            <a:ext cx="573088" cy="457200"/>
          </a:xfrm>
          <a:prstGeom prst="rect">
            <a:avLst/>
          </a:prstGeom>
          <a:noFill/>
          <a:ln w="9525">
            <a:noFill/>
          </a:ln>
        </p:spPr>
        <p:txBody>
          <a:bodyPr wrap="none" anchor="t" anchorCtr="0">
            <a:spAutoFit/>
          </a:bodyPr>
          <a:lstStyle/>
          <a:p>
            <a:r>
              <a:rPr>
                <a:solidFill>
                  <a:srgbClr val="9900FF"/>
                </a:solidFill>
                <a:latin typeface="Times New Roman" panose="02020603050405020304" pitchFamily="18" charset="0"/>
              </a:rPr>
              <a:t>m3</a:t>
            </a:r>
          </a:p>
        </p:txBody>
      </p:sp>
      <p:sp>
        <p:nvSpPr>
          <p:cNvPr id="145477" name="Text Box 145476"/>
          <p:cNvSpPr txBox="1"/>
          <p:nvPr/>
        </p:nvSpPr>
        <p:spPr>
          <a:xfrm>
            <a:off x="6689725" y="4994275"/>
            <a:ext cx="1452563" cy="457200"/>
          </a:xfrm>
          <a:prstGeom prst="rect">
            <a:avLst/>
          </a:prstGeom>
          <a:noFill/>
          <a:ln w="9525">
            <a:noFill/>
          </a:ln>
        </p:spPr>
        <p:txBody>
          <a:bodyPr wrap="none" anchor="t" anchorCtr="0">
            <a:spAutoFit/>
          </a:bodyPr>
          <a:lstStyle/>
          <a:p>
            <a:r>
              <a:rPr i="1">
                <a:solidFill>
                  <a:srgbClr val="FF00FF"/>
                </a:solidFill>
                <a:latin typeface="Times New Roman" panose="02020603050405020304" pitchFamily="18" charset="0"/>
              </a:rPr>
              <a:t>{m in Fn}</a:t>
            </a:r>
            <a:r>
              <a:rPr>
                <a:latin typeface="Times New Roman" panose="02020603050405020304" pitchFamily="18" charset="0"/>
              </a:rPr>
              <a:t> </a:t>
            </a:r>
          </a:p>
        </p:txBody>
      </p:sp>
      <p:pic>
        <p:nvPicPr>
          <p:cNvPr id="3" name="Picture 2">
            <a:extLst>
              <a:ext uri="{FF2B5EF4-FFF2-40B4-BE49-F238E27FC236}">
                <a16:creationId xmlns:a16="http://schemas.microsoft.com/office/drawing/2014/main" id="{1C311823-6E24-0A1D-488B-DADBEA618D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3" y="0"/>
            <a:ext cx="990599" cy="968779"/>
          </a:xfrm>
          <a:prstGeom prst="rect">
            <a:avLst/>
          </a:prstGeom>
        </p:spPr>
      </p:pic>
      <p:sp>
        <p:nvSpPr>
          <p:cNvPr id="6" name="Rectangle 5">
            <a:extLst>
              <a:ext uri="{FF2B5EF4-FFF2-40B4-BE49-F238E27FC236}">
                <a16:creationId xmlns:a16="http://schemas.microsoft.com/office/drawing/2014/main" id="{C5473AC8-21E4-0379-ACFC-6328593F15CA}"/>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776188D-CD2E-DFBC-88F7-43D69D915C20}"/>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25</a:t>
            </a:fld>
            <a:endParaRPr lang="en-US">
              <a:latin typeface="Arial" panose="020B0604020202020204" pitchFamily="34" charset="0"/>
            </a:endParaRPr>
          </a:p>
        </p:txBody>
      </p:sp>
      <p:sp>
        <p:nvSpPr>
          <p:cNvPr id="225282" name="Title 225281"/>
          <p:cNvSpPr>
            <a:spLocks noGrp="1"/>
          </p:cNvSpPr>
          <p:nvPr>
            <p:ph type="title" idx="4294967295"/>
          </p:nvPr>
        </p:nvSpPr>
        <p:spPr>
          <a:xfrm>
            <a:off x="0" y="228600"/>
            <a:ext cx="8015288" cy="914400"/>
          </a:xfrm>
        </p:spPr>
        <p:txBody>
          <a:bodyPr anchor="ctr" anchorCtr="0"/>
          <a:lstStyle/>
          <a:p>
            <a:pPr algn="ctr"/>
            <a:r>
              <a:rPr dirty="0"/>
              <a:t>What is OOAD?</a:t>
            </a:r>
          </a:p>
        </p:txBody>
      </p:sp>
      <p:sp>
        <p:nvSpPr>
          <p:cNvPr id="225283" name="Text Placeholder 225282"/>
          <p:cNvSpPr>
            <a:spLocks noGrp="1"/>
          </p:cNvSpPr>
          <p:nvPr>
            <p:ph type="body" idx="4294967295"/>
          </p:nvPr>
        </p:nvSpPr>
        <p:spPr>
          <a:xfrm>
            <a:off x="0" y="1600200"/>
            <a:ext cx="8915400" cy="4092575"/>
          </a:xfrm>
        </p:spPr>
        <p:txBody>
          <a:bodyPr/>
          <a:lstStyle/>
          <a:p>
            <a:pPr>
              <a:buNone/>
            </a:pPr>
            <a:endParaRPr dirty="0"/>
          </a:p>
          <a:p>
            <a:pPr algn="just"/>
            <a:r>
              <a:rPr sz="2800" dirty="0"/>
              <a:t>Analysis</a:t>
            </a:r>
            <a:r>
              <a:rPr dirty="0"/>
              <a:t> </a:t>
            </a:r>
            <a:r>
              <a:rPr sz="2000" dirty="0"/>
              <a:t>— understanding, finding and describing concepts in the problem domain.</a:t>
            </a:r>
          </a:p>
          <a:p>
            <a:pPr algn="just"/>
            <a:r>
              <a:rPr sz="2800" dirty="0"/>
              <a:t>Design </a:t>
            </a:r>
            <a:r>
              <a:rPr sz="2000" dirty="0"/>
              <a:t>— understanding and defining software solution/objects that </a:t>
            </a:r>
            <a:r>
              <a:rPr sz="2000" i="1" dirty="0">
                <a:solidFill>
                  <a:srgbClr val="FF00FF"/>
                </a:solidFill>
              </a:rPr>
              <a:t>represent</a:t>
            </a:r>
            <a:r>
              <a:rPr sz="2000" i="1" dirty="0"/>
              <a:t> </a:t>
            </a:r>
            <a:r>
              <a:rPr sz="2000" dirty="0"/>
              <a:t>the analysis concepts and will eventually be implemented in code.</a:t>
            </a:r>
          </a:p>
          <a:p>
            <a:pPr algn="just"/>
            <a:r>
              <a:rPr sz="2800" dirty="0"/>
              <a:t>OOAD </a:t>
            </a:r>
            <a:r>
              <a:rPr sz="2000" dirty="0"/>
              <a:t>— Analysis is object-oriented and design is object-oriented. A software development approach that emphasizes a logical solution based on objects.</a:t>
            </a:r>
          </a:p>
        </p:txBody>
      </p:sp>
      <p:sp>
        <p:nvSpPr>
          <p:cNvPr id="225284" name="Text Box 225283"/>
          <p:cNvSpPr txBox="1"/>
          <p:nvPr/>
        </p:nvSpPr>
        <p:spPr>
          <a:xfrm>
            <a:off x="5867400" y="2743200"/>
            <a:ext cx="1874838" cy="457200"/>
          </a:xfrm>
          <a:prstGeom prst="rect">
            <a:avLst/>
          </a:prstGeom>
          <a:solidFill>
            <a:srgbClr val="FF0000"/>
          </a:solidFill>
          <a:ln w="9525">
            <a:noFill/>
          </a:ln>
        </p:spPr>
        <p:txBody>
          <a:bodyPr wrap="none" anchor="t" anchorCtr="0">
            <a:spAutoFit/>
          </a:bodyPr>
          <a:lstStyle/>
          <a:p>
            <a:r>
              <a:rPr b="1" dirty="0">
                <a:solidFill>
                  <a:schemeClr val="bg1"/>
                </a:solidFill>
                <a:latin typeface="Times New Roman" panose="02020603050405020304" pitchFamily="18" charset="0"/>
              </a:rPr>
              <a:t>Traceability!</a:t>
            </a:r>
          </a:p>
        </p:txBody>
      </p:sp>
      <p:sp>
        <p:nvSpPr>
          <p:cNvPr id="225285" name="Text Box 225284"/>
          <p:cNvSpPr txBox="1"/>
          <p:nvPr/>
        </p:nvSpPr>
        <p:spPr>
          <a:xfrm>
            <a:off x="3124200" y="5715000"/>
            <a:ext cx="4981575" cy="457200"/>
          </a:xfrm>
          <a:prstGeom prst="rect">
            <a:avLst/>
          </a:prstGeom>
          <a:noFill/>
          <a:ln w="9525">
            <a:noFill/>
          </a:ln>
        </p:spPr>
        <p:txBody>
          <a:bodyPr wrap="none" anchor="t" anchorCtr="0">
            <a:spAutoFit/>
          </a:bodyPr>
          <a:lstStyle/>
          <a:p>
            <a:r>
              <a:rPr i="1">
                <a:solidFill>
                  <a:srgbClr val="FF00FF"/>
                </a:solidFill>
                <a:latin typeface="Times New Roman" panose="02020603050405020304" pitchFamily="18" charset="0"/>
              </a:rPr>
              <a:t>Involves both a notation and a process</a:t>
            </a:r>
            <a:r>
              <a:rPr>
                <a:latin typeface="Times New Roman" panose="02020603050405020304" pitchFamily="18" charset="0"/>
              </a:rPr>
              <a:t> </a:t>
            </a:r>
          </a:p>
        </p:txBody>
      </p:sp>
      <p:pic>
        <p:nvPicPr>
          <p:cNvPr id="3" name="Picture 2">
            <a:extLst>
              <a:ext uri="{FF2B5EF4-FFF2-40B4-BE49-F238E27FC236}">
                <a16:creationId xmlns:a16="http://schemas.microsoft.com/office/drawing/2014/main" id="{22E87714-D57F-0A73-4975-68397CF3EA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90599" cy="968779"/>
          </a:xfrm>
          <a:prstGeom prst="rect">
            <a:avLst/>
          </a:prstGeom>
        </p:spPr>
      </p:pic>
      <p:sp>
        <p:nvSpPr>
          <p:cNvPr id="4" name="Rectangle 3">
            <a:extLst>
              <a:ext uri="{FF2B5EF4-FFF2-40B4-BE49-F238E27FC236}">
                <a16:creationId xmlns:a16="http://schemas.microsoft.com/office/drawing/2014/main" id="{A539ACC8-58FA-5EC3-BFAE-FA6082DED83A}"/>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1805728-C909-0057-B24C-BEA2C659A720}"/>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26</a:t>
            </a:fld>
            <a:endParaRPr lang="en-US">
              <a:latin typeface="Arial" panose="020B0604020202020204" pitchFamily="34" charset="0"/>
            </a:endParaRPr>
          </a:p>
        </p:txBody>
      </p:sp>
      <p:sp>
        <p:nvSpPr>
          <p:cNvPr id="327682" name="Rectangles 327681"/>
          <p:cNvSpPr/>
          <p:nvPr/>
        </p:nvSpPr>
        <p:spPr>
          <a:xfrm>
            <a:off x="381000" y="228600"/>
            <a:ext cx="7696200" cy="641350"/>
          </a:xfrm>
          <a:prstGeom prst="rect">
            <a:avLst/>
          </a:prstGeom>
          <a:noFill/>
          <a:ln w="9525">
            <a:noFill/>
          </a:ln>
        </p:spPr>
        <p:txBody>
          <a:bodyPr>
            <a:spAutoFit/>
          </a:bodyPr>
          <a:lstStyle/>
          <a:p>
            <a:pPr algn="ctr">
              <a:spcBef>
                <a:spcPct val="0"/>
              </a:spcBef>
            </a:pPr>
            <a:r>
              <a:rPr sz="3600" b="1" dirty="0">
                <a:solidFill>
                  <a:schemeClr val="tx2"/>
                </a:solidFill>
                <a:latin typeface="Arial" panose="020B0604020202020204" pitchFamily="34" charset="0"/>
              </a:rPr>
              <a:t>Harry again …</a:t>
            </a:r>
            <a:endParaRPr b="1" i="1" dirty="0">
              <a:solidFill>
                <a:schemeClr val="tx2"/>
              </a:solidFill>
              <a:latin typeface="Arial" panose="020B0604020202020204" pitchFamily="34" charset="0"/>
            </a:endParaRPr>
          </a:p>
        </p:txBody>
      </p:sp>
      <p:sp>
        <p:nvSpPr>
          <p:cNvPr id="327683" name="Text Box 327682"/>
          <p:cNvSpPr txBox="1"/>
          <p:nvPr/>
        </p:nvSpPr>
        <p:spPr>
          <a:xfrm>
            <a:off x="457200" y="1524000"/>
            <a:ext cx="8229600" cy="669925"/>
          </a:xfrm>
          <a:prstGeom prst="rect">
            <a:avLst/>
          </a:prstGeom>
          <a:noFill/>
          <a:ln w="9525">
            <a:noFill/>
          </a:ln>
        </p:spPr>
        <p:txBody>
          <a:bodyPr>
            <a:spAutoFit/>
          </a:bodyPr>
          <a:lstStyle/>
          <a:p>
            <a:pPr>
              <a:lnSpc>
                <a:spcPct val="80000"/>
              </a:lnSpc>
              <a:spcBef>
                <a:spcPct val="20000"/>
              </a:spcBef>
              <a:buClr>
                <a:schemeClr val="hlink"/>
              </a:buClr>
              <a:buSzPct val="80000"/>
              <a:buFont typeface="Wingdings" panose="05000000000000000000" pitchFamily="2" charset="2"/>
            </a:pPr>
            <a:r>
              <a:rPr sz="2100" i="1">
                <a:solidFill>
                  <a:srgbClr val="FF0000"/>
                </a:solidFill>
                <a:latin typeface="Arial" panose="020B0604020202020204" pitchFamily="34" charset="0"/>
              </a:rPr>
              <a:t>What do we see here?</a:t>
            </a:r>
          </a:p>
          <a:p>
            <a:pPr>
              <a:spcBef>
                <a:spcPct val="0"/>
              </a:spcBef>
            </a:pPr>
            <a:endParaRPr sz="2100" i="1">
              <a:solidFill>
                <a:srgbClr val="FF0000"/>
              </a:solidFill>
              <a:latin typeface="Arial" panose="020B0604020202020204" pitchFamily="34" charset="0"/>
            </a:endParaRPr>
          </a:p>
        </p:txBody>
      </p:sp>
      <p:pic>
        <p:nvPicPr>
          <p:cNvPr id="327684" name="Picture 327683" descr="harry"/>
          <p:cNvPicPr>
            <a:picLocks noChangeAspect="1"/>
          </p:cNvPicPr>
          <p:nvPr/>
        </p:nvPicPr>
        <p:blipFill>
          <a:blip r:embed="rId3"/>
          <a:stretch>
            <a:fillRect/>
          </a:stretch>
        </p:blipFill>
        <p:spPr>
          <a:xfrm>
            <a:off x="0" y="2854325"/>
            <a:ext cx="4419600" cy="2330450"/>
          </a:xfrm>
          <a:prstGeom prst="rect">
            <a:avLst/>
          </a:prstGeom>
          <a:noFill/>
          <a:ln w="9525">
            <a:noFill/>
          </a:ln>
        </p:spPr>
      </p:pic>
      <p:sp>
        <p:nvSpPr>
          <p:cNvPr id="327685" name="Text Box 327684"/>
          <p:cNvSpPr txBox="1"/>
          <p:nvPr/>
        </p:nvSpPr>
        <p:spPr>
          <a:xfrm>
            <a:off x="4584700" y="3048000"/>
            <a:ext cx="936625"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Water</a:t>
            </a:r>
          </a:p>
        </p:txBody>
      </p:sp>
      <p:sp>
        <p:nvSpPr>
          <p:cNvPr id="327686" name="Text Box 327685"/>
          <p:cNvSpPr txBox="1"/>
          <p:nvPr/>
        </p:nvSpPr>
        <p:spPr>
          <a:xfrm>
            <a:off x="4524375" y="3997325"/>
            <a:ext cx="989013"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Rivers</a:t>
            </a:r>
          </a:p>
        </p:txBody>
      </p:sp>
      <p:sp>
        <p:nvSpPr>
          <p:cNvPr id="327687" name="Text Box 327686"/>
          <p:cNvSpPr txBox="1"/>
          <p:nvPr/>
        </p:nvSpPr>
        <p:spPr>
          <a:xfrm>
            <a:off x="6048375" y="3997325"/>
            <a:ext cx="1090613"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Oceans</a:t>
            </a:r>
          </a:p>
        </p:txBody>
      </p:sp>
      <p:sp>
        <p:nvSpPr>
          <p:cNvPr id="327688" name="Text Box 327687"/>
          <p:cNvSpPr txBox="1"/>
          <p:nvPr/>
        </p:nvSpPr>
        <p:spPr>
          <a:xfrm>
            <a:off x="3838575" y="5216525"/>
            <a:ext cx="719138"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Fish</a:t>
            </a:r>
          </a:p>
        </p:txBody>
      </p:sp>
      <p:sp>
        <p:nvSpPr>
          <p:cNvPr id="327689" name="Text Box 327688"/>
          <p:cNvSpPr txBox="1"/>
          <p:nvPr/>
        </p:nvSpPr>
        <p:spPr>
          <a:xfrm>
            <a:off x="4752975" y="5673725"/>
            <a:ext cx="1311275"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Penguins</a:t>
            </a:r>
          </a:p>
        </p:txBody>
      </p:sp>
      <p:sp>
        <p:nvSpPr>
          <p:cNvPr id="327690" name="Text Box 327689"/>
          <p:cNvSpPr txBox="1"/>
          <p:nvPr/>
        </p:nvSpPr>
        <p:spPr>
          <a:xfrm>
            <a:off x="5743575" y="5064125"/>
            <a:ext cx="1512888"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Crocodiles</a:t>
            </a:r>
          </a:p>
        </p:txBody>
      </p:sp>
      <p:sp>
        <p:nvSpPr>
          <p:cNvPr id="327691" name="Text Box 327690"/>
          <p:cNvSpPr txBox="1"/>
          <p:nvPr/>
        </p:nvSpPr>
        <p:spPr>
          <a:xfrm>
            <a:off x="7343775" y="3387725"/>
            <a:ext cx="1624013"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Fresh water</a:t>
            </a:r>
          </a:p>
        </p:txBody>
      </p:sp>
      <p:sp>
        <p:nvSpPr>
          <p:cNvPr id="327692" name="Text Box 327691"/>
          <p:cNvSpPr txBox="1"/>
          <p:nvPr/>
        </p:nvSpPr>
        <p:spPr>
          <a:xfrm>
            <a:off x="7724775" y="4683125"/>
            <a:ext cx="1419225" cy="466725"/>
          </a:xfrm>
          <a:prstGeom prst="rect">
            <a:avLst/>
          </a:prstGeom>
          <a:noFill/>
          <a:ln w="9525" cap="flat" cmpd="sng">
            <a:solidFill>
              <a:srgbClr val="800080"/>
            </a:solidFill>
            <a:prstDash val="solid"/>
            <a:miter/>
            <a:headEnd type="none" w="med" len="med"/>
            <a:tailEnd type="none" w="med" len="med"/>
          </a:ln>
        </p:spPr>
        <p:txBody>
          <a:bodyPr wrap="none" anchor="t" anchorCtr="0">
            <a:spAutoFit/>
          </a:bodyPr>
          <a:lstStyle/>
          <a:p>
            <a:r>
              <a:rPr>
                <a:latin typeface="Times New Roman" panose="02020603050405020304" pitchFamily="18" charset="0"/>
              </a:rPr>
              <a:t>Salt water</a:t>
            </a:r>
          </a:p>
        </p:txBody>
      </p:sp>
      <p:sp>
        <p:nvSpPr>
          <p:cNvPr id="327693" name="Isosceles Triangle 327692"/>
          <p:cNvSpPr/>
          <p:nvPr/>
        </p:nvSpPr>
        <p:spPr>
          <a:xfrm>
            <a:off x="4905375" y="3540125"/>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27694" name="Straight Connector 327693"/>
          <p:cNvSpPr/>
          <p:nvPr/>
        </p:nvSpPr>
        <p:spPr>
          <a:xfrm>
            <a:off x="4981575" y="3692525"/>
            <a:ext cx="0" cy="304800"/>
          </a:xfrm>
          <a:prstGeom prst="line">
            <a:avLst/>
          </a:prstGeom>
          <a:ln w="9525" cap="flat" cmpd="sng">
            <a:solidFill>
              <a:srgbClr val="9900FF"/>
            </a:solidFill>
            <a:prstDash val="solid"/>
            <a:headEnd type="none" w="med" len="med"/>
            <a:tailEnd type="none" w="med" len="med"/>
          </a:ln>
        </p:spPr>
      </p:sp>
      <p:sp>
        <p:nvSpPr>
          <p:cNvPr id="327695" name="Straight Connector 327694"/>
          <p:cNvSpPr/>
          <p:nvPr/>
        </p:nvSpPr>
        <p:spPr>
          <a:xfrm flipH="1">
            <a:off x="4143375" y="4454525"/>
            <a:ext cx="838200" cy="685800"/>
          </a:xfrm>
          <a:prstGeom prst="line">
            <a:avLst/>
          </a:prstGeom>
          <a:ln w="9525" cap="flat" cmpd="sng">
            <a:solidFill>
              <a:srgbClr val="9900FF"/>
            </a:solidFill>
            <a:prstDash val="solid"/>
            <a:headEnd type="none" w="med" len="med"/>
            <a:tailEnd type="arrow" w="med" len="med"/>
          </a:ln>
        </p:spPr>
      </p:sp>
      <p:sp>
        <p:nvSpPr>
          <p:cNvPr id="327696" name="Text Box 327695"/>
          <p:cNvSpPr txBox="1"/>
          <p:nvPr/>
        </p:nvSpPr>
        <p:spPr>
          <a:xfrm>
            <a:off x="4143375" y="4506913"/>
            <a:ext cx="615950" cy="366712"/>
          </a:xfrm>
          <a:prstGeom prst="rect">
            <a:avLst/>
          </a:prstGeom>
          <a:noFill/>
          <a:ln w="9525">
            <a:noFill/>
          </a:ln>
        </p:spPr>
        <p:txBody>
          <a:bodyPr wrap="none" anchor="t" anchorCtr="0">
            <a:spAutoFit/>
          </a:bodyPr>
          <a:lstStyle/>
          <a:p>
            <a:r>
              <a:rPr sz="1800">
                <a:latin typeface="Times New Roman" panose="02020603050405020304" pitchFamily="18" charset="0"/>
              </a:rPr>
              <a:t>have</a:t>
            </a:r>
          </a:p>
        </p:txBody>
      </p:sp>
      <p:sp>
        <p:nvSpPr>
          <p:cNvPr id="327697" name="Straight Connector 327696"/>
          <p:cNvSpPr/>
          <p:nvPr/>
        </p:nvSpPr>
        <p:spPr>
          <a:xfrm flipH="1">
            <a:off x="4448175" y="4454525"/>
            <a:ext cx="1524000" cy="762000"/>
          </a:xfrm>
          <a:prstGeom prst="line">
            <a:avLst/>
          </a:prstGeom>
          <a:ln w="9525" cap="flat" cmpd="sng">
            <a:solidFill>
              <a:srgbClr val="9900FF"/>
            </a:solidFill>
            <a:prstDash val="solid"/>
            <a:headEnd type="none" w="med" len="med"/>
            <a:tailEnd type="arrow" w="med" len="med"/>
          </a:ln>
        </p:spPr>
      </p:sp>
      <p:sp>
        <p:nvSpPr>
          <p:cNvPr id="327698" name="Text Box 327697"/>
          <p:cNvSpPr txBox="1"/>
          <p:nvPr/>
        </p:nvSpPr>
        <p:spPr>
          <a:xfrm>
            <a:off x="4829175" y="4832350"/>
            <a:ext cx="615950" cy="366713"/>
          </a:xfrm>
          <a:prstGeom prst="rect">
            <a:avLst/>
          </a:prstGeom>
          <a:noFill/>
          <a:ln w="9525">
            <a:noFill/>
          </a:ln>
        </p:spPr>
        <p:txBody>
          <a:bodyPr wrap="none" anchor="t" anchorCtr="0">
            <a:spAutoFit/>
          </a:bodyPr>
          <a:lstStyle/>
          <a:p>
            <a:r>
              <a:rPr sz="1800">
                <a:latin typeface="Times New Roman" panose="02020603050405020304" pitchFamily="18" charset="0"/>
              </a:rPr>
              <a:t>have</a:t>
            </a:r>
          </a:p>
        </p:txBody>
      </p:sp>
      <p:sp>
        <p:nvSpPr>
          <p:cNvPr id="327699" name="Straight Connector 327698"/>
          <p:cNvSpPr/>
          <p:nvPr/>
        </p:nvSpPr>
        <p:spPr>
          <a:xfrm flipH="1">
            <a:off x="4981575" y="4530725"/>
            <a:ext cx="1066800" cy="1143000"/>
          </a:xfrm>
          <a:prstGeom prst="line">
            <a:avLst/>
          </a:prstGeom>
          <a:ln w="9525" cap="flat" cmpd="sng">
            <a:solidFill>
              <a:srgbClr val="9900FF"/>
            </a:solidFill>
            <a:prstDash val="solid"/>
            <a:headEnd type="none" w="med" len="med"/>
            <a:tailEnd type="arrow" w="med" len="med"/>
          </a:ln>
        </p:spPr>
      </p:sp>
      <p:sp>
        <p:nvSpPr>
          <p:cNvPr id="327700" name="Text Box 327699"/>
          <p:cNvSpPr txBox="1"/>
          <p:nvPr/>
        </p:nvSpPr>
        <p:spPr>
          <a:xfrm>
            <a:off x="4829175" y="5213350"/>
            <a:ext cx="615950" cy="366713"/>
          </a:xfrm>
          <a:prstGeom prst="rect">
            <a:avLst/>
          </a:prstGeom>
          <a:noFill/>
          <a:ln w="9525">
            <a:noFill/>
          </a:ln>
        </p:spPr>
        <p:txBody>
          <a:bodyPr wrap="none" anchor="t" anchorCtr="0">
            <a:spAutoFit/>
          </a:bodyPr>
          <a:lstStyle/>
          <a:p>
            <a:r>
              <a:rPr sz="1800">
                <a:latin typeface="Times New Roman" panose="02020603050405020304" pitchFamily="18" charset="0"/>
              </a:rPr>
              <a:t>have</a:t>
            </a:r>
          </a:p>
        </p:txBody>
      </p:sp>
      <p:sp>
        <p:nvSpPr>
          <p:cNvPr id="327701" name="Straight Connector 327700"/>
          <p:cNvSpPr/>
          <p:nvPr/>
        </p:nvSpPr>
        <p:spPr>
          <a:xfrm flipH="1" flipV="1">
            <a:off x="6429375" y="4454525"/>
            <a:ext cx="0" cy="609600"/>
          </a:xfrm>
          <a:prstGeom prst="line">
            <a:avLst/>
          </a:prstGeom>
          <a:ln w="9525" cap="flat" cmpd="sng">
            <a:solidFill>
              <a:srgbClr val="9900FF"/>
            </a:solidFill>
            <a:prstDash val="solid"/>
            <a:headEnd type="none" w="med" len="med"/>
            <a:tailEnd type="arrow" w="med" len="med"/>
          </a:ln>
        </p:spPr>
      </p:sp>
      <p:sp>
        <p:nvSpPr>
          <p:cNvPr id="327702" name="Text Box 327701"/>
          <p:cNvSpPr txBox="1"/>
          <p:nvPr/>
        </p:nvSpPr>
        <p:spPr>
          <a:xfrm>
            <a:off x="6200775" y="4606925"/>
            <a:ext cx="762000" cy="366713"/>
          </a:xfrm>
          <a:prstGeom prst="rect">
            <a:avLst/>
          </a:prstGeom>
          <a:noFill/>
          <a:ln w="9525">
            <a:noFill/>
          </a:ln>
        </p:spPr>
        <p:txBody>
          <a:bodyPr wrap="none" anchor="t" anchorCtr="0">
            <a:spAutoFit/>
          </a:bodyPr>
          <a:lstStyle/>
          <a:p>
            <a:r>
              <a:rPr sz="1800">
                <a:latin typeface="Times New Roman" panose="02020603050405020304" pitchFamily="18" charset="0"/>
              </a:rPr>
              <a:t>live in</a:t>
            </a:r>
          </a:p>
        </p:txBody>
      </p:sp>
      <p:sp>
        <p:nvSpPr>
          <p:cNvPr id="327703" name="Isosceles Triangle 327702"/>
          <p:cNvSpPr/>
          <p:nvPr/>
        </p:nvSpPr>
        <p:spPr>
          <a:xfrm rot="16774523">
            <a:off x="5514975" y="3235325"/>
            <a:ext cx="152400" cy="152400"/>
          </a:xfrm>
          <a:prstGeom prst="triangle">
            <a:avLst>
              <a:gd name="adj" fmla="val 50000"/>
            </a:avLst>
          </a:prstGeom>
          <a:noFill/>
          <a:ln w="9525" cap="flat" cmpd="sng">
            <a:solidFill>
              <a:srgbClr val="9900FF"/>
            </a:solidFill>
            <a:prstDash val="solid"/>
            <a:miter/>
            <a:headEnd type="none" w="med" len="med"/>
            <a:tailEnd type="none" w="med" len="med"/>
          </a:ln>
        </p:spPr>
        <p:txBody>
          <a:bodyPr/>
          <a:lstStyle/>
          <a:p>
            <a:endParaRPr lang="en-US"/>
          </a:p>
        </p:txBody>
      </p:sp>
      <p:sp>
        <p:nvSpPr>
          <p:cNvPr id="327704" name="Straight Connector 327703"/>
          <p:cNvSpPr/>
          <p:nvPr/>
        </p:nvSpPr>
        <p:spPr>
          <a:xfrm rot="-3372337">
            <a:off x="6151563" y="2724150"/>
            <a:ext cx="685800" cy="1524000"/>
          </a:xfrm>
          <a:prstGeom prst="line">
            <a:avLst/>
          </a:prstGeom>
          <a:ln w="9525" cap="flat" cmpd="sng">
            <a:solidFill>
              <a:srgbClr val="9900FF"/>
            </a:solidFill>
            <a:prstDash val="solid"/>
            <a:headEnd type="none" w="med" len="med"/>
            <a:tailEnd type="none" w="med" len="med"/>
          </a:ln>
        </p:spPr>
      </p:sp>
      <p:sp>
        <p:nvSpPr>
          <p:cNvPr id="327705" name="Straight Connector 327704"/>
          <p:cNvSpPr/>
          <p:nvPr/>
        </p:nvSpPr>
        <p:spPr>
          <a:xfrm flipH="1">
            <a:off x="5514975" y="3692525"/>
            <a:ext cx="1828800" cy="381000"/>
          </a:xfrm>
          <a:prstGeom prst="line">
            <a:avLst/>
          </a:prstGeom>
          <a:ln w="9525" cap="flat" cmpd="sng">
            <a:solidFill>
              <a:srgbClr val="9900FF"/>
            </a:solidFill>
            <a:prstDash val="solid"/>
            <a:headEnd type="none" w="med" len="med"/>
            <a:tailEnd type="arrow" w="med" len="med"/>
          </a:ln>
        </p:spPr>
      </p:sp>
      <p:sp>
        <p:nvSpPr>
          <p:cNvPr id="327706" name="Text Box 327705"/>
          <p:cNvSpPr txBox="1"/>
          <p:nvPr/>
        </p:nvSpPr>
        <p:spPr>
          <a:xfrm>
            <a:off x="6200775" y="3540125"/>
            <a:ext cx="615950" cy="366713"/>
          </a:xfrm>
          <a:prstGeom prst="rect">
            <a:avLst/>
          </a:prstGeom>
          <a:noFill/>
          <a:ln w="9525">
            <a:noFill/>
          </a:ln>
        </p:spPr>
        <p:txBody>
          <a:bodyPr wrap="none" anchor="t" anchorCtr="0">
            <a:spAutoFit/>
          </a:bodyPr>
          <a:lstStyle/>
          <a:p>
            <a:r>
              <a:rPr sz="1800">
                <a:latin typeface="Times New Roman" panose="02020603050405020304" pitchFamily="18" charset="0"/>
              </a:rPr>
              <a:t>have</a:t>
            </a:r>
          </a:p>
        </p:txBody>
      </p:sp>
      <p:sp>
        <p:nvSpPr>
          <p:cNvPr id="327707" name="Straight Connector 327706"/>
          <p:cNvSpPr/>
          <p:nvPr/>
        </p:nvSpPr>
        <p:spPr>
          <a:xfrm>
            <a:off x="7115175" y="4302125"/>
            <a:ext cx="838200" cy="381000"/>
          </a:xfrm>
          <a:prstGeom prst="line">
            <a:avLst/>
          </a:prstGeom>
          <a:ln w="9525" cap="flat" cmpd="sng">
            <a:solidFill>
              <a:srgbClr val="9900FF"/>
            </a:solidFill>
            <a:prstDash val="solid"/>
            <a:headEnd type="none" w="med" len="med"/>
            <a:tailEnd type="arrow" w="med" len="med"/>
          </a:ln>
        </p:spPr>
      </p:sp>
      <p:sp>
        <p:nvSpPr>
          <p:cNvPr id="327708" name="Text Box 327707"/>
          <p:cNvSpPr txBox="1"/>
          <p:nvPr/>
        </p:nvSpPr>
        <p:spPr>
          <a:xfrm>
            <a:off x="7496175" y="4073525"/>
            <a:ext cx="615950" cy="366713"/>
          </a:xfrm>
          <a:prstGeom prst="rect">
            <a:avLst/>
          </a:prstGeom>
          <a:noFill/>
          <a:ln w="9525">
            <a:noFill/>
          </a:ln>
        </p:spPr>
        <p:txBody>
          <a:bodyPr wrap="none" anchor="t" anchorCtr="0">
            <a:spAutoFit/>
          </a:bodyPr>
          <a:lstStyle/>
          <a:p>
            <a:r>
              <a:rPr sz="1800">
                <a:latin typeface="Times New Roman" panose="02020603050405020304" pitchFamily="18" charset="0"/>
              </a:rPr>
              <a:t>have</a:t>
            </a:r>
          </a:p>
        </p:txBody>
      </p:sp>
      <p:sp>
        <p:nvSpPr>
          <p:cNvPr id="327709" name="Text Box 327708"/>
          <p:cNvSpPr txBox="1"/>
          <p:nvPr/>
        </p:nvSpPr>
        <p:spPr>
          <a:xfrm>
            <a:off x="304800" y="6324600"/>
            <a:ext cx="4800600" cy="457200"/>
          </a:xfrm>
          <a:prstGeom prst="rect">
            <a:avLst/>
          </a:prstGeom>
          <a:solidFill>
            <a:srgbClr val="333399"/>
          </a:solidFill>
          <a:ln w="9525">
            <a:noFill/>
          </a:ln>
        </p:spPr>
        <p:txBody>
          <a:bodyPr>
            <a:spAutoFit/>
          </a:bodyPr>
          <a:lstStyle/>
          <a:p>
            <a:r>
              <a:rPr b="1" i="1">
                <a:solidFill>
                  <a:srgbClr val="00FF00"/>
                </a:solidFill>
                <a:latin typeface="Times New Roman" panose="02020603050405020304" pitchFamily="18" charset="0"/>
              </a:rPr>
              <a:t>Things, Relationships, Diagram</a:t>
            </a:r>
          </a:p>
        </p:txBody>
      </p:sp>
      <p:pic>
        <p:nvPicPr>
          <p:cNvPr id="3" name="Picture 2">
            <a:extLst>
              <a:ext uri="{FF2B5EF4-FFF2-40B4-BE49-F238E27FC236}">
                <a16:creationId xmlns:a16="http://schemas.microsoft.com/office/drawing/2014/main" id="{316CE719-B9A8-EE8D-0550-7331DB869AC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19000"/>
            <a:ext cx="762000" cy="745215"/>
          </a:xfrm>
          <a:prstGeom prst="rect">
            <a:avLst/>
          </a:prstGeom>
        </p:spPr>
      </p:pic>
      <p:sp>
        <p:nvSpPr>
          <p:cNvPr id="4" name="Rectangle 3">
            <a:extLst>
              <a:ext uri="{FF2B5EF4-FFF2-40B4-BE49-F238E27FC236}">
                <a16:creationId xmlns:a16="http://schemas.microsoft.com/office/drawing/2014/main" id="{E361A2F1-A592-47A9-8E88-F27B78DD6797}"/>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243C7BA-9287-13ED-41E5-D67ACFF3C4E4}"/>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27</a:t>
            </a:fld>
            <a:endParaRPr lang="en-US">
              <a:latin typeface="Arial" panose="020B0604020202020204" pitchFamily="34" charset="0"/>
            </a:endParaRPr>
          </a:p>
        </p:txBody>
      </p:sp>
      <p:sp>
        <p:nvSpPr>
          <p:cNvPr id="323586" name="Title 323585"/>
          <p:cNvSpPr>
            <a:spLocks noGrp="1"/>
          </p:cNvSpPr>
          <p:nvPr>
            <p:ph type="title" idx="4294967295"/>
          </p:nvPr>
        </p:nvSpPr>
        <p:spPr>
          <a:xfrm>
            <a:off x="0" y="228600"/>
            <a:ext cx="8015288" cy="914400"/>
          </a:xfrm>
        </p:spPr>
        <p:txBody>
          <a:bodyPr anchor="ctr" anchorCtr="0">
            <a:normAutofit fontScale="90000"/>
          </a:bodyPr>
          <a:lstStyle/>
          <a:p>
            <a:pPr algn="ctr"/>
            <a:r>
              <a:rPr sz="3800" dirty="0"/>
              <a:t>How to do OOAD</a:t>
            </a:r>
            <a:br>
              <a:rPr sz="3800" dirty="0"/>
            </a:br>
            <a:r>
              <a:rPr sz="3800" dirty="0"/>
              <a:t>- notation vs. process</a:t>
            </a:r>
          </a:p>
        </p:txBody>
      </p:sp>
      <p:sp>
        <p:nvSpPr>
          <p:cNvPr id="323587" name="Text Placeholder 323586"/>
          <p:cNvSpPr>
            <a:spLocks noGrp="1"/>
          </p:cNvSpPr>
          <p:nvPr>
            <p:ph type="body" sz="half" idx="4294967295"/>
          </p:nvPr>
        </p:nvSpPr>
        <p:spPr>
          <a:xfrm>
            <a:off x="0" y="1600200"/>
            <a:ext cx="3581400" cy="1600200"/>
          </a:xfrm>
        </p:spPr>
        <p:txBody>
          <a:bodyPr/>
          <a:lstStyle/>
          <a:p>
            <a:pPr>
              <a:buClr>
                <a:schemeClr val="hlink"/>
              </a:buClr>
              <a:buSzPct val="80000"/>
              <a:buFont typeface="Wingdings" panose="05000000000000000000" pitchFamily="2" charset="2"/>
            </a:pPr>
            <a:r>
              <a:rPr sz="2800" dirty="0">
                <a:solidFill>
                  <a:srgbClr val="0000FF"/>
                </a:solidFill>
              </a:rPr>
              <a:t>UML is a notation.</a:t>
            </a:r>
          </a:p>
          <a:p>
            <a:pPr>
              <a:buClr>
                <a:schemeClr val="hlink"/>
              </a:buClr>
              <a:buSzPct val="80000"/>
              <a:buFont typeface="Wingdings" panose="05000000000000000000" pitchFamily="2" charset="2"/>
            </a:pPr>
            <a:r>
              <a:rPr sz="2800" dirty="0">
                <a:solidFill>
                  <a:srgbClr val="0000FF"/>
                </a:solidFill>
              </a:rPr>
              <a:t>So are English, Elvish, Ku, </a:t>
            </a:r>
            <a:r>
              <a:rPr sz="2800" dirty="0">
                <a:solidFill>
                  <a:srgbClr val="0000FF"/>
                </a:solidFill>
                <a:latin typeface="Arial" panose="020B0604020202020204" pitchFamily="34" charset="0"/>
              </a:rPr>
              <a:t>…</a:t>
            </a:r>
            <a:endParaRPr sz="2800" dirty="0">
              <a:solidFill>
                <a:srgbClr val="0000FF"/>
              </a:solidFill>
            </a:endParaRPr>
          </a:p>
        </p:txBody>
      </p:sp>
      <p:pic>
        <p:nvPicPr>
          <p:cNvPr id="323588" name="Content Placeholder 323587"/>
          <p:cNvPicPr>
            <a:picLocks noGrp="1" noChangeAspect="1"/>
          </p:cNvPicPr>
          <p:nvPr>
            <p:ph sz="quarter" idx="4294967295"/>
          </p:nvPr>
        </p:nvPicPr>
        <p:blipFill>
          <a:blip r:embed="rId2"/>
          <a:stretch>
            <a:fillRect/>
          </a:stretch>
        </p:blipFill>
        <p:spPr>
          <a:xfrm>
            <a:off x="5715000" y="1371600"/>
            <a:ext cx="3429000" cy="1060450"/>
          </a:xfrm>
        </p:spPr>
      </p:pic>
      <p:pic>
        <p:nvPicPr>
          <p:cNvPr id="323591" name="Content Placeholder 323590"/>
          <p:cNvPicPr>
            <a:picLocks noGrp="1" noChangeAspect="1"/>
          </p:cNvPicPr>
          <p:nvPr>
            <p:ph sz="quarter" idx="4294967295"/>
          </p:nvPr>
        </p:nvPicPr>
        <p:blipFill>
          <a:blip r:embed="rId3"/>
          <a:stretch>
            <a:fillRect/>
          </a:stretch>
        </p:blipFill>
        <p:spPr>
          <a:xfrm>
            <a:off x="5029200" y="4343400"/>
            <a:ext cx="4114800" cy="1852613"/>
          </a:xfrm>
        </p:spPr>
      </p:pic>
      <p:sp>
        <p:nvSpPr>
          <p:cNvPr id="323590" name="Rectangles 323589"/>
          <p:cNvSpPr/>
          <p:nvPr/>
        </p:nvSpPr>
        <p:spPr>
          <a:xfrm>
            <a:off x="381000" y="3962400"/>
            <a:ext cx="3352800" cy="6096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defRPr>
            </a:lvl5pPr>
          </a:lstStyle>
          <a:p>
            <a:pPr lvl="0"/>
            <a:r>
              <a:rPr>
                <a:solidFill>
                  <a:srgbClr val="FF0000"/>
                </a:solidFill>
              </a:rPr>
              <a:t>But as yet I can’t</a:t>
            </a:r>
          </a:p>
        </p:txBody>
      </p:sp>
      <p:pic>
        <p:nvPicPr>
          <p:cNvPr id="323593" name="Picture 323592"/>
          <p:cNvPicPr>
            <a:picLocks noChangeAspect="1"/>
          </p:cNvPicPr>
          <p:nvPr/>
        </p:nvPicPr>
        <p:blipFill>
          <a:blip r:embed="rId4"/>
          <a:stretch>
            <a:fillRect/>
          </a:stretch>
        </p:blipFill>
        <p:spPr>
          <a:xfrm>
            <a:off x="3733800" y="2362200"/>
            <a:ext cx="2238375" cy="1676400"/>
          </a:xfrm>
          <a:prstGeom prst="rect">
            <a:avLst/>
          </a:prstGeom>
          <a:noFill/>
          <a:ln w="9525">
            <a:noFill/>
          </a:ln>
        </p:spPr>
      </p:pic>
      <p:pic>
        <p:nvPicPr>
          <p:cNvPr id="323594" name="Picture 323593"/>
          <p:cNvPicPr>
            <a:picLocks noChangeAspect="1"/>
          </p:cNvPicPr>
          <p:nvPr/>
        </p:nvPicPr>
        <p:blipFill>
          <a:blip r:embed="rId5"/>
          <a:stretch>
            <a:fillRect/>
          </a:stretch>
        </p:blipFill>
        <p:spPr>
          <a:xfrm>
            <a:off x="1143000" y="4572000"/>
            <a:ext cx="2286000" cy="2286000"/>
          </a:xfrm>
          <a:prstGeom prst="rect">
            <a:avLst/>
          </a:prstGeom>
          <a:noFill/>
          <a:ln w="9525">
            <a:noFill/>
          </a:ln>
        </p:spPr>
      </p:pic>
      <p:pic>
        <p:nvPicPr>
          <p:cNvPr id="3" name="Picture 2">
            <a:extLst>
              <a:ext uri="{FF2B5EF4-FFF2-40B4-BE49-F238E27FC236}">
                <a16:creationId xmlns:a16="http://schemas.microsoft.com/office/drawing/2014/main" id="{0B427902-9E23-0635-0D4C-061CF94A91B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 y="-19000"/>
            <a:ext cx="762000" cy="745215"/>
          </a:xfrm>
          <a:prstGeom prst="rect">
            <a:avLst/>
          </a:prstGeom>
        </p:spPr>
      </p:pic>
      <p:sp>
        <p:nvSpPr>
          <p:cNvPr id="4" name="Rectangle 3">
            <a:extLst>
              <a:ext uri="{FF2B5EF4-FFF2-40B4-BE49-F238E27FC236}">
                <a16:creationId xmlns:a16="http://schemas.microsoft.com/office/drawing/2014/main" id="{CE018197-2CDF-1E40-9EBD-8787B0546869}"/>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10B4134-2C39-3887-1DA6-B8287A0A5D6A}"/>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28</a:t>
            </a:fld>
            <a:endParaRPr lang="en-US">
              <a:latin typeface="Arial" panose="020B0604020202020204" pitchFamily="34" charset="0"/>
            </a:endParaRPr>
          </a:p>
        </p:txBody>
      </p:sp>
      <p:sp>
        <p:nvSpPr>
          <p:cNvPr id="237574" name="Text Box 237573"/>
          <p:cNvSpPr txBox="1"/>
          <p:nvPr/>
        </p:nvSpPr>
        <p:spPr>
          <a:xfrm>
            <a:off x="990600" y="2057400"/>
            <a:ext cx="2438400" cy="346075"/>
          </a:xfrm>
          <a:prstGeom prst="rect">
            <a:avLst/>
          </a:prstGeom>
          <a:noFill/>
          <a:ln w="9525" cap="flat" cmpd="sng">
            <a:solidFill>
              <a:schemeClr val="tx1"/>
            </a:solidFill>
            <a:prstDash val="solid"/>
            <a:miter/>
            <a:headEnd type="none" w="med" len="med"/>
            <a:tailEnd type="none" w="med" len="med"/>
          </a:ln>
        </p:spPr>
        <p:txBody>
          <a:bodyPr>
            <a:spAutoFit/>
          </a:bodyPr>
          <a:lstStyle/>
          <a:p>
            <a:pPr algn="ctr"/>
            <a:r>
              <a:rPr sz="1600">
                <a:latin typeface="Times New Roman" panose="02020603050405020304" pitchFamily="18" charset="0"/>
              </a:rPr>
              <a:t>Systems Engineering</a:t>
            </a:r>
          </a:p>
        </p:txBody>
      </p:sp>
      <p:sp>
        <p:nvSpPr>
          <p:cNvPr id="237579" name="Text Box 237578"/>
          <p:cNvSpPr txBox="1"/>
          <p:nvPr/>
        </p:nvSpPr>
        <p:spPr>
          <a:xfrm>
            <a:off x="990600" y="2590800"/>
            <a:ext cx="2438400" cy="346075"/>
          </a:xfrm>
          <a:prstGeom prst="rect">
            <a:avLst/>
          </a:prstGeom>
          <a:noFill/>
          <a:ln w="9525" cap="flat" cmpd="sng">
            <a:solidFill>
              <a:schemeClr val="tx1"/>
            </a:solidFill>
            <a:prstDash val="solid"/>
            <a:miter/>
            <a:headEnd type="none" w="med" len="med"/>
            <a:tailEnd type="none" w="med" len="med"/>
          </a:ln>
        </p:spPr>
        <p:txBody>
          <a:bodyPr>
            <a:spAutoFit/>
          </a:bodyPr>
          <a:lstStyle/>
          <a:p>
            <a:pPr algn="ctr"/>
            <a:r>
              <a:rPr sz="1600">
                <a:latin typeface="Times New Roman" panose="02020603050405020304" pitchFamily="18" charset="0"/>
              </a:rPr>
              <a:t>Requirements Analysis</a:t>
            </a:r>
          </a:p>
        </p:txBody>
      </p:sp>
      <p:sp>
        <p:nvSpPr>
          <p:cNvPr id="237580" name="Text Box 237579"/>
          <p:cNvSpPr txBox="1"/>
          <p:nvPr/>
        </p:nvSpPr>
        <p:spPr>
          <a:xfrm>
            <a:off x="990600" y="3124200"/>
            <a:ext cx="2438400" cy="346075"/>
          </a:xfrm>
          <a:prstGeom prst="rect">
            <a:avLst/>
          </a:prstGeom>
          <a:noFill/>
          <a:ln w="9525" cap="flat" cmpd="sng">
            <a:solidFill>
              <a:schemeClr val="tx1"/>
            </a:solidFill>
            <a:prstDash val="solid"/>
            <a:miter/>
            <a:headEnd type="none" w="med" len="med"/>
            <a:tailEnd type="none" w="med" len="med"/>
          </a:ln>
        </p:spPr>
        <p:txBody>
          <a:bodyPr>
            <a:spAutoFit/>
          </a:bodyPr>
          <a:lstStyle/>
          <a:p>
            <a:pPr algn="ctr"/>
            <a:r>
              <a:rPr sz="1600">
                <a:latin typeface="Times New Roman" panose="02020603050405020304" pitchFamily="18" charset="0"/>
              </a:rPr>
              <a:t>Project Planning</a:t>
            </a:r>
          </a:p>
        </p:txBody>
      </p:sp>
      <p:sp>
        <p:nvSpPr>
          <p:cNvPr id="237581" name="Text Box 237580"/>
          <p:cNvSpPr txBox="1"/>
          <p:nvPr/>
        </p:nvSpPr>
        <p:spPr>
          <a:xfrm>
            <a:off x="990600" y="3657600"/>
            <a:ext cx="2438400" cy="346075"/>
          </a:xfrm>
          <a:prstGeom prst="rect">
            <a:avLst/>
          </a:prstGeom>
          <a:noFill/>
          <a:ln w="9525" cap="flat" cmpd="sng">
            <a:solidFill>
              <a:schemeClr val="tx1"/>
            </a:solidFill>
            <a:prstDash val="solid"/>
            <a:miter/>
            <a:headEnd type="none" w="med" len="med"/>
            <a:tailEnd type="none" w="med" len="med"/>
          </a:ln>
        </p:spPr>
        <p:txBody>
          <a:bodyPr>
            <a:spAutoFit/>
          </a:bodyPr>
          <a:lstStyle/>
          <a:p>
            <a:pPr algn="ctr"/>
            <a:r>
              <a:rPr sz="1600">
                <a:latin typeface="Times New Roman" panose="02020603050405020304" pitchFamily="18" charset="0"/>
              </a:rPr>
              <a:t>Architectural Design</a:t>
            </a:r>
          </a:p>
        </p:txBody>
      </p:sp>
      <p:sp>
        <p:nvSpPr>
          <p:cNvPr id="237582" name="Text Box 237581"/>
          <p:cNvSpPr txBox="1"/>
          <p:nvPr/>
        </p:nvSpPr>
        <p:spPr>
          <a:xfrm>
            <a:off x="990600" y="4267200"/>
            <a:ext cx="2438400" cy="346075"/>
          </a:xfrm>
          <a:prstGeom prst="rect">
            <a:avLst/>
          </a:prstGeom>
          <a:noFill/>
          <a:ln w="9525" cap="flat" cmpd="sng">
            <a:solidFill>
              <a:schemeClr val="tx1"/>
            </a:solidFill>
            <a:prstDash val="solid"/>
            <a:miter/>
            <a:headEnd type="none" w="med" len="med"/>
            <a:tailEnd type="none" w="med" len="med"/>
          </a:ln>
        </p:spPr>
        <p:txBody>
          <a:bodyPr>
            <a:spAutoFit/>
          </a:bodyPr>
          <a:lstStyle/>
          <a:p>
            <a:pPr algn="ctr"/>
            <a:r>
              <a:rPr sz="1600">
                <a:latin typeface="Times New Roman" panose="02020603050405020304" pitchFamily="18" charset="0"/>
              </a:rPr>
              <a:t>Detailed Design</a:t>
            </a:r>
          </a:p>
        </p:txBody>
      </p:sp>
      <p:sp>
        <p:nvSpPr>
          <p:cNvPr id="237583" name="Text Box 237582"/>
          <p:cNvSpPr txBox="1"/>
          <p:nvPr/>
        </p:nvSpPr>
        <p:spPr>
          <a:xfrm>
            <a:off x="990600" y="4800600"/>
            <a:ext cx="2438400" cy="346075"/>
          </a:xfrm>
          <a:prstGeom prst="rect">
            <a:avLst/>
          </a:prstGeom>
          <a:noFill/>
          <a:ln w="9525" cap="flat" cmpd="sng">
            <a:solidFill>
              <a:schemeClr val="tx1"/>
            </a:solidFill>
            <a:prstDash val="solid"/>
            <a:miter/>
            <a:headEnd type="none" w="med" len="med"/>
            <a:tailEnd type="none" w="med" len="med"/>
          </a:ln>
        </p:spPr>
        <p:txBody>
          <a:bodyPr>
            <a:spAutoFit/>
          </a:bodyPr>
          <a:lstStyle/>
          <a:p>
            <a:pPr algn="ctr"/>
            <a:r>
              <a:rPr sz="1600">
                <a:latin typeface="Times New Roman" panose="02020603050405020304" pitchFamily="18" charset="0"/>
              </a:rPr>
              <a:t>Implementation</a:t>
            </a:r>
          </a:p>
        </p:txBody>
      </p:sp>
      <p:sp>
        <p:nvSpPr>
          <p:cNvPr id="237585" name="Text Box 237584"/>
          <p:cNvSpPr txBox="1"/>
          <p:nvPr/>
        </p:nvSpPr>
        <p:spPr>
          <a:xfrm>
            <a:off x="990600" y="5410200"/>
            <a:ext cx="2438400" cy="346075"/>
          </a:xfrm>
          <a:prstGeom prst="rect">
            <a:avLst/>
          </a:prstGeom>
          <a:noFill/>
          <a:ln w="9525" cap="flat" cmpd="sng">
            <a:solidFill>
              <a:schemeClr val="tx1"/>
            </a:solidFill>
            <a:prstDash val="solid"/>
            <a:miter/>
            <a:headEnd type="none" w="med" len="med"/>
            <a:tailEnd type="none" w="med" len="med"/>
          </a:ln>
        </p:spPr>
        <p:txBody>
          <a:bodyPr>
            <a:spAutoFit/>
          </a:bodyPr>
          <a:lstStyle/>
          <a:p>
            <a:pPr algn="ctr"/>
            <a:r>
              <a:rPr sz="1600">
                <a:latin typeface="Times New Roman" panose="02020603050405020304" pitchFamily="18" charset="0"/>
              </a:rPr>
              <a:t>Release</a:t>
            </a:r>
          </a:p>
        </p:txBody>
      </p:sp>
      <p:sp>
        <p:nvSpPr>
          <p:cNvPr id="237586" name="Text Box 237585"/>
          <p:cNvSpPr txBox="1"/>
          <p:nvPr/>
        </p:nvSpPr>
        <p:spPr>
          <a:xfrm>
            <a:off x="6096000" y="3352800"/>
            <a:ext cx="2438400" cy="346075"/>
          </a:xfrm>
          <a:prstGeom prst="rect">
            <a:avLst/>
          </a:prstGeom>
          <a:noFill/>
          <a:ln w="9525" cap="flat" cmpd="sng">
            <a:solidFill>
              <a:schemeClr val="tx1"/>
            </a:solidFill>
            <a:prstDash val="solid"/>
            <a:miter/>
            <a:headEnd type="none" w="med" len="med"/>
            <a:tailEnd type="none" w="med" len="med"/>
          </a:ln>
        </p:spPr>
        <p:txBody>
          <a:bodyPr>
            <a:spAutoFit/>
          </a:bodyPr>
          <a:lstStyle/>
          <a:p>
            <a:pPr algn="ctr"/>
            <a:r>
              <a:rPr sz="1600">
                <a:latin typeface="Times New Roman" panose="02020603050405020304" pitchFamily="18" charset="0"/>
              </a:rPr>
              <a:t>Maintenance</a:t>
            </a:r>
          </a:p>
        </p:txBody>
      </p:sp>
      <p:sp>
        <p:nvSpPr>
          <p:cNvPr id="237588" name="Text Box 237587"/>
          <p:cNvSpPr txBox="1"/>
          <p:nvPr/>
        </p:nvSpPr>
        <p:spPr>
          <a:xfrm>
            <a:off x="4572000" y="2590800"/>
            <a:ext cx="468313" cy="2024063"/>
          </a:xfrm>
          <a:prstGeom prst="rect">
            <a:avLst/>
          </a:prstGeom>
          <a:noFill/>
          <a:ln w="9525" cap="flat" cmpd="sng">
            <a:solidFill>
              <a:schemeClr val="tx1"/>
            </a:solidFill>
            <a:prstDash val="solid"/>
            <a:miter/>
            <a:headEnd type="none" w="med" len="med"/>
            <a:tailEnd type="none" w="med" len="med"/>
          </a:ln>
        </p:spPr>
        <p:txBody>
          <a:bodyPr vert="eaVert">
            <a:spAutoFit/>
          </a:bodyPr>
          <a:lstStyle/>
          <a:p>
            <a:r>
              <a:rPr sz="1800">
                <a:latin typeface="Times New Roman" panose="02020603050405020304" pitchFamily="18" charset="0"/>
              </a:rPr>
              <a:t>Quality Assurance</a:t>
            </a:r>
          </a:p>
        </p:txBody>
      </p:sp>
      <p:sp>
        <p:nvSpPr>
          <p:cNvPr id="237589" name="Text Box 237588"/>
          <p:cNvSpPr txBox="1"/>
          <p:nvPr/>
        </p:nvSpPr>
        <p:spPr>
          <a:xfrm>
            <a:off x="2362200" y="1447800"/>
            <a:ext cx="3657600" cy="457200"/>
          </a:xfrm>
          <a:prstGeom prst="rect">
            <a:avLst/>
          </a:prstGeom>
          <a:noFill/>
          <a:ln w="9525">
            <a:noFill/>
          </a:ln>
        </p:spPr>
        <p:txBody>
          <a:bodyPr>
            <a:spAutoFit/>
          </a:bodyPr>
          <a:lstStyle/>
          <a:p>
            <a:pPr algn="ctr"/>
            <a:r>
              <a:rPr>
                <a:solidFill>
                  <a:srgbClr val="0000FF"/>
                </a:solidFill>
                <a:latin typeface="Times New Roman" panose="02020603050405020304" pitchFamily="18" charset="0"/>
              </a:rPr>
              <a:t>Software Lifecycle</a:t>
            </a:r>
          </a:p>
        </p:txBody>
      </p:sp>
      <p:sp>
        <p:nvSpPr>
          <p:cNvPr id="237590" name="Straight Connector 237589"/>
          <p:cNvSpPr/>
          <p:nvPr/>
        </p:nvSpPr>
        <p:spPr>
          <a:xfrm>
            <a:off x="2057400" y="2362200"/>
            <a:ext cx="0" cy="228600"/>
          </a:xfrm>
          <a:prstGeom prst="line">
            <a:avLst/>
          </a:prstGeom>
          <a:ln w="9525" cap="flat" cmpd="sng">
            <a:solidFill>
              <a:schemeClr val="tx1"/>
            </a:solidFill>
            <a:prstDash val="solid"/>
            <a:headEnd type="none" w="med" len="med"/>
            <a:tailEnd type="triangle" w="med" len="med"/>
          </a:ln>
        </p:spPr>
      </p:sp>
      <p:sp>
        <p:nvSpPr>
          <p:cNvPr id="237591" name="Straight Connector 237590"/>
          <p:cNvSpPr/>
          <p:nvPr/>
        </p:nvSpPr>
        <p:spPr>
          <a:xfrm>
            <a:off x="2057400" y="2895600"/>
            <a:ext cx="0" cy="228600"/>
          </a:xfrm>
          <a:prstGeom prst="line">
            <a:avLst/>
          </a:prstGeom>
          <a:ln w="9525" cap="flat" cmpd="sng">
            <a:solidFill>
              <a:schemeClr val="tx1"/>
            </a:solidFill>
            <a:prstDash val="solid"/>
            <a:headEnd type="none" w="med" len="med"/>
            <a:tailEnd type="triangle" w="med" len="med"/>
          </a:ln>
        </p:spPr>
      </p:sp>
      <p:sp>
        <p:nvSpPr>
          <p:cNvPr id="237592" name="Straight Connector 237591"/>
          <p:cNvSpPr/>
          <p:nvPr/>
        </p:nvSpPr>
        <p:spPr>
          <a:xfrm>
            <a:off x="2057400" y="3429000"/>
            <a:ext cx="0" cy="228600"/>
          </a:xfrm>
          <a:prstGeom prst="line">
            <a:avLst/>
          </a:prstGeom>
          <a:ln w="9525" cap="flat" cmpd="sng">
            <a:solidFill>
              <a:schemeClr val="tx1"/>
            </a:solidFill>
            <a:prstDash val="solid"/>
            <a:headEnd type="none" w="med" len="med"/>
            <a:tailEnd type="triangle" w="med" len="med"/>
          </a:ln>
        </p:spPr>
      </p:sp>
      <p:sp>
        <p:nvSpPr>
          <p:cNvPr id="237593" name="Straight Connector 237592"/>
          <p:cNvSpPr/>
          <p:nvPr/>
        </p:nvSpPr>
        <p:spPr>
          <a:xfrm>
            <a:off x="2057400" y="3962400"/>
            <a:ext cx="0" cy="304800"/>
          </a:xfrm>
          <a:prstGeom prst="line">
            <a:avLst/>
          </a:prstGeom>
          <a:ln w="9525" cap="flat" cmpd="sng">
            <a:solidFill>
              <a:schemeClr val="tx1"/>
            </a:solidFill>
            <a:prstDash val="solid"/>
            <a:headEnd type="none" w="med" len="med"/>
            <a:tailEnd type="triangle" w="med" len="med"/>
          </a:ln>
        </p:spPr>
      </p:sp>
      <p:sp>
        <p:nvSpPr>
          <p:cNvPr id="237594" name="Straight Connector 237593"/>
          <p:cNvSpPr/>
          <p:nvPr/>
        </p:nvSpPr>
        <p:spPr>
          <a:xfrm>
            <a:off x="2057400" y="4572000"/>
            <a:ext cx="0" cy="228600"/>
          </a:xfrm>
          <a:prstGeom prst="line">
            <a:avLst/>
          </a:prstGeom>
          <a:ln w="9525" cap="flat" cmpd="sng">
            <a:solidFill>
              <a:schemeClr val="tx1"/>
            </a:solidFill>
            <a:prstDash val="solid"/>
            <a:headEnd type="none" w="med" len="med"/>
            <a:tailEnd type="triangle" w="med" len="med"/>
          </a:ln>
        </p:spPr>
      </p:sp>
      <p:sp>
        <p:nvSpPr>
          <p:cNvPr id="237595" name="Straight Connector 237594"/>
          <p:cNvSpPr/>
          <p:nvPr/>
        </p:nvSpPr>
        <p:spPr>
          <a:xfrm>
            <a:off x="2057400" y="5105400"/>
            <a:ext cx="0" cy="304800"/>
          </a:xfrm>
          <a:prstGeom prst="line">
            <a:avLst/>
          </a:prstGeom>
          <a:ln w="9525" cap="flat" cmpd="sng">
            <a:solidFill>
              <a:schemeClr val="tx1"/>
            </a:solidFill>
            <a:prstDash val="solid"/>
            <a:headEnd type="none" w="med" len="med"/>
            <a:tailEnd type="triangle" w="med" len="med"/>
          </a:ln>
        </p:spPr>
      </p:sp>
      <p:sp>
        <p:nvSpPr>
          <p:cNvPr id="237603" name="Straight Connector 237602"/>
          <p:cNvSpPr/>
          <p:nvPr/>
        </p:nvSpPr>
        <p:spPr>
          <a:xfrm>
            <a:off x="2057400" y="5791200"/>
            <a:ext cx="0" cy="228600"/>
          </a:xfrm>
          <a:prstGeom prst="line">
            <a:avLst/>
          </a:prstGeom>
          <a:ln w="9525" cap="flat" cmpd="sng">
            <a:solidFill>
              <a:schemeClr val="tx1"/>
            </a:solidFill>
            <a:prstDash val="solid"/>
            <a:headEnd type="none" w="med" len="med"/>
            <a:tailEnd type="none" w="med" len="med"/>
          </a:ln>
        </p:spPr>
      </p:sp>
      <p:sp>
        <p:nvSpPr>
          <p:cNvPr id="237604" name="Straight Connector 237603"/>
          <p:cNvSpPr/>
          <p:nvPr/>
        </p:nvSpPr>
        <p:spPr>
          <a:xfrm>
            <a:off x="2057400" y="6019800"/>
            <a:ext cx="5334000" cy="0"/>
          </a:xfrm>
          <a:prstGeom prst="line">
            <a:avLst/>
          </a:prstGeom>
          <a:ln w="9525" cap="flat" cmpd="sng">
            <a:solidFill>
              <a:schemeClr val="tx1"/>
            </a:solidFill>
            <a:prstDash val="solid"/>
            <a:headEnd type="none" w="med" len="med"/>
            <a:tailEnd type="none" w="med" len="med"/>
          </a:ln>
        </p:spPr>
      </p:sp>
      <p:sp>
        <p:nvSpPr>
          <p:cNvPr id="237605" name="Straight Connector 237604"/>
          <p:cNvSpPr/>
          <p:nvPr/>
        </p:nvSpPr>
        <p:spPr>
          <a:xfrm flipV="1">
            <a:off x="7391400" y="3733800"/>
            <a:ext cx="0" cy="2286000"/>
          </a:xfrm>
          <a:prstGeom prst="line">
            <a:avLst/>
          </a:prstGeom>
          <a:ln w="9525">
            <a:noFill/>
          </a:ln>
        </p:spPr>
      </p:sp>
      <p:sp>
        <p:nvSpPr>
          <p:cNvPr id="237606" name="Straight Connector 237605"/>
          <p:cNvSpPr/>
          <p:nvPr/>
        </p:nvSpPr>
        <p:spPr>
          <a:xfrm flipV="1">
            <a:off x="7391400" y="3733800"/>
            <a:ext cx="0" cy="2286000"/>
          </a:xfrm>
          <a:prstGeom prst="line">
            <a:avLst/>
          </a:prstGeom>
          <a:ln w="9525" cap="flat" cmpd="sng">
            <a:solidFill>
              <a:schemeClr val="tx1"/>
            </a:solidFill>
            <a:prstDash val="solid"/>
            <a:headEnd type="none" w="med" len="med"/>
            <a:tailEnd type="triangle" w="med" len="med"/>
          </a:ln>
        </p:spPr>
      </p:sp>
      <p:sp>
        <p:nvSpPr>
          <p:cNvPr id="237607" name="Straight Connector 237606"/>
          <p:cNvSpPr/>
          <p:nvPr/>
        </p:nvSpPr>
        <p:spPr>
          <a:xfrm>
            <a:off x="2057400" y="1828800"/>
            <a:ext cx="5334000" cy="0"/>
          </a:xfrm>
          <a:prstGeom prst="line">
            <a:avLst/>
          </a:prstGeom>
          <a:ln w="9525" cap="flat" cmpd="sng">
            <a:solidFill>
              <a:schemeClr val="tx1"/>
            </a:solidFill>
            <a:prstDash val="solid"/>
            <a:headEnd type="none" w="med" len="med"/>
            <a:tailEnd type="none" w="med" len="med"/>
          </a:ln>
        </p:spPr>
      </p:sp>
      <p:sp>
        <p:nvSpPr>
          <p:cNvPr id="237608" name="Straight Connector 237607"/>
          <p:cNvSpPr/>
          <p:nvPr/>
        </p:nvSpPr>
        <p:spPr>
          <a:xfrm>
            <a:off x="2057400" y="1828800"/>
            <a:ext cx="0" cy="228600"/>
          </a:xfrm>
          <a:prstGeom prst="line">
            <a:avLst/>
          </a:prstGeom>
          <a:ln w="9525" cap="flat" cmpd="sng">
            <a:solidFill>
              <a:schemeClr val="tx1"/>
            </a:solidFill>
            <a:prstDash val="solid"/>
            <a:headEnd type="none" w="med" len="med"/>
            <a:tailEnd type="triangle" w="med" len="med"/>
          </a:ln>
        </p:spPr>
      </p:sp>
      <p:sp>
        <p:nvSpPr>
          <p:cNvPr id="237609" name="Straight Connector 237608"/>
          <p:cNvSpPr/>
          <p:nvPr/>
        </p:nvSpPr>
        <p:spPr>
          <a:xfrm flipV="1">
            <a:off x="7391400" y="1828800"/>
            <a:ext cx="0" cy="1524000"/>
          </a:xfrm>
          <a:prstGeom prst="line">
            <a:avLst/>
          </a:prstGeom>
          <a:ln w="9525" cap="flat" cmpd="sng">
            <a:solidFill>
              <a:schemeClr val="tx1"/>
            </a:solidFill>
            <a:prstDash val="solid"/>
            <a:headEnd type="none" w="med" len="med"/>
            <a:tailEnd type="none" w="med" len="med"/>
          </a:ln>
        </p:spPr>
      </p:sp>
      <p:sp>
        <p:nvSpPr>
          <p:cNvPr id="237610" name="Rectangles 237609"/>
          <p:cNvSpPr/>
          <p:nvPr/>
        </p:nvSpPr>
        <p:spPr>
          <a:xfrm>
            <a:off x="195263" y="228600"/>
            <a:ext cx="8015287" cy="914400"/>
          </a:xfrm>
          <a:prstGeom prst="rect">
            <a:avLst/>
          </a:prstGeom>
          <a:noFill/>
          <a:ln w="9525">
            <a:noFill/>
          </a:ln>
        </p:spPr>
        <p:txBody>
          <a:bodyPr anchor="ctr" anchorCtr="0"/>
          <a:lstStyle>
            <a:lvl1pPr marL="0" lvl="0" indent="0" algn="l" defTabSz="914400" rtl="0" eaLnBrk="1" fontAlgn="base" latinLnBrk="0" hangingPunct="1">
              <a:lnSpc>
                <a:spcPct val="100000"/>
              </a:lnSpc>
              <a:spcBef>
                <a:spcPct val="0"/>
              </a:spcBef>
              <a:spcAft>
                <a:spcPct val="0"/>
              </a:spcAft>
              <a:buNone/>
              <a:defRPr sz="4200" u="none" kern="1200" baseline="0">
                <a:solidFill>
                  <a:schemeClr val="tx2"/>
                </a:solidFill>
                <a:latin typeface="Arial" panose="020B0604020202020204" pitchFamily="34" charset="0"/>
              </a:defRPr>
            </a:lvl1pPr>
          </a:lstStyle>
          <a:p>
            <a:pPr lvl="0" algn="ctr"/>
            <a:r>
              <a:rPr sz="3200" b="1" dirty="0"/>
              <a:t>How to Do OOAD</a:t>
            </a:r>
            <a:r>
              <a:rPr sz="3800" b="1" dirty="0"/>
              <a:t> </a:t>
            </a:r>
            <a:br>
              <a:rPr sz="3800" b="1" dirty="0"/>
            </a:br>
            <a:r>
              <a:rPr sz="2400" b="1" dirty="0"/>
              <a:t>– Where to Use OO?</a:t>
            </a:r>
            <a:br>
              <a:rPr sz="2400" dirty="0"/>
            </a:br>
            <a:endParaRPr sz="2400" dirty="0"/>
          </a:p>
        </p:txBody>
      </p:sp>
      <p:sp>
        <p:nvSpPr>
          <p:cNvPr id="237613" name="Text Box 237612"/>
          <p:cNvSpPr txBox="1"/>
          <p:nvPr/>
        </p:nvSpPr>
        <p:spPr>
          <a:xfrm>
            <a:off x="4556125" y="4938713"/>
            <a:ext cx="1817688" cy="336550"/>
          </a:xfrm>
          <a:prstGeom prst="rect">
            <a:avLst/>
          </a:prstGeom>
          <a:noFill/>
          <a:ln w="9525">
            <a:noFill/>
          </a:ln>
        </p:spPr>
        <p:txBody>
          <a:bodyPr wrap="none" anchor="t" anchorCtr="0">
            <a:spAutoFit/>
          </a:bodyPr>
          <a:lstStyle/>
          <a:p>
            <a:r>
              <a:rPr sz="1600" i="1">
                <a:solidFill>
                  <a:srgbClr val="FF0000"/>
                </a:solidFill>
                <a:latin typeface="Times New Roman" panose="02020603050405020304" pitchFamily="18" charset="0"/>
              </a:rPr>
              <a:t>Something missing?</a:t>
            </a:r>
          </a:p>
        </p:txBody>
      </p:sp>
      <p:sp>
        <p:nvSpPr>
          <p:cNvPr id="237614" name="Cloud Callout 237613"/>
          <p:cNvSpPr/>
          <p:nvPr/>
        </p:nvSpPr>
        <p:spPr>
          <a:xfrm>
            <a:off x="4495800" y="4724400"/>
            <a:ext cx="1905000" cy="838200"/>
          </a:xfrm>
          <a:prstGeom prst="cloudCallout">
            <a:avLst>
              <a:gd name="adj1" fmla="val -41000"/>
              <a:gd name="adj2" fmla="val 70074"/>
            </a:avLst>
          </a:prstGeom>
          <a:noFill/>
          <a:ln w="9525" cap="flat" cmpd="sng">
            <a:solidFill>
              <a:srgbClr val="FF6600"/>
            </a:solidFill>
            <a:prstDash val="solid"/>
            <a:headEnd type="none" w="med" len="med"/>
            <a:tailEnd type="none" w="med" len="med"/>
          </a:ln>
        </p:spPr>
        <p:txBody>
          <a:bodyPr/>
          <a:lstStyle/>
          <a:p>
            <a:pPr algn="ctr"/>
            <a:endParaRPr>
              <a:latin typeface="Times New Roman" panose="02020603050405020304" pitchFamily="18" charset="0"/>
            </a:endParaRPr>
          </a:p>
        </p:txBody>
      </p:sp>
      <p:sp>
        <p:nvSpPr>
          <p:cNvPr id="237615" name="Text Box 237614"/>
          <p:cNvSpPr txBox="1"/>
          <p:nvPr/>
        </p:nvSpPr>
        <p:spPr>
          <a:xfrm>
            <a:off x="3032125" y="6234113"/>
            <a:ext cx="1757363" cy="336550"/>
          </a:xfrm>
          <a:prstGeom prst="rect">
            <a:avLst/>
          </a:prstGeom>
          <a:noFill/>
          <a:ln w="9525">
            <a:noFill/>
          </a:ln>
        </p:spPr>
        <p:txBody>
          <a:bodyPr wrap="none" anchor="t" anchorCtr="0">
            <a:spAutoFit/>
          </a:bodyPr>
          <a:lstStyle/>
          <a:p>
            <a:r>
              <a:rPr sz="1600" b="1" i="1">
                <a:solidFill>
                  <a:srgbClr val="CC00FF"/>
                </a:solidFill>
                <a:latin typeface="Times New Roman" panose="02020603050405020304" pitchFamily="18" charset="0"/>
              </a:rPr>
              <a:t>What’s yours like?</a:t>
            </a:r>
          </a:p>
        </p:txBody>
      </p:sp>
      <p:sp>
        <p:nvSpPr>
          <p:cNvPr id="237616" name="Cloud Callout 237615"/>
          <p:cNvSpPr/>
          <p:nvPr/>
        </p:nvSpPr>
        <p:spPr>
          <a:xfrm>
            <a:off x="2971800" y="6019800"/>
            <a:ext cx="1905000" cy="838200"/>
          </a:xfrm>
          <a:prstGeom prst="cloudCallout">
            <a:avLst>
              <a:gd name="adj1" fmla="val 47000"/>
              <a:gd name="adj2" fmla="val -66287"/>
            </a:avLst>
          </a:prstGeom>
          <a:noFill/>
          <a:ln w="9525" cap="flat" cmpd="sng">
            <a:solidFill>
              <a:srgbClr val="FF6600"/>
            </a:solidFill>
            <a:prstDash val="solid"/>
            <a:headEnd type="none" w="med" len="med"/>
            <a:tailEnd type="none" w="med" len="med"/>
          </a:ln>
        </p:spPr>
        <p:txBody>
          <a:bodyPr/>
          <a:lstStyle/>
          <a:p>
            <a:pPr algn="ctr"/>
            <a:endParaRPr>
              <a:latin typeface="Times New Roman" panose="02020603050405020304" pitchFamily="18" charset="0"/>
            </a:endParaRPr>
          </a:p>
        </p:txBody>
      </p:sp>
      <p:pic>
        <p:nvPicPr>
          <p:cNvPr id="5" name="Picture 4">
            <a:extLst>
              <a:ext uri="{FF2B5EF4-FFF2-40B4-BE49-F238E27FC236}">
                <a16:creationId xmlns:a16="http://schemas.microsoft.com/office/drawing/2014/main" id="{16562489-1ADB-E0D6-97B0-8E22052042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6" name="Rectangle 5">
            <a:extLst>
              <a:ext uri="{FF2B5EF4-FFF2-40B4-BE49-F238E27FC236}">
                <a16:creationId xmlns:a16="http://schemas.microsoft.com/office/drawing/2014/main" id="{67BF14B8-264D-6375-40ED-310B1E817E91}"/>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C570CAE-9811-976E-D3BB-54728AE52E9E}"/>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29</a:t>
            </a:fld>
            <a:endParaRPr lang="en-US">
              <a:latin typeface="Arial" panose="020B0604020202020204" pitchFamily="34" charset="0"/>
            </a:endParaRPr>
          </a:p>
        </p:txBody>
      </p:sp>
      <p:sp>
        <p:nvSpPr>
          <p:cNvPr id="304130" name="Title 304129"/>
          <p:cNvSpPr>
            <a:spLocks noGrp="1"/>
          </p:cNvSpPr>
          <p:nvPr>
            <p:ph type="title" idx="4294967295"/>
          </p:nvPr>
        </p:nvSpPr>
        <p:spPr>
          <a:xfrm>
            <a:off x="0" y="228600"/>
            <a:ext cx="8015288" cy="914400"/>
          </a:xfrm>
        </p:spPr>
        <p:txBody>
          <a:bodyPr anchor="ctr" anchorCtr="0"/>
          <a:lstStyle/>
          <a:p>
            <a:pPr algn="ctr"/>
            <a:r>
              <a:rPr sz="3600" dirty="0"/>
              <a:t>Specifications are important too</a:t>
            </a:r>
          </a:p>
        </p:txBody>
      </p:sp>
      <p:pic>
        <p:nvPicPr>
          <p:cNvPr id="304132" name="Text Placeholder 304131"/>
          <p:cNvPicPr>
            <a:picLocks noGrp="1" noChangeAspect="1"/>
          </p:cNvPicPr>
          <p:nvPr>
            <p:ph type="body" idx="4294967295"/>
          </p:nvPr>
        </p:nvPicPr>
        <p:blipFill>
          <a:blip r:embed="rId2"/>
          <a:stretch>
            <a:fillRect/>
          </a:stretch>
        </p:blipFill>
        <p:spPr>
          <a:xfrm>
            <a:off x="0" y="1524000"/>
            <a:ext cx="5253038" cy="4419600"/>
          </a:xfrm>
        </p:spPr>
      </p:pic>
      <p:pic>
        <p:nvPicPr>
          <p:cNvPr id="304133" name="Picture 304132"/>
          <p:cNvPicPr>
            <a:picLocks noChangeAspect="1"/>
          </p:cNvPicPr>
          <p:nvPr/>
        </p:nvPicPr>
        <p:blipFill>
          <a:blip r:embed="rId3"/>
          <a:stretch>
            <a:fillRect/>
          </a:stretch>
        </p:blipFill>
        <p:spPr>
          <a:xfrm>
            <a:off x="4648200" y="1600200"/>
            <a:ext cx="5319713" cy="4419600"/>
          </a:xfrm>
          <a:prstGeom prst="rect">
            <a:avLst/>
          </a:prstGeom>
          <a:noFill/>
          <a:ln w="9525">
            <a:noFill/>
          </a:ln>
        </p:spPr>
      </p:pic>
      <p:pic>
        <p:nvPicPr>
          <p:cNvPr id="3" name="Picture 2">
            <a:extLst>
              <a:ext uri="{FF2B5EF4-FFF2-40B4-BE49-F238E27FC236}">
                <a16:creationId xmlns:a16="http://schemas.microsoft.com/office/drawing/2014/main" id="{A0EE4831-61A7-1034-4BF0-D2610FE7F15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4" name="Rectangle 3">
            <a:extLst>
              <a:ext uri="{FF2B5EF4-FFF2-40B4-BE49-F238E27FC236}">
                <a16:creationId xmlns:a16="http://schemas.microsoft.com/office/drawing/2014/main" id="{2886E255-55F1-43C6-1A7A-9EB254FE2096}"/>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E49FE03-015F-8621-6423-7514E50EDEB2}"/>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30</a:t>
            </a:fld>
            <a:endParaRPr lang="en-US">
              <a:latin typeface="Arial" panose="020B0604020202020204" pitchFamily="34" charset="0"/>
            </a:endParaRPr>
          </a:p>
        </p:txBody>
      </p:sp>
      <p:pic>
        <p:nvPicPr>
          <p:cNvPr id="216068" name="Content Placeholder 216067"/>
          <p:cNvPicPr>
            <a:picLocks noGrp="1" noChangeAspect="1"/>
          </p:cNvPicPr>
          <p:nvPr>
            <p:ph sz="half" idx="4294967295"/>
          </p:nvPr>
        </p:nvPicPr>
        <p:blipFill>
          <a:blip r:embed="rId3"/>
          <a:stretch>
            <a:fillRect/>
          </a:stretch>
        </p:blipFill>
        <p:spPr>
          <a:xfrm>
            <a:off x="0" y="1447800"/>
            <a:ext cx="7391400" cy="5211763"/>
          </a:xfrm>
        </p:spPr>
      </p:pic>
      <p:sp>
        <p:nvSpPr>
          <p:cNvPr id="216066" name="Title 216065"/>
          <p:cNvSpPr>
            <a:spLocks noGrp="1"/>
          </p:cNvSpPr>
          <p:nvPr>
            <p:ph type="title" idx="4294967295"/>
          </p:nvPr>
        </p:nvSpPr>
        <p:spPr>
          <a:xfrm>
            <a:off x="0" y="228600"/>
            <a:ext cx="8015288" cy="914400"/>
          </a:xfrm>
        </p:spPr>
        <p:txBody>
          <a:bodyPr anchor="ctr" anchorCtr="0"/>
          <a:lstStyle/>
          <a:p>
            <a:pPr algn="ctr"/>
            <a:r>
              <a:rPr sz="3200" dirty="0"/>
              <a:t>How to Do OOAD </a:t>
            </a:r>
            <a:br>
              <a:rPr sz="3200" dirty="0"/>
            </a:br>
            <a:r>
              <a:rPr sz="2400" dirty="0"/>
              <a:t>– OMT as Object-Oriented Methodology</a:t>
            </a:r>
          </a:p>
        </p:txBody>
      </p:sp>
      <p:sp>
        <p:nvSpPr>
          <p:cNvPr id="216069" name="Text Box 216068"/>
          <p:cNvSpPr txBox="1"/>
          <p:nvPr/>
        </p:nvSpPr>
        <p:spPr>
          <a:xfrm>
            <a:off x="4191000" y="2362200"/>
            <a:ext cx="3886200" cy="366713"/>
          </a:xfrm>
          <a:prstGeom prst="rect">
            <a:avLst/>
          </a:prstGeom>
          <a:noFill/>
          <a:ln w="9525">
            <a:noFill/>
          </a:ln>
        </p:spPr>
        <p:txBody>
          <a:bodyPr>
            <a:spAutoFit/>
          </a:bodyPr>
          <a:lstStyle/>
          <a:p>
            <a:pPr eaLnBrk="0" hangingPunct="0"/>
            <a:endParaRPr sz="1800">
              <a:latin typeface="Arial" panose="020B0604020202020204" pitchFamily="34" charset="0"/>
            </a:endParaRPr>
          </a:p>
        </p:txBody>
      </p:sp>
      <p:sp>
        <p:nvSpPr>
          <p:cNvPr id="216070" name="Text Box 216069"/>
          <p:cNvSpPr txBox="1"/>
          <p:nvPr/>
        </p:nvSpPr>
        <p:spPr>
          <a:xfrm>
            <a:off x="4572000" y="2057400"/>
            <a:ext cx="3962400" cy="2871788"/>
          </a:xfrm>
          <a:prstGeom prst="rect">
            <a:avLst/>
          </a:prstGeom>
          <a:solidFill>
            <a:srgbClr val="FFFF99"/>
          </a:solidFill>
          <a:ln w="9525">
            <a:noFill/>
          </a:ln>
        </p:spPr>
        <p:txBody>
          <a:bodyPr>
            <a:spAutoFit/>
          </a:bodyPr>
          <a:lstStyle/>
          <a:p>
            <a:pPr eaLnBrk="0" hangingPunct="0">
              <a:spcBef>
                <a:spcPct val="0"/>
              </a:spcBef>
            </a:pPr>
            <a:r>
              <a:rPr sz="1800" b="1" i="1">
                <a:solidFill>
                  <a:srgbClr val="9900FF"/>
                </a:solidFill>
                <a:latin typeface="Arial" panose="020B0604020202020204" pitchFamily="34" charset="0"/>
              </a:rPr>
              <a:t>Object Model</a:t>
            </a:r>
            <a:r>
              <a:rPr sz="1800">
                <a:solidFill>
                  <a:srgbClr val="9900FF"/>
                </a:solidFill>
                <a:latin typeface="Arial" panose="020B0604020202020204" pitchFamily="34" charset="0"/>
              </a:rPr>
              <a:t>:</a:t>
            </a:r>
            <a:r>
              <a:rPr sz="1800">
                <a:latin typeface="Arial" panose="020B0604020202020204" pitchFamily="34" charset="0"/>
              </a:rPr>
              <a:t> </a:t>
            </a:r>
            <a:r>
              <a:rPr sz="1600">
                <a:latin typeface="Arial" panose="020B0604020202020204" pitchFamily="34" charset="0"/>
              </a:rPr>
              <a:t>describes the </a:t>
            </a:r>
            <a:r>
              <a:rPr sz="1600" b="1" i="1">
                <a:solidFill>
                  <a:srgbClr val="FF00FF"/>
                </a:solidFill>
                <a:latin typeface="Arial" panose="020B0604020202020204" pitchFamily="34" charset="0"/>
              </a:rPr>
              <a:t>static</a:t>
            </a:r>
            <a:r>
              <a:rPr sz="1600">
                <a:latin typeface="Arial" panose="020B0604020202020204" pitchFamily="34" charset="0"/>
              </a:rPr>
              <a:t> structure of the objects in the system and their relationships  -&gt;  Object Diagrams.</a:t>
            </a:r>
          </a:p>
          <a:p>
            <a:pPr eaLnBrk="0" hangingPunct="0">
              <a:spcBef>
                <a:spcPct val="0"/>
              </a:spcBef>
            </a:pPr>
            <a:endParaRPr sz="1600">
              <a:latin typeface="Arial" panose="020B0604020202020204" pitchFamily="34" charset="0"/>
            </a:endParaRPr>
          </a:p>
          <a:p>
            <a:pPr eaLnBrk="0" hangingPunct="0">
              <a:spcBef>
                <a:spcPct val="0"/>
              </a:spcBef>
            </a:pPr>
            <a:r>
              <a:rPr sz="1800" b="1" i="1">
                <a:solidFill>
                  <a:srgbClr val="9900FF"/>
                </a:solidFill>
                <a:latin typeface="Arial" panose="020B0604020202020204" pitchFamily="34" charset="0"/>
              </a:rPr>
              <a:t>Dynamic Model</a:t>
            </a:r>
            <a:r>
              <a:rPr sz="1800">
                <a:solidFill>
                  <a:srgbClr val="9900FF"/>
                </a:solidFill>
                <a:latin typeface="Arial" panose="020B0604020202020204" pitchFamily="34" charset="0"/>
              </a:rPr>
              <a:t>:</a:t>
            </a:r>
            <a:r>
              <a:rPr sz="1800">
                <a:latin typeface="Arial" panose="020B0604020202020204" pitchFamily="34" charset="0"/>
              </a:rPr>
              <a:t> </a:t>
            </a:r>
            <a:r>
              <a:rPr sz="1600">
                <a:latin typeface="Arial" panose="020B0604020202020204" pitchFamily="34" charset="0"/>
              </a:rPr>
              <a:t>describes the </a:t>
            </a:r>
            <a:r>
              <a:rPr sz="1600" b="1" i="1">
                <a:solidFill>
                  <a:srgbClr val="FF00FF"/>
                </a:solidFill>
                <a:latin typeface="Arial" panose="020B0604020202020204" pitchFamily="34" charset="0"/>
              </a:rPr>
              <a:t>interactions</a:t>
            </a:r>
            <a:r>
              <a:rPr sz="1600">
                <a:latin typeface="Arial" panose="020B0604020202020204" pitchFamily="34" charset="0"/>
              </a:rPr>
              <a:t> among objects in the system  -&gt; State Diagrams.</a:t>
            </a:r>
          </a:p>
          <a:p>
            <a:pPr eaLnBrk="0" hangingPunct="0">
              <a:spcBef>
                <a:spcPct val="0"/>
              </a:spcBef>
            </a:pPr>
            <a:endParaRPr sz="1600">
              <a:latin typeface="Arial" panose="020B0604020202020204" pitchFamily="34" charset="0"/>
            </a:endParaRPr>
          </a:p>
          <a:p>
            <a:pPr eaLnBrk="0" hangingPunct="0">
              <a:spcBef>
                <a:spcPct val="0"/>
              </a:spcBef>
            </a:pPr>
            <a:r>
              <a:rPr sz="1800" b="1" i="1">
                <a:solidFill>
                  <a:srgbClr val="9900FF"/>
                </a:solidFill>
                <a:latin typeface="Arial" panose="020B0604020202020204" pitchFamily="34" charset="0"/>
              </a:rPr>
              <a:t>Functional Model</a:t>
            </a:r>
            <a:r>
              <a:rPr sz="1800">
                <a:solidFill>
                  <a:srgbClr val="9900FF"/>
                </a:solidFill>
                <a:latin typeface="Arial" panose="020B0604020202020204" pitchFamily="34" charset="0"/>
              </a:rPr>
              <a:t>:</a:t>
            </a:r>
            <a:r>
              <a:rPr sz="1800">
                <a:latin typeface="Arial" panose="020B0604020202020204" pitchFamily="34" charset="0"/>
              </a:rPr>
              <a:t> </a:t>
            </a:r>
            <a:r>
              <a:rPr sz="1600">
                <a:latin typeface="Arial" panose="020B0604020202020204" pitchFamily="34" charset="0"/>
              </a:rPr>
              <a:t>describes the data </a:t>
            </a:r>
            <a:r>
              <a:rPr sz="1600" b="1" i="1">
                <a:solidFill>
                  <a:srgbClr val="FF00FF"/>
                </a:solidFill>
                <a:latin typeface="Arial" panose="020B0604020202020204" pitchFamily="34" charset="0"/>
              </a:rPr>
              <a:t>transformation</a:t>
            </a:r>
            <a:r>
              <a:rPr sz="1600">
                <a:latin typeface="Arial" panose="020B0604020202020204" pitchFamily="34" charset="0"/>
              </a:rPr>
              <a:t> of the system</a:t>
            </a:r>
          </a:p>
          <a:p>
            <a:pPr eaLnBrk="0" hangingPunct="0">
              <a:spcBef>
                <a:spcPct val="0"/>
              </a:spcBef>
            </a:pPr>
            <a:r>
              <a:rPr sz="1600">
                <a:latin typeface="Arial" panose="020B0604020202020204" pitchFamily="34" charset="0"/>
              </a:rPr>
              <a:t>-&gt; </a:t>
            </a:r>
            <a:r>
              <a:rPr sz="1600" err="1">
                <a:latin typeface="Arial" panose="020B0604020202020204" pitchFamily="34" charset="0"/>
              </a:rPr>
              <a:t>DataFlow</a:t>
            </a:r>
            <a:r>
              <a:rPr sz="1600">
                <a:latin typeface="Arial" panose="020B0604020202020204" pitchFamily="34" charset="0"/>
              </a:rPr>
              <a:t> Diagrams.</a:t>
            </a:r>
          </a:p>
        </p:txBody>
      </p:sp>
      <p:pic>
        <p:nvPicPr>
          <p:cNvPr id="3" name="Picture 2">
            <a:extLst>
              <a:ext uri="{FF2B5EF4-FFF2-40B4-BE49-F238E27FC236}">
                <a16:creationId xmlns:a16="http://schemas.microsoft.com/office/drawing/2014/main" id="{52D86A3B-4F2A-A441-5528-FF6680B27E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19000"/>
            <a:ext cx="762000" cy="745215"/>
          </a:xfrm>
          <a:prstGeom prst="rect">
            <a:avLst/>
          </a:prstGeom>
        </p:spPr>
      </p:pic>
      <p:sp>
        <p:nvSpPr>
          <p:cNvPr id="4" name="Rectangle 3">
            <a:extLst>
              <a:ext uri="{FF2B5EF4-FFF2-40B4-BE49-F238E27FC236}">
                <a16:creationId xmlns:a16="http://schemas.microsoft.com/office/drawing/2014/main" id="{4DE6649D-F940-89ED-FEAD-94C4F6F0FEBC}"/>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708269D-45F1-5D54-2B2A-6A3B96D6DE52}"/>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31</a:t>
            </a:fld>
            <a:endParaRPr lang="en-US">
              <a:latin typeface="Arial" panose="020B0604020202020204" pitchFamily="34" charset="0"/>
            </a:endParaRPr>
          </a:p>
        </p:txBody>
      </p:sp>
      <p:pic>
        <p:nvPicPr>
          <p:cNvPr id="218114" name="Picture 218113"/>
          <p:cNvPicPr>
            <a:picLocks noChangeAspect="1"/>
          </p:cNvPicPr>
          <p:nvPr/>
        </p:nvPicPr>
        <p:blipFill>
          <a:blip r:embed="rId3"/>
          <a:stretch>
            <a:fillRect/>
          </a:stretch>
        </p:blipFill>
        <p:spPr>
          <a:xfrm>
            <a:off x="304800" y="1447800"/>
            <a:ext cx="7467600" cy="4800600"/>
          </a:xfrm>
          <a:prstGeom prst="rect">
            <a:avLst/>
          </a:prstGeom>
          <a:noFill/>
          <a:ln w="9525">
            <a:noFill/>
          </a:ln>
        </p:spPr>
      </p:pic>
      <p:sp>
        <p:nvSpPr>
          <p:cNvPr id="218115" name="Text Box 218114"/>
          <p:cNvSpPr txBox="1"/>
          <p:nvPr/>
        </p:nvSpPr>
        <p:spPr>
          <a:xfrm>
            <a:off x="5029200" y="1981200"/>
            <a:ext cx="3810000" cy="4475163"/>
          </a:xfrm>
          <a:prstGeom prst="rect">
            <a:avLst/>
          </a:prstGeom>
          <a:solidFill>
            <a:srgbClr val="FFFF99"/>
          </a:solidFill>
          <a:ln w="9525">
            <a:noFill/>
          </a:ln>
        </p:spPr>
        <p:txBody>
          <a:bodyPr>
            <a:spAutoFit/>
          </a:bodyPr>
          <a:lstStyle/>
          <a:p>
            <a:pPr marL="342900" indent="-342900" eaLnBrk="0" hangingPunct="0">
              <a:spcBef>
                <a:spcPct val="0"/>
              </a:spcBef>
            </a:pPr>
            <a:r>
              <a:rPr sz="1800" b="1" i="1">
                <a:solidFill>
                  <a:srgbClr val="9900FF"/>
                </a:solidFill>
                <a:latin typeface="Arial" panose="020B0604020202020204" pitchFamily="34" charset="0"/>
              </a:rPr>
              <a:t>Analysis:</a:t>
            </a:r>
            <a:r>
              <a:rPr sz="2000" b="1" i="1">
                <a:latin typeface="Times New Roman" panose="02020603050405020304" pitchFamily="18" charset="0"/>
              </a:rPr>
              <a:t> </a:t>
            </a:r>
          </a:p>
          <a:p>
            <a:pPr marL="342900" indent="-342900" eaLnBrk="0" hangingPunct="0">
              <a:spcBef>
                <a:spcPct val="0"/>
              </a:spcBef>
            </a:pPr>
            <a:r>
              <a:rPr sz="2000">
                <a:latin typeface="Times New Roman" panose="02020603050405020304" pitchFamily="18" charset="0"/>
              </a:rPr>
              <a:t>i)</a:t>
            </a:r>
            <a:r>
              <a:rPr sz="2000" b="1" i="1">
                <a:latin typeface="Times New Roman" panose="02020603050405020304" pitchFamily="18" charset="0"/>
              </a:rPr>
              <a:t> </a:t>
            </a:r>
            <a:r>
              <a:rPr sz="1400">
                <a:latin typeface="Arial" panose="020B0604020202020204" pitchFamily="34" charset="0"/>
              </a:rPr>
              <a:t>Model the </a:t>
            </a:r>
            <a:r>
              <a:rPr sz="1400" b="1" i="1">
                <a:solidFill>
                  <a:srgbClr val="FF00FF"/>
                </a:solidFill>
                <a:latin typeface="Arial" panose="020B0604020202020204" pitchFamily="34" charset="0"/>
              </a:rPr>
              <a:t>real world</a:t>
            </a:r>
            <a:r>
              <a:rPr sz="1400">
                <a:latin typeface="Arial" panose="020B0604020202020204" pitchFamily="34" charset="0"/>
              </a:rPr>
              <a:t> showing its important properties;</a:t>
            </a:r>
          </a:p>
          <a:p>
            <a:pPr marL="342900" indent="-342900" eaLnBrk="0" hangingPunct="0">
              <a:spcBef>
                <a:spcPct val="0"/>
              </a:spcBef>
            </a:pPr>
            <a:r>
              <a:rPr sz="1400">
                <a:latin typeface="Arial" panose="020B0604020202020204" pitchFamily="34" charset="0"/>
              </a:rPr>
              <a:t> </a:t>
            </a:r>
            <a:r>
              <a:rPr sz="1800">
                <a:latin typeface="Arial" panose="020B0604020202020204" pitchFamily="34" charset="0"/>
              </a:rPr>
              <a:t>ii)</a:t>
            </a:r>
            <a:r>
              <a:rPr sz="1400">
                <a:latin typeface="Arial" panose="020B0604020202020204" pitchFamily="34" charset="0"/>
              </a:rPr>
              <a:t> Concise model of what the </a:t>
            </a:r>
            <a:r>
              <a:rPr sz="1400" b="1" i="1">
                <a:solidFill>
                  <a:srgbClr val="FF00FF"/>
                </a:solidFill>
                <a:latin typeface="Arial" panose="020B0604020202020204" pitchFamily="34" charset="0"/>
              </a:rPr>
              <a:t>system</a:t>
            </a:r>
            <a:r>
              <a:rPr sz="1400">
                <a:latin typeface="Arial" panose="020B0604020202020204" pitchFamily="34" charset="0"/>
              </a:rPr>
              <a:t> will do</a:t>
            </a:r>
          </a:p>
          <a:p>
            <a:pPr marL="342900" indent="-342900" eaLnBrk="0" hangingPunct="0">
              <a:spcBef>
                <a:spcPct val="0"/>
              </a:spcBef>
            </a:pPr>
            <a:endParaRPr sz="1400">
              <a:latin typeface="Arial" panose="020B0604020202020204" pitchFamily="34" charset="0"/>
            </a:endParaRPr>
          </a:p>
          <a:p>
            <a:pPr marL="342900" indent="-342900" eaLnBrk="0" hangingPunct="0">
              <a:spcBef>
                <a:spcPct val="0"/>
              </a:spcBef>
            </a:pPr>
            <a:r>
              <a:rPr sz="1800" b="1" i="1">
                <a:solidFill>
                  <a:srgbClr val="9900FF"/>
                </a:solidFill>
                <a:latin typeface="Arial" panose="020B0604020202020204" pitchFamily="34" charset="0"/>
              </a:rPr>
              <a:t>System Design</a:t>
            </a:r>
            <a:r>
              <a:rPr sz="1800" b="1" i="1">
                <a:solidFill>
                  <a:srgbClr val="9900FF"/>
                </a:solidFill>
                <a:latin typeface="Times New Roman" panose="02020603050405020304" pitchFamily="18" charset="0"/>
              </a:rPr>
              <a:t>:</a:t>
            </a:r>
            <a:r>
              <a:rPr sz="2000" b="1" i="1">
                <a:latin typeface="Times New Roman" panose="02020603050405020304" pitchFamily="18" charset="0"/>
              </a:rPr>
              <a:t> </a:t>
            </a:r>
          </a:p>
          <a:p>
            <a:pPr marL="342900" indent="-342900" eaLnBrk="0" hangingPunct="0">
              <a:spcBef>
                <a:spcPct val="0"/>
              </a:spcBef>
            </a:pPr>
            <a:r>
              <a:rPr sz="1400">
                <a:latin typeface="Arial" panose="020B0604020202020204" pitchFamily="34" charset="0"/>
              </a:rPr>
              <a:t>Organize into subsystems based on analysis structure and propose </a:t>
            </a:r>
            <a:r>
              <a:rPr sz="1400" b="1" i="1">
                <a:solidFill>
                  <a:srgbClr val="FF00FF"/>
                </a:solidFill>
                <a:latin typeface="Arial" panose="020B0604020202020204" pitchFamily="34" charset="0"/>
              </a:rPr>
              <a:t>architecture</a:t>
            </a:r>
          </a:p>
          <a:p>
            <a:pPr marL="342900" indent="-342900" eaLnBrk="0" hangingPunct="0">
              <a:spcBef>
                <a:spcPct val="0"/>
              </a:spcBef>
            </a:pPr>
            <a:endParaRPr sz="1400">
              <a:latin typeface="Arial" panose="020B0604020202020204" pitchFamily="34" charset="0"/>
            </a:endParaRPr>
          </a:p>
          <a:p>
            <a:pPr marL="342900" indent="-342900" eaLnBrk="0" hangingPunct="0">
              <a:spcBef>
                <a:spcPct val="0"/>
              </a:spcBef>
            </a:pPr>
            <a:r>
              <a:rPr sz="1800" b="1" i="1">
                <a:solidFill>
                  <a:srgbClr val="9900FF"/>
                </a:solidFill>
                <a:latin typeface="Arial" panose="020B0604020202020204" pitchFamily="34" charset="0"/>
              </a:rPr>
              <a:t>Object Design</a:t>
            </a:r>
            <a:r>
              <a:rPr sz="1800" b="1" i="1">
                <a:solidFill>
                  <a:srgbClr val="9900FF"/>
                </a:solidFill>
                <a:latin typeface="Times New Roman" panose="02020603050405020304" pitchFamily="18" charset="0"/>
              </a:rPr>
              <a:t>:</a:t>
            </a:r>
            <a:r>
              <a:rPr sz="2000" b="1" i="1">
                <a:latin typeface="Times New Roman" panose="02020603050405020304" pitchFamily="18" charset="0"/>
              </a:rPr>
              <a:t> </a:t>
            </a:r>
            <a:r>
              <a:rPr sz="1400">
                <a:latin typeface="Arial" panose="020B0604020202020204" pitchFamily="34" charset="0"/>
              </a:rPr>
              <a:t>Based on analysis model but with implementation details; Focus on </a:t>
            </a:r>
            <a:r>
              <a:rPr sz="1400" b="1" i="1">
                <a:solidFill>
                  <a:srgbClr val="FF00FF"/>
                </a:solidFill>
                <a:latin typeface="Arial" panose="020B0604020202020204" pitchFamily="34" charset="0"/>
              </a:rPr>
              <a:t>data structures and algorithms</a:t>
            </a:r>
            <a:r>
              <a:rPr sz="1400">
                <a:latin typeface="Arial" panose="020B0604020202020204" pitchFamily="34" charset="0"/>
              </a:rPr>
              <a:t> to implement each class; Computer and domain objects</a:t>
            </a:r>
          </a:p>
          <a:p>
            <a:pPr marL="342900" indent="-342900" eaLnBrk="0" hangingPunct="0">
              <a:spcBef>
                <a:spcPct val="0"/>
              </a:spcBef>
            </a:pPr>
            <a:endParaRPr sz="1400">
              <a:latin typeface="Arial" panose="020B0604020202020204" pitchFamily="34" charset="0"/>
            </a:endParaRPr>
          </a:p>
          <a:p>
            <a:pPr marL="342900" indent="-342900" eaLnBrk="0" hangingPunct="0">
              <a:spcBef>
                <a:spcPct val="0"/>
              </a:spcBef>
            </a:pPr>
            <a:r>
              <a:rPr sz="1800" b="1" i="1">
                <a:solidFill>
                  <a:srgbClr val="9900FF"/>
                </a:solidFill>
                <a:latin typeface="Arial" panose="020B0604020202020204" pitchFamily="34" charset="0"/>
              </a:rPr>
              <a:t>Implementation:</a:t>
            </a:r>
            <a:r>
              <a:rPr sz="2000" b="1" i="1">
                <a:latin typeface="Times New Roman" panose="02020603050405020304" pitchFamily="18" charset="0"/>
              </a:rPr>
              <a:t> </a:t>
            </a:r>
            <a:r>
              <a:rPr sz="1400">
                <a:latin typeface="Arial" panose="020B0604020202020204" pitchFamily="34" charset="0"/>
              </a:rPr>
              <a:t>Translate the object classes and relationships into a </a:t>
            </a:r>
            <a:r>
              <a:rPr sz="1400" b="1" i="1">
                <a:solidFill>
                  <a:srgbClr val="FF00FF"/>
                </a:solidFill>
                <a:latin typeface="Arial" panose="020B0604020202020204" pitchFamily="34" charset="0"/>
              </a:rPr>
              <a:t>programming </a:t>
            </a:r>
            <a:r>
              <a:rPr sz="1400">
                <a:latin typeface="Arial" panose="020B0604020202020204" pitchFamily="34" charset="0"/>
              </a:rPr>
              <a:t>language</a:t>
            </a:r>
            <a:r>
              <a:rPr sz="1600">
                <a:latin typeface="Arial" panose="020B0604020202020204" pitchFamily="34" charset="0"/>
              </a:rPr>
              <a:t>	</a:t>
            </a:r>
          </a:p>
        </p:txBody>
      </p:sp>
      <p:sp>
        <p:nvSpPr>
          <p:cNvPr id="218116" name="Text Box 218115"/>
          <p:cNvSpPr txBox="1"/>
          <p:nvPr/>
        </p:nvSpPr>
        <p:spPr>
          <a:xfrm>
            <a:off x="533400" y="228600"/>
            <a:ext cx="7467600" cy="954107"/>
          </a:xfrm>
          <a:prstGeom prst="rect">
            <a:avLst/>
          </a:prstGeom>
          <a:noFill/>
          <a:ln w="9525">
            <a:noFill/>
          </a:ln>
        </p:spPr>
        <p:txBody>
          <a:bodyPr>
            <a:spAutoFit/>
          </a:bodyPr>
          <a:lstStyle/>
          <a:p>
            <a:pPr algn="ctr">
              <a:spcBef>
                <a:spcPct val="0"/>
              </a:spcBef>
            </a:pPr>
            <a:r>
              <a:rPr sz="3200" dirty="0">
                <a:solidFill>
                  <a:schemeClr val="tx2"/>
                </a:solidFill>
                <a:latin typeface="Arial" panose="020B0604020202020204" pitchFamily="34" charset="0"/>
              </a:rPr>
              <a:t>How to Do OOAD</a:t>
            </a:r>
            <a:r>
              <a:rPr sz="1800" dirty="0">
                <a:solidFill>
                  <a:schemeClr val="tx2"/>
                </a:solidFill>
                <a:latin typeface="Arial" panose="020B0604020202020204" pitchFamily="34" charset="0"/>
              </a:rPr>
              <a:t> </a:t>
            </a:r>
          </a:p>
          <a:p>
            <a:pPr algn="ctr">
              <a:spcBef>
                <a:spcPct val="0"/>
              </a:spcBef>
            </a:pPr>
            <a:r>
              <a:rPr dirty="0">
                <a:solidFill>
                  <a:schemeClr val="tx2"/>
                </a:solidFill>
                <a:latin typeface="Arial" panose="020B0604020202020204" pitchFamily="34" charset="0"/>
              </a:rPr>
              <a:t>– OMT as Object-Oriented Methodology</a:t>
            </a:r>
          </a:p>
        </p:txBody>
      </p:sp>
      <p:sp>
        <p:nvSpPr>
          <p:cNvPr id="218117" name="Rectangles 218116"/>
          <p:cNvSpPr/>
          <p:nvPr/>
        </p:nvSpPr>
        <p:spPr>
          <a:xfrm>
            <a:off x="609600" y="1371600"/>
            <a:ext cx="7924800" cy="4572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28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6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2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18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1800" b="0" i="0" u="none" kern="1200" baseline="0">
                <a:solidFill>
                  <a:schemeClr val="tx1"/>
                </a:solidFill>
                <a:latin typeface="Arial" panose="020B0604020202020204" pitchFamily="34" charset="0"/>
              </a:defRPr>
            </a:lvl5pPr>
          </a:lstStyle>
          <a:p>
            <a:pPr lvl="0">
              <a:buNone/>
            </a:pPr>
            <a:r>
              <a:rPr sz="2000" b="1" i="1"/>
              <a:t>OMT (Object Modeling Technique) by James </a:t>
            </a:r>
            <a:r>
              <a:rPr sz="2000" b="1" i="1" err="1"/>
              <a:t>Rumbaugh</a:t>
            </a:r>
            <a:endParaRPr sz="2000" b="1" i="1"/>
          </a:p>
          <a:p>
            <a:pPr lvl="0"/>
            <a:endParaRPr sz="2000" b="1" i="1"/>
          </a:p>
        </p:txBody>
      </p:sp>
      <p:pic>
        <p:nvPicPr>
          <p:cNvPr id="3" name="Picture 2">
            <a:extLst>
              <a:ext uri="{FF2B5EF4-FFF2-40B4-BE49-F238E27FC236}">
                <a16:creationId xmlns:a16="http://schemas.microsoft.com/office/drawing/2014/main" id="{0DA1CC09-B462-1AB9-D8C8-B5FC54C8DB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19000"/>
            <a:ext cx="762000" cy="745215"/>
          </a:xfrm>
          <a:prstGeom prst="rect">
            <a:avLst/>
          </a:prstGeom>
        </p:spPr>
      </p:pic>
      <p:sp>
        <p:nvSpPr>
          <p:cNvPr id="4" name="Rectangle 3">
            <a:extLst>
              <a:ext uri="{FF2B5EF4-FFF2-40B4-BE49-F238E27FC236}">
                <a16:creationId xmlns:a16="http://schemas.microsoft.com/office/drawing/2014/main" id="{B02681F4-61AF-CA27-E329-9000CF7AF2FE}"/>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2218D54-CB09-2260-8DFF-CA00C3B8E6B2}"/>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32</a:t>
            </a:fld>
            <a:endParaRPr lang="en-US">
              <a:latin typeface="Arial" panose="020B0604020202020204" pitchFamily="34" charset="0"/>
            </a:endParaRPr>
          </a:p>
        </p:txBody>
      </p:sp>
      <p:sp>
        <p:nvSpPr>
          <p:cNvPr id="314370" name="Title 314369"/>
          <p:cNvSpPr>
            <a:spLocks noGrp="1"/>
          </p:cNvSpPr>
          <p:nvPr>
            <p:ph type="title" idx="4294967295"/>
          </p:nvPr>
        </p:nvSpPr>
        <p:spPr>
          <a:xfrm>
            <a:off x="0" y="228600"/>
            <a:ext cx="8015288" cy="914400"/>
          </a:xfrm>
        </p:spPr>
        <p:txBody>
          <a:bodyPr anchor="ctr" anchorCtr="0"/>
          <a:lstStyle/>
          <a:p>
            <a:pPr algn="ctr"/>
            <a:r>
              <a:rPr sz="3600" dirty="0"/>
              <a:t>Introduction</a:t>
            </a:r>
            <a:r>
              <a:rPr dirty="0"/>
              <a:t> </a:t>
            </a:r>
            <a:r>
              <a:rPr sz="3600" dirty="0"/>
              <a:t>to OOAD - Summary</a:t>
            </a:r>
          </a:p>
        </p:txBody>
      </p:sp>
      <p:sp>
        <p:nvSpPr>
          <p:cNvPr id="314371" name="Text Placeholder 314370"/>
          <p:cNvSpPr>
            <a:spLocks noGrp="1"/>
          </p:cNvSpPr>
          <p:nvPr>
            <p:ph type="body" idx="4294967295"/>
          </p:nvPr>
        </p:nvSpPr>
        <p:spPr>
          <a:xfrm>
            <a:off x="0" y="1600200"/>
            <a:ext cx="7924800" cy="4419600"/>
          </a:xfrm>
        </p:spPr>
        <p:txBody>
          <a:bodyPr/>
          <a:lstStyle/>
          <a:p>
            <a:pPr>
              <a:lnSpc>
                <a:spcPct val="80000"/>
              </a:lnSpc>
              <a:buNone/>
            </a:pPr>
            <a:r>
              <a:rPr b="1" i="1" dirty="0"/>
              <a:t>Why</a:t>
            </a:r>
          </a:p>
          <a:p>
            <a:pPr>
              <a:lnSpc>
                <a:spcPct val="80000"/>
              </a:lnSpc>
            </a:pPr>
            <a:r>
              <a:rPr sz="2000" dirty="0"/>
              <a:t>Once Software Crisis due to Communication and Complexity</a:t>
            </a:r>
          </a:p>
          <a:p>
            <a:pPr>
              <a:lnSpc>
                <a:spcPct val="80000"/>
              </a:lnSpc>
            </a:pPr>
            <a:r>
              <a:rPr sz="2000" dirty="0"/>
              <a:t>Languages, Concepts, Models</a:t>
            </a:r>
          </a:p>
          <a:p>
            <a:pPr>
              <a:lnSpc>
                <a:spcPct val="80000"/>
              </a:lnSpc>
            </a:pPr>
            <a:r>
              <a:rPr sz="2000" dirty="0"/>
              <a:t>OO for Conceptual Modeling</a:t>
            </a:r>
          </a:p>
          <a:p>
            <a:pPr>
              <a:lnSpc>
                <a:spcPct val="80000"/>
              </a:lnSpc>
              <a:buNone/>
            </a:pPr>
            <a:endParaRPr sz="2000" dirty="0"/>
          </a:p>
          <a:p>
            <a:pPr>
              <a:lnSpc>
                <a:spcPct val="80000"/>
              </a:lnSpc>
              <a:buNone/>
            </a:pPr>
            <a:endParaRPr sz="2000" dirty="0"/>
          </a:p>
          <a:p>
            <a:pPr>
              <a:lnSpc>
                <a:spcPct val="80000"/>
              </a:lnSpc>
              <a:buNone/>
            </a:pPr>
            <a:r>
              <a:rPr b="1" i="1" dirty="0"/>
              <a:t>What </a:t>
            </a:r>
          </a:p>
          <a:p>
            <a:pPr>
              <a:lnSpc>
                <a:spcPct val="80000"/>
              </a:lnSpc>
            </a:pPr>
            <a:r>
              <a:rPr sz="2000" dirty="0"/>
              <a:t>Fundamental OO Concepts</a:t>
            </a:r>
          </a:p>
          <a:p>
            <a:pPr>
              <a:lnSpc>
                <a:spcPct val="80000"/>
              </a:lnSpc>
            </a:pPr>
            <a:r>
              <a:rPr sz="2000" dirty="0"/>
              <a:t>A little taste of UML</a:t>
            </a:r>
          </a:p>
          <a:p>
            <a:pPr>
              <a:lnSpc>
                <a:spcPct val="80000"/>
              </a:lnSpc>
              <a:buNone/>
            </a:pPr>
            <a:endParaRPr sz="2000" dirty="0"/>
          </a:p>
          <a:p>
            <a:pPr>
              <a:lnSpc>
                <a:spcPct val="80000"/>
              </a:lnSpc>
              <a:buNone/>
            </a:pPr>
            <a:r>
              <a:rPr b="1" i="1" dirty="0"/>
              <a:t>How</a:t>
            </a:r>
          </a:p>
          <a:p>
            <a:pPr>
              <a:lnSpc>
                <a:spcPct val="80000"/>
              </a:lnSpc>
            </a:pPr>
            <a:r>
              <a:rPr sz="2000" dirty="0"/>
              <a:t>OO development processes &amp; (Design) Patterns</a:t>
            </a:r>
          </a:p>
        </p:txBody>
      </p:sp>
      <p:pic>
        <p:nvPicPr>
          <p:cNvPr id="3" name="Picture 2">
            <a:extLst>
              <a:ext uri="{FF2B5EF4-FFF2-40B4-BE49-F238E27FC236}">
                <a16:creationId xmlns:a16="http://schemas.microsoft.com/office/drawing/2014/main" id="{88095A19-43DE-58DD-E07A-9052A9C8B4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9000"/>
            <a:ext cx="762000" cy="745215"/>
          </a:xfrm>
          <a:prstGeom prst="rect">
            <a:avLst/>
          </a:prstGeom>
        </p:spPr>
      </p:pic>
      <p:sp>
        <p:nvSpPr>
          <p:cNvPr id="4" name="Rectangle 3">
            <a:extLst>
              <a:ext uri="{FF2B5EF4-FFF2-40B4-BE49-F238E27FC236}">
                <a16:creationId xmlns:a16="http://schemas.microsoft.com/office/drawing/2014/main" id="{EABFDE05-3C20-F084-4820-8B10B9FB6629}"/>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B0FD97E-8599-C28C-6A83-52A39534F9EB}"/>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33</a:t>
            </a:fld>
            <a:endParaRPr lang="en-US">
              <a:latin typeface="Arial" panose="020B0604020202020204" pitchFamily="34" charset="0"/>
            </a:endParaRPr>
          </a:p>
        </p:txBody>
      </p:sp>
      <p:sp>
        <p:nvSpPr>
          <p:cNvPr id="338946" name="Rectangles 338945"/>
          <p:cNvSpPr/>
          <p:nvPr/>
        </p:nvSpPr>
        <p:spPr>
          <a:xfrm>
            <a:off x="685800" y="6248400"/>
            <a:ext cx="1905000" cy="457200"/>
          </a:xfrm>
          <a:prstGeom prst="rect">
            <a:avLst/>
          </a:prstGeom>
          <a:noFill/>
          <a:ln w="12700">
            <a:noFill/>
          </a:ln>
        </p:spPr>
        <p:txBody>
          <a:bodyPr/>
          <a:lstStyle/>
          <a:p>
            <a:endParaRPr lang="en-US"/>
          </a:p>
        </p:txBody>
      </p:sp>
      <p:sp>
        <p:nvSpPr>
          <p:cNvPr id="338947" name="Rectangles 338946"/>
          <p:cNvSpPr/>
          <p:nvPr/>
        </p:nvSpPr>
        <p:spPr>
          <a:xfrm>
            <a:off x="3124200" y="6248400"/>
            <a:ext cx="2895600" cy="457200"/>
          </a:xfrm>
          <a:prstGeom prst="rect">
            <a:avLst/>
          </a:prstGeom>
          <a:noFill/>
          <a:ln w="12700">
            <a:noFill/>
          </a:ln>
        </p:spPr>
        <p:txBody>
          <a:bodyPr/>
          <a:lstStyle/>
          <a:p>
            <a:endParaRPr lang="en-US"/>
          </a:p>
        </p:txBody>
      </p:sp>
      <p:sp>
        <p:nvSpPr>
          <p:cNvPr id="338948" name="Rectangles 338947"/>
          <p:cNvSpPr/>
          <p:nvPr/>
        </p:nvSpPr>
        <p:spPr>
          <a:xfrm>
            <a:off x="381000" y="152400"/>
            <a:ext cx="7772400" cy="1143000"/>
          </a:xfrm>
          <a:prstGeom prst="rect">
            <a:avLst/>
          </a:prstGeom>
          <a:noFill/>
          <a:ln w="12700">
            <a:noFill/>
          </a:ln>
        </p:spPr>
        <p:txBody>
          <a:bodyPr lIns="90488" tIns="44450" rIns="90488" bIns="44450" anchor="ctr" anchorCtr="0"/>
          <a:lstStyle>
            <a:lvl1pPr marL="0" lvl="0" indent="0" algn="l" defTabSz="914400" rtl="0" eaLnBrk="1" fontAlgn="base" latinLnBrk="0" hangingPunct="1">
              <a:lnSpc>
                <a:spcPct val="100000"/>
              </a:lnSpc>
              <a:spcBef>
                <a:spcPct val="0"/>
              </a:spcBef>
              <a:spcAft>
                <a:spcPct val="0"/>
              </a:spcAft>
              <a:buNone/>
              <a:defRPr sz="4200" u="none" kern="1200" baseline="0">
                <a:solidFill>
                  <a:schemeClr val="tx2"/>
                </a:solidFill>
                <a:latin typeface="Arial" panose="020B0604020202020204" pitchFamily="34" charset="0"/>
              </a:defRPr>
            </a:lvl1pPr>
          </a:lstStyle>
          <a:p>
            <a:pPr lvl="0" algn="ctr"/>
            <a:r>
              <a:rPr sz="3200" dirty="0"/>
              <a:t>How to Do OOAD</a:t>
            </a:r>
            <a:r>
              <a:rPr dirty="0"/>
              <a:t> </a:t>
            </a:r>
            <a:br>
              <a:rPr dirty="0"/>
            </a:br>
            <a:r>
              <a:rPr sz="2400" dirty="0"/>
              <a:t>- Historical Perspective</a:t>
            </a:r>
          </a:p>
        </p:txBody>
      </p:sp>
      <p:sp>
        <p:nvSpPr>
          <p:cNvPr id="338949" name="Rectangles 338948"/>
          <p:cNvSpPr/>
          <p:nvPr/>
        </p:nvSpPr>
        <p:spPr>
          <a:xfrm>
            <a:off x="762000" y="2133600"/>
            <a:ext cx="2819400" cy="771525"/>
          </a:xfrm>
          <a:prstGeom prst="rect">
            <a:avLst/>
          </a:prstGeom>
          <a:noFill/>
          <a:ln w="12700" cap="flat" cmpd="sng">
            <a:solidFill>
              <a:schemeClr val="tx1"/>
            </a:solidFill>
            <a:prstDash val="solid"/>
            <a:miter/>
            <a:headEnd type="none" w="med" len="med"/>
            <a:tailEnd type="none" w="med" len="med"/>
          </a:ln>
        </p:spPr>
        <p:txBody>
          <a:bodyPr lIns="90488" tIns="44450" rIns="90488" bIns="44450">
            <a:spAutoFit/>
          </a:bodyPr>
          <a:lstStyle/>
          <a:p>
            <a:pPr eaLnBrk="0" hangingPunct="0"/>
            <a:r>
              <a:rPr sz="2000" b="1">
                <a:latin typeface="Times New Roman" panose="02020603050405020304" pitchFamily="18" charset="0"/>
              </a:rPr>
              <a:t>OO </a:t>
            </a:r>
            <a:r>
              <a:rPr sz="2000" b="1" err="1">
                <a:latin typeface="Times New Roman" panose="02020603050405020304" pitchFamily="18" charset="0"/>
              </a:rPr>
              <a:t>Prog</a:t>
            </a:r>
            <a:r>
              <a:rPr sz="2000" b="1">
                <a:latin typeface="Times New Roman" panose="02020603050405020304" pitchFamily="18" charset="0"/>
              </a:rPr>
              <a:t>. Languages</a:t>
            </a:r>
            <a:br>
              <a:rPr sz="2000" b="1">
                <a:latin typeface="Times New Roman" panose="02020603050405020304" pitchFamily="18" charset="0"/>
              </a:rPr>
            </a:br>
            <a:r>
              <a:rPr>
                <a:latin typeface="Times New Roman" panose="02020603050405020304" pitchFamily="18" charset="0"/>
              </a:rPr>
              <a:t> </a:t>
            </a:r>
            <a:r>
              <a:rPr sz="1800">
                <a:latin typeface="Times New Roman" panose="02020603050405020304" pitchFamily="18" charset="0"/>
              </a:rPr>
              <a:t>(Smalltalk, C++)</a:t>
            </a:r>
          </a:p>
        </p:txBody>
      </p:sp>
      <p:grpSp>
        <p:nvGrpSpPr>
          <p:cNvPr id="338950" name="Group 338949"/>
          <p:cNvGrpSpPr/>
          <p:nvPr/>
        </p:nvGrpSpPr>
        <p:grpSpPr>
          <a:xfrm>
            <a:off x="3886200" y="2286000"/>
            <a:ext cx="3573463" cy="454025"/>
            <a:chOff x="2068" y="1441"/>
            <a:chExt cx="2779" cy="286"/>
          </a:xfrm>
        </p:grpSpPr>
        <p:sp>
          <p:nvSpPr>
            <p:cNvPr id="338951" name="Rectangles 338950"/>
            <p:cNvSpPr/>
            <p:nvPr/>
          </p:nvSpPr>
          <p:spPr>
            <a:xfrm>
              <a:off x="3313" y="1441"/>
              <a:ext cx="1534" cy="286"/>
            </a:xfrm>
            <a:prstGeom prst="rect">
              <a:avLst/>
            </a:prstGeom>
            <a:noFill/>
            <a:ln w="12700">
              <a:noFill/>
            </a:ln>
          </p:spPr>
          <p:txBody>
            <a:bodyPr lIns="90488" tIns="44450" rIns="90488" bIns="44450">
              <a:spAutoFit/>
            </a:bodyPr>
            <a:lstStyle/>
            <a:p>
              <a:pPr eaLnBrk="0" hangingPunct="0"/>
              <a:r>
                <a:rPr>
                  <a:latin typeface="Times New Roman" panose="02020603050405020304" pitchFamily="18" charset="0"/>
                </a:rPr>
                <a:t>just program!</a:t>
              </a:r>
            </a:p>
          </p:txBody>
        </p:sp>
        <p:sp>
          <p:nvSpPr>
            <p:cNvPr id="338952" name="Straight Connector 338951"/>
            <p:cNvSpPr/>
            <p:nvPr/>
          </p:nvSpPr>
          <p:spPr>
            <a:xfrm>
              <a:off x="2068" y="1584"/>
              <a:ext cx="1096" cy="0"/>
            </a:xfrm>
            <a:prstGeom prst="line">
              <a:avLst/>
            </a:prstGeom>
            <a:ln w="12700" cap="flat" cmpd="sng">
              <a:solidFill>
                <a:schemeClr val="tx1"/>
              </a:solidFill>
              <a:prstDash val="solid"/>
              <a:headEnd type="none" w="med" len="med"/>
              <a:tailEnd type="triangle" w="med" len="med"/>
            </a:ln>
          </p:spPr>
        </p:sp>
      </p:grpSp>
      <p:sp>
        <p:nvSpPr>
          <p:cNvPr id="338953" name="Rectangles 338952"/>
          <p:cNvSpPr/>
          <p:nvPr/>
        </p:nvSpPr>
        <p:spPr>
          <a:xfrm>
            <a:off x="762000" y="3429000"/>
            <a:ext cx="2819400" cy="771525"/>
          </a:xfrm>
          <a:prstGeom prst="rect">
            <a:avLst/>
          </a:prstGeom>
          <a:noFill/>
          <a:ln w="12700" cap="flat" cmpd="sng">
            <a:solidFill>
              <a:schemeClr val="tx1"/>
            </a:solidFill>
            <a:prstDash val="solid"/>
            <a:miter/>
            <a:headEnd type="none" w="med" len="med"/>
            <a:tailEnd type="none" w="med" len="med"/>
          </a:ln>
        </p:spPr>
        <p:txBody>
          <a:bodyPr lIns="90488" tIns="44450" rIns="90488" bIns="44450">
            <a:spAutoFit/>
          </a:bodyPr>
          <a:lstStyle/>
          <a:p>
            <a:pPr eaLnBrk="0" hangingPunct="0"/>
            <a:r>
              <a:rPr sz="2000" b="1">
                <a:latin typeface="Times New Roman" panose="02020603050405020304" pitchFamily="18" charset="0"/>
              </a:rPr>
              <a:t>OO Design</a:t>
            </a:r>
            <a:br>
              <a:rPr sz="2000" b="1">
                <a:latin typeface="Times New Roman" panose="02020603050405020304" pitchFamily="18" charset="0"/>
              </a:rPr>
            </a:br>
            <a:r>
              <a:rPr>
                <a:latin typeface="Times New Roman" panose="02020603050405020304" pitchFamily="18" charset="0"/>
              </a:rPr>
              <a:t> </a:t>
            </a:r>
            <a:r>
              <a:rPr sz="1800">
                <a:latin typeface="Times New Roman" panose="02020603050405020304" pitchFamily="18" charset="0"/>
              </a:rPr>
              <a:t>(</a:t>
            </a:r>
            <a:r>
              <a:rPr sz="1800" err="1">
                <a:latin typeface="Times New Roman" panose="02020603050405020304" pitchFamily="18" charset="0"/>
              </a:rPr>
              <a:t>Booch</a:t>
            </a:r>
            <a:r>
              <a:rPr sz="1800">
                <a:latin typeface="Times New Roman" panose="02020603050405020304" pitchFamily="18" charset="0"/>
              </a:rPr>
              <a:t>)</a:t>
            </a:r>
          </a:p>
        </p:txBody>
      </p:sp>
      <p:grpSp>
        <p:nvGrpSpPr>
          <p:cNvPr id="338954" name="Group 338953"/>
          <p:cNvGrpSpPr/>
          <p:nvPr/>
        </p:nvGrpSpPr>
        <p:grpSpPr>
          <a:xfrm>
            <a:off x="3511550" y="3659188"/>
            <a:ext cx="4411663" cy="819150"/>
            <a:chOff x="2212" y="2305"/>
            <a:chExt cx="2779" cy="516"/>
          </a:xfrm>
        </p:grpSpPr>
        <p:sp>
          <p:nvSpPr>
            <p:cNvPr id="338955" name="Rectangles 338954"/>
            <p:cNvSpPr/>
            <p:nvPr/>
          </p:nvSpPr>
          <p:spPr>
            <a:xfrm>
              <a:off x="3457" y="2305"/>
              <a:ext cx="1534" cy="516"/>
            </a:xfrm>
            <a:prstGeom prst="rect">
              <a:avLst/>
            </a:prstGeom>
            <a:noFill/>
            <a:ln w="12700">
              <a:noFill/>
            </a:ln>
          </p:spPr>
          <p:txBody>
            <a:bodyPr lIns="90488" tIns="44450" rIns="90488" bIns="44450">
              <a:spAutoFit/>
            </a:bodyPr>
            <a:lstStyle/>
            <a:p>
              <a:pPr eaLnBrk="0" hangingPunct="0"/>
              <a:r>
                <a:rPr>
                  <a:latin typeface="Times New Roman" panose="02020603050405020304" pitchFamily="18" charset="0"/>
                </a:rPr>
                <a:t>design then     	program</a:t>
              </a:r>
            </a:p>
          </p:txBody>
        </p:sp>
        <p:sp>
          <p:nvSpPr>
            <p:cNvPr id="338956" name="Straight Connector 338955"/>
            <p:cNvSpPr/>
            <p:nvPr/>
          </p:nvSpPr>
          <p:spPr>
            <a:xfrm>
              <a:off x="2212" y="2448"/>
              <a:ext cx="1096" cy="0"/>
            </a:xfrm>
            <a:prstGeom prst="line">
              <a:avLst/>
            </a:prstGeom>
            <a:ln w="12700" cap="flat" cmpd="sng">
              <a:solidFill>
                <a:schemeClr val="tx1"/>
              </a:solidFill>
              <a:prstDash val="solid"/>
              <a:headEnd type="none" w="med" len="med"/>
              <a:tailEnd type="triangle" w="med" len="med"/>
            </a:ln>
          </p:spPr>
        </p:sp>
      </p:grpSp>
      <p:sp>
        <p:nvSpPr>
          <p:cNvPr id="338957" name="Rectangles 338956"/>
          <p:cNvSpPr/>
          <p:nvPr/>
        </p:nvSpPr>
        <p:spPr>
          <a:xfrm>
            <a:off x="762000" y="4800600"/>
            <a:ext cx="2819400" cy="681038"/>
          </a:xfrm>
          <a:prstGeom prst="rect">
            <a:avLst/>
          </a:prstGeom>
          <a:noFill/>
          <a:ln w="12700" cap="flat" cmpd="sng">
            <a:solidFill>
              <a:schemeClr val="tx1"/>
            </a:solidFill>
            <a:prstDash val="solid"/>
            <a:miter/>
            <a:headEnd type="none" w="med" len="med"/>
            <a:tailEnd type="none" w="med" len="med"/>
          </a:ln>
        </p:spPr>
        <p:txBody>
          <a:bodyPr lIns="90488" tIns="44450" rIns="90488" bIns="44450">
            <a:spAutoFit/>
          </a:bodyPr>
          <a:lstStyle/>
          <a:p>
            <a:pPr eaLnBrk="0" hangingPunct="0"/>
            <a:r>
              <a:rPr sz="2000" b="1">
                <a:latin typeface="Times New Roman" panose="02020603050405020304" pitchFamily="18" charset="0"/>
              </a:rPr>
              <a:t>OO Analysis</a:t>
            </a:r>
            <a:br>
              <a:rPr>
                <a:latin typeface="Times New Roman" panose="02020603050405020304" pitchFamily="18" charset="0"/>
              </a:rPr>
            </a:br>
            <a:r>
              <a:rPr sz="1800">
                <a:latin typeface="Times New Roman" panose="02020603050405020304" pitchFamily="18" charset="0"/>
              </a:rPr>
              <a:t>(</a:t>
            </a:r>
            <a:r>
              <a:rPr sz="1800" err="1">
                <a:latin typeface="Times New Roman" panose="02020603050405020304" pitchFamily="18" charset="0"/>
              </a:rPr>
              <a:t>Rumbaugh</a:t>
            </a:r>
            <a:r>
              <a:rPr sz="1800">
                <a:latin typeface="Times New Roman" panose="02020603050405020304" pitchFamily="18" charset="0"/>
              </a:rPr>
              <a:t>, Jacobson)</a:t>
            </a:r>
          </a:p>
        </p:txBody>
      </p:sp>
      <p:sp>
        <p:nvSpPr>
          <p:cNvPr id="338958" name="Rectangles 338957"/>
          <p:cNvSpPr/>
          <p:nvPr/>
        </p:nvSpPr>
        <p:spPr>
          <a:xfrm>
            <a:off x="5106988" y="1509713"/>
            <a:ext cx="2641600" cy="454025"/>
          </a:xfrm>
          <a:prstGeom prst="rect">
            <a:avLst/>
          </a:prstGeom>
          <a:noFill/>
          <a:ln w="12700">
            <a:noFill/>
          </a:ln>
        </p:spPr>
        <p:txBody>
          <a:bodyPr wrap="none" lIns="90488" tIns="44450" rIns="90488" bIns="44450">
            <a:spAutoFit/>
          </a:bodyPr>
          <a:lstStyle/>
          <a:p>
            <a:pPr eaLnBrk="0" hangingPunct="0">
              <a:spcBef>
                <a:spcPct val="0"/>
              </a:spcBef>
            </a:pPr>
            <a:r>
              <a:rPr b="1" i="1" u="sng">
                <a:solidFill>
                  <a:srgbClr val="0000FF"/>
                </a:solidFill>
                <a:latin typeface="Times New Roman" panose="02020603050405020304" pitchFamily="18" charset="0"/>
              </a:rPr>
              <a:t>Process Perspective</a:t>
            </a:r>
          </a:p>
        </p:txBody>
      </p:sp>
      <p:sp>
        <p:nvSpPr>
          <p:cNvPr id="338959" name="Rectangles 338958"/>
          <p:cNvSpPr/>
          <p:nvPr/>
        </p:nvSpPr>
        <p:spPr>
          <a:xfrm>
            <a:off x="609600" y="1524000"/>
            <a:ext cx="2170113" cy="454025"/>
          </a:xfrm>
          <a:prstGeom prst="rect">
            <a:avLst/>
          </a:prstGeom>
          <a:noFill/>
          <a:ln w="12700">
            <a:noFill/>
          </a:ln>
        </p:spPr>
        <p:txBody>
          <a:bodyPr wrap="none" lIns="90488" tIns="44450" rIns="90488" bIns="44450">
            <a:spAutoFit/>
          </a:bodyPr>
          <a:lstStyle/>
          <a:p>
            <a:pPr eaLnBrk="0" hangingPunct="0">
              <a:spcBef>
                <a:spcPct val="0"/>
              </a:spcBef>
            </a:pPr>
            <a:r>
              <a:rPr b="1" i="1" u="sng">
                <a:solidFill>
                  <a:srgbClr val="0000FF"/>
                </a:solidFill>
                <a:latin typeface="Times New Roman" panose="02020603050405020304" pitchFamily="18" charset="0"/>
              </a:rPr>
              <a:t>OO Technology</a:t>
            </a:r>
          </a:p>
        </p:txBody>
      </p:sp>
      <p:sp>
        <p:nvSpPr>
          <p:cNvPr id="338960" name="Straight Connector 338959"/>
          <p:cNvSpPr/>
          <p:nvPr/>
        </p:nvSpPr>
        <p:spPr>
          <a:xfrm flipV="1">
            <a:off x="3581400" y="5095875"/>
            <a:ext cx="1831975" cy="9525"/>
          </a:xfrm>
          <a:prstGeom prst="line">
            <a:avLst/>
          </a:prstGeom>
          <a:ln w="12700" cap="flat" cmpd="sng">
            <a:solidFill>
              <a:schemeClr val="tx1"/>
            </a:solidFill>
            <a:prstDash val="solid"/>
            <a:headEnd type="none" w="med" len="med"/>
            <a:tailEnd type="triangle" w="med" len="med"/>
          </a:ln>
        </p:spPr>
      </p:sp>
      <p:sp>
        <p:nvSpPr>
          <p:cNvPr id="338961" name="Straight Connector 338960"/>
          <p:cNvSpPr/>
          <p:nvPr/>
        </p:nvSpPr>
        <p:spPr>
          <a:xfrm>
            <a:off x="533400" y="2057400"/>
            <a:ext cx="0" cy="3581400"/>
          </a:xfrm>
          <a:prstGeom prst="line">
            <a:avLst/>
          </a:prstGeom>
          <a:ln w="57150" cap="flat" cmpd="sng">
            <a:solidFill>
              <a:srgbClr val="800080"/>
            </a:solidFill>
            <a:prstDash val="solid"/>
            <a:headEnd type="none" w="med" len="med"/>
            <a:tailEnd type="triangle" w="lg" len="lg"/>
          </a:ln>
        </p:spPr>
      </p:sp>
      <p:sp>
        <p:nvSpPr>
          <p:cNvPr id="338962" name="Text Box 338961"/>
          <p:cNvSpPr txBox="1"/>
          <p:nvPr/>
        </p:nvSpPr>
        <p:spPr>
          <a:xfrm>
            <a:off x="5486400" y="4724400"/>
            <a:ext cx="3276600" cy="1552575"/>
          </a:xfrm>
          <a:prstGeom prst="rect">
            <a:avLst/>
          </a:prstGeom>
          <a:noFill/>
          <a:ln w="9525">
            <a:noFill/>
          </a:ln>
        </p:spPr>
        <p:txBody>
          <a:bodyPr>
            <a:spAutoFit/>
          </a:bodyPr>
          <a:lstStyle/>
          <a:p>
            <a:r>
              <a:rPr>
                <a:latin typeface="Times New Roman" panose="02020603050405020304" pitchFamily="18" charset="0"/>
              </a:rPr>
              <a:t>Analyze (use case) first,</a:t>
            </a:r>
          </a:p>
          <a:p>
            <a:r>
              <a:rPr>
                <a:latin typeface="Times New Roman" panose="02020603050405020304" pitchFamily="18" charset="0"/>
              </a:rPr>
              <a:t>	then design,</a:t>
            </a:r>
          </a:p>
          <a:p>
            <a:r>
              <a:rPr>
                <a:latin typeface="Times New Roman" panose="02020603050405020304" pitchFamily="18" charset="0"/>
              </a:rPr>
              <a:t>T	then program</a:t>
            </a:r>
          </a:p>
        </p:txBody>
      </p:sp>
      <p:sp>
        <p:nvSpPr>
          <p:cNvPr id="338963" name="Text Box 338962"/>
          <p:cNvSpPr txBox="1"/>
          <p:nvPr/>
        </p:nvSpPr>
        <p:spPr>
          <a:xfrm>
            <a:off x="365125" y="5832475"/>
            <a:ext cx="3155950" cy="457200"/>
          </a:xfrm>
          <a:prstGeom prst="rect">
            <a:avLst/>
          </a:prstGeom>
          <a:solidFill>
            <a:srgbClr val="FFFF00"/>
          </a:solidFill>
          <a:ln w="9525">
            <a:noFill/>
          </a:ln>
        </p:spPr>
        <p:txBody>
          <a:bodyPr wrap="none" anchor="t" anchorCtr="0">
            <a:spAutoFit/>
          </a:bodyPr>
          <a:lstStyle/>
          <a:p>
            <a:r>
              <a:rPr b="1" i="1">
                <a:solidFill>
                  <a:srgbClr val="9900FF"/>
                </a:solidFill>
                <a:latin typeface="Times New Roman" panose="02020603050405020304" pitchFamily="18" charset="0"/>
              </a:rPr>
              <a:t>Where are we heading?</a:t>
            </a:r>
          </a:p>
        </p:txBody>
      </p:sp>
      <p:pic>
        <p:nvPicPr>
          <p:cNvPr id="3" name="Picture 2">
            <a:extLst>
              <a:ext uri="{FF2B5EF4-FFF2-40B4-BE49-F238E27FC236}">
                <a16:creationId xmlns:a16="http://schemas.microsoft.com/office/drawing/2014/main" id="{EC6DB087-0BD6-C052-6D6A-6690FE0E60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4" name="Rectangle 3">
            <a:extLst>
              <a:ext uri="{FF2B5EF4-FFF2-40B4-BE49-F238E27FC236}">
                <a16:creationId xmlns:a16="http://schemas.microsoft.com/office/drawing/2014/main" id="{D4B8FEA6-7289-9844-2D76-7F7FEBFED117}"/>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E12C214-CE30-46A1-FDA4-416524F933C6}"/>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34</a:t>
            </a:fld>
            <a:endParaRPr lang="en-US">
              <a:latin typeface="Arial" panose="020B0604020202020204" pitchFamily="34" charset="0"/>
            </a:endParaRPr>
          </a:p>
        </p:txBody>
      </p:sp>
      <p:sp>
        <p:nvSpPr>
          <p:cNvPr id="339970" name="Title 339969"/>
          <p:cNvSpPr>
            <a:spLocks noGrp="1"/>
          </p:cNvSpPr>
          <p:nvPr>
            <p:ph type="title" idx="4294967295"/>
          </p:nvPr>
        </p:nvSpPr>
        <p:spPr>
          <a:xfrm>
            <a:off x="0" y="228600"/>
            <a:ext cx="8015288" cy="914400"/>
          </a:xfrm>
        </p:spPr>
        <p:txBody>
          <a:bodyPr anchor="ctr" anchorCtr="0">
            <a:normAutofit fontScale="90000"/>
          </a:bodyPr>
          <a:lstStyle/>
          <a:p>
            <a:pPr algn="ctr"/>
            <a:r>
              <a:rPr sz="3200" dirty="0"/>
              <a:t>How to Do OOAD</a:t>
            </a:r>
            <a:r>
              <a:rPr sz="3800" dirty="0"/>
              <a:t> </a:t>
            </a:r>
            <a:br>
              <a:rPr sz="3800" dirty="0"/>
            </a:br>
            <a:r>
              <a:rPr sz="2400" dirty="0"/>
              <a:t>- OO Development Processes</a:t>
            </a:r>
          </a:p>
        </p:txBody>
      </p:sp>
      <p:sp>
        <p:nvSpPr>
          <p:cNvPr id="339971" name="Text Placeholder 339970"/>
          <p:cNvSpPr>
            <a:spLocks noGrp="1"/>
          </p:cNvSpPr>
          <p:nvPr>
            <p:ph type="body" idx="4294967295"/>
          </p:nvPr>
        </p:nvSpPr>
        <p:spPr>
          <a:xfrm>
            <a:off x="0" y="2743200"/>
            <a:ext cx="7848600" cy="3200400"/>
          </a:xfrm>
        </p:spPr>
        <p:txBody>
          <a:bodyPr/>
          <a:lstStyle/>
          <a:p>
            <a:r>
              <a:rPr sz="2400"/>
              <a:t>Fusion</a:t>
            </a:r>
          </a:p>
          <a:p>
            <a:pPr lvl="1"/>
            <a:r>
              <a:rPr sz="2000"/>
              <a:t>Hewlett Packard</a:t>
            </a:r>
          </a:p>
          <a:p>
            <a:r>
              <a:rPr sz="2400"/>
              <a:t>Recommended Process and Models</a:t>
            </a:r>
          </a:p>
          <a:p>
            <a:pPr lvl="1"/>
            <a:r>
              <a:rPr sz="2000" err="1"/>
              <a:t>ObjectSpace</a:t>
            </a:r>
            <a:r>
              <a:rPr sz="2000"/>
              <a:t> best practices</a:t>
            </a:r>
          </a:p>
          <a:p>
            <a:pPr lvl="1"/>
            <a:r>
              <a:rPr sz="2000" err="1"/>
              <a:t>Larman’s</a:t>
            </a:r>
            <a:r>
              <a:rPr sz="2000"/>
              <a:t> experiences</a:t>
            </a:r>
          </a:p>
          <a:p>
            <a:pPr lvl="1"/>
            <a:r>
              <a:rPr sz="2000"/>
              <a:t>…</a:t>
            </a:r>
          </a:p>
          <a:p>
            <a:r>
              <a:rPr sz="2400"/>
              <a:t>The Rational Unified Process (RUP)</a:t>
            </a:r>
          </a:p>
          <a:p>
            <a:pPr lvl="1"/>
            <a:r>
              <a:rPr sz="2000"/>
              <a:t>Rational; </a:t>
            </a:r>
            <a:r>
              <a:rPr sz="2000" err="1"/>
              <a:t>Booch</a:t>
            </a:r>
            <a:r>
              <a:rPr sz="2000"/>
              <a:t>, Jacobson, and </a:t>
            </a:r>
            <a:r>
              <a:rPr sz="2000" err="1"/>
              <a:t>Rumbaugh</a:t>
            </a:r>
            <a:endParaRPr sz="2000"/>
          </a:p>
        </p:txBody>
      </p:sp>
      <p:sp>
        <p:nvSpPr>
          <p:cNvPr id="339972" name="Text Box 339971"/>
          <p:cNvSpPr txBox="1"/>
          <p:nvPr/>
        </p:nvSpPr>
        <p:spPr>
          <a:xfrm>
            <a:off x="334963" y="1752600"/>
            <a:ext cx="7704137" cy="457200"/>
          </a:xfrm>
          <a:prstGeom prst="rect">
            <a:avLst/>
          </a:prstGeom>
          <a:noFill/>
          <a:ln w="9525">
            <a:noFill/>
          </a:ln>
        </p:spPr>
        <p:txBody>
          <a:bodyPr wrap="none" anchor="t" anchorCtr="0">
            <a:spAutoFit/>
          </a:bodyPr>
          <a:lstStyle/>
          <a:p>
            <a:pPr algn="ctr">
              <a:spcBef>
                <a:spcPct val="0"/>
              </a:spcBef>
            </a:pPr>
            <a:r>
              <a:rPr b="1" i="1">
                <a:latin typeface="Arial" panose="020B0604020202020204" pitchFamily="34" charset="0"/>
              </a:rPr>
              <a:t>Some Popular OOAD Processes (for reference only)</a:t>
            </a:r>
          </a:p>
        </p:txBody>
      </p:sp>
      <p:pic>
        <p:nvPicPr>
          <p:cNvPr id="3" name="Picture 2">
            <a:extLst>
              <a:ext uri="{FF2B5EF4-FFF2-40B4-BE49-F238E27FC236}">
                <a16:creationId xmlns:a16="http://schemas.microsoft.com/office/drawing/2014/main" id="{6C0AB280-1326-0061-6030-475234B555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4" name="Rectangle 3">
            <a:extLst>
              <a:ext uri="{FF2B5EF4-FFF2-40B4-BE49-F238E27FC236}">
                <a16:creationId xmlns:a16="http://schemas.microsoft.com/office/drawing/2014/main" id="{640413D5-F7D0-5C6E-2093-BB72FE5E2C61}"/>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2D45553-D8E8-2F21-710D-911CDAFC997C}"/>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35</a:t>
            </a:fld>
            <a:endParaRPr lang="en-US">
              <a:latin typeface="Arial" panose="020B0604020202020204" pitchFamily="34" charset="0"/>
            </a:endParaRPr>
          </a:p>
        </p:txBody>
      </p:sp>
      <p:sp>
        <p:nvSpPr>
          <p:cNvPr id="340994" name="Title 340993"/>
          <p:cNvSpPr>
            <a:spLocks noGrp="1"/>
          </p:cNvSpPr>
          <p:nvPr>
            <p:ph type="title" idx="4294967295"/>
          </p:nvPr>
        </p:nvSpPr>
        <p:spPr>
          <a:xfrm>
            <a:off x="0" y="228600"/>
            <a:ext cx="8015288" cy="914400"/>
          </a:xfrm>
        </p:spPr>
        <p:txBody>
          <a:bodyPr anchor="ctr" anchorCtr="0">
            <a:normAutofit fontScale="90000"/>
          </a:bodyPr>
          <a:lstStyle/>
          <a:p>
            <a:pPr algn="ctr"/>
            <a:r>
              <a:rPr dirty="0"/>
              <a:t>How to Do OOAD </a:t>
            </a:r>
            <a:br>
              <a:rPr dirty="0"/>
            </a:br>
            <a:r>
              <a:rPr sz="2800" dirty="0"/>
              <a:t>– One Good Way: Use (OO) Design Patterns </a:t>
            </a:r>
          </a:p>
        </p:txBody>
      </p:sp>
      <p:sp>
        <p:nvSpPr>
          <p:cNvPr id="340995" name="Text Placeholder 340994"/>
          <p:cNvSpPr>
            <a:spLocks noGrp="1"/>
          </p:cNvSpPr>
          <p:nvPr>
            <p:ph type="body" idx="4294967295"/>
          </p:nvPr>
        </p:nvSpPr>
        <p:spPr>
          <a:xfrm>
            <a:off x="0" y="1600200"/>
            <a:ext cx="7924800" cy="4419600"/>
          </a:xfrm>
        </p:spPr>
        <p:txBody>
          <a:bodyPr/>
          <a:lstStyle/>
          <a:p>
            <a:pPr>
              <a:buNone/>
            </a:pPr>
            <a:r>
              <a:rPr sz="2400" b="1" i="1" dirty="0">
                <a:solidFill>
                  <a:srgbClr val="0000FF"/>
                </a:solidFill>
              </a:rPr>
              <a:t>Reusable solutions to typical problems.</a:t>
            </a:r>
          </a:p>
          <a:p>
            <a:pPr>
              <a:buNone/>
            </a:pPr>
            <a:r>
              <a:rPr sz="1800" dirty="0"/>
              <a:t>“Each design pattern systematically names, explains, and evaluates an important and recurring design in object-oriented systems.”  [Gamma]</a:t>
            </a:r>
          </a:p>
          <a:p>
            <a:endParaRPr sz="1800" dirty="0"/>
          </a:p>
        </p:txBody>
      </p:sp>
      <p:sp>
        <p:nvSpPr>
          <p:cNvPr id="340996" name="Rectangles 340995"/>
          <p:cNvSpPr/>
          <p:nvPr/>
        </p:nvSpPr>
        <p:spPr>
          <a:xfrm>
            <a:off x="533400" y="3352800"/>
            <a:ext cx="7924800" cy="25146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l"/>
              <a:defRPr sz="3200" u="none" kern="1200" baseline="0">
                <a:solidFill>
                  <a:schemeClr val="tx1"/>
                </a:solidFill>
                <a:latin typeface="Arial" panose="020B0604020202020204" pitchFamily="34" charset="0"/>
              </a:defRPr>
            </a:lvl1pPr>
            <a:lvl2pPr marL="742950" lvl="1" indent="-285750" algn="l"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Char char="l"/>
              <a:defRPr sz="2800" b="0" i="0" u="none" kern="1200" baseline="0">
                <a:solidFill>
                  <a:schemeClr val="tx1"/>
                </a:solidFill>
                <a:latin typeface="Arial" panose="020B0604020202020204" pitchFamily="34" charset="0"/>
              </a:defRPr>
            </a:lvl2pPr>
            <a:lvl3pPr marL="114300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l"/>
              <a:defRPr sz="2400" b="0" i="0" u="none" kern="1200" baseline="0">
                <a:solidFill>
                  <a:schemeClr val="tx1"/>
                </a:solidFill>
                <a:latin typeface="Arial" panose="020B0604020202020204" pitchFamily="34" charset="0"/>
              </a:defRPr>
            </a:lvl3pPr>
            <a:lvl4pPr marL="1600200" lvl="3" indent="-2286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l"/>
              <a:defRPr sz="2000" b="0" i="0" u="none" kern="1200" baseline="0">
                <a:solidFill>
                  <a:schemeClr val="tx1"/>
                </a:solidFill>
                <a:latin typeface="Arial" panose="020B0604020202020204" pitchFamily="34" charset="0"/>
              </a:defRPr>
            </a:lvl4pPr>
            <a:lvl5pPr marL="2057400" lvl="4" indent="-228600" algn="l" defTabSz="914400" rtl="0" eaLnBrk="1" fontAlgn="base" latinLnBrk="0" hangingPunct="1">
              <a:lnSpc>
                <a:spcPct val="100000"/>
              </a:lnSpc>
              <a:spcBef>
                <a:spcPct val="20000"/>
              </a:spcBef>
              <a:spcAft>
                <a:spcPct val="0"/>
              </a:spcAft>
              <a:buClr>
                <a:schemeClr val="bg2"/>
              </a:buClr>
              <a:buSzPct val="40000"/>
              <a:buFont typeface="Wingdings" panose="05000000000000000000" pitchFamily="2" charset="2"/>
              <a:buChar char="l"/>
              <a:defRPr sz="2000" b="0" i="0" u="none" kern="1200" baseline="0">
                <a:solidFill>
                  <a:schemeClr val="tx1"/>
                </a:solidFill>
                <a:latin typeface="Arial" panose="020B0604020202020204" pitchFamily="34" charset="0"/>
              </a:defRPr>
            </a:lvl5pPr>
          </a:lstStyle>
          <a:p>
            <a:pPr lvl="0"/>
            <a:r>
              <a:rPr sz="2400"/>
              <a:t>Name </a:t>
            </a:r>
            <a:r>
              <a:rPr sz="2000"/>
              <a:t>— </a:t>
            </a:r>
            <a:r>
              <a:rPr sz="1600"/>
              <a:t>identifies a particular pattern, creating a vocabulary.</a:t>
            </a:r>
          </a:p>
          <a:p>
            <a:pPr lvl="0"/>
            <a:r>
              <a:rPr sz="2400"/>
              <a:t>Problem</a:t>
            </a:r>
            <a:r>
              <a:t> </a:t>
            </a:r>
            <a:r>
              <a:rPr sz="1600"/>
              <a:t>— identifies context when pattern should be applied.</a:t>
            </a:r>
          </a:p>
          <a:p>
            <a:pPr lvl="0"/>
            <a:r>
              <a:rPr sz="2400"/>
              <a:t>Solution</a:t>
            </a:r>
            <a:r>
              <a:t> </a:t>
            </a:r>
            <a:r>
              <a:rPr sz="1600"/>
              <a:t>— an abstract description of a design problem along with a template object design that solves the problem.</a:t>
            </a:r>
          </a:p>
          <a:p>
            <a:pPr lvl="0"/>
            <a:r>
              <a:rPr sz="2400"/>
              <a:t>Consequences</a:t>
            </a:r>
            <a:r>
              <a:t> </a:t>
            </a:r>
            <a:r>
              <a:rPr sz="1600"/>
              <a:t>— results and trade-offs of applying the pattern.</a:t>
            </a:r>
          </a:p>
        </p:txBody>
      </p:sp>
      <p:pic>
        <p:nvPicPr>
          <p:cNvPr id="3" name="Picture 2">
            <a:extLst>
              <a:ext uri="{FF2B5EF4-FFF2-40B4-BE49-F238E27FC236}">
                <a16:creationId xmlns:a16="http://schemas.microsoft.com/office/drawing/2014/main" id="{FA02E2AA-3A8F-968D-0067-6BEFDF2798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4" name="Rectangle 3">
            <a:extLst>
              <a:ext uri="{FF2B5EF4-FFF2-40B4-BE49-F238E27FC236}">
                <a16:creationId xmlns:a16="http://schemas.microsoft.com/office/drawing/2014/main" id="{D76B94FA-36B9-4909-8A61-159604FE7967}"/>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616BD58-A138-96D9-623F-9D6480ED503C}"/>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36</a:t>
            </a:fld>
            <a:endParaRPr lang="en-US">
              <a:latin typeface="Arial" panose="020B0604020202020204" pitchFamily="34" charset="0"/>
            </a:endParaRPr>
          </a:p>
        </p:txBody>
      </p:sp>
      <p:sp>
        <p:nvSpPr>
          <p:cNvPr id="342030" name="Title 342029"/>
          <p:cNvSpPr>
            <a:spLocks noGrp="1"/>
          </p:cNvSpPr>
          <p:nvPr>
            <p:ph type="title" idx="4294967295"/>
          </p:nvPr>
        </p:nvSpPr>
        <p:spPr>
          <a:xfrm>
            <a:off x="0" y="228600"/>
            <a:ext cx="8015288" cy="914400"/>
          </a:xfrm>
        </p:spPr>
        <p:txBody>
          <a:bodyPr vert="horz" wrap="square" lIns="91440" tIns="45720" rIns="91440" bIns="45720" anchor="ctr" anchorCtr="0">
            <a:normAutofit fontScale="90000"/>
          </a:bodyPr>
          <a:lstStyle/>
          <a:p>
            <a:pPr algn="ctr"/>
            <a:r>
              <a:rPr sz="3200" b="1" dirty="0"/>
              <a:t>Why Object-Oriented</a:t>
            </a:r>
            <a:br>
              <a:rPr sz="3600" b="1" dirty="0"/>
            </a:br>
            <a:r>
              <a:rPr sz="3600" b="1" dirty="0"/>
              <a:t>- </a:t>
            </a:r>
            <a:r>
              <a:rPr sz="2400" b="1" dirty="0"/>
              <a:t>Who’s Behind Object-Orientation </a:t>
            </a:r>
            <a:r>
              <a:rPr sz="2400" i="1" dirty="0"/>
              <a:t>w. Diff. Concerns</a:t>
            </a:r>
          </a:p>
        </p:txBody>
      </p:sp>
      <p:sp>
        <p:nvSpPr>
          <p:cNvPr id="342018" name="Oval 342017"/>
          <p:cNvSpPr/>
          <p:nvPr/>
        </p:nvSpPr>
        <p:spPr>
          <a:xfrm>
            <a:off x="228600" y="4038600"/>
            <a:ext cx="2057400" cy="1066800"/>
          </a:xfrm>
          <a:prstGeom prst="ellipse">
            <a:avLst/>
          </a:prstGeom>
          <a:solidFill>
            <a:srgbClr val="CCFFFF"/>
          </a:solidFill>
          <a:ln w="9525" cap="flat" cmpd="sng">
            <a:solidFill>
              <a:srgbClr val="00FF00"/>
            </a:solidFill>
            <a:prstDash val="dashDot"/>
            <a:headEnd type="none" w="med" len="med"/>
            <a:tailEnd type="none" w="med" len="med"/>
          </a:ln>
        </p:spPr>
        <p:txBody>
          <a:bodyPr/>
          <a:lstStyle/>
          <a:p>
            <a:endParaRPr lang="en-US"/>
          </a:p>
        </p:txBody>
      </p:sp>
      <p:sp>
        <p:nvSpPr>
          <p:cNvPr id="342019" name="Oval 342018"/>
          <p:cNvSpPr/>
          <p:nvPr/>
        </p:nvSpPr>
        <p:spPr>
          <a:xfrm>
            <a:off x="762000" y="1600200"/>
            <a:ext cx="3810000" cy="2514600"/>
          </a:xfrm>
          <a:prstGeom prst="ellipse">
            <a:avLst/>
          </a:prstGeom>
          <a:noFill/>
          <a:ln w="9525" cap="flat" cmpd="sng">
            <a:solidFill>
              <a:schemeClr val="tx1"/>
            </a:solidFill>
            <a:prstDash val="solid"/>
            <a:headEnd type="none" w="med" len="med"/>
            <a:tailEnd type="none" w="med" len="med"/>
          </a:ln>
        </p:spPr>
        <p:txBody>
          <a:bodyPr/>
          <a:lstStyle/>
          <a:p>
            <a:endParaRPr lang="en-US"/>
          </a:p>
        </p:txBody>
      </p:sp>
      <p:sp>
        <p:nvSpPr>
          <p:cNvPr id="342020" name="Oval 342019"/>
          <p:cNvSpPr/>
          <p:nvPr/>
        </p:nvSpPr>
        <p:spPr>
          <a:xfrm>
            <a:off x="3962400" y="1600200"/>
            <a:ext cx="4038600" cy="2514600"/>
          </a:xfrm>
          <a:prstGeom prst="ellipse">
            <a:avLst/>
          </a:prstGeom>
          <a:noFill/>
          <a:ln w="9525" cap="flat" cmpd="sng">
            <a:solidFill>
              <a:schemeClr val="tx1"/>
            </a:solidFill>
            <a:prstDash val="solid"/>
            <a:headEnd type="none" w="med" len="med"/>
            <a:tailEnd type="none" w="med" len="med"/>
          </a:ln>
        </p:spPr>
        <p:txBody>
          <a:bodyPr/>
          <a:lstStyle/>
          <a:p>
            <a:endParaRPr lang="en-US"/>
          </a:p>
        </p:txBody>
      </p:sp>
      <p:sp>
        <p:nvSpPr>
          <p:cNvPr id="342021" name="Oval 342020"/>
          <p:cNvSpPr/>
          <p:nvPr/>
        </p:nvSpPr>
        <p:spPr>
          <a:xfrm>
            <a:off x="2438400" y="3124200"/>
            <a:ext cx="3886200" cy="2514600"/>
          </a:xfrm>
          <a:prstGeom prst="ellipse">
            <a:avLst/>
          </a:prstGeom>
          <a:noFill/>
          <a:ln w="9525" cap="flat" cmpd="sng">
            <a:solidFill>
              <a:schemeClr val="tx1"/>
            </a:solidFill>
            <a:prstDash val="solid"/>
            <a:headEnd type="none" w="med" len="med"/>
            <a:tailEnd type="none" w="med" len="med"/>
          </a:ln>
        </p:spPr>
        <p:txBody>
          <a:bodyPr/>
          <a:lstStyle/>
          <a:p>
            <a:endParaRPr lang="en-US"/>
          </a:p>
        </p:txBody>
      </p:sp>
      <p:sp>
        <p:nvSpPr>
          <p:cNvPr id="342022" name="Text Box 342021"/>
          <p:cNvSpPr txBox="1"/>
          <p:nvPr/>
        </p:nvSpPr>
        <p:spPr>
          <a:xfrm>
            <a:off x="1524000" y="1752600"/>
            <a:ext cx="2590800" cy="1857375"/>
          </a:xfrm>
          <a:prstGeom prst="rect">
            <a:avLst/>
          </a:prstGeom>
          <a:noFill/>
          <a:ln w="9525">
            <a:noFill/>
          </a:ln>
        </p:spPr>
        <p:txBody>
          <a:bodyPr>
            <a:spAutoFit/>
          </a:bodyPr>
          <a:lstStyle/>
          <a:p>
            <a:r>
              <a:rPr sz="1600" b="1">
                <a:solidFill>
                  <a:srgbClr val="009900"/>
                </a:solidFill>
                <a:latin typeface="Arial" panose="020B0604020202020204" pitchFamily="34" charset="0"/>
              </a:rPr>
              <a:t>Knowledge Representation (in A.I.)</a:t>
            </a:r>
          </a:p>
          <a:p>
            <a:r>
              <a:rPr sz="1400" i="1">
                <a:latin typeface="Times New Roman" panose="02020603050405020304" pitchFamily="18" charset="0"/>
              </a:rPr>
              <a:t>Psychological Validity</a:t>
            </a:r>
          </a:p>
          <a:p>
            <a:r>
              <a:rPr sz="1400" i="1">
                <a:latin typeface="Times New Roman" panose="02020603050405020304" pitchFamily="18" charset="0"/>
              </a:rPr>
              <a:t>Philosophical Validity</a:t>
            </a:r>
          </a:p>
          <a:p>
            <a:r>
              <a:rPr sz="1400" i="1">
                <a:latin typeface="Times New Roman" panose="02020603050405020304" pitchFamily="18" charset="0"/>
              </a:rPr>
              <a:t>Computational Validity</a:t>
            </a:r>
          </a:p>
          <a:p>
            <a:endParaRPr sz="1400" i="1">
              <a:latin typeface="Times New Roman" panose="02020603050405020304" pitchFamily="18" charset="0"/>
            </a:endParaRPr>
          </a:p>
        </p:txBody>
      </p:sp>
      <p:sp>
        <p:nvSpPr>
          <p:cNvPr id="342023" name="Text Box 342022"/>
          <p:cNvSpPr txBox="1"/>
          <p:nvPr/>
        </p:nvSpPr>
        <p:spPr>
          <a:xfrm>
            <a:off x="5715000" y="1676400"/>
            <a:ext cx="2362200" cy="2070100"/>
          </a:xfrm>
          <a:prstGeom prst="rect">
            <a:avLst/>
          </a:prstGeom>
          <a:noFill/>
          <a:ln w="9525">
            <a:noFill/>
          </a:ln>
        </p:spPr>
        <p:txBody>
          <a:bodyPr>
            <a:spAutoFit/>
          </a:bodyPr>
          <a:lstStyle/>
          <a:p>
            <a:r>
              <a:rPr sz="1600" b="1">
                <a:solidFill>
                  <a:srgbClr val="009900"/>
                </a:solidFill>
                <a:latin typeface="Arial" panose="020B0604020202020204" pitchFamily="34" charset="0"/>
              </a:rPr>
              <a:t>Databases</a:t>
            </a:r>
          </a:p>
          <a:p>
            <a:r>
              <a:rPr sz="1200">
                <a:latin typeface="Arial" panose="020B0604020202020204" pitchFamily="34" charset="0"/>
              </a:rPr>
              <a:t>Emphasis in Persistent Data (and now ACID properties)</a:t>
            </a:r>
          </a:p>
          <a:p>
            <a:r>
              <a:rPr sz="1400" i="1" err="1">
                <a:latin typeface="Times New Roman" panose="02020603050405020304" pitchFamily="18" charset="0"/>
              </a:rPr>
              <a:t>RelationalDB</a:t>
            </a:r>
            <a:endParaRPr sz="1400" i="1">
              <a:latin typeface="Times New Roman" panose="02020603050405020304" pitchFamily="18" charset="0"/>
            </a:endParaRPr>
          </a:p>
          <a:p>
            <a:r>
              <a:rPr sz="1400" i="1">
                <a:latin typeface="Times New Roman" panose="02020603050405020304" pitchFamily="18" charset="0"/>
              </a:rPr>
              <a:t>Network DB </a:t>
            </a:r>
          </a:p>
          <a:p>
            <a:r>
              <a:rPr sz="1400" i="1">
                <a:latin typeface="Times New Roman" panose="02020603050405020304" pitchFamily="18" charset="0"/>
              </a:rPr>
              <a:t>Hierarchical DB</a:t>
            </a:r>
          </a:p>
          <a:p>
            <a:r>
              <a:rPr sz="1400" i="1">
                <a:latin typeface="Times New Roman" panose="02020603050405020304" pitchFamily="18" charset="0"/>
              </a:rPr>
              <a:t>OODB</a:t>
            </a:r>
          </a:p>
        </p:txBody>
      </p:sp>
      <p:sp>
        <p:nvSpPr>
          <p:cNvPr id="342024" name="Text Box 342023"/>
          <p:cNvSpPr txBox="1"/>
          <p:nvPr/>
        </p:nvSpPr>
        <p:spPr>
          <a:xfrm>
            <a:off x="3276600" y="4114800"/>
            <a:ext cx="2819400" cy="1143000"/>
          </a:xfrm>
          <a:prstGeom prst="rect">
            <a:avLst/>
          </a:prstGeom>
          <a:noFill/>
          <a:ln w="9525">
            <a:noFill/>
          </a:ln>
        </p:spPr>
        <p:txBody>
          <a:bodyPr>
            <a:spAutoFit/>
          </a:bodyPr>
          <a:lstStyle/>
          <a:p>
            <a:r>
              <a:rPr sz="1600" b="1">
                <a:solidFill>
                  <a:srgbClr val="009900"/>
                </a:solidFill>
                <a:latin typeface="Arial" panose="020B0604020202020204" pitchFamily="34" charset="0"/>
              </a:rPr>
              <a:t>Programming Languages</a:t>
            </a:r>
          </a:p>
          <a:p>
            <a:r>
              <a:rPr sz="1200">
                <a:latin typeface="Arial" panose="020B0604020202020204" pitchFamily="34" charset="0"/>
              </a:rPr>
              <a:t>Emphasis in Efficiency</a:t>
            </a:r>
          </a:p>
          <a:p>
            <a:r>
              <a:rPr sz="1400" i="1" err="1">
                <a:latin typeface="Times New Roman" panose="02020603050405020304" pitchFamily="18" charset="0"/>
              </a:rPr>
              <a:t>Simula</a:t>
            </a:r>
            <a:r>
              <a:rPr sz="1400" i="1">
                <a:latin typeface="Times New Roman" panose="02020603050405020304" pitchFamily="18" charset="0"/>
              </a:rPr>
              <a:t>, </a:t>
            </a:r>
            <a:r>
              <a:rPr sz="1400" i="1" err="1">
                <a:latin typeface="Times New Roman" panose="02020603050405020304" pitchFamily="18" charset="0"/>
              </a:rPr>
              <a:t>SmallTalk</a:t>
            </a:r>
            <a:r>
              <a:rPr sz="1400" i="1">
                <a:latin typeface="Times New Roman" panose="02020603050405020304" pitchFamily="18" charset="0"/>
              </a:rPr>
              <a:t>, C++, </a:t>
            </a:r>
            <a:r>
              <a:rPr sz="1400" i="1" err="1">
                <a:latin typeface="Times New Roman" panose="02020603050405020304" pitchFamily="18" charset="0"/>
              </a:rPr>
              <a:t>Protel</a:t>
            </a:r>
            <a:r>
              <a:rPr sz="1400" i="1">
                <a:latin typeface="Times New Roman" panose="02020603050405020304" pitchFamily="18" charset="0"/>
              </a:rPr>
              <a:t>, Java</a:t>
            </a:r>
          </a:p>
        </p:txBody>
      </p:sp>
      <p:sp>
        <p:nvSpPr>
          <p:cNvPr id="342025" name="Text Box 342024"/>
          <p:cNvSpPr txBox="1"/>
          <p:nvPr/>
        </p:nvSpPr>
        <p:spPr>
          <a:xfrm>
            <a:off x="3962400" y="2514600"/>
            <a:ext cx="533400" cy="274638"/>
          </a:xfrm>
          <a:prstGeom prst="rect">
            <a:avLst/>
          </a:prstGeom>
          <a:noFill/>
          <a:ln w="9525">
            <a:noFill/>
          </a:ln>
        </p:spPr>
        <p:txBody>
          <a:bodyPr>
            <a:spAutoFit/>
          </a:bodyPr>
          <a:lstStyle/>
          <a:p>
            <a:r>
              <a:rPr sz="1200">
                <a:solidFill>
                  <a:schemeClr val="folHlink"/>
                </a:solidFill>
                <a:latin typeface="Times New Roman" panose="02020603050405020304" pitchFamily="18" charset="0"/>
              </a:rPr>
              <a:t>ERD</a:t>
            </a:r>
          </a:p>
        </p:txBody>
      </p:sp>
      <p:sp>
        <p:nvSpPr>
          <p:cNvPr id="342026" name="Text Box 342025"/>
          <p:cNvSpPr txBox="1"/>
          <p:nvPr/>
        </p:nvSpPr>
        <p:spPr>
          <a:xfrm>
            <a:off x="3352800" y="3429000"/>
            <a:ext cx="533400" cy="274638"/>
          </a:xfrm>
          <a:prstGeom prst="rect">
            <a:avLst/>
          </a:prstGeom>
          <a:noFill/>
          <a:ln w="9525">
            <a:noFill/>
          </a:ln>
        </p:spPr>
        <p:txBody>
          <a:bodyPr>
            <a:spAutoFit/>
          </a:bodyPr>
          <a:lstStyle/>
          <a:p>
            <a:r>
              <a:rPr sz="1200">
                <a:solidFill>
                  <a:schemeClr val="folHlink"/>
                </a:solidFill>
                <a:latin typeface="Times New Roman" panose="02020603050405020304" pitchFamily="18" charset="0"/>
              </a:rPr>
              <a:t>SDM</a:t>
            </a:r>
          </a:p>
        </p:txBody>
      </p:sp>
      <p:sp>
        <p:nvSpPr>
          <p:cNvPr id="342027" name="Text Box 342026"/>
          <p:cNvSpPr txBox="1"/>
          <p:nvPr/>
        </p:nvSpPr>
        <p:spPr>
          <a:xfrm>
            <a:off x="4038600" y="3124200"/>
            <a:ext cx="533400" cy="274638"/>
          </a:xfrm>
          <a:prstGeom prst="rect">
            <a:avLst/>
          </a:prstGeom>
          <a:noFill/>
          <a:ln w="9525">
            <a:noFill/>
          </a:ln>
        </p:spPr>
        <p:txBody>
          <a:bodyPr>
            <a:spAutoFit/>
          </a:bodyPr>
          <a:lstStyle/>
          <a:p>
            <a:r>
              <a:rPr sz="1200">
                <a:solidFill>
                  <a:srgbClr val="FF0000"/>
                </a:solidFill>
                <a:latin typeface="Times New Roman" panose="02020603050405020304" pitchFamily="18" charset="0"/>
              </a:rPr>
              <a:t>CM</a:t>
            </a:r>
          </a:p>
        </p:txBody>
      </p:sp>
      <p:sp>
        <p:nvSpPr>
          <p:cNvPr id="342028" name="Text Box 342027"/>
          <p:cNvSpPr txBox="1"/>
          <p:nvPr/>
        </p:nvSpPr>
        <p:spPr>
          <a:xfrm>
            <a:off x="4876800" y="3429000"/>
            <a:ext cx="533400" cy="274638"/>
          </a:xfrm>
          <a:prstGeom prst="rect">
            <a:avLst/>
          </a:prstGeom>
          <a:noFill/>
          <a:ln w="9525">
            <a:noFill/>
          </a:ln>
        </p:spPr>
        <p:txBody>
          <a:bodyPr>
            <a:spAutoFit/>
          </a:bodyPr>
          <a:lstStyle/>
          <a:p>
            <a:r>
              <a:rPr sz="1200">
                <a:solidFill>
                  <a:schemeClr val="folHlink"/>
                </a:solidFill>
                <a:latin typeface="Times New Roman" panose="02020603050405020304" pitchFamily="18" charset="0"/>
              </a:rPr>
              <a:t>ADT</a:t>
            </a:r>
          </a:p>
        </p:txBody>
      </p:sp>
      <p:sp>
        <p:nvSpPr>
          <p:cNvPr id="342029" name="Text Box 342028"/>
          <p:cNvSpPr txBox="1"/>
          <p:nvPr/>
        </p:nvSpPr>
        <p:spPr>
          <a:xfrm>
            <a:off x="6629400" y="4191000"/>
            <a:ext cx="2362200" cy="1098550"/>
          </a:xfrm>
          <a:prstGeom prst="rect">
            <a:avLst/>
          </a:prstGeom>
          <a:noFill/>
          <a:ln w="9525">
            <a:noFill/>
          </a:ln>
        </p:spPr>
        <p:txBody>
          <a:bodyPr>
            <a:spAutoFit/>
          </a:bodyPr>
          <a:lstStyle/>
          <a:p>
            <a:r>
              <a:rPr sz="1200">
                <a:solidFill>
                  <a:srgbClr val="0000FF"/>
                </a:solidFill>
                <a:latin typeface="Times New Roman" panose="02020603050405020304" pitchFamily="18" charset="0"/>
              </a:rPr>
              <a:t>ERD: Entity Relationship Diagram</a:t>
            </a:r>
          </a:p>
          <a:p>
            <a:r>
              <a:rPr sz="1200">
                <a:solidFill>
                  <a:srgbClr val="0000FF"/>
                </a:solidFill>
                <a:latin typeface="Times New Roman" panose="02020603050405020304" pitchFamily="18" charset="0"/>
              </a:rPr>
              <a:t>SDM: Semantic Data Model</a:t>
            </a:r>
          </a:p>
          <a:p>
            <a:r>
              <a:rPr sz="1200">
                <a:solidFill>
                  <a:srgbClr val="0000FF"/>
                </a:solidFill>
                <a:latin typeface="Times New Roman" panose="02020603050405020304" pitchFamily="18" charset="0"/>
              </a:rPr>
              <a:t>ADT: Abstract Data Type</a:t>
            </a:r>
          </a:p>
          <a:p>
            <a:r>
              <a:rPr sz="1200" b="1">
                <a:solidFill>
                  <a:srgbClr val="FF0000"/>
                </a:solidFill>
                <a:latin typeface="Times New Roman" panose="02020603050405020304" pitchFamily="18" charset="0"/>
              </a:rPr>
              <a:t>CM: Conceptual Model</a:t>
            </a:r>
          </a:p>
        </p:txBody>
      </p:sp>
      <p:sp>
        <p:nvSpPr>
          <p:cNvPr id="342031" name="Text Box 342030"/>
          <p:cNvSpPr txBox="1"/>
          <p:nvPr/>
        </p:nvSpPr>
        <p:spPr>
          <a:xfrm>
            <a:off x="304800" y="4343400"/>
            <a:ext cx="2057400" cy="549275"/>
          </a:xfrm>
          <a:prstGeom prst="rect">
            <a:avLst/>
          </a:prstGeom>
          <a:noFill/>
          <a:ln w="9525">
            <a:noFill/>
          </a:ln>
        </p:spPr>
        <p:txBody>
          <a:bodyPr>
            <a:spAutoFit/>
          </a:bodyPr>
          <a:lstStyle/>
          <a:p>
            <a:pPr>
              <a:lnSpc>
                <a:spcPct val="50000"/>
              </a:lnSpc>
            </a:pPr>
            <a:r>
              <a:rPr sz="2000" b="1">
                <a:solidFill>
                  <a:srgbClr val="00FF00"/>
                </a:solidFill>
                <a:latin typeface="Times New Roman" panose="02020603050405020304" pitchFamily="18" charset="0"/>
              </a:rPr>
              <a:t>System/Software</a:t>
            </a:r>
          </a:p>
          <a:p>
            <a:pPr>
              <a:lnSpc>
                <a:spcPct val="50000"/>
              </a:lnSpc>
            </a:pPr>
            <a:r>
              <a:rPr sz="2000" b="1">
                <a:solidFill>
                  <a:srgbClr val="00FF00"/>
                </a:solidFill>
                <a:latin typeface="Times New Roman" panose="02020603050405020304" pitchFamily="18" charset="0"/>
              </a:rPr>
              <a:t>Engineering</a:t>
            </a:r>
          </a:p>
        </p:txBody>
      </p:sp>
      <p:sp>
        <p:nvSpPr>
          <p:cNvPr id="342032" name="Text Box 342031"/>
          <p:cNvSpPr txBox="1"/>
          <p:nvPr/>
        </p:nvSpPr>
        <p:spPr>
          <a:xfrm>
            <a:off x="838200" y="6248400"/>
            <a:ext cx="7126288" cy="457200"/>
          </a:xfrm>
          <a:prstGeom prst="rect">
            <a:avLst/>
          </a:prstGeom>
          <a:solidFill>
            <a:srgbClr val="FFFF00"/>
          </a:solidFill>
          <a:ln w="9525">
            <a:noFill/>
          </a:ln>
        </p:spPr>
        <p:txBody>
          <a:bodyPr wrap="none" anchor="t" anchorCtr="0">
            <a:spAutoFit/>
          </a:bodyPr>
          <a:lstStyle/>
          <a:p>
            <a:r>
              <a:rPr>
                <a:solidFill>
                  <a:srgbClr val="9900FF"/>
                </a:solidFill>
                <a:latin typeface="Times New Roman" panose="02020603050405020304" pitchFamily="18" charset="0"/>
              </a:rPr>
              <a:t>Where does </a:t>
            </a:r>
            <a:r>
              <a:rPr b="1" i="1">
                <a:solidFill>
                  <a:srgbClr val="9900FF"/>
                </a:solidFill>
                <a:latin typeface="Times New Roman" panose="02020603050405020304" pitchFamily="18" charset="0"/>
              </a:rPr>
              <a:t>Unified</a:t>
            </a:r>
            <a:r>
              <a:rPr>
                <a:solidFill>
                  <a:srgbClr val="9900FF"/>
                </a:solidFill>
                <a:latin typeface="Times New Roman" panose="02020603050405020304" pitchFamily="18" charset="0"/>
              </a:rPr>
              <a:t> Modeling Language come into this?</a:t>
            </a:r>
          </a:p>
        </p:txBody>
      </p:sp>
      <p:pic>
        <p:nvPicPr>
          <p:cNvPr id="3" name="Picture 2">
            <a:extLst>
              <a:ext uri="{FF2B5EF4-FFF2-40B4-BE49-F238E27FC236}">
                <a16:creationId xmlns:a16="http://schemas.microsoft.com/office/drawing/2014/main" id="{CBC20719-80E4-7CC0-547A-CD5BCAB50E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8999"/>
            <a:ext cx="914400" cy="894258"/>
          </a:xfrm>
          <a:prstGeom prst="rect">
            <a:avLst/>
          </a:prstGeom>
        </p:spPr>
      </p:pic>
      <p:sp>
        <p:nvSpPr>
          <p:cNvPr id="4" name="Rectangle 3">
            <a:extLst>
              <a:ext uri="{FF2B5EF4-FFF2-40B4-BE49-F238E27FC236}">
                <a16:creationId xmlns:a16="http://schemas.microsoft.com/office/drawing/2014/main" id="{4956C0E7-EB95-57F3-AD33-47A6431E1EB5}"/>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C8258FC-7DAB-ED03-8859-AF5571F3C9B3}"/>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lvl="0">
              <a:spcBef>
                <a:spcPct val="0"/>
              </a:spcBef>
            </a:pPr>
            <a:fld id="{9A0DB2DC-4C9A-4742-B13C-FB6460FD3503}" type="slidenum">
              <a:rPr lang="en-US"/>
              <a:t>37</a:t>
            </a:fld>
            <a:endParaRPr lang="en-US">
              <a:latin typeface="Arial" panose="020B0604020202020204" pitchFamily="34" charset="0"/>
            </a:endParaRPr>
          </a:p>
        </p:txBody>
      </p:sp>
      <p:sp>
        <p:nvSpPr>
          <p:cNvPr id="343042" name="Title 343041"/>
          <p:cNvSpPr>
            <a:spLocks noGrp="1"/>
          </p:cNvSpPr>
          <p:nvPr>
            <p:ph type="title" idx="4294967295"/>
          </p:nvPr>
        </p:nvSpPr>
        <p:spPr>
          <a:xfrm>
            <a:off x="0" y="228600"/>
            <a:ext cx="8015288" cy="914400"/>
          </a:xfrm>
        </p:spPr>
        <p:txBody>
          <a:bodyPr anchor="ctr" anchorCtr="0">
            <a:normAutofit fontScale="90000"/>
          </a:bodyPr>
          <a:lstStyle/>
          <a:p>
            <a:pPr algn="ctr"/>
            <a:r>
              <a:rPr sz="3800" dirty="0"/>
              <a:t>Why Object-Oriented </a:t>
            </a:r>
            <a:br>
              <a:rPr sz="3800" dirty="0"/>
            </a:br>
            <a:r>
              <a:rPr sz="2400" dirty="0"/>
              <a:t>– A New Paradigm with Evolving Object Orientation</a:t>
            </a:r>
          </a:p>
        </p:txBody>
      </p:sp>
      <p:sp>
        <p:nvSpPr>
          <p:cNvPr id="343043" name="Text Placeholder 343042"/>
          <p:cNvSpPr>
            <a:spLocks noGrp="1"/>
          </p:cNvSpPr>
          <p:nvPr>
            <p:ph type="body" idx="4294967295"/>
          </p:nvPr>
        </p:nvSpPr>
        <p:spPr>
          <a:xfrm>
            <a:off x="0" y="1600200"/>
            <a:ext cx="7620000" cy="4343400"/>
          </a:xfrm>
        </p:spPr>
        <p:txBody>
          <a:bodyPr vert="horz" wrap="square" lIns="91440" tIns="45720" rIns="91440" bIns="45720" anchor="t" anchorCtr="0"/>
          <a:lstStyle/>
          <a:p>
            <a:pPr>
              <a:lnSpc>
                <a:spcPct val="90000"/>
              </a:lnSpc>
            </a:pPr>
            <a:r>
              <a:rPr sz="2400" dirty="0"/>
              <a:t>OOP: Object-Oriented Programming</a:t>
            </a:r>
          </a:p>
          <a:p>
            <a:pPr lvl="1">
              <a:lnSpc>
                <a:spcPct val="90000"/>
              </a:lnSpc>
            </a:pPr>
            <a:r>
              <a:rPr sz="1800" dirty="0"/>
              <a:t>Simula (1967), Smalltalk (70’s), C++ (mid 80’s), Eiffel, Ada95, Turing, </a:t>
            </a:r>
            <a:r>
              <a:rPr sz="1800" dirty="0">
                <a:latin typeface="Arial" panose="020B0604020202020204" pitchFamily="34" charset="0"/>
              </a:rPr>
              <a:t>…</a:t>
            </a:r>
            <a:endParaRPr sz="1800" dirty="0"/>
          </a:p>
          <a:p>
            <a:pPr>
              <a:lnSpc>
                <a:spcPct val="90000"/>
              </a:lnSpc>
            </a:pPr>
            <a:r>
              <a:rPr sz="2400" dirty="0"/>
              <a:t>OOD: Object-Oriented Design</a:t>
            </a:r>
          </a:p>
          <a:p>
            <a:pPr lvl="1">
              <a:lnSpc>
                <a:spcPct val="90000"/>
              </a:lnSpc>
            </a:pPr>
            <a:r>
              <a:rPr sz="1800" dirty="0"/>
              <a:t>Taxis (1976), </a:t>
            </a:r>
            <a:r>
              <a:rPr sz="1800" dirty="0" err="1"/>
              <a:t>Adaplex</a:t>
            </a:r>
            <a:r>
              <a:rPr sz="1800" dirty="0"/>
              <a:t>, </a:t>
            </a:r>
            <a:r>
              <a:rPr sz="1800" dirty="0">
                <a:latin typeface="Arial" panose="020B0604020202020204" pitchFamily="34" charset="0"/>
              </a:rPr>
              <a:t>…</a:t>
            </a:r>
            <a:r>
              <a:rPr sz="1800" dirty="0"/>
              <a:t>, Grady Booch (1980)</a:t>
            </a:r>
          </a:p>
          <a:p>
            <a:pPr>
              <a:lnSpc>
                <a:spcPct val="90000"/>
              </a:lnSpc>
            </a:pPr>
            <a:r>
              <a:rPr sz="2400" dirty="0"/>
              <a:t>OOA: Object-Oriented Requirements</a:t>
            </a:r>
          </a:p>
          <a:p>
            <a:pPr lvl="1">
              <a:lnSpc>
                <a:spcPct val="90000"/>
              </a:lnSpc>
            </a:pPr>
            <a:r>
              <a:rPr sz="1800" dirty="0"/>
              <a:t>RML  (1981), James Rumbaugh (late 80’s)</a:t>
            </a:r>
          </a:p>
          <a:p>
            <a:pPr>
              <a:lnSpc>
                <a:spcPct val="90000"/>
              </a:lnSpc>
            </a:pPr>
            <a:r>
              <a:rPr sz="2400" dirty="0"/>
              <a:t>OO-Databases (OODBs): </a:t>
            </a:r>
            <a:r>
              <a:rPr sz="2000" dirty="0"/>
              <a:t>1980-90’s</a:t>
            </a:r>
          </a:p>
          <a:p>
            <a:pPr>
              <a:lnSpc>
                <a:spcPct val="90000"/>
              </a:lnSpc>
            </a:pPr>
            <a:r>
              <a:rPr sz="2400" dirty="0"/>
              <a:t>OLE/DCOM, </a:t>
            </a:r>
            <a:r>
              <a:rPr sz="2400" dirty="0" err="1"/>
              <a:t>VisualBasic</a:t>
            </a:r>
            <a:r>
              <a:rPr sz="2400" dirty="0"/>
              <a:t>, CORBA, Java:</a:t>
            </a:r>
            <a:r>
              <a:rPr sz="2400" b="1" dirty="0"/>
              <a:t> </a:t>
            </a:r>
            <a:r>
              <a:rPr sz="2000" dirty="0"/>
              <a:t>mid 90’s</a:t>
            </a:r>
          </a:p>
          <a:p>
            <a:pPr>
              <a:lnSpc>
                <a:spcPct val="90000"/>
              </a:lnSpc>
            </a:pPr>
            <a:r>
              <a:rPr sz="2400" dirty="0" err="1"/>
              <a:t>.Net</a:t>
            </a:r>
            <a:r>
              <a:rPr sz="2400" dirty="0"/>
              <a:t>, C#, (</a:t>
            </a:r>
            <a:r>
              <a:rPr sz="2400" dirty="0" err="1"/>
              <a:t>eb</a:t>
            </a:r>
            <a:r>
              <a:rPr sz="2400" dirty="0"/>
              <a:t>/voice</a:t>
            </a:r>
            <a:r>
              <a:rPr sz="2400" dirty="0">
                <a:latin typeface="Arial" panose="020B0604020202020204" pitchFamily="34" charset="0"/>
              </a:rPr>
              <a:t>…</a:t>
            </a:r>
            <a:r>
              <a:rPr sz="2400" dirty="0"/>
              <a:t>/-)XML, J2EE</a:t>
            </a:r>
            <a:r>
              <a:rPr sz="2400" b="1" dirty="0"/>
              <a:t>: </a:t>
            </a:r>
            <a:r>
              <a:rPr sz="2000" dirty="0"/>
              <a:t>into 2000+</a:t>
            </a:r>
          </a:p>
          <a:p>
            <a:pPr>
              <a:lnSpc>
                <a:spcPct val="90000"/>
              </a:lnSpc>
            </a:pPr>
            <a:r>
              <a:rPr sz="2400" dirty="0"/>
              <a:t>UML: mid 90’s and still evolving</a:t>
            </a:r>
            <a:endParaRPr sz="2000" dirty="0"/>
          </a:p>
          <a:p>
            <a:pPr>
              <a:lnSpc>
                <a:spcPct val="90000"/>
              </a:lnSpc>
            </a:pPr>
            <a:endParaRPr sz="2000" dirty="0">
              <a:solidFill>
                <a:schemeClr val="folHlink"/>
              </a:solidFill>
            </a:endParaRPr>
          </a:p>
        </p:txBody>
      </p:sp>
      <p:pic>
        <p:nvPicPr>
          <p:cNvPr id="3" name="Picture 2">
            <a:extLst>
              <a:ext uri="{FF2B5EF4-FFF2-40B4-BE49-F238E27FC236}">
                <a16:creationId xmlns:a16="http://schemas.microsoft.com/office/drawing/2014/main" id="{5FB6A175-6FC9-3B21-A157-863ABBB9C2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4" name="Rectangle 3">
            <a:extLst>
              <a:ext uri="{FF2B5EF4-FFF2-40B4-BE49-F238E27FC236}">
                <a16:creationId xmlns:a16="http://schemas.microsoft.com/office/drawing/2014/main" id="{1AD5E92A-436B-33DB-5203-E23ED8EDEC52}"/>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D613436-73A8-15EA-6A86-A3ECE89D15C3}"/>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p:cNvSpPr>
          <p:nvPr>
            <p:ph type="title"/>
          </p:nvPr>
        </p:nvSpPr>
        <p:spPr/>
        <p:txBody>
          <a:bodyPr vert="horz" wrap="square" lIns="0" tIns="45720" rIns="0" bIns="0" anchor="b" anchorCtr="0"/>
          <a:lstStyle/>
          <a:p>
            <a:pPr algn="ctr" eaLnBrk="1" hangingPunct="1"/>
            <a:r>
              <a:rPr dirty="0">
                <a:latin typeface="Cambria" panose="02040503050406030204" pitchFamily="18" charset="0"/>
              </a:rPr>
              <a:t>Object Oriented Modeling</a:t>
            </a:r>
          </a:p>
        </p:txBody>
      </p:sp>
      <p:graphicFrame>
        <p:nvGraphicFramePr>
          <p:cNvPr id="9219" name="Object 3"/>
          <p:cNvGraphicFramePr>
            <a:graphicFrameLocks noGrp="1" noChangeAspect="1"/>
          </p:cNvGraphicFramePr>
          <p:nvPr>
            <p:ph idx="1"/>
          </p:nvPr>
        </p:nvGraphicFramePr>
        <p:xfrm>
          <a:off x="1712913" y="1825625"/>
          <a:ext cx="5718175" cy="4349750"/>
        </p:xfrm>
        <a:graphic>
          <a:graphicData uri="http://schemas.openxmlformats.org/presentationml/2006/ole">
            <mc:AlternateContent xmlns:mc="http://schemas.openxmlformats.org/markup-compatibility/2006">
              <mc:Choice xmlns:v="urn:schemas-microsoft-com:vml" Requires="v">
                <p:oleObj r:id="rId3" imgW="5734050" imgH="4362450" progId="Paint.Picture">
                  <p:embed/>
                </p:oleObj>
              </mc:Choice>
              <mc:Fallback>
                <p:oleObj r:id="rId3" imgW="5734050" imgH="4362450" progId="Paint.Picture">
                  <p:embed/>
                  <p:pic>
                    <p:nvPicPr>
                      <p:cNvPr id="0" name="Picture 3075"/>
                      <p:cNvPicPr/>
                      <p:nvPr/>
                    </p:nvPicPr>
                    <p:blipFill>
                      <a:blip r:embed="rId4"/>
                      <a:srcRect/>
                      <a:stretch>
                        <a:fillRect/>
                      </a:stretch>
                    </p:blipFill>
                    <p:spPr>
                      <a:xfrm>
                        <a:off x="1712913" y="1825625"/>
                        <a:ext cx="5718175" cy="4349750"/>
                      </a:xfrm>
                      <a:prstGeom prst="rect">
                        <a:avLst/>
                      </a:prstGeom>
                      <a:noFill/>
                      <a:ln w="38100">
                        <a:miter/>
                      </a:ln>
                    </p:spPr>
                  </p:pic>
                </p:oleObj>
              </mc:Fallback>
            </mc:AlternateContent>
          </a:graphicData>
        </a:graphic>
      </p:graphicFrame>
      <p:pic>
        <p:nvPicPr>
          <p:cNvPr id="2" name="Picture 1">
            <a:extLst>
              <a:ext uri="{FF2B5EF4-FFF2-40B4-BE49-F238E27FC236}">
                <a16:creationId xmlns:a16="http://schemas.microsoft.com/office/drawing/2014/main" id="{39817347-DE1B-E3B1-27A1-7B56A20CC7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05DFED70-FDE5-A9D7-0894-28DAB262CC58}"/>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C448500-273A-867F-B73A-0E6F728C808A}"/>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457200" y="381000"/>
            <a:ext cx="8229600" cy="914400"/>
          </a:xfrm>
        </p:spPr>
        <p:txBody>
          <a:bodyPr vert="horz" wrap="square" lIns="0" tIns="45720" rIns="0" bIns="0" anchor="b" anchorCtr="0"/>
          <a:lstStyle/>
          <a:p>
            <a:pPr algn="ctr" eaLnBrk="1" hangingPunct="1"/>
            <a:r>
              <a:rPr sz="4000" dirty="0">
                <a:latin typeface="Cambria" panose="02040503050406030204" pitchFamily="18" charset="0"/>
              </a:rPr>
              <a:t>What is UML?</a:t>
            </a:r>
            <a:endParaRPr sz="4000" b="1" dirty="0">
              <a:solidFill>
                <a:schemeClr val="tx1"/>
              </a:solidFill>
              <a:latin typeface="Cambria" panose="02040503050406030204" pitchFamily="18" charset="0"/>
            </a:endParaRPr>
          </a:p>
        </p:txBody>
      </p:sp>
      <p:sp>
        <p:nvSpPr>
          <p:cNvPr id="11267" name="Rectangle 3"/>
          <p:cNvSpPr>
            <a:spLocks noGrp="1"/>
          </p:cNvSpPr>
          <p:nvPr>
            <p:ph idx="1"/>
          </p:nvPr>
        </p:nvSpPr>
        <p:spPr>
          <a:xfrm>
            <a:off x="609600" y="1447800"/>
            <a:ext cx="8382000" cy="4648200"/>
          </a:xfrm>
        </p:spPr>
        <p:txBody>
          <a:bodyPr vert="horz" wrap="square" lIns="91440" tIns="45720" rIns="91440" bIns="45720" anchor="t" anchorCtr="0">
            <a:normAutofit lnSpcReduction="10000"/>
          </a:bodyPr>
          <a:lstStyle/>
          <a:p>
            <a:pPr eaLnBrk="1" hangingPunct="1">
              <a:lnSpc>
                <a:spcPct val="150000"/>
              </a:lnSpc>
              <a:buFont typeface="Wingdings" panose="05000000000000000000" pitchFamily="2" charset="2"/>
              <a:buNone/>
            </a:pPr>
            <a:r>
              <a:rPr sz="2000" dirty="0">
                <a:latin typeface="Cambria" panose="02040503050406030204" pitchFamily="18" charset="0"/>
              </a:rPr>
              <a:t>    </a:t>
            </a:r>
          </a:p>
          <a:p>
            <a:pPr eaLnBrk="1" hangingPunct="1">
              <a:lnSpc>
                <a:spcPct val="150000"/>
              </a:lnSpc>
              <a:buFont typeface="Wingdings 2" panose="05020102010507070707" pitchFamily="18" charset="2"/>
              <a:buChar char=""/>
            </a:pPr>
            <a:r>
              <a:rPr sz="2000" dirty="0">
                <a:latin typeface="Cambria" panose="02040503050406030204" pitchFamily="18" charset="0"/>
              </a:rPr>
              <a:t>UML stands for “Unified Modeling Language”</a:t>
            </a:r>
          </a:p>
          <a:p>
            <a:pPr eaLnBrk="1" hangingPunct="1">
              <a:lnSpc>
                <a:spcPct val="150000"/>
              </a:lnSpc>
              <a:buFont typeface="Wingdings 2" panose="05020102010507070707" pitchFamily="18" charset="2"/>
              <a:buChar char=""/>
            </a:pPr>
            <a:r>
              <a:rPr sz="2000" dirty="0">
                <a:latin typeface="Cambria" panose="02040503050406030204" pitchFamily="18" charset="0"/>
              </a:rPr>
              <a:t>It is a industry-standard graphical language .</a:t>
            </a:r>
          </a:p>
          <a:p>
            <a:pPr eaLnBrk="1" hangingPunct="1">
              <a:lnSpc>
                <a:spcPct val="150000"/>
              </a:lnSpc>
              <a:buFont typeface="Wingdings 2" panose="05020102010507070707" pitchFamily="18" charset="2"/>
              <a:buChar char=""/>
            </a:pPr>
            <a:r>
              <a:rPr sz="2000" dirty="0">
                <a:latin typeface="Cambria" panose="02040503050406030204" pitchFamily="18" charset="0"/>
              </a:rPr>
              <a:t>UML is a pictorial language used to make software blue prints</a:t>
            </a:r>
          </a:p>
          <a:p>
            <a:pPr eaLnBrk="1" hangingPunct="1">
              <a:lnSpc>
                <a:spcPct val="150000"/>
              </a:lnSpc>
              <a:buFont typeface="Wingdings 2" panose="05020102010507070707" pitchFamily="18" charset="2"/>
              <a:buChar char=""/>
            </a:pPr>
            <a:r>
              <a:rPr sz="2000" dirty="0">
                <a:latin typeface="Cambria" panose="02040503050406030204" pitchFamily="18" charset="0"/>
              </a:rPr>
              <a:t>It is used for specifying, visualizing, constructing, and documenting the artifacts of software systems</a:t>
            </a:r>
          </a:p>
          <a:p>
            <a:pPr eaLnBrk="1" hangingPunct="1">
              <a:lnSpc>
                <a:spcPct val="150000"/>
              </a:lnSpc>
              <a:buFont typeface="Wingdings 2" panose="05020102010507070707" pitchFamily="18" charset="2"/>
              <a:buChar char=""/>
            </a:pPr>
            <a:r>
              <a:rPr sz="2000" dirty="0">
                <a:latin typeface="Cambria" panose="02040503050406030204" pitchFamily="18" charset="0"/>
              </a:rPr>
              <a:t>UML is different from the other common programming languages</a:t>
            </a:r>
          </a:p>
          <a:p>
            <a:pPr eaLnBrk="1" hangingPunct="1">
              <a:lnSpc>
                <a:spcPct val="150000"/>
              </a:lnSpc>
              <a:buFont typeface="Wingdings 2" panose="05020102010507070707" pitchFamily="18" charset="2"/>
              <a:buChar char=""/>
            </a:pPr>
            <a:r>
              <a:rPr sz="2000" dirty="0">
                <a:latin typeface="Cambria" panose="02040503050406030204" pitchFamily="18" charset="0"/>
              </a:rPr>
              <a:t>It uses mostly graphical notations.</a:t>
            </a:r>
          </a:p>
          <a:p>
            <a:pPr eaLnBrk="1" hangingPunct="1">
              <a:lnSpc>
                <a:spcPct val="150000"/>
              </a:lnSpc>
              <a:buFont typeface="Wingdings 2" panose="05020102010507070707" pitchFamily="18" charset="2"/>
              <a:buChar char=""/>
            </a:pPr>
            <a:r>
              <a:rPr sz="2000" dirty="0">
                <a:latin typeface="Cambria" panose="02040503050406030204" pitchFamily="18" charset="0"/>
              </a:rPr>
              <a:t>Simplifies the complex process of software design</a:t>
            </a:r>
          </a:p>
          <a:p>
            <a:pPr eaLnBrk="1" hangingPunct="1">
              <a:lnSpc>
                <a:spcPct val="150000"/>
              </a:lnSpc>
              <a:buFont typeface="Wingdings" panose="05000000000000000000" pitchFamily="2" charset="2"/>
              <a:buNone/>
            </a:pPr>
            <a:endParaRPr sz="2000" dirty="0">
              <a:latin typeface="Cambria" panose="02040503050406030204" pitchFamily="18" charset="0"/>
            </a:endParaRPr>
          </a:p>
          <a:p>
            <a:pPr eaLnBrk="1" hangingPunct="1">
              <a:lnSpc>
                <a:spcPct val="150000"/>
              </a:lnSpc>
              <a:buFont typeface="Wingdings" panose="05000000000000000000" pitchFamily="2" charset="2"/>
              <a:buNone/>
            </a:pPr>
            <a:endParaRPr sz="2000" dirty="0">
              <a:latin typeface="Cambria" panose="02040503050406030204" pitchFamily="18" charset="0"/>
            </a:endParaRPr>
          </a:p>
        </p:txBody>
      </p:sp>
      <p:pic>
        <p:nvPicPr>
          <p:cNvPr id="2" name="Picture 1">
            <a:extLst>
              <a:ext uri="{FF2B5EF4-FFF2-40B4-BE49-F238E27FC236}">
                <a16:creationId xmlns:a16="http://schemas.microsoft.com/office/drawing/2014/main" id="{3E7C7E5B-1D43-BBBA-DD7E-B0F12A919A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75636389-EB3C-D303-1193-AFFBEFB505C5}"/>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1EF73FD-D0EE-DD91-A984-AF1C395B36A7}"/>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457200" y="704850"/>
            <a:ext cx="8229600" cy="819150"/>
          </a:xfrm>
        </p:spPr>
        <p:txBody>
          <a:bodyPr vert="horz" wrap="square" lIns="0" tIns="45720" rIns="0" bIns="0" anchor="b" anchorCtr="0"/>
          <a:lstStyle/>
          <a:p>
            <a:pPr algn="ctr" eaLnBrk="1" hangingPunct="1"/>
            <a:r>
              <a:rPr sz="3200" dirty="0"/>
              <a:t>Why UML for Modeling</a:t>
            </a:r>
          </a:p>
        </p:txBody>
      </p:sp>
      <p:sp>
        <p:nvSpPr>
          <p:cNvPr id="49155" name="Rectangle 3"/>
          <p:cNvSpPr>
            <a:spLocks noGrp="1" noChangeArrowheads="1"/>
          </p:cNvSpPr>
          <p:nvPr>
            <p:ph idx="1"/>
          </p:nvPr>
        </p:nvSpPr>
        <p:spPr>
          <a:xfrm>
            <a:off x="152400" y="1905000"/>
            <a:ext cx="8686800" cy="4038600"/>
          </a:xfrm>
        </p:spPr>
        <p:txBody>
          <a:bodyPr vert="horz" wrap="square" lIns="91440" tIns="45720" rIns="91440" bIns="45720" numCol="1" anchor="t" anchorCtr="0" compatLnSpc="1">
            <a:normAutofit fontScale="92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Use graphical notation  to communicate more clearly than natural language (imprecise) and code(too detailed).</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Help acquire an overall view of a system.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Tools can be used to generate code in various languages using UML diagrams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UML is </a:t>
            </a:r>
            <a:r>
              <a:rPr kumimoji="0" lang="en-US" sz="2000" b="0" i="1" u="none" strike="noStrike" kern="1200" cap="none" spc="0" normalizeH="0" baseline="0" noProof="0" dirty="0">
                <a:ln>
                  <a:noFill/>
                </a:ln>
                <a:solidFill>
                  <a:schemeClr val="tx1"/>
                </a:solidFill>
                <a:effectLst/>
                <a:uLnTx/>
                <a:uFillTx/>
                <a:latin typeface="Cambria" panose="02040503050406030204" pitchFamily="18" charset="0"/>
                <a:ea typeface="+mn-ea"/>
                <a:cs typeface="+mn-cs"/>
              </a:rPr>
              <a:t>not </a:t>
            </a: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dependent on any one language or technology.</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0" i="1"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 picture is worth than thousand words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000" b="0" i="1"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UML can be defined as a simple modeling mechanism to model all possible practical systems in today’s complex environment.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p:txBody>
      </p:sp>
      <p:pic>
        <p:nvPicPr>
          <p:cNvPr id="2" name="Picture 1">
            <a:extLst>
              <a:ext uri="{FF2B5EF4-FFF2-40B4-BE49-F238E27FC236}">
                <a16:creationId xmlns:a16="http://schemas.microsoft.com/office/drawing/2014/main" id="{96CE85EA-7F30-92EF-20D8-F690795908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2852D7F3-289F-BBE3-A80F-E9AFADEFC774}"/>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EAF1390-E157-F352-6D56-00EF66C04553}"/>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533400" y="228600"/>
            <a:ext cx="8229600" cy="838200"/>
          </a:xfrm>
        </p:spPr>
        <p:txBody>
          <a:bodyPr vert="horz" wrap="square" lIns="0" tIns="45720" rIns="0" bIns="0" anchor="b" anchorCtr="0"/>
          <a:lstStyle/>
          <a:p>
            <a:pPr algn="ctr" eaLnBrk="1" hangingPunct="1"/>
            <a:r>
              <a:rPr sz="3200" dirty="0"/>
              <a:t>History of UML</a:t>
            </a:r>
          </a:p>
        </p:txBody>
      </p:sp>
      <p:graphicFrame>
        <p:nvGraphicFramePr>
          <p:cNvPr id="15363" name="Object 70"/>
          <p:cNvGraphicFramePr>
            <a:graphicFrameLocks noGrp="1" noChangeAspect="1"/>
          </p:cNvGraphicFramePr>
          <p:nvPr>
            <p:ph idx="1"/>
          </p:nvPr>
        </p:nvGraphicFramePr>
        <p:xfrm>
          <a:off x="990600" y="1371600"/>
          <a:ext cx="7010400" cy="5295900"/>
        </p:xfrm>
        <a:graphic>
          <a:graphicData uri="http://schemas.openxmlformats.org/presentationml/2006/ole">
            <mc:AlternateContent xmlns:mc="http://schemas.openxmlformats.org/markup-compatibility/2006">
              <mc:Choice xmlns:v="urn:schemas-microsoft-com:vml" Requires="v">
                <p:oleObj r:id="rId3" imgW="5610225" imgH="4238625" progId="Paint.Picture">
                  <p:embed/>
                </p:oleObj>
              </mc:Choice>
              <mc:Fallback>
                <p:oleObj r:id="rId3" imgW="5610225" imgH="4238625" progId="Paint.Picture">
                  <p:embed/>
                  <p:pic>
                    <p:nvPicPr>
                      <p:cNvPr id="0" name="Picture 3076"/>
                      <p:cNvPicPr/>
                      <p:nvPr/>
                    </p:nvPicPr>
                    <p:blipFill>
                      <a:blip r:embed="rId4"/>
                      <a:srcRect/>
                      <a:stretch>
                        <a:fillRect/>
                      </a:stretch>
                    </p:blipFill>
                    <p:spPr>
                      <a:xfrm>
                        <a:off x="990600" y="1371600"/>
                        <a:ext cx="7010400" cy="5295900"/>
                      </a:xfrm>
                      <a:prstGeom prst="rect">
                        <a:avLst/>
                      </a:prstGeom>
                      <a:noFill/>
                      <a:ln w="38100">
                        <a:miter/>
                      </a:ln>
                    </p:spPr>
                  </p:pic>
                </p:oleObj>
              </mc:Fallback>
            </mc:AlternateContent>
          </a:graphicData>
        </a:graphic>
      </p:graphicFrame>
      <p:pic>
        <p:nvPicPr>
          <p:cNvPr id="2" name="Picture 1">
            <a:extLst>
              <a:ext uri="{FF2B5EF4-FFF2-40B4-BE49-F238E27FC236}">
                <a16:creationId xmlns:a16="http://schemas.microsoft.com/office/drawing/2014/main" id="{2F0B51A3-C118-9BAD-F65A-923EB30817C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A3D2A51B-8AA1-B8DD-848F-44BAFD64597C}"/>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A4F3D3A-9E71-0CC0-671C-8A61C1A30589}"/>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vert="horz" wrap="square" lIns="0" tIns="45720" rIns="0" bIns="0" anchor="b" anchorCtr="0"/>
          <a:lstStyle/>
          <a:p>
            <a:pPr eaLnBrk="1" hangingPunct="1"/>
            <a:r>
              <a:rPr lang="en-IN" dirty="0">
                <a:latin typeface="Cambria" panose="02040503050406030204" pitchFamily="18" charset="0"/>
              </a:rPr>
              <a:t>C</a:t>
            </a:r>
            <a:r>
              <a:rPr dirty="0" err="1">
                <a:latin typeface="Cambria" panose="02040503050406030204" pitchFamily="18" charset="0"/>
              </a:rPr>
              <a:t>onceptual</a:t>
            </a:r>
            <a:r>
              <a:rPr dirty="0">
                <a:latin typeface="Cambria" panose="02040503050406030204" pitchFamily="18" charset="0"/>
              </a:rPr>
              <a:t> model of UML</a:t>
            </a:r>
          </a:p>
        </p:txBody>
      </p:sp>
      <p:sp>
        <p:nvSpPr>
          <p:cNvPr id="17411" name="Content Placeholder 2"/>
          <p:cNvSpPr>
            <a:spLocks noGrp="1"/>
          </p:cNvSpPr>
          <p:nvPr>
            <p:ph idx="1"/>
          </p:nvPr>
        </p:nvSpPr>
        <p:spPr/>
        <p:txBody>
          <a:bodyPr vert="horz" wrap="square" lIns="91440" tIns="45720" rIns="91440" bIns="45720" anchor="t" anchorCtr="0"/>
          <a:lstStyle/>
          <a:p>
            <a:pPr eaLnBrk="1" hangingPunct="1"/>
            <a:r>
              <a:rPr sz="2000" dirty="0">
                <a:latin typeface="Cambria" panose="02040503050406030204" pitchFamily="18" charset="0"/>
              </a:rPr>
              <a:t>It is  a model which is made of concepts and their relationships.</a:t>
            </a:r>
          </a:p>
          <a:p>
            <a:pPr eaLnBrk="1" hangingPunct="1"/>
            <a:endParaRPr sz="2000" dirty="0">
              <a:latin typeface="Cambria" panose="02040503050406030204" pitchFamily="18" charset="0"/>
            </a:endParaRPr>
          </a:p>
          <a:p>
            <a:pPr eaLnBrk="1" hangingPunct="1"/>
            <a:r>
              <a:rPr sz="2000" dirty="0">
                <a:latin typeface="Cambria" panose="02040503050406030204" pitchFamily="18" charset="0"/>
              </a:rPr>
              <a:t>It is the first step before drawing a UML diagram. </a:t>
            </a:r>
          </a:p>
          <a:p>
            <a:pPr eaLnBrk="1" hangingPunct="1"/>
            <a:endParaRPr sz="2000" dirty="0">
              <a:latin typeface="Cambria" panose="02040503050406030204" pitchFamily="18" charset="0"/>
            </a:endParaRPr>
          </a:p>
          <a:p>
            <a:pPr eaLnBrk="1" hangingPunct="1"/>
            <a:r>
              <a:rPr sz="2000" dirty="0">
                <a:latin typeface="Cambria" panose="02040503050406030204" pitchFamily="18" charset="0"/>
              </a:rPr>
              <a:t>It helps to understand the entities in the real world and how they interact with each other</a:t>
            </a:r>
          </a:p>
          <a:p>
            <a:pPr eaLnBrk="1" hangingPunct="1"/>
            <a:endParaRPr sz="2000" dirty="0">
              <a:latin typeface="Cambria" panose="02040503050406030204" pitchFamily="18" charset="0"/>
            </a:endParaRPr>
          </a:p>
          <a:p>
            <a:pPr eaLnBrk="1" hangingPunct="1"/>
            <a:r>
              <a:rPr sz="2000" dirty="0">
                <a:latin typeface="Cambria" panose="02040503050406030204" pitchFamily="18" charset="0"/>
              </a:rPr>
              <a:t>It can be mastered by learning the following three major elements:	UML building blocks</a:t>
            </a:r>
          </a:p>
          <a:p>
            <a:pPr eaLnBrk="1" hangingPunct="1">
              <a:buFont typeface="Wingdings" panose="05000000000000000000" pitchFamily="2" charset="2"/>
              <a:buNone/>
            </a:pPr>
            <a:r>
              <a:rPr sz="2000" dirty="0">
                <a:latin typeface="Cambria" panose="02040503050406030204" pitchFamily="18" charset="0"/>
              </a:rPr>
              <a:t>		Rules to connect the building blocks</a:t>
            </a:r>
          </a:p>
          <a:p>
            <a:pPr eaLnBrk="1" hangingPunct="1">
              <a:buFont typeface="Wingdings" panose="05000000000000000000" pitchFamily="2" charset="2"/>
              <a:buNone/>
            </a:pPr>
            <a:r>
              <a:rPr sz="2000" dirty="0">
                <a:latin typeface="Cambria" panose="02040503050406030204" pitchFamily="18" charset="0"/>
              </a:rPr>
              <a:t>	          Common mechanisms of UML</a:t>
            </a:r>
          </a:p>
          <a:p>
            <a:pPr eaLnBrk="1" hangingPunct="1"/>
            <a:endParaRPr sz="2000" dirty="0">
              <a:latin typeface="Cambria" panose="02040503050406030204" pitchFamily="18" charset="0"/>
            </a:endParaRPr>
          </a:p>
          <a:p>
            <a:pPr eaLnBrk="1" hangingPunct="1"/>
            <a:endParaRPr sz="2000" dirty="0">
              <a:latin typeface="Cambria" panose="02040503050406030204" pitchFamily="18" charset="0"/>
            </a:endParaRPr>
          </a:p>
        </p:txBody>
      </p:sp>
      <p:pic>
        <p:nvPicPr>
          <p:cNvPr id="2" name="Picture 1">
            <a:extLst>
              <a:ext uri="{FF2B5EF4-FFF2-40B4-BE49-F238E27FC236}">
                <a16:creationId xmlns:a16="http://schemas.microsoft.com/office/drawing/2014/main" id="{0C05E457-B50C-D016-26FA-176EDD5503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FB49679D-1758-4257-DA76-B8080DC6B3E4}"/>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A789B0A-F0E2-C3C3-AA23-6FC74EF2CC81}"/>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vert="horz" wrap="square" lIns="0" tIns="45720" rIns="0" bIns="0" anchor="b" anchorCtr="0"/>
          <a:lstStyle/>
          <a:p>
            <a:pPr eaLnBrk="1" hangingPunct="1"/>
            <a:r>
              <a:rPr dirty="0">
                <a:latin typeface="Cambria" panose="02040503050406030204" pitchFamily="18" charset="0"/>
              </a:rPr>
              <a:t>Object oriented concepts</a:t>
            </a:r>
          </a:p>
        </p:txBody>
      </p:sp>
      <p:sp>
        <p:nvSpPr>
          <p:cNvPr id="18435" name="Content Placeholder 2"/>
          <p:cNvSpPr>
            <a:spLocks noGrp="1"/>
          </p:cNvSpPr>
          <p:nvPr>
            <p:ph idx="1"/>
          </p:nvPr>
        </p:nvSpPr>
        <p:spPr/>
        <p:txBody>
          <a:bodyPr vert="horz" wrap="square" lIns="91440" tIns="45720" rIns="91440" bIns="45720" anchor="t" anchorCtr="0"/>
          <a:lstStyle/>
          <a:p>
            <a:pPr eaLnBrk="1" hangingPunct="1"/>
            <a:r>
              <a:rPr sz="2400" dirty="0">
                <a:latin typeface="Cambria" panose="02040503050406030204" pitchFamily="18" charset="0"/>
              </a:rPr>
              <a:t>object contains both data and methods that control the data.</a:t>
            </a:r>
          </a:p>
          <a:p>
            <a:pPr eaLnBrk="1" hangingPunct="1"/>
            <a:endParaRPr sz="2400" dirty="0">
              <a:latin typeface="Cambria" panose="02040503050406030204" pitchFamily="18" charset="0"/>
            </a:endParaRPr>
          </a:p>
          <a:p>
            <a:pPr eaLnBrk="1" hangingPunct="1"/>
            <a:r>
              <a:rPr sz="2400" dirty="0">
                <a:latin typeface="Cambria" panose="02040503050406030204" pitchFamily="18" charset="0"/>
              </a:rPr>
              <a:t>The data represent the </a:t>
            </a:r>
            <a:r>
              <a:rPr sz="2400" dirty="0">
                <a:solidFill>
                  <a:schemeClr val="tx2"/>
                </a:solidFill>
                <a:latin typeface="Cambria" panose="02040503050406030204" pitchFamily="18" charset="0"/>
              </a:rPr>
              <a:t>state</a:t>
            </a:r>
            <a:r>
              <a:rPr sz="2400" dirty="0">
                <a:latin typeface="Cambria" panose="02040503050406030204" pitchFamily="18" charset="0"/>
              </a:rPr>
              <a:t> of the object</a:t>
            </a:r>
          </a:p>
          <a:p>
            <a:pPr eaLnBrk="1" hangingPunct="1"/>
            <a:endParaRPr sz="2400" dirty="0">
              <a:latin typeface="Cambria" panose="02040503050406030204" pitchFamily="18" charset="0"/>
            </a:endParaRPr>
          </a:p>
          <a:p>
            <a:pPr eaLnBrk="1" hangingPunct="1"/>
            <a:r>
              <a:rPr sz="2400" dirty="0">
                <a:latin typeface="Cambria" panose="02040503050406030204" pitchFamily="18" charset="0"/>
              </a:rPr>
              <a:t>Data can also describe the relationships between this object and other objects</a:t>
            </a:r>
          </a:p>
          <a:p>
            <a:pPr eaLnBrk="1" hangingPunct="1"/>
            <a:endParaRPr sz="2400" dirty="0">
              <a:latin typeface="Cambria" panose="02040503050406030204" pitchFamily="18" charset="0"/>
            </a:endParaRPr>
          </a:p>
          <a:p>
            <a:pPr eaLnBrk="1" hangingPunct="1"/>
            <a:r>
              <a:rPr sz="2400" dirty="0">
                <a:latin typeface="Cambria" panose="02040503050406030204" pitchFamily="18" charset="0"/>
              </a:rPr>
              <a:t> objects are the real world entities</a:t>
            </a:r>
          </a:p>
        </p:txBody>
      </p:sp>
      <p:pic>
        <p:nvPicPr>
          <p:cNvPr id="2" name="Picture 1">
            <a:extLst>
              <a:ext uri="{FF2B5EF4-FFF2-40B4-BE49-F238E27FC236}">
                <a16:creationId xmlns:a16="http://schemas.microsoft.com/office/drawing/2014/main" id="{C0DD6891-C0F9-E37D-CE89-0D1FD81EF9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75C45BB6-4D2A-237E-0D48-43195FD83E50}"/>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D436CC5-68E4-8B0C-AABD-E04E898D770C}"/>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vert="horz" wrap="square" lIns="0" tIns="45720" rIns="0" bIns="0" anchor="b" anchorCtr="0"/>
          <a:lstStyle/>
          <a:p>
            <a:pPr eaLnBrk="1" hangingPunct="1"/>
            <a:r>
              <a:rPr dirty="0">
                <a:latin typeface="Cambria" panose="02040503050406030204" pitchFamily="18" charset="0"/>
              </a:rPr>
              <a:t>Object oriented concepts</a:t>
            </a:r>
            <a:endParaRPr dirty="0"/>
          </a:p>
        </p:txBody>
      </p:sp>
      <p:sp>
        <p:nvSpPr>
          <p:cNvPr id="19459" name="Content Placeholder 2"/>
          <p:cNvSpPr>
            <a:spLocks noGrp="1"/>
          </p:cNvSpPr>
          <p:nvPr>
            <p:ph idx="1"/>
          </p:nvPr>
        </p:nvSpPr>
        <p:spPr/>
        <p:txBody>
          <a:bodyPr vert="horz" wrap="square" lIns="91440" tIns="45720" rIns="91440" bIns="45720" anchor="t" anchorCtr="0"/>
          <a:lstStyle/>
          <a:p>
            <a:pPr eaLnBrk="1" hangingPunct="1"/>
            <a:r>
              <a:rPr sz="2400" dirty="0">
                <a:latin typeface="Cambria" panose="02040503050406030204" pitchFamily="18" charset="0"/>
              </a:rPr>
              <a:t>Every object belongs to (is an </a:t>
            </a:r>
            <a:r>
              <a:rPr sz="2400" dirty="0">
                <a:solidFill>
                  <a:schemeClr val="tx2"/>
                </a:solidFill>
                <a:latin typeface="Cambria" panose="02040503050406030204" pitchFamily="18" charset="0"/>
              </a:rPr>
              <a:t>instance</a:t>
            </a:r>
            <a:r>
              <a:rPr sz="2400" dirty="0">
                <a:latin typeface="Cambria" panose="02040503050406030204" pitchFamily="18" charset="0"/>
              </a:rPr>
              <a:t> of) a </a:t>
            </a:r>
            <a:r>
              <a:rPr sz="2400" dirty="0">
                <a:solidFill>
                  <a:schemeClr val="tx2"/>
                </a:solidFill>
                <a:latin typeface="Cambria" panose="02040503050406030204" pitchFamily="18" charset="0"/>
              </a:rPr>
              <a:t>class</a:t>
            </a:r>
            <a:endParaRPr sz="2400" dirty="0">
              <a:latin typeface="Cambria" panose="02040503050406030204" pitchFamily="18" charset="0"/>
            </a:endParaRPr>
          </a:p>
          <a:p>
            <a:pPr eaLnBrk="1" hangingPunct="1"/>
            <a:r>
              <a:rPr sz="2400" dirty="0">
                <a:latin typeface="Cambria" panose="02040503050406030204" pitchFamily="18" charset="0"/>
              </a:rPr>
              <a:t>An object may have </a:t>
            </a:r>
            <a:r>
              <a:rPr sz="2400" dirty="0">
                <a:solidFill>
                  <a:schemeClr val="tx2"/>
                </a:solidFill>
                <a:latin typeface="Cambria" panose="02040503050406030204" pitchFamily="18" charset="0"/>
              </a:rPr>
              <a:t>fields</a:t>
            </a:r>
            <a:r>
              <a:rPr sz="2400" dirty="0">
                <a:latin typeface="Cambria" panose="02040503050406030204" pitchFamily="18" charset="0"/>
              </a:rPr>
              <a:t>, or </a:t>
            </a:r>
            <a:r>
              <a:rPr sz="2400" dirty="0">
                <a:solidFill>
                  <a:schemeClr val="tx2"/>
                </a:solidFill>
                <a:latin typeface="Cambria" panose="02040503050406030204" pitchFamily="18" charset="0"/>
              </a:rPr>
              <a:t>variables</a:t>
            </a:r>
            <a:endParaRPr sz="2400" dirty="0">
              <a:latin typeface="Cambria" panose="02040503050406030204" pitchFamily="18" charset="0"/>
            </a:endParaRPr>
          </a:p>
          <a:p>
            <a:pPr eaLnBrk="1" hangingPunct="1"/>
            <a:r>
              <a:rPr sz="2400" dirty="0">
                <a:latin typeface="Cambria" panose="02040503050406030204" pitchFamily="18" charset="0"/>
              </a:rPr>
              <a:t>The class describes those fields</a:t>
            </a:r>
          </a:p>
          <a:p>
            <a:pPr eaLnBrk="1" hangingPunct="1"/>
            <a:r>
              <a:rPr sz="2400" dirty="0">
                <a:latin typeface="Cambria" panose="02040503050406030204" pitchFamily="18" charset="0"/>
              </a:rPr>
              <a:t>An object may have </a:t>
            </a:r>
            <a:r>
              <a:rPr sz="2400" dirty="0">
                <a:solidFill>
                  <a:schemeClr val="tx2"/>
                </a:solidFill>
                <a:latin typeface="Cambria" panose="02040503050406030204" pitchFamily="18" charset="0"/>
              </a:rPr>
              <a:t>methods</a:t>
            </a:r>
            <a:endParaRPr sz="2400" dirty="0">
              <a:latin typeface="Cambria" panose="02040503050406030204" pitchFamily="18" charset="0"/>
            </a:endParaRPr>
          </a:p>
          <a:p>
            <a:pPr eaLnBrk="1" hangingPunct="1"/>
            <a:r>
              <a:rPr sz="2400" dirty="0">
                <a:latin typeface="Cambria" panose="02040503050406030204" pitchFamily="18" charset="0"/>
              </a:rPr>
              <a:t>The class describes those methods</a:t>
            </a:r>
          </a:p>
          <a:p>
            <a:pPr eaLnBrk="1" hangingPunct="1"/>
            <a:r>
              <a:rPr sz="2400" dirty="0">
                <a:latin typeface="Cambria" panose="02040503050406030204" pitchFamily="18" charset="0"/>
              </a:rPr>
              <a:t>A class is like a template, or cookie cutter</a:t>
            </a:r>
          </a:p>
          <a:p>
            <a:pPr eaLnBrk="1" hangingPunct="1"/>
            <a:r>
              <a:rPr sz="2400" dirty="0">
                <a:latin typeface="Cambria" panose="02040503050406030204" pitchFamily="18" charset="0"/>
              </a:rPr>
              <a:t>You use the class’s </a:t>
            </a:r>
            <a:r>
              <a:rPr sz="2400" dirty="0">
                <a:solidFill>
                  <a:schemeClr val="tx2"/>
                </a:solidFill>
                <a:latin typeface="Cambria" panose="02040503050406030204" pitchFamily="18" charset="0"/>
              </a:rPr>
              <a:t>constructor</a:t>
            </a:r>
            <a:r>
              <a:rPr sz="2400" dirty="0">
                <a:latin typeface="Cambria" panose="02040503050406030204" pitchFamily="18" charset="0"/>
              </a:rPr>
              <a:t> to make objects</a:t>
            </a:r>
          </a:p>
          <a:p>
            <a:pPr eaLnBrk="1" hangingPunct="1"/>
            <a:endParaRPr sz="2400" dirty="0">
              <a:latin typeface="Cambria" panose="02040503050406030204" pitchFamily="18" charset="0"/>
            </a:endParaRPr>
          </a:p>
        </p:txBody>
      </p:sp>
      <p:pic>
        <p:nvPicPr>
          <p:cNvPr id="2" name="Picture 1">
            <a:extLst>
              <a:ext uri="{FF2B5EF4-FFF2-40B4-BE49-F238E27FC236}">
                <a16:creationId xmlns:a16="http://schemas.microsoft.com/office/drawing/2014/main" id="{807FB8CC-A074-B4E3-FA52-DA0641815E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DA275AE0-375E-F47F-F6C3-9007486CA67F}"/>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5550D5E-AC07-1D93-DC5E-CE81AF26C42B}"/>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p:txBody>
          <a:bodyPr vert="horz" wrap="square" lIns="0" tIns="45720" rIns="0" bIns="0" anchor="b" anchorCtr="0"/>
          <a:lstStyle/>
          <a:p>
            <a:pPr eaLnBrk="1" hangingPunct="1"/>
            <a:r>
              <a:rPr sz="2400" dirty="0">
                <a:latin typeface="Cambria" panose="02040503050406030204" pitchFamily="18" charset="0"/>
              </a:rPr>
              <a:t>Example: A “Rabbit” object</a:t>
            </a:r>
          </a:p>
        </p:txBody>
      </p:sp>
      <p:sp>
        <p:nvSpPr>
          <p:cNvPr id="52227" name="Rectangle 3"/>
          <p:cNvSpPr>
            <a:spLocks noGrp="1"/>
          </p:cNvSpPr>
          <p:nvPr>
            <p:ph idx="1"/>
          </p:nvPr>
        </p:nvSpPr>
        <p:spPr/>
        <p:txBody>
          <a:bodyPr vert="horz" wrap="square" lIns="91440" tIns="45720" rIns="91440" bIns="45720" anchor="t" anchorCtr="0"/>
          <a:lstStyle/>
          <a:p>
            <a:pPr eaLnBrk="1" hangingPunct="1"/>
            <a:r>
              <a:rPr sz="2400" dirty="0">
                <a:latin typeface="Cambria" panose="02040503050406030204" pitchFamily="18" charset="0"/>
              </a:rPr>
              <a:t>You could (in a game, for example) create an object representing a rabbit</a:t>
            </a:r>
          </a:p>
          <a:p>
            <a:pPr eaLnBrk="1" hangingPunct="1"/>
            <a:r>
              <a:rPr sz="2400" b="1" dirty="0">
                <a:latin typeface="Cambria" panose="02040503050406030204" pitchFamily="18" charset="0"/>
              </a:rPr>
              <a:t>It would have data:</a:t>
            </a:r>
          </a:p>
          <a:p>
            <a:pPr lvl="1" eaLnBrk="1" hangingPunct="1"/>
            <a:r>
              <a:rPr dirty="0">
                <a:latin typeface="Cambria" panose="02040503050406030204" pitchFamily="18" charset="0"/>
              </a:rPr>
              <a:t>How hungry it is</a:t>
            </a:r>
          </a:p>
          <a:p>
            <a:pPr lvl="1" eaLnBrk="1" hangingPunct="1"/>
            <a:r>
              <a:rPr dirty="0">
                <a:latin typeface="Cambria" panose="02040503050406030204" pitchFamily="18" charset="0"/>
              </a:rPr>
              <a:t>How frightened it is</a:t>
            </a:r>
          </a:p>
          <a:p>
            <a:pPr lvl="1" eaLnBrk="1" hangingPunct="1"/>
            <a:r>
              <a:rPr dirty="0">
                <a:latin typeface="Cambria" panose="02040503050406030204" pitchFamily="18" charset="0"/>
              </a:rPr>
              <a:t>Where it is</a:t>
            </a:r>
          </a:p>
          <a:p>
            <a:pPr eaLnBrk="1" hangingPunct="1"/>
            <a:r>
              <a:rPr sz="2400" b="1" dirty="0">
                <a:latin typeface="Cambria" panose="02040503050406030204" pitchFamily="18" charset="0"/>
              </a:rPr>
              <a:t>And methods:</a:t>
            </a:r>
          </a:p>
          <a:p>
            <a:pPr lvl="1" eaLnBrk="1" hangingPunct="1"/>
            <a:r>
              <a:rPr dirty="0">
                <a:latin typeface="Cambria" panose="02040503050406030204" pitchFamily="18" charset="0"/>
              </a:rPr>
              <a:t>eat, hide, run, dig </a:t>
            </a:r>
          </a:p>
        </p:txBody>
      </p:sp>
      <p:pic>
        <p:nvPicPr>
          <p:cNvPr id="52229" name="Picture 5" descr="C:\Teaching\CIT591\bugs-bunny.jpg"/>
          <p:cNvPicPr>
            <a:picLocks noChangeAspect="1"/>
          </p:cNvPicPr>
          <p:nvPr/>
        </p:nvPicPr>
        <p:blipFill>
          <a:blip r:embed="rId2"/>
          <a:stretch>
            <a:fillRect/>
          </a:stretch>
        </p:blipFill>
        <p:spPr>
          <a:xfrm>
            <a:off x="6362700" y="3200400"/>
            <a:ext cx="2019300" cy="3019425"/>
          </a:xfrm>
          <a:prstGeom prst="rect">
            <a:avLst/>
          </a:prstGeom>
          <a:noFill/>
          <a:ln w="9525">
            <a:noFill/>
          </a:ln>
        </p:spPr>
      </p:pic>
      <p:pic>
        <p:nvPicPr>
          <p:cNvPr id="2" name="Picture 1">
            <a:extLst>
              <a:ext uri="{FF2B5EF4-FFF2-40B4-BE49-F238E27FC236}">
                <a16:creationId xmlns:a16="http://schemas.microsoft.com/office/drawing/2014/main" id="{505CF935-B586-6D75-E483-64DB9CF111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298DC55A-970C-B4D9-71AB-AB57F949CD7F}"/>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1AD0B52-35F2-3C0E-3836-5E299434F43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nodeType="clickEffect">
                                  <p:stCondLst>
                                    <p:cond delay="0"/>
                                  </p:stCondLst>
                                  <p:childTnLst>
                                    <p:set>
                                      <p:cBhvr>
                                        <p:cTn id="6" dur="1" fill="hold">
                                          <p:stCondLst>
                                            <p:cond delay="0"/>
                                          </p:stCondLst>
                                        </p:cTn>
                                        <p:tgtEl>
                                          <p:spTgt spid="52229"/>
                                        </p:tgtEl>
                                        <p:attrNameLst>
                                          <p:attrName>style.visibility</p:attrName>
                                        </p:attrNameLst>
                                      </p:cBhvr>
                                      <p:to>
                                        <p:strVal val="visible"/>
                                      </p:to>
                                    </p:set>
                                    <p:anim calcmode="lin" valueType="num">
                                      <p:cBhvr>
                                        <p:cTn id="7" dur="500" fill="hold"/>
                                        <p:tgtEl>
                                          <p:spTgt spid="52229"/>
                                        </p:tgtEl>
                                        <p:attrNameLst>
                                          <p:attrName>ppt_w</p:attrName>
                                        </p:attrNameLst>
                                      </p:cBhvr>
                                      <p:tavLst>
                                        <p:tav tm="0">
                                          <p:val>
                                            <p:fltVal val="0"/>
                                          </p:val>
                                        </p:tav>
                                        <p:tav tm="100000">
                                          <p:val>
                                            <p:strVal val="#ppt_w"/>
                                          </p:val>
                                        </p:tav>
                                      </p:tavLst>
                                    </p:anim>
                                    <p:anim calcmode="lin" valueType="num">
                                      <p:cBhvr>
                                        <p:cTn id="8" dur="500" fill="hold"/>
                                        <p:tgtEl>
                                          <p:spTgt spid="52229"/>
                                        </p:tgtEl>
                                        <p:attrNameLst>
                                          <p:attrName>ppt_h</p:attrName>
                                        </p:attrNameLst>
                                      </p:cBhvr>
                                      <p:tavLst>
                                        <p:tav tm="0">
                                          <p:val>
                                            <p:fltVal val="0"/>
                                          </p:val>
                                        </p:tav>
                                        <p:tav tm="100000">
                                          <p:val>
                                            <p:strVal val="#ppt_h"/>
                                          </p:val>
                                        </p:tav>
                                      </p:tavLst>
                                    </p:anim>
                                    <p:anim calcmode="lin" valueType="num">
                                      <p:cBhvr>
                                        <p:cTn id="9" dur="500" fill="hold"/>
                                        <p:tgtEl>
                                          <p:spTgt spid="52229"/>
                                        </p:tgtEl>
                                        <p:attrNameLst>
                                          <p:attrName>ppt_x</p:attrName>
                                        </p:attrNameLst>
                                      </p:cBhvr>
                                      <p:tavLst>
                                        <p:tav tm="0">
                                          <p:val>
                                            <p:fltVal val="0.5"/>
                                          </p:val>
                                        </p:tav>
                                        <p:tav tm="100000">
                                          <p:val>
                                            <p:strVal val="#ppt_x"/>
                                          </p:val>
                                        </p:tav>
                                      </p:tavLst>
                                    </p:anim>
                                    <p:anim calcmode="lin" valueType="num">
                                      <p:cBhvr>
                                        <p:cTn id="10" dur="500" fill="hold"/>
                                        <p:tgtEl>
                                          <p:spTgt spid="52229"/>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2227">
                                            <p:txEl>
                                              <p:pRg st="0" end="0"/>
                                            </p:txEl>
                                          </p:spTgt>
                                        </p:tgtEl>
                                        <p:attrNameLst>
                                          <p:attrName>style.visibility</p:attrName>
                                        </p:attrNameLst>
                                      </p:cBhvr>
                                      <p:to>
                                        <p:strVal val="visible"/>
                                      </p:to>
                                    </p:set>
                                    <p:animEffect transition="in" filter="wipe(left)">
                                      <p:cBhvr>
                                        <p:cTn id="15" dur="500"/>
                                        <p:tgtEl>
                                          <p:spTgt spid="5222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2227">
                                            <p:txEl>
                                              <p:pRg st="1" end="1"/>
                                            </p:txEl>
                                          </p:spTgt>
                                        </p:tgtEl>
                                        <p:attrNameLst>
                                          <p:attrName>style.visibility</p:attrName>
                                        </p:attrNameLst>
                                      </p:cBhvr>
                                      <p:to>
                                        <p:strVal val="visible"/>
                                      </p:to>
                                    </p:set>
                                    <p:animEffect transition="in" filter="wipe(left)">
                                      <p:cBhvr>
                                        <p:cTn id="20" dur="500"/>
                                        <p:tgtEl>
                                          <p:spTgt spid="5222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2227">
                                            <p:txEl>
                                              <p:pRg st="2" end="2"/>
                                            </p:txEl>
                                          </p:spTgt>
                                        </p:tgtEl>
                                        <p:attrNameLst>
                                          <p:attrName>style.visibility</p:attrName>
                                        </p:attrNameLst>
                                      </p:cBhvr>
                                      <p:to>
                                        <p:strVal val="visible"/>
                                      </p:to>
                                    </p:set>
                                    <p:animEffect transition="in" filter="wipe(left)">
                                      <p:cBhvr>
                                        <p:cTn id="25" dur="500"/>
                                        <p:tgtEl>
                                          <p:spTgt spid="5222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2227">
                                            <p:txEl>
                                              <p:pRg st="3" end="3"/>
                                            </p:txEl>
                                          </p:spTgt>
                                        </p:tgtEl>
                                        <p:attrNameLst>
                                          <p:attrName>style.visibility</p:attrName>
                                        </p:attrNameLst>
                                      </p:cBhvr>
                                      <p:to>
                                        <p:strVal val="visible"/>
                                      </p:to>
                                    </p:set>
                                    <p:animEffect transition="in" filter="wipe(left)">
                                      <p:cBhvr>
                                        <p:cTn id="30" dur="500"/>
                                        <p:tgtEl>
                                          <p:spTgt spid="5222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2227">
                                            <p:txEl>
                                              <p:pRg st="4" end="4"/>
                                            </p:txEl>
                                          </p:spTgt>
                                        </p:tgtEl>
                                        <p:attrNameLst>
                                          <p:attrName>style.visibility</p:attrName>
                                        </p:attrNameLst>
                                      </p:cBhvr>
                                      <p:to>
                                        <p:strVal val="visible"/>
                                      </p:to>
                                    </p:set>
                                    <p:animEffect transition="in" filter="wipe(left)">
                                      <p:cBhvr>
                                        <p:cTn id="35" dur="500"/>
                                        <p:tgtEl>
                                          <p:spTgt spid="5222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2227">
                                            <p:txEl>
                                              <p:pRg st="5" end="5"/>
                                            </p:txEl>
                                          </p:spTgt>
                                        </p:tgtEl>
                                        <p:attrNameLst>
                                          <p:attrName>style.visibility</p:attrName>
                                        </p:attrNameLst>
                                      </p:cBhvr>
                                      <p:to>
                                        <p:strVal val="visible"/>
                                      </p:to>
                                    </p:set>
                                    <p:animEffect transition="in" filter="wipe(left)">
                                      <p:cBhvr>
                                        <p:cTn id="40" dur="500"/>
                                        <p:tgtEl>
                                          <p:spTgt spid="52227">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2227">
                                            <p:txEl>
                                              <p:pRg st="6" end="6"/>
                                            </p:txEl>
                                          </p:spTgt>
                                        </p:tgtEl>
                                        <p:attrNameLst>
                                          <p:attrName>style.visibility</p:attrName>
                                        </p:attrNameLst>
                                      </p:cBhvr>
                                      <p:to>
                                        <p:strVal val="visible"/>
                                      </p:to>
                                    </p:set>
                                    <p:animEffect transition="in" filter="wipe(left)">
                                      <p:cBhvr>
                                        <p:cTn id="45" dur="500"/>
                                        <p:tgtEl>
                                          <p:spTgt spid="522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bldLvl="4"/>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219200" y="609600"/>
            <a:ext cx="7467600" cy="457200"/>
          </a:xfrm>
        </p:spPr>
        <p:txBody>
          <a:bodyPr vert="horz" wrap="square" lIns="0" tIns="45720" rIns="0" bIns="0" numCol="1" anchor="b" anchorCtr="0" compatLnSpc="1">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tx2"/>
                </a:solidFill>
                <a:effectLst/>
                <a:uLnTx/>
                <a:uFillTx/>
                <a:latin typeface="Cambria" panose="02040503050406030204" pitchFamily="18" charset="0"/>
                <a:ea typeface="+mj-ea"/>
                <a:cs typeface="+mj-cs"/>
              </a:rPr>
              <a:t>Concept: Classes form a hierarchy</a:t>
            </a:r>
          </a:p>
        </p:txBody>
      </p:sp>
      <p:sp>
        <p:nvSpPr>
          <p:cNvPr id="21507" name="Rectangle 3"/>
          <p:cNvSpPr>
            <a:spLocks noGrp="1"/>
          </p:cNvSpPr>
          <p:nvPr>
            <p:ph idx="1"/>
          </p:nvPr>
        </p:nvSpPr>
        <p:spPr>
          <a:xfrm>
            <a:off x="304800" y="1600200"/>
            <a:ext cx="8458200" cy="4114800"/>
          </a:xfrm>
        </p:spPr>
        <p:txBody>
          <a:bodyPr vert="horz" wrap="square" lIns="91440" tIns="45720" rIns="91440" bIns="45720" anchor="t" anchorCtr="0"/>
          <a:lstStyle/>
          <a:p>
            <a:pPr eaLnBrk="1" hangingPunct="1"/>
            <a:r>
              <a:rPr sz="2400" dirty="0">
                <a:latin typeface="Cambria" panose="02040503050406030204" pitchFamily="18" charset="0"/>
              </a:rPr>
              <a:t>Classes are arranged in a tree like structure called a </a:t>
            </a:r>
            <a:r>
              <a:rPr sz="2400" dirty="0">
                <a:solidFill>
                  <a:schemeClr val="tx2"/>
                </a:solidFill>
                <a:latin typeface="Cambria" panose="02040503050406030204" pitchFamily="18" charset="0"/>
              </a:rPr>
              <a:t>hierarchy</a:t>
            </a:r>
            <a:endParaRPr sz="2400" dirty="0">
              <a:latin typeface="Cambria" panose="02040503050406030204" pitchFamily="18" charset="0"/>
            </a:endParaRPr>
          </a:p>
          <a:p>
            <a:pPr eaLnBrk="1" hangingPunct="1"/>
            <a:r>
              <a:rPr sz="2400" dirty="0">
                <a:latin typeface="Cambria" panose="02040503050406030204" pitchFamily="18" charset="0"/>
              </a:rPr>
              <a:t>The class at the root is named </a:t>
            </a:r>
            <a:r>
              <a:rPr sz="2400" dirty="0">
                <a:solidFill>
                  <a:schemeClr val="folHlink"/>
                </a:solidFill>
                <a:latin typeface="Cambria" panose="02040503050406030204" pitchFamily="18" charset="0"/>
              </a:rPr>
              <a:t>Object</a:t>
            </a:r>
            <a:endParaRPr sz="2400" dirty="0">
              <a:latin typeface="Cambria" panose="02040503050406030204" pitchFamily="18" charset="0"/>
            </a:endParaRPr>
          </a:p>
          <a:p>
            <a:pPr eaLnBrk="1" hangingPunct="1"/>
            <a:r>
              <a:rPr sz="2400" dirty="0">
                <a:latin typeface="Cambria" panose="02040503050406030204" pitchFamily="18" charset="0"/>
              </a:rPr>
              <a:t>Every class, except </a:t>
            </a:r>
            <a:r>
              <a:rPr sz="2400" dirty="0">
                <a:solidFill>
                  <a:schemeClr val="accent2"/>
                </a:solidFill>
                <a:latin typeface="Cambria" panose="02040503050406030204" pitchFamily="18" charset="0"/>
              </a:rPr>
              <a:t>Object</a:t>
            </a:r>
            <a:r>
              <a:rPr sz="2400" dirty="0">
                <a:latin typeface="Cambria" panose="02040503050406030204" pitchFamily="18" charset="0"/>
              </a:rPr>
              <a:t>, has a </a:t>
            </a:r>
            <a:r>
              <a:rPr sz="2400" dirty="0">
                <a:solidFill>
                  <a:schemeClr val="tx2"/>
                </a:solidFill>
                <a:latin typeface="Cambria" panose="02040503050406030204" pitchFamily="18" charset="0"/>
              </a:rPr>
              <a:t>super class</a:t>
            </a:r>
            <a:endParaRPr sz="2400" dirty="0">
              <a:latin typeface="Cambria" panose="02040503050406030204" pitchFamily="18" charset="0"/>
            </a:endParaRPr>
          </a:p>
          <a:p>
            <a:pPr eaLnBrk="1" hangingPunct="1"/>
            <a:r>
              <a:rPr sz="2400" dirty="0">
                <a:latin typeface="Cambria" panose="02040503050406030204" pitchFamily="18" charset="0"/>
              </a:rPr>
              <a:t>A class may have several ancestors, up to </a:t>
            </a:r>
            <a:r>
              <a:rPr sz="2400" dirty="0">
                <a:solidFill>
                  <a:schemeClr val="accent2"/>
                </a:solidFill>
                <a:latin typeface="Cambria" panose="02040503050406030204" pitchFamily="18" charset="0"/>
              </a:rPr>
              <a:t>Object</a:t>
            </a:r>
            <a:endParaRPr sz="2400" dirty="0">
              <a:solidFill>
                <a:srgbClr val="FFFF99"/>
              </a:solidFill>
              <a:latin typeface="Cambria" panose="02040503050406030204" pitchFamily="18" charset="0"/>
            </a:endParaRPr>
          </a:p>
          <a:p>
            <a:pPr eaLnBrk="1" hangingPunct="1"/>
            <a:r>
              <a:rPr sz="2400" dirty="0">
                <a:latin typeface="Cambria" panose="02040503050406030204" pitchFamily="18" charset="0"/>
              </a:rPr>
              <a:t>When you define a class, you specify its super class</a:t>
            </a:r>
          </a:p>
          <a:p>
            <a:pPr eaLnBrk="1" hangingPunct="1"/>
            <a:r>
              <a:rPr sz="2400" dirty="0">
                <a:latin typeface="Cambria" panose="02040503050406030204" pitchFamily="18" charset="0"/>
              </a:rPr>
              <a:t>Every class may have one or more </a:t>
            </a:r>
            <a:r>
              <a:rPr sz="2400" dirty="0">
                <a:solidFill>
                  <a:schemeClr val="tx2"/>
                </a:solidFill>
                <a:latin typeface="Cambria" panose="02040503050406030204" pitchFamily="18" charset="0"/>
              </a:rPr>
              <a:t>subclasses</a:t>
            </a:r>
            <a:endParaRPr sz="2400" dirty="0">
              <a:latin typeface="Cambria" panose="02040503050406030204" pitchFamily="18" charset="0"/>
            </a:endParaRPr>
          </a:p>
        </p:txBody>
      </p:sp>
      <p:pic>
        <p:nvPicPr>
          <p:cNvPr id="2" name="Picture 1">
            <a:extLst>
              <a:ext uri="{FF2B5EF4-FFF2-40B4-BE49-F238E27FC236}">
                <a16:creationId xmlns:a16="http://schemas.microsoft.com/office/drawing/2014/main" id="{CDDB845F-8043-5544-6C7D-DDAE9D264C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D773E11C-75AD-AC85-BDDA-15B34BCBCB98}"/>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A4A2962-6253-B66A-0CF0-A97570D9D569}"/>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0"/>
            <a:ext cx="8686800" cy="685800"/>
          </a:xfrm>
        </p:spPr>
        <p:txBody>
          <a:bodyPr vert="horz" wrap="square" lIns="0" tIns="45720" rIns="0" bIns="0" anchor="b" anchorCtr="0"/>
          <a:lstStyle/>
          <a:p>
            <a:pPr algn="ctr" eaLnBrk="1" hangingPunct="1"/>
            <a:r>
              <a:rPr sz="3200" dirty="0">
                <a:latin typeface="Cambria" panose="02040503050406030204" pitchFamily="18" charset="0"/>
              </a:rPr>
              <a:t>Fundamental concepts of object oriented world</a:t>
            </a:r>
          </a:p>
        </p:txBody>
      </p:sp>
      <p:sp>
        <p:nvSpPr>
          <p:cNvPr id="3" name="Content Placeholder 2"/>
          <p:cNvSpPr>
            <a:spLocks noGrp="1"/>
          </p:cNvSpPr>
          <p:nvPr>
            <p:ph idx="1"/>
          </p:nvPr>
        </p:nvSpPr>
        <p:spPr>
          <a:xfrm>
            <a:off x="0" y="1066800"/>
            <a:ext cx="9144000" cy="4114800"/>
          </a:xfrm>
        </p:spPr>
        <p:txBody>
          <a:bodyPr vert="horz" wrap="square" lIns="91440" tIns="45720" rIns="91440" bIns="45720" numCol="1" anchor="t" anchorCtr="0" compatLnSpc="1">
            <a:normAutofit fontScale="92500"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Objects:</a:t>
            </a: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Objects represent an entity and are the basic building block.</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Class:</a:t>
            </a: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Class is the blue print of an object.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Abstraction:</a:t>
            </a: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Abstraction represents the behavior of an real world entity.</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Encapsulation:</a:t>
            </a: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Encapsulation is the mechanism of binding the data together and hiding them from outside world.</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Inheritance:</a:t>
            </a: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Inheritance is the mechanism of making new classes from existing one.</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0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Polymorphism:</a:t>
            </a:r>
            <a:r>
              <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It defines the mechanism to exists in different forms.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0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p:txBody>
      </p:sp>
      <p:pic>
        <p:nvPicPr>
          <p:cNvPr id="2" name="Picture 1">
            <a:extLst>
              <a:ext uri="{FF2B5EF4-FFF2-40B4-BE49-F238E27FC236}">
                <a16:creationId xmlns:a16="http://schemas.microsoft.com/office/drawing/2014/main" id="{5A8EC7E2-9B44-B74D-B17C-50A215C08C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8999"/>
            <a:ext cx="720674" cy="704800"/>
          </a:xfrm>
          <a:prstGeom prst="rect">
            <a:avLst/>
          </a:prstGeom>
        </p:spPr>
      </p:pic>
      <p:sp>
        <p:nvSpPr>
          <p:cNvPr id="4" name="Rectangle 3">
            <a:extLst>
              <a:ext uri="{FF2B5EF4-FFF2-40B4-BE49-F238E27FC236}">
                <a16:creationId xmlns:a16="http://schemas.microsoft.com/office/drawing/2014/main" id="{387F32D9-922F-7AE8-0329-AF44F5AB9F77}"/>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6ACE86C-9E20-BC07-113B-DFC0FF2DA0E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304800" y="304800"/>
            <a:ext cx="8229600" cy="685800"/>
          </a:xfrm>
        </p:spPr>
        <p:txBody>
          <a:bodyPr vert="horz" wrap="square" lIns="0" tIns="45720" rIns="0" bIns="0" anchor="b" anchorCtr="0"/>
          <a:lstStyle/>
          <a:p>
            <a:pPr algn="ctr" eaLnBrk="1" hangingPunct="1"/>
            <a:r>
              <a:rPr sz="3200" b="1" dirty="0">
                <a:latin typeface="Cambria" panose="02040503050406030204" pitchFamily="18" charset="0"/>
              </a:rPr>
              <a:t>Kinds of access</a:t>
            </a:r>
          </a:p>
        </p:txBody>
      </p:sp>
      <p:sp>
        <p:nvSpPr>
          <p:cNvPr id="45059" name="Rectangle 3"/>
          <p:cNvSpPr>
            <a:spLocks noGrp="1" noChangeArrowheads="1"/>
          </p:cNvSpPr>
          <p:nvPr>
            <p:ph idx="1"/>
          </p:nvPr>
        </p:nvSpPr>
        <p:spPr>
          <a:xfrm>
            <a:off x="609600" y="1066800"/>
            <a:ext cx="8229600" cy="4724400"/>
          </a:xfrm>
        </p:spPr>
        <p:txBody>
          <a:bodyPr vert="horz" wrap="square" lIns="91440" tIns="45720" rIns="91440" bIns="45720" numCol="1" anchor="t" anchorCtr="0" compatLnSpc="1">
            <a:normAutofit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Java provides four levels of access: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accent2"/>
                </a:solidFill>
                <a:effectLst/>
                <a:uLnTx/>
                <a:uFillTx/>
                <a:latin typeface="Cambria" panose="02040503050406030204" pitchFamily="18" charset="0"/>
                <a:ea typeface="+mn-ea"/>
                <a:cs typeface="+mn-cs"/>
              </a:rPr>
              <a:t>public</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available everywhere</a:t>
            </a: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accent2"/>
                </a:solidFill>
                <a:effectLst/>
                <a:uLnTx/>
                <a:uFillTx/>
                <a:latin typeface="Cambria" panose="02040503050406030204" pitchFamily="18" charset="0"/>
                <a:ea typeface="+mn-ea"/>
                <a:cs typeface="+mn-cs"/>
              </a:rPr>
              <a:t>protected</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available within the package (in the same subdirectory) and to all subclasses</a:t>
            </a: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[default]: available within the package</a:t>
            </a: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640080" marR="0" lvl="1" indent="-247015" algn="l" defTabSz="914400" rtl="0" eaLnBrk="1" fontAlgn="auto" latinLnBrk="0" hangingPunct="1">
              <a:lnSpc>
                <a:spcPct val="10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accent2"/>
                </a:solidFill>
                <a:effectLst/>
                <a:uLnTx/>
                <a:uFillTx/>
                <a:latin typeface="Cambria" panose="02040503050406030204" pitchFamily="18" charset="0"/>
                <a:ea typeface="+mn-ea"/>
                <a:cs typeface="+mn-cs"/>
              </a:rPr>
              <a:t>private</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only available within the class itself</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The default is called </a:t>
            </a:r>
            <a:r>
              <a:rPr kumimoji="0" lang="en-US" sz="2400" b="0" i="0" u="none" strike="noStrike" kern="1200" cap="none" spc="0" normalizeH="0" baseline="0" noProof="0" dirty="0">
                <a:ln>
                  <a:noFill/>
                </a:ln>
                <a:solidFill>
                  <a:schemeClr val="tx2"/>
                </a:solidFill>
                <a:effectLst/>
                <a:uLnTx/>
                <a:uFillTx/>
                <a:latin typeface="Cambria" panose="02040503050406030204" pitchFamily="18" charset="0"/>
                <a:ea typeface="+mn-ea"/>
                <a:cs typeface="+mn-cs"/>
              </a:rPr>
              <a:t>package</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visibility</a:t>
            </a:r>
          </a:p>
        </p:txBody>
      </p:sp>
      <p:pic>
        <p:nvPicPr>
          <p:cNvPr id="2" name="Picture 1">
            <a:extLst>
              <a:ext uri="{FF2B5EF4-FFF2-40B4-BE49-F238E27FC236}">
                <a16:creationId xmlns:a16="http://schemas.microsoft.com/office/drawing/2014/main" id="{3CC25B27-D816-FC74-8E55-801CFF8CFE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00DBB3E6-F425-F221-A38C-C3CDBC78EAE2}"/>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EF795FA-66DA-3C78-1C20-EEC016A1327F}"/>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0" tIns="45720" rIns="0" bIns="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a:ln>
                  <a:noFill/>
                </a:ln>
                <a:solidFill>
                  <a:schemeClr val="tx2"/>
                </a:solidFill>
                <a:effectLst/>
                <a:uLnTx/>
                <a:uFillTx/>
                <a:latin typeface="+mj-lt"/>
                <a:ea typeface="+mj-ea"/>
                <a:cs typeface="+mj-cs"/>
              </a:rPr>
              <a:t>OO Analysis and Design</a:t>
            </a:r>
            <a:br>
              <a:rPr kumimoji="0" lang="en-US" sz="5000" b="0" i="0" u="none" strike="noStrike" kern="1200" cap="none" spc="0" normalizeH="0" baseline="0" noProof="0" dirty="0">
                <a:ln>
                  <a:noFill/>
                </a:ln>
                <a:solidFill>
                  <a:schemeClr val="tx2"/>
                </a:solidFill>
                <a:effectLst/>
                <a:uLnTx/>
                <a:uFillTx/>
                <a:latin typeface="+mj-lt"/>
                <a:ea typeface="+mj-ea"/>
                <a:cs typeface="+mj-cs"/>
              </a:rPr>
            </a:b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a:xfrm>
            <a:off x="457200" y="1219200"/>
            <a:ext cx="8229600" cy="3276600"/>
          </a:xfrm>
        </p:spPr>
        <p:txBody>
          <a:bodyPr vert="horz" wrap="square" lIns="91440" tIns="45720" rIns="91440" bIns="45720" numCol="1" anchor="t" anchorCtr="0" compatLnSpc="1">
            <a:normAutofit fontScale="850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it is the investigation of objects. Design means collaboration of identified objects.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identifying the objects their relationships are identified and finally the design is produced</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Identifying the objects of a system.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Identify their relationships.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OO Analysis --&gt; OO Design --&gt; OO implementation using OO languages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p:txBody>
      </p:sp>
      <p:pic>
        <p:nvPicPr>
          <p:cNvPr id="4" name="Picture 3">
            <a:extLst>
              <a:ext uri="{FF2B5EF4-FFF2-40B4-BE49-F238E27FC236}">
                <a16:creationId xmlns:a16="http://schemas.microsoft.com/office/drawing/2014/main" id="{13543447-9979-E9F3-7E39-E5FA08E546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C48C496A-2697-69F0-246F-6886974049DF}"/>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D269964-52EA-99DE-9CA3-5469B0042FE4}"/>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vert="horz" wrap="square" lIns="0" tIns="45720" rIns="0" bIns="0" anchor="b" anchorCtr="0"/>
          <a:lstStyle/>
          <a:p>
            <a:pPr algn="ctr" eaLnBrk="1" hangingPunct="1"/>
            <a:r>
              <a:rPr dirty="0">
                <a:latin typeface="Cambria" panose="02040503050406030204" pitchFamily="18" charset="0"/>
              </a:rPr>
              <a:t>Building blocks of UML</a:t>
            </a:r>
            <a:endParaRPr dirty="0"/>
          </a:p>
        </p:txBody>
      </p:sp>
      <p:sp>
        <p:nvSpPr>
          <p:cNvPr id="25603" name="Content Placeholder 2"/>
          <p:cNvSpPr>
            <a:spLocks noGrp="1"/>
          </p:cNvSpPr>
          <p:nvPr>
            <p:ph idx="1"/>
          </p:nvPr>
        </p:nvSpPr>
        <p:spPr/>
        <p:txBody>
          <a:bodyPr vert="horz" wrap="square" lIns="91440" tIns="45720" rIns="91440" bIns="45720" anchor="t" anchorCtr="0"/>
          <a:lstStyle/>
          <a:p>
            <a:pPr eaLnBrk="1" hangingPunct="1"/>
            <a:r>
              <a:rPr sz="2400" dirty="0">
                <a:latin typeface="Cambria" panose="02040503050406030204" pitchFamily="18" charset="0"/>
              </a:rPr>
              <a:t>The building blocks of UML can be defined as:</a:t>
            </a:r>
          </a:p>
          <a:p>
            <a:pPr eaLnBrk="1" hangingPunct="1"/>
            <a:r>
              <a:rPr sz="2400" dirty="0">
                <a:latin typeface="Cambria" panose="02040503050406030204" pitchFamily="18" charset="0"/>
              </a:rPr>
              <a:t>Things</a:t>
            </a:r>
          </a:p>
          <a:p>
            <a:pPr eaLnBrk="1" hangingPunct="1"/>
            <a:r>
              <a:rPr sz="2400" dirty="0">
                <a:latin typeface="Cambria" panose="02040503050406030204" pitchFamily="18" charset="0"/>
              </a:rPr>
              <a:t>Relationships</a:t>
            </a:r>
          </a:p>
          <a:p>
            <a:pPr eaLnBrk="1" hangingPunct="1"/>
            <a:r>
              <a:rPr sz="2400" dirty="0">
                <a:latin typeface="Cambria" panose="02040503050406030204" pitchFamily="18" charset="0"/>
              </a:rPr>
              <a:t>Diagrams</a:t>
            </a:r>
          </a:p>
          <a:p>
            <a:pPr eaLnBrk="1" hangingPunct="1">
              <a:buFont typeface="Wingdings" panose="05000000000000000000" pitchFamily="2" charset="2"/>
              <a:buNone/>
            </a:pPr>
            <a:endParaRPr dirty="0"/>
          </a:p>
        </p:txBody>
      </p:sp>
      <p:pic>
        <p:nvPicPr>
          <p:cNvPr id="2" name="Picture 1">
            <a:extLst>
              <a:ext uri="{FF2B5EF4-FFF2-40B4-BE49-F238E27FC236}">
                <a16:creationId xmlns:a16="http://schemas.microsoft.com/office/drawing/2014/main" id="{DA4C1C95-7E27-E305-FB3E-BFAE6F737A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0A53D049-E915-0817-356F-136222F6C065}"/>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BFF9782-019B-0AFA-8190-EC98083BBE73}"/>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vert="horz" wrap="square" lIns="0" tIns="45720" rIns="0" bIns="0" anchor="b" anchorCtr="0"/>
          <a:lstStyle/>
          <a:p>
            <a:pPr algn="ctr" eaLnBrk="1" hangingPunct="1"/>
            <a:r>
              <a:rPr dirty="0"/>
              <a:t>Things</a:t>
            </a:r>
          </a:p>
        </p:txBody>
      </p:sp>
      <p:sp>
        <p:nvSpPr>
          <p:cNvPr id="26627" name="Content Placeholder 2"/>
          <p:cNvSpPr>
            <a:spLocks noGrp="1"/>
          </p:cNvSpPr>
          <p:nvPr>
            <p:ph idx="1"/>
          </p:nvPr>
        </p:nvSpPr>
        <p:spPr/>
        <p:txBody>
          <a:bodyPr vert="horz" wrap="square" lIns="91440" tIns="45720" rIns="91440" bIns="45720" anchor="t" anchorCtr="0"/>
          <a:lstStyle/>
          <a:p>
            <a:pPr eaLnBrk="1" hangingPunct="1"/>
            <a:r>
              <a:rPr sz="2400" b="1" dirty="0">
                <a:latin typeface="Cambria" panose="02040503050406030204" pitchFamily="18" charset="0"/>
              </a:rPr>
              <a:t>Things</a:t>
            </a:r>
            <a:r>
              <a:rPr sz="2400" dirty="0">
                <a:latin typeface="Cambria" panose="02040503050406030204" pitchFamily="18" charset="0"/>
              </a:rPr>
              <a:t> are the most important building blocks of UML. Things can be:</a:t>
            </a:r>
          </a:p>
          <a:p>
            <a:pPr eaLnBrk="1" hangingPunct="1"/>
            <a:r>
              <a:rPr sz="2400" dirty="0">
                <a:latin typeface="Cambria" panose="02040503050406030204" pitchFamily="18" charset="0"/>
              </a:rPr>
              <a:t>Structural</a:t>
            </a:r>
          </a:p>
          <a:p>
            <a:pPr eaLnBrk="1" hangingPunct="1"/>
            <a:r>
              <a:rPr sz="2400" dirty="0">
                <a:latin typeface="Cambria" panose="02040503050406030204" pitchFamily="18" charset="0"/>
              </a:rPr>
              <a:t>Behavioral</a:t>
            </a:r>
          </a:p>
          <a:p>
            <a:pPr eaLnBrk="1" hangingPunct="1"/>
            <a:r>
              <a:rPr sz="2400" dirty="0">
                <a:latin typeface="Cambria" panose="02040503050406030204" pitchFamily="18" charset="0"/>
              </a:rPr>
              <a:t>Grouping</a:t>
            </a:r>
          </a:p>
          <a:p>
            <a:pPr eaLnBrk="1" hangingPunct="1"/>
            <a:r>
              <a:rPr sz="2400" dirty="0">
                <a:latin typeface="Cambria" panose="02040503050406030204" pitchFamily="18" charset="0"/>
              </a:rPr>
              <a:t>Annotational</a:t>
            </a:r>
          </a:p>
          <a:p>
            <a:pPr eaLnBrk="1" hangingPunct="1"/>
            <a:endParaRPr sz="2400" dirty="0">
              <a:latin typeface="Cambria" panose="02040503050406030204" pitchFamily="18" charset="0"/>
            </a:endParaRPr>
          </a:p>
        </p:txBody>
      </p:sp>
      <p:sp>
        <p:nvSpPr>
          <p:cNvPr id="2" name="Rectangle 1">
            <a:extLst>
              <a:ext uri="{FF2B5EF4-FFF2-40B4-BE49-F238E27FC236}">
                <a16:creationId xmlns:a16="http://schemas.microsoft.com/office/drawing/2014/main" id="{72C52689-71D2-9463-80D7-DD3404136FF2}"/>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352101A-4DB9-D92A-8F10-91AE81662B49}"/>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762000"/>
          </a:xfrm>
        </p:spPr>
        <p:txBody>
          <a:bodyPr vert="horz" wrap="square" lIns="0" tIns="45720" rIns="0" bIns="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5000" b="0" i="0" u="none" strike="noStrike" kern="1200" cap="none" spc="0" normalizeH="0" baseline="0" noProof="0" dirty="0">
                <a:ln>
                  <a:noFill/>
                </a:ln>
                <a:solidFill>
                  <a:schemeClr val="tx2"/>
                </a:solidFill>
                <a:effectLst/>
                <a:uLnTx/>
                <a:uFillTx/>
                <a:latin typeface="Cambria" panose="02040503050406030204" pitchFamily="18" charset="0"/>
                <a:ea typeface="+mj-ea"/>
                <a:cs typeface="+mj-cs"/>
              </a:rPr>
              <a:t>Structural things</a:t>
            </a:r>
          </a:p>
        </p:txBody>
      </p:sp>
      <p:sp>
        <p:nvSpPr>
          <p:cNvPr id="3" name="Content Placeholder 2"/>
          <p:cNvSpPr>
            <a:spLocks noGrp="1"/>
          </p:cNvSpPr>
          <p:nvPr>
            <p:ph idx="1"/>
          </p:nvPr>
        </p:nvSpPr>
        <p:spPr>
          <a:xfrm>
            <a:off x="457200" y="1905000"/>
            <a:ext cx="8229600" cy="3886200"/>
          </a:xfrm>
        </p:spPr>
        <p:txBody>
          <a:bodyPr vert="horz" wrap="square" lIns="91440" tIns="45720" rIns="91440" bIns="45720" numCol="1" anchor="t" anchorCtr="0" compatLnSpc="1">
            <a:normAutofit fontScale="92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The </a:t>
            </a:r>
            <a:r>
              <a:rPr kumimoji="0" lang="en-US" sz="24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Structural things</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define the static part of the model.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They represent physical and conceptual elements.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r>
              <a:rPr kumimoji="0" lang="en-US" sz="24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Class:</a:t>
            </a: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Class represents set of objects having similar responsibilities.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r>
              <a:rPr kumimoji="0" lang="en-US" sz="24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Interface:</a:t>
            </a: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Interface defines a set of operations which specify the responsibility of a class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r>
              <a:rPr kumimoji="0" lang="en-US" sz="24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Collaboration:</a:t>
            </a: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Collaboration defines interaction between elements.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p:txBody>
      </p:sp>
      <p:pic>
        <p:nvPicPr>
          <p:cNvPr id="4" name="Picture 3">
            <a:extLst>
              <a:ext uri="{FF2B5EF4-FFF2-40B4-BE49-F238E27FC236}">
                <a16:creationId xmlns:a16="http://schemas.microsoft.com/office/drawing/2014/main" id="{8C515A67-34C3-2BA8-FA9F-DCE102E0C6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78720D9F-4D63-1CE1-02F0-673D43777CF4}"/>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1DC0C19-A2A9-F8F3-89C6-03E8B1336B99}"/>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vert="horz" wrap="square" lIns="0" tIns="45720" rIns="0" bIns="0" anchor="b" anchorCtr="0"/>
          <a:lstStyle/>
          <a:p>
            <a:pPr algn="ctr" eaLnBrk="1" hangingPunct="1"/>
            <a:r>
              <a:rPr dirty="0">
                <a:latin typeface="Cambria" panose="02040503050406030204" pitchFamily="18" charset="0"/>
              </a:rPr>
              <a:t>Structural things</a:t>
            </a:r>
            <a:endParaRPr dirty="0"/>
          </a:p>
        </p:txBody>
      </p:sp>
      <p:sp>
        <p:nvSpPr>
          <p:cNvPr id="28675" name="Content Placeholder 2"/>
          <p:cNvSpPr>
            <a:spLocks noGrp="1"/>
          </p:cNvSpPr>
          <p:nvPr>
            <p:ph idx="1"/>
          </p:nvPr>
        </p:nvSpPr>
        <p:spPr/>
        <p:txBody>
          <a:bodyPr vert="horz" wrap="square" lIns="91440" tIns="45720" rIns="91440" bIns="45720" anchor="t" anchorCtr="0"/>
          <a:lstStyle/>
          <a:p>
            <a:pPr eaLnBrk="1" hangingPunct="1">
              <a:buFont typeface="Wingdings" panose="05000000000000000000" pitchFamily="2" charset="2"/>
              <a:buNone/>
            </a:pPr>
            <a:r>
              <a:rPr sz="2400" b="1" dirty="0">
                <a:latin typeface="Cambria" panose="02040503050406030204" pitchFamily="18" charset="0"/>
              </a:rPr>
              <a:t>Use case:</a:t>
            </a:r>
            <a:endParaRPr sz="2400" dirty="0">
              <a:latin typeface="Cambria" panose="02040503050406030204" pitchFamily="18" charset="0"/>
            </a:endParaRPr>
          </a:p>
          <a:p>
            <a:pPr eaLnBrk="1" hangingPunct="1">
              <a:buFont typeface="Wingdings 2" panose="05020102010507070707" pitchFamily="18" charset="2"/>
              <a:buChar char=""/>
            </a:pPr>
            <a:r>
              <a:rPr sz="2400" dirty="0">
                <a:latin typeface="Cambria" panose="02040503050406030204" pitchFamily="18" charset="0"/>
              </a:rPr>
              <a:t>Use case represents a set of actions performed by a system for a specific goal.</a:t>
            </a:r>
          </a:p>
          <a:p>
            <a:pPr eaLnBrk="1" hangingPunct="1">
              <a:buFont typeface="Wingdings" panose="05000000000000000000" pitchFamily="2" charset="2"/>
              <a:buNone/>
            </a:pPr>
            <a:r>
              <a:rPr sz="2400" b="1" dirty="0">
                <a:latin typeface="Cambria" panose="02040503050406030204" pitchFamily="18" charset="0"/>
              </a:rPr>
              <a:t>Component:</a:t>
            </a:r>
            <a:endParaRPr sz="2400" dirty="0">
              <a:latin typeface="Cambria" panose="02040503050406030204" pitchFamily="18" charset="0"/>
            </a:endParaRPr>
          </a:p>
          <a:p>
            <a:pPr eaLnBrk="1" hangingPunct="1">
              <a:buFont typeface="Wingdings 2" panose="05020102010507070707" pitchFamily="18" charset="2"/>
              <a:buChar char=""/>
            </a:pPr>
            <a:r>
              <a:rPr sz="2400" dirty="0">
                <a:latin typeface="Cambria" panose="02040503050406030204" pitchFamily="18" charset="0"/>
              </a:rPr>
              <a:t>Component describes physical part of a system.</a:t>
            </a:r>
          </a:p>
          <a:p>
            <a:pPr eaLnBrk="1" hangingPunct="1">
              <a:buFont typeface="Wingdings" panose="05000000000000000000" pitchFamily="2" charset="2"/>
              <a:buNone/>
            </a:pPr>
            <a:r>
              <a:rPr sz="2400" b="1" dirty="0">
                <a:latin typeface="Cambria" panose="02040503050406030204" pitchFamily="18" charset="0"/>
              </a:rPr>
              <a:t>Node:</a:t>
            </a:r>
            <a:endParaRPr sz="2400" dirty="0">
              <a:latin typeface="Cambria" panose="02040503050406030204" pitchFamily="18" charset="0"/>
            </a:endParaRPr>
          </a:p>
          <a:p>
            <a:pPr eaLnBrk="1" hangingPunct="1">
              <a:buFont typeface="Wingdings 2" panose="05020102010507070707" pitchFamily="18" charset="2"/>
              <a:buChar char=""/>
            </a:pPr>
            <a:r>
              <a:rPr sz="2400" dirty="0">
                <a:latin typeface="Cambria" panose="02040503050406030204" pitchFamily="18" charset="0"/>
              </a:rPr>
              <a:t>A node can be defined as a physical element that exists at run time.</a:t>
            </a:r>
          </a:p>
          <a:p>
            <a:pPr eaLnBrk="1" hangingPunct="1">
              <a:buFont typeface="Wingdings" panose="05000000000000000000" pitchFamily="2" charset="2"/>
              <a:buNone/>
            </a:pPr>
            <a:endParaRPr sz="2400" dirty="0">
              <a:latin typeface="Cambria" panose="02040503050406030204" pitchFamily="18" charset="0"/>
            </a:endParaRPr>
          </a:p>
          <a:p>
            <a:pPr eaLnBrk="1" hangingPunct="1">
              <a:buFont typeface="Wingdings" panose="05000000000000000000" pitchFamily="2" charset="2"/>
              <a:buNone/>
            </a:pPr>
            <a:endParaRPr sz="2400" dirty="0">
              <a:latin typeface="Cambria" panose="02040503050406030204" pitchFamily="18" charset="0"/>
            </a:endParaRPr>
          </a:p>
        </p:txBody>
      </p:sp>
      <p:pic>
        <p:nvPicPr>
          <p:cNvPr id="2" name="Picture 1">
            <a:extLst>
              <a:ext uri="{FF2B5EF4-FFF2-40B4-BE49-F238E27FC236}">
                <a16:creationId xmlns:a16="http://schemas.microsoft.com/office/drawing/2014/main" id="{6B8A928C-E3EE-1967-D015-47EB584B58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807478A4-1C85-1D1A-1342-D041DE5C783D}"/>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65F52D6-68C4-8779-B91A-B13ED0D86ED7}"/>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vert="horz" wrap="square" lIns="0" tIns="45720" rIns="0" bIns="0" anchor="b" anchorCtr="0"/>
          <a:lstStyle/>
          <a:p>
            <a:pPr algn="ctr" eaLnBrk="1" hangingPunct="1"/>
            <a:r>
              <a:rPr dirty="0">
                <a:latin typeface="Cambria" panose="02040503050406030204" pitchFamily="18" charset="0"/>
              </a:rPr>
              <a:t>Behavioral things</a:t>
            </a:r>
          </a:p>
        </p:txBody>
      </p:sp>
      <p:sp>
        <p:nvSpPr>
          <p:cNvPr id="29699" name="Content Placeholder 2"/>
          <p:cNvSpPr>
            <a:spLocks noGrp="1"/>
          </p:cNvSpPr>
          <p:nvPr>
            <p:ph idx="1"/>
          </p:nvPr>
        </p:nvSpPr>
        <p:spPr/>
        <p:txBody>
          <a:bodyPr vert="horz" wrap="square" lIns="91440" tIns="45720" rIns="91440" bIns="45720" anchor="t" anchorCtr="0"/>
          <a:lstStyle/>
          <a:p>
            <a:pPr eaLnBrk="1" hangingPunct="1"/>
            <a:r>
              <a:rPr sz="2400" dirty="0">
                <a:latin typeface="Cambria" panose="02040503050406030204" pitchFamily="18" charset="0"/>
              </a:rPr>
              <a:t>It  consists of the dynamic parts of UML models.</a:t>
            </a:r>
          </a:p>
          <a:p>
            <a:pPr eaLnBrk="1" hangingPunct="1">
              <a:buFont typeface="Wingdings" panose="05000000000000000000" pitchFamily="2" charset="2"/>
              <a:buNone/>
            </a:pPr>
            <a:r>
              <a:rPr sz="2400" b="1" dirty="0">
                <a:latin typeface="Cambria" panose="02040503050406030204" pitchFamily="18" charset="0"/>
              </a:rPr>
              <a:t>Interaction:</a:t>
            </a:r>
            <a:endParaRPr sz="2400" dirty="0">
              <a:latin typeface="Cambria" panose="02040503050406030204" pitchFamily="18" charset="0"/>
            </a:endParaRPr>
          </a:p>
          <a:p>
            <a:pPr eaLnBrk="1" hangingPunct="1"/>
            <a:r>
              <a:rPr sz="2400" dirty="0">
                <a:latin typeface="Cambria" panose="02040503050406030204" pitchFamily="18" charset="0"/>
              </a:rPr>
              <a:t>It is defined as a behavior that consists of a group of messages exchanged among elements to accomplish a specific task.</a:t>
            </a:r>
          </a:p>
          <a:p>
            <a:pPr eaLnBrk="1" hangingPunct="1">
              <a:buFont typeface="Wingdings" panose="05000000000000000000" pitchFamily="2" charset="2"/>
              <a:buNone/>
            </a:pPr>
            <a:r>
              <a:rPr sz="2400" b="1" dirty="0">
                <a:latin typeface="Cambria" panose="02040503050406030204" pitchFamily="18" charset="0"/>
              </a:rPr>
              <a:t>State machine:</a:t>
            </a:r>
            <a:endParaRPr sz="2400" dirty="0">
              <a:latin typeface="Cambria" panose="02040503050406030204" pitchFamily="18" charset="0"/>
            </a:endParaRPr>
          </a:p>
          <a:p>
            <a:pPr eaLnBrk="1" hangingPunct="1"/>
            <a:r>
              <a:rPr sz="2400" dirty="0">
                <a:latin typeface="Cambria" panose="02040503050406030204" pitchFamily="18" charset="0"/>
              </a:rPr>
              <a:t>It is useful when the state of an object in its life cycle is important. It defines the sequence of states an object goes through in response to events.</a:t>
            </a:r>
          </a:p>
        </p:txBody>
      </p:sp>
      <p:pic>
        <p:nvPicPr>
          <p:cNvPr id="2" name="Picture 1">
            <a:extLst>
              <a:ext uri="{FF2B5EF4-FFF2-40B4-BE49-F238E27FC236}">
                <a16:creationId xmlns:a16="http://schemas.microsoft.com/office/drawing/2014/main" id="{C9A263BF-24B5-9395-844B-5682F3862F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3331D485-C6EF-EBBC-E45F-54EC07C5390E}"/>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0668183-ECC0-7706-3A23-0560A3E92032}"/>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vert="horz" wrap="square" lIns="0" tIns="45720" rIns="0" bIns="0" anchor="b" anchorCtr="0"/>
          <a:lstStyle/>
          <a:p>
            <a:pPr algn="ctr" eaLnBrk="1" hangingPunct="1"/>
            <a:r>
              <a:rPr dirty="0">
                <a:latin typeface="Cambria" panose="02040503050406030204" pitchFamily="18" charset="0"/>
              </a:rPr>
              <a:t>Grouping things</a:t>
            </a:r>
          </a:p>
        </p:txBody>
      </p:sp>
      <p:sp>
        <p:nvSpPr>
          <p:cNvPr id="30723" name="Content Placeholder 2"/>
          <p:cNvSpPr>
            <a:spLocks noGrp="1"/>
          </p:cNvSpPr>
          <p:nvPr>
            <p:ph idx="1"/>
          </p:nvPr>
        </p:nvSpPr>
        <p:spPr/>
        <p:txBody>
          <a:bodyPr vert="horz" wrap="square" lIns="91440" tIns="45720" rIns="91440" bIns="45720" anchor="t" anchorCtr="0"/>
          <a:lstStyle/>
          <a:p>
            <a:pPr eaLnBrk="1" hangingPunct="1"/>
            <a:r>
              <a:rPr sz="2400" b="1" dirty="0">
                <a:latin typeface="Cambria" panose="02040503050406030204" pitchFamily="18" charset="0"/>
              </a:rPr>
              <a:t>Grouping things</a:t>
            </a:r>
            <a:r>
              <a:rPr sz="2400" dirty="0">
                <a:latin typeface="Cambria" panose="02040503050406030204" pitchFamily="18" charset="0"/>
              </a:rPr>
              <a:t> can be defined as a mechanism to group elements of a UML model together. There is only one grouping thing available:</a:t>
            </a:r>
          </a:p>
          <a:p>
            <a:pPr eaLnBrk="1" hangingPunct="1"/>
            <a:endParaRPr sz="2400" dirty="0">
              <a:latin typeface="Cambria" panose="02040503050406030204" pitchFamily="18" charset="0"/>
            </a:endParaRPr>
          </a:p>
          <a:p>
            <a:pPr eaLnBrk="1" hangingPunct="1">
              <a:buFont typeface="Wingdings" panose="05000000000000000000" pitchFamily="2" charset="2"/>
              <a:buNone/>
            </a:pPr>
            <a:r>
              <a:rPr sz="2400" b="1" dirty="0">
                <a:latin typeface="Cambria" panose="02040503050406030204" pitchFamily="18" charset="0"/>
              </a:rPr>
              <a:t>Package:</a:t>
            </a:r>
            <a:endParaRPr sz="2400" dirty="0">
              <a:latin typeface="Cambria" panose="02040503050406030204" pitchFamily="18" charset="0"/>
            </a:endParaRPr>
          </a:p>
          <a:p>
            <a:pPr eaLnBrk="1" hangingPunct="1"/>
            <a:r>
              <a:rPr sz="2400" dirty="0">
                <a:latin typeface="Cambria" panose="02040503050406030204" pitchFamily="18" charset="0"/>
              </a:rPr>
              <a:t>Package is the only one grouping thing available for gathering structural and behavioral things.</a:t>
            </a:r>
          </a:p>
          <a:p>
            <a:pPr eaLnBrk="1" hangingPunct="1"/>
            <a:endParaRPr sz="2400" dirty="0">
              <a:latin typeface="Cambria" panose="02040503050406030204" pitchFamily="18" charset="0"/>
            </a:endParaRPr>
          </a:p>
        </p:txBody>
      </p:sp>
      <p:pic>
        <p:nvPicPr>
          <p:cNvPr id="2" name="Picture 1">
            <a:extLst>
              <a:ext uri="{FF2B5EF4-FFF2-40B4-BE49-F238E27FC236}">
                <a16:creationId xmlns:a16="http://schemas.microsoft.com/office/drawing/2014/main" id="{017FA7D5-47A9-FE66-E596-AD679C35DF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411815CE-3184-EB2D-7A78-DC4307867E68}"/>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986496C-DE79-B06F-5ACE-1FEBB108F4C6}"/>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vert="horz" wrap="square" lIns="0" tIns="45720" rIns="0" bIns="0" anchor="b" anchorCtr="0"/>
          <a:lstStyle/>
          <a:p>
            <a:pPr algn="ctr" eaLnBrk="1" hangingPunct="1"/>
            <a:r>
              <a:rPr sz="3200" b="1" dirty="0">
                <a:latin typeface="Cambria" panose="02040503050406030204" pitchFamily="18" charset="0"/>
              </a:rPr>
              <a:t>Annotational things</a:t>
            </a:r>
          </a:p>
        </p:txBody>
      </p:sp>
      <p:sp>
        <p:nvSpPr>
          <p:cNvPr id="31747" name="Content Placeholder 2"/>
          <p:cNvSpPr>
            <a:spLocks noGrp="1"/>
          </p:cNvSpPr>
          <p:nvPr>
            <p:ph idx="1"/>
          </p:nvPr>
        </p:nvSpPr>
        <p:spPr>
          <a:xfrm>
            <a:off x="381000" y="1752600"/>
            <a:ext cx="8229600" cy="4114800"/>
          </a:xfrm>
        </p:spPr>
        <p:txBody>
          <a:bodyPr vert="horz" wrap="square" lIns="91440" tIns="45720" rIns="91440" bIns="45720" anchor="t" anchorCtr="0"/>
          <a:lstStyle/>
          <a:p>
            <a:pPr eaLnBrk="1" hangingPunct="1"/>
            <a:r>
              <a:rPr sz="2400" b="1" dirty="0">
                <a:latin typeface="Cambria" panose="02040503050406030204" pitchFamily="18" charset="0"/>
              </a:rPr>
              <a:t>Annotational things</a:t>
            </a:r>
            <a:r>
              <a:rPr sz="2400" dirty="0">
                <a:latin typeface="Cambria" panose="02040503050406030204" pitchFamily="18" charset="0"/>
              </a:rPr>
              <a:t> can be defined as a mechanism to capture remarks, descriptions, and comments of UML model elements. </a:t>
            </a:r>
          </a:p>
          <a:p>
            <a:pPr eaLnBrk="1" hangingPunct="1"/>
            <a:endParaRPr sz="2400" dirty="0">
              <a:latin typeface="Cambria" panose="02040503050406030204" pitchFamily="18" charset="0"/>
            </a:endParaRPr>
          </a:p>
          <a:p>
            <a:pPr eaLnBrk="1" hangingPunct="1">
              <a:buFont typeface="Wingdings" panose="05000000000000000000" pitchFamily="2" charset="2"/>
              <a:buNone/>
            </a:pPr>
            <a:r>
              <a:rPr sz="2400" b="1" dirty="0">
                <a:latin typeface="Cambria" panose="02040503050406030204" pitchFamily="18" charset="0"/>
              </a:rPr>
              <a:t>Note</a:t>
            </a:r>
            <a:r>
              <a:rPr sz="2400" dirty="0">
                <a:latin typeface="Cambria" panose="02040503050406030204" pitchFamily="18" charset="0"/>
              </a:rPr>
              <a:t> </a:t>
            </a:r>
          </a:p>
          <a:p>
            <a:pPr eaLnBrk="1" hangingPunct="1"/>
            <a:r>
              <a:rPr sz="2400" dirty="0">
                <a:latin typeface="Cambria" panose="02040503050406030204" pitchFamily="18" charset="0"/>
              </a:rPr>
              <a:t>It is the only one Annotational thing available.</a:t>
            </a:r>
          </a:p>
          <a:p>
            <a:pPr eaLnBrk="1" hangingPunct="1"/>
            <a:r>
              <a:rPr sz="2400" dirty="0">
                <a:latin typeface="Cambria" panose="02040503050406030204" pitchFamily="18" charset="0"/>
              </a:rPr>
              <a:t>A note is used to render comments, constraints etc of an UML element.</a:t>
            </a:r>
          </a:p>
          <a:p>
            <a:pPr eaLnBrk="1" hangingPunct="1"/>
            <a:endParaRPr sz="2400" dirty="0">
              <a:latin typeface="Cambria" panose="02040503050406030204" pitchFamily="18" charset="0"/>
            </a:endParaRPr>
          </a:p>
        </p:txBody>
      </p:sp>
      <p:pic>
        <p:nvPicPr>
          <p:cNvPr id="2" name="Picture 1">
            <a:extLst>
              <a:ext uri="{FF2B5EF4-FFF2-40B4-BE49-F238E27FC236}">
                <a16:creationId xmlns:a16="http://schemas.microsoft.com/office/drawing/2014/main" id="{17A3EDBC-764A-E17D-5547-13353225CA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5AEC1C6F-F467-CF20-CEAD-223493B0F0E2}"/>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2C90B21-90AF-4205-8C79-12FEC0A182D8}"/>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704850"/>
            <a:ext cx="8229600" cy="819150"/>
          </a:xfrm>
        </p:spPr>
        <p:txBody>
          <a:bodyPr vert="horz" wrap="square" lIns="0" tIns="45720" rIns="0" bIns="0" anchor="b" anchorCtr="0"/>
          <a:lstStyle/>
          <a:p>
            <a:pPr algn="ctr" eaLnBrk="1" hangingPunct="1"/>
            <a:r>
              <a:rPr sz="4000" dirty="0">
                <a:latin typeface="Cambria" panose="02040503050406030204" pitchFamily="18" charset="0"/>
              </a:rPr>
              <a:t>Relationships</a:t>
            </a:r>
          </a:p>
        </p:txBody>
      </p:sp>
      <p:sp>
        <p:nvSpPr>
          <p:cNvPr id="3" name="Content Placeholder 2"/>
          <p:cNvSpPr>
            <a:spLocks noGrp="1"/>
          </p:cNvSpPr>
          <p:nvPr>
            <p:ph idx="1"/>
          </p:nvPr>
        </p:nvSpPr>
        <p:spPr/>
        <p:txBody>
          <a:bodyPr vert="horz" wrap="square" lIns="91440" tIns="45720" rIns="91440" bIns="45720" numCol="1" anchor="t" anchorCtr="0" compatLnSpc="1">
            <a:normAutofit lnSpcReduction="10000"/>
          </a:bodyPr>
          <a:lstStyle/>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It shows how elements are associated with each other and this association describes the functionality of an application.</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There are four kinds of relationships available.</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r>
              <a:rPr kumimoji="0" lang="en-US" sz="24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Dependency:</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Dependency is a relationship between two things in which change in one element also affects the other one.</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r>
              <a:rPr kumimoji="0" lang="en-US" sz="24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Association:</a:t>
            </a:r>
          </a:p>
          <a:p>
            <a:pPr marL="274320" marR="0" lvl="0" indent="-274320" algn="just"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Association is basically a set of links that connects elements of an UML model. It also describes how many objects are taking part in that relationship.</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p:txBody>
      </p:sp>
      <p:pic>
        <p:nvPicPr>
          <p:cNvPr id="2" name="Picture 1">
            <a:extLst>
              <a:ext uri="{FF2B5EF4-FFF2-40B4-BE49-F238E27FC236}">
                <a16:creationId xmlns:a16="http://schemas.microsoft.com/office/drawing/2014/main" id="{19F42BAF-90FC-5D9A-1857-7D74B4E3DE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4" name="Rectangle 3">
            <a:extLst>
              <a:ext uri="{FF2B5EF4-FFF2-40B4-BE49-F238E27FC236}">
                <a16:creationId xmlns:a16="http://schemas.microsoft.com/office/drawing/2014/main" id="{401A89C0-39C9-98D0-ED8C-E198CD5C972F}"/>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D2D234-33B6-AB3F-CD28-323899748DA8}"/>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vert="horz" wrap="square" lIns="0" tIns="45720" rIns="0" bIns="0" anchor="b" anchorCtr="0"/>
          <a:lstStyle/>
          <a:p>
            <a:pPr algn="ctr" eaLnBrk="1" hangingPunct="1"/>
            <a:r>
              <a:rPr sz="4000" dirty="0">
                <a:latin typeface="Cambria" panose="02040503050406030204" pitchFamily="18" charset="0"/>
              </a:rPr>
              <a:t>Relationships</a:t>
            </a:r>
            <a:endParaRPr sz="4000" dirty="0"/>
          </a:p>
        </p:txBody>
      </p:sp>
      <p:sp>
        <p:nvSpPr>
          <p:cNvPr id="33795" name="Content Placeholder 2"/>
          <p:cNvSpPr>
            <a:spLocks noGrp="1"/>
          </p:cNvSpPr>
          <p:nvPr>
            <p:ph idx="1"/>
          </p:nvPr>
        </p:nvSpPr>
        <p:spPr/>
        <p:txBody>
          <a:bodyPr vert="horz" wrap="square" lIns="91440" tIns="45720" rIns="91440" bIns="45720" anchor="t" anchorCtr="0"/>
          <a:lstStyle/>
          <a:p>
            <a:pPr eaLnBrk="1" hangingPunct="1">
              <a:buFont typeface="Wingdings" panose="05000000000000000000" pitchFamily="2" charset="2"/>
              <a:buNone/>
            </a:pPr>
            <a:r>
              <a:rPr sz="2400" dirty="0">
                <a:latin typeface="Cambria" panose="02040503050406030204" pitchFamily="18" charset="0"/>
              </a:rPr>
              <a:t>Generalization:</a:t>
            </a:r>
          </a:p>
          <a:p>
            <a:pPr algn="just" eaLnBrk="1" hangingPunct="1">
              <a:buFont typeface="Wingdings 2" panose="05020102010507070707" pitchFamily="18" charset="2"/>
              <a:buChar char=""/>
            </a:pPr>
            <a:r>
              <a:rPr sz="2400" dirty="0">
                <a:latin typeface="Cambria" panose="02040503050406030204" pitchFamily="18" charset="0"/>
              </a:rPr>
              <a:t>Generalization can be defined as a relationship which connects a specialized element with a generalized element. It basically describes inheritance relationship in the world of objects.</a:t>
            </a:r>
          </a:p>
          <a:p>
            <a:pPr eaLnBrk="1" hangingPunct="1">
              <a:buFont typeface="Wingdings" panose="05000000000000000000" pitchFamily="2" charset="2"/>
              <a:buNone/>
            </a:pPr>
            <a:r>
              <a:rPr sz="2400" dirty="0">
                <a:latin typeface="Cambria" panose="02040503050406030204" pitchFamily="18" charset="0"/>
              </a:rPr>
              <a:t>Realization:</a:t>
            </a:r>
          </a:p>
          <a:p>
            <a:pPr algn="just" eaLnBrk="1" hangingPunct="1">
              <a:buFont typeface="Wingdings 2" panose="05020102010507070707" pitchFamily="18" charset="2"/>
              <a:buChar char=""/>
            </a:pPr>
            <a:r>
              <a:rPr sz="2400" dirty="0">
                <a:latin typeface="Cambria" panose="02040503050406030204" pitchFamily="18" charset="0"/>
              </a:rPr>
              <a:t>Realization can be defined as a relationship in which two elements are connected. One element describes some responsibility which is not implemented and the other one implements them. This relationship exists in case of interfaces.</a:t>
            </a:r>
          </a:p>
          <a:p>
            <a:pPr eaLnBrk="1" hangingPunct="1">
              <a:buFont typeface="Wingdings 2" panose="05020102010507070707" pitchFamily="18" charset="2"/>
              <a:buChar char=""/>
            </a:pPr>
            <a:endParaRPr dirty="0"/>
          </a:p>
        </p:txBody>
      </p:sp>
      <p:pic>
        <p:nvPicPr>
          <p:cNvPr id="2" name="Picture 1">
            <a:extLst>
              <a:ext uri="{FF2B5EF4-FFF2-40B4-BE49-F238E27FC236}">
                <a16:creationId xmlns:a16="http://schemas.microsoft.com/office/drawing/2014/main" id="{5FA4B5C3-9814-0F0F-A806-5EF6FD7133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DA33AD9E-8DB6-D356-CEC4-14D256223A6E}"/>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9B60312-F7ED-CDBF-AF1B-A694D70B3D3E}"/>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4" descr="http://www.tutorialspoint.com/object_oriented_analysis_design/images/relationships_notation.jpg"/>
          <p:cNvPicPr>
            <a:picLocks noChangeAspect="1"/>
          </p:cNvPicPr>
          <p:nvPr/>
        </p:nvPicPr>
        <p:blipFill>
          <a:blip r:embed="rId2"/>
          <a:stretch>
            <a:fillRect/>
          </a:stretch>
        </p:blipFill>
        <p:spPr>
          <a:xfrm>
            <a:off x="685800" y="1066800"/>
            <a:ext cx="7848600" cy="4800600"/>
          </a:xfrm>
          <a:prstGeom prst="rect">
            <a:avLst/>
          </a:prstGeom>
          <a:noFill/>
          <a:ln w="9525">
            <a:noFill/>
          </a:ln>
        </p:spPr>
      </p:pic>
      <p:pic>
        <p:nvPicPr>
          <p:cNvPr id="2" name="Picture 1">
            <a:extLst>
              <a:ext uri="{FF2B5EF4-FFF2-40B4-BE49-F238E27FC236}">
                <a16:creationId xmlns:a16="http://schemas.microsoft.com/office/drawing/2014/main" id="{201FB373-9954-20FA-256F-678D4746CA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2A0F14DF-2B3E-5C56-588C-34DFA935C716}"/>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7670DC9-C807-7A44-C4BF-5479633FDC29}"/>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249"/>
          <p:cNvPicPr>
            <a:picLocks noChangeAspect="1"/>
          </p:cNvPicPr>
          <p:nvPr/>
        </p:nvPicPr>
        <p:blipFill>
          <a:blip r:embed="rId2"/>
          <a:stretch>
            <a:fillRect/>
          </a:stretch>
        </p:blipFill>
        <p:spPr>
          <a:xfrm>
            <a:off x="533400" y="838200"/>
            <a:ext cx="8001000" cy="5562600"/>
          </a:xfrm>
          <a:prstGeom prst="rect">
            <a:avLst/>
          </a:prstGeom>
          <a:noFill/>
          <a:ln w="9525">
            <a:noFill/>
          </a:ln>
        </p:spPr>
      </p:pic>
      <p:pic>
        <p:nvPicPr>
          <p:cNvPr id="2" name="Picture 1">
            <a:extLst>
              <a:ext uri="{FF2B5EF4-FFF2-40B4-BE49-F238E27FC236}">
                <a16:creationId xmlns:a16="http://schemas.microsoft.com/office/drawing/2014/main" id="{686F8169-FCFB-3125-DA61-288D437931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 y="-27189"/>
            <a:ext cx="884881" cy="865390"/>
          </a:xfrm>
          <a:prstGeom prst="rect">
            <a:avLst/>
          </a:prstGeom>
        </p:spPr>
      </p:pic>
      <p:sp>
        <p:nvSpPr>
          <p:cNvPr id="3" name="Rectangle 2">
            <a:extLst>
              <a:ext uri="{FF2B5EF4-FFF2-40B4-BE49-F238E27FC236}">
                <a16:creationId xmlns:a16="http://schemas.microsoft.com/office/drawing/2014/main" id="{DD30E99C-6577-66A1-A57E-A606E53B5F5E}"/>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F7C7A18-BF5D-073C-D66E-DD93A2342424}"/>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http://dcmms.sourceforge.net/doc/administration/figure/uml_legend.png"/>
          <p:cNvPicPr>
            <a:picLocks noChangeAspect="1"/>
          </p:cNvPicPr>
          <p:nvPr/>
        </p:nvPicPr>
        <p:blipFill>
          <a:blip r:embed="rId2"/>
          <a:stretch>
            <a:fillRect/>
          </a:stretch>
        </p:blipFill>
        <p:spPr>
          <a:xfrm>
            <a:off x="762000" y="1524000"/>
            <a:ext cx="7620000" cy="4343400"/>
          </a:xfrm>
          <a:prstGeom prst="rect">
            <a:avLst/>
          </a:prstGeom>
          <a:noFill/>
          <a:ln w="9525">
            <a:noFill/>
          </a:ln>
        </p:spPr>
      </p:pic>
      <p:sp>
        <p:nvSpPr>
          <p:cNvPr id="36867" name="Title 2"/>
          <p:cNvSpPr>
            <a:spLocks noGrp="1"/>
          </p:cNvSpPr>
          <p:nvPr>
            <p:ph type="title"/>
          </p:nvPr>
        </p:nvSpPr>
        <p:spPr>
          <a:xfrm>
            <a:off x="457200" y="704850"/>
            <a:ext cx="8229600" cy="742950"/>
          </a:xfrm>
        </p:spPr>
        <p:txBody>
          <a:bodyPr vert="horz" wrap="square" lIns="0" tIns="45720" rIns="0" bIns="0" anchor="b" anchorCtr="0"/>
          <a:lstStyle/>
          <a:p>
            <a:pPr algn="ctr" eaLnBrk="1" hangingPunct="1"/>
            <a:r>
              <a:rPr sz="4000" dirty="0"/>
              <a:t>Notations</a:t>
            </a:r>
          </a:p>
        </p:txBody>
      </p:sp>
      <p:pic>
        <p:nvPicPr>
          <p:cNvPr id="2" name="Picture 1">
            <a:extLst>
              <a:ext uri="{FF2B5EF4-FFF2-40B4-BE49-F238E27FC236}">
                <a16:creationId xmlns:a16="http://schemas.microsoft.com/office/drawing/2014/main" id="{B6DE421D-5ED0-221C-8BA1-9B4A57D5E7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D827DFFE-B510-4E5E-1D1D-3B542D534A46}"/>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F4BBB24-1607-F8CD-C2C9-2F4D8B2B01C7}"/>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modelelements"/>
          <p:cNvPicPr>
            <a:picLocks noChangeAspect="1"/>
          </p:cNvPicPr>
          <p:nvPr/>
        </p:nvPicPr>
        <p:blipFill>
          <a:blip r:embed="rId2"/>
          <a:stretch>
            <a:fillRect/>
          </a:stretch>
        </p:blipFill>
        <p:spPr>
          <a:xfrm>
            <a:off x="304800" y="1676400"/>
            <a:ext cx="8458200" cy="4876800"/>
          </a:xfrm>
          <a:prstGeom prst="rect">
            <a:avLst/>
          </a:prstGeom>
          <a:noFill/>
          <a:ln w="9525">
            <a:noFill/>
          </a:ln>
        </p:spPr>
      </p:pic>
      <p:sp>
        <p:nvSpPr>
          <p:cNvPr id="3" name="Title 2"/>
          <p:cNvSpPr>
            <a:spLocks noGrp="1"/>
          </p:cNvSpPr>
          <p:nvPr>
            <p:ph type="title"/>
          </p:nvPr>
        </p:nvSpPr>
        <p:spPr bwMode="auto">
          <a:xfrm>
            <a:off x="457200" y="704088"/>
            <a:ext cx="8305800" cy="819912"/>
          </a:xfrm>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normAutofit fontScale="90000"/>
            <a:scene3d>
              <a:camera prst="orthographicFront"/>
              <a:lightRig rig="freezing" dir="t">
                <a:rot lat="0" lon="0" rev="5640000"/>
              </a:lightRig>
            </a:scene3d>
            <a:sp3d prstMaterial="flat">
              <a:contourClr>
                <a:schemeClr val="tx2"/>
              </a:contourClr>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5400" b="0" i="0" u="none" strike="noStrike" kern="1200" cap="none" spc="0" normalizeH="0" baseline="0" noProof="0" dirty="0">
                <a:ln>
                  <a:noFill/>
                </a:ln>
                <a:solidFill>
                  <a:schemeClr val="tx2"/>
                </a:solidFill>
                <a:effectLst/>
                <a:uLnTx/>
                <a:uFillTx/>
                <a:latin typeface="+mj-lt"/>
                <a:ea typeface="+mj-ea"/>
                <a:cs typeface="+mj-cs"/>
              </a:rPr>
              <a:t>Notations</a:t>
            </a: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pic>
        <p:nvPicPr>
          <p:cNvPr id="2" name="Picture 1">
            <a:extLst>
              <a:ext uri="{FF2B5EF4-FFF2-40B4-BE49-F238E27FC236}">
                <a16:creationId xmlns:a16="http://schemas.microsoft.com/office/drawing/2014/main" id="{F72E675D-1419-7659-4121-031024A4D6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4" name="Rectangle 3">
            <a:extLst>
              <a:ext uri="{FF2B5EF4-FFF2-40B4-BE49-F238E27FC236}">
                <a16:creationId xmlns:a16="http://schemas.microsoft.com/office/drawing/2014/main" id="{B264ED1A-69DC-2AF0-E9F7-97412A0F8236}"/>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A1882F-EF6F-CCD6-177E-3AA871B96041}"/>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381000"/>
            <a:ext cx="8229600" cy="1189038"/>
          </a:xfrm>
        </p:spPr>
        <p:txBody>
          <a:bodyPr vert="horz" wrap="square" lIns="0" tIns="45720" rIns="0" bIns="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br>
              <a:rPr kumimoji="0" lang="en-US" sz="2400" b="1" i="0" u="none" strike="noStrike" kern="1200" cap="none" spc="0" normalizeH="0" baseline="0" noProof="0" dirty="0">
                <a:ln>
                  <a:noFill/>
                </a:ln>
                <a:solidFill>
                  <a:schemeClr val="tx1"/>
                </a:solidFill>
                <a:effectLst/>
                <a:uLnTx/>
                <a:uFillTx/>
                <a:latin typeface="Cambria" panose="02040503050406030204" pitchFamily="18" charset="0"/>
                <a:ea typeface="+mj-ea"/>
                <a:cs typeface="+mj-cs"/>
              </a:rPr>
            </a:br>
            <a:r>
              <a:rPr kumimoji="0" lang="en-US" sz="2800" b="1" i="0" u="none" strike="noStrike" kern="1200" cap="none" spc="0" normalizeH="0" baseline="0" noProof="0" dirty="0">
                <a:ln>
                  <a:noFill/>
                </a:ln>
                <a:solidFill>
                  <a:schemeClr val="tx1"/>
                </a:solidFill>
                <a:effectLst/>
                <a:uLnTx/>
                <a:uFillTx/>
                <a:latin typeface="Cambria" panose="02040503050406030204" pitchFamily="18" charset="0"/>
                <a:ea typeface="+mj-ea"/>
                <a:cs typeface="+mj-cs"/>
              </a:rPr>
              <a:t>Types of UML Diagrams</a:t>
            </a:r>
            <a:br>
              <a:rPr kumimoji="0" lang="en-US" sz="2800" b="1" i="0" u="none" strike="noStrike" kern="1200" cap="none" spc="0" normalizeH="0" baseline="0" noProof="0" dirty="0">
                <a:ln>
                  <a:noFill/>
                </a:ln>
                <a:solidFill>
                  <a:schemeClr val="tx1"/>
                </a:solidFill>
                <a:effectLst/>
                <a:uLnTx/>
                <a:uFillTx/>
                <a:latin typeface="Cambria" panose="02040503050406030204" pitchFamily="18" charset="0"/>
                <a:ea typeface="+mj-ea"/>
                <a:cs typeface="+mj-cs"/>
              </a:rPr>
            </a:br>
            <a:endParaRPr kumimoji="0" lang="en-US" sz="2800" b="1" i="0" u="none" strike="noStrike" kern="1200" cap="none" spc="0" normalizeH="0" baseline="0" noProof="0" dirty="0">
              <a:ln>
                <a:noFill/>
              </a:ln>
              <a:solidFill>
                <a:schemeClr val="tx1"/>
              </a:solidFill>
              <a:effectLst/>
              <a:uLnTx/>
              <a:uFillTx/>
              <a:latin typeface="Cambria" panose="02040503050406030204" pitchFamily="18" charset="0"/>
              <a:ea typeface="+mj-ea"/>
              <a:cs typeface="+mj-cs"/>
            </a:endParaRPr>
          </a:p>
        </p:txBody>
      </p:sp>
      <p:sp>
        <p:nvSpPr>
          <p:cNvPr id="38915" name="Rectangle 3"/>
          <p:cNvSpPr>
            <a:spLocks noGrp="1"/>
          </p:cNvSpPr>
          <p:nvPr>
            <p:ph idx="1"/>
          </p:nvPr>
        </p:nvSpPr>
        <p:spPr>
          <a:xfrm>
            <a:off x="304800" y="1371600"/>
            <a:ext cx="7620000" cy="5105400"/>
          </a:xfrm>
        </p:spPr>
        <p:txBody>
          <a:bodyPr vert="horz" wrap="square" lIns="91440" tIns="45720" rIns="91440" bIns="45720" anchor="t" anchorCtr="0"/>
          <a:lstStyle/>
          <a:p>
            <a:pPr eaLnBrk="1" hangingPunct="1">
              <a:lnSpc>
                <a:spcPct val="80000"/>
              </a:lnSpc>
            </a:pPr>
            <a:r>
              <a:rPr sz="2400" dirty="0">
                <a:latin typeface="Cambria" panose="02040503050406030204" pitchFamily="18" charset="0"/>
              </a:rPr>
              <a:t>UML includes the following nine diagrams</a:t>
            </a:r>
          </a:p>
          <a:p>
            <a:pPr eaLnBrk="1" hangingPunct="1"/>
            <a:r>
              <a:rPr sz="2400" dirty="0">
                <a:latin typeface="Cambria" panose="02040503050406030204" pitchFamily="18" charset="0"/>
              </a:rPr>
              <a:t>Class diagram</a:t>
            </a:r>
          </a:p>
          <a:p>
            <a:pPr eaLnBrk="1" hangingPunct="1"/>
            <a:r>
              <a:rPr sz="2400" dirty="0">
                <a:latin typeface="Cambria" panose="02040503050406030204" pitchFamily="18" charset="0"/>
              </a:rPr>
              <a:t>Object diagram</a:t>
            </a:r>
          </a:p>
          <a:p>
            <a:pPr eaLnBrk="1" hangingPunct="1"/>
            <a:r>
              <a:rPr sz="2400" dirty="0">
                <a:latin typeface="Cambria" panose="02040503050406030204" pitchFamily="18" charset="0"/>
              </a:rPr>
              <a:t>Use case diagram</a:t>
            </a:r>
          </a:p>
          <a:p>
            <a:pPr eaLnBrk="1" hangingPunct="1"/>
            <a:r>
              <a:rPr sz="2400" dirty="0">
                <a:latin typeface="Cambria" panose="02040503050406030204" pitchFamily="18" charset="0"/>
              </a:rPr>
              <a:t>Sequence diagram</a:t>
            </a:r>
          </a:p>
          <a:p>
            <a:pPr eaLnBrk="1" hangingPunct="1"/>
            <a:r>
              <a:rPr sz="2400" dirty="0">
                <a:latin typeface="Cambria" panose="02040503050406030204" pitchFamily="18" charset="0"/>
              </a:rPr>
              <a:t>Collaboration diagram</a:t>
            </a:r>
          </a:p>
          <a:p>
            <a:pPr eaLnBrk="1" hangingPunct="1"/>
            <a:r>
              <a:rPr sz="2400" dirty="0">
                <a:latin typeface="Cambria" panose="02040503050406030204" pitchFamily="18" charset="0"/>
              </a:rPr>
              <a:t>Activity diagram</a:t>
            </a:r>
          </a:p>
          <a:p>
            <a:pPr eaLnBrk="1" hangingPunct="1"/>
            <a:r>
              <a:rPr sz="2400" dirty="0">
                <a:latin typeface="Cambria" panose="02040503050406030204" pitchFamily="18" charset="0"/>
              </a:rPr>
              <a:t>Statechart diagram</a:t>
            </a:r>
          </a:p>
          <a:p>
            <a:pPr eaLnBrk="1" hangingPunct="1"/>
            <a:r>
              <a:rPr sz="2400" dirty="0">
                <a:latin typeface="Cambria" panose="02040503050406030204" pitchFamily="18" charset="0"/>
              </a:rPr>
              <a:t>Deployment diagram</a:t>
            </a:r>
          </a:p>
          <a:p>
            <a:pPr eaLnBrk="1" hangingPunct="1"/>
            <a:r>
              <a:rPr sz="2400" dirty="0">
                <a:latin typeface="Cambria" panose="02040503050406030204" pitchFamily="18" charset="0"/>
              </a:rPr>
              <a:t>Component diagram</a:t>
            </a:r>
          </a:p>
        </p:txBody>
      </p:sp>
      <p:pic>
        <p:nvPicPr>
          <p:cNvPr id="2" name="Picture 1">
            <a:extLst>
              <a:ext uri="{FF2B5EF4-FFF2-40B4-BE49-F238E27FC236}">
                <a16:creationId xmlns:a16="http://schemas.microsoft.com/office/drawing/2014/main" id="{F795DA69-FB35-FEF0-52DF-B542889F5F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9E0B5547-ADBE-745E-F19B-196784B8AC8E}"/>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CF0833-033D-A28B-7A0B-9D625BFE3373}"/>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3400" y="0"/>
            <a:ext cx="8229600" cy="1371600"/>
          </a:xfrm>
        </p:spPr>
        <p:txBody>
          <a:bodyPr vert="horz" wrap="square" lIns="0" tIns="45720" rIns="0" bIns="0" anchor="b" anchorCtr="0"/>
          <a:lstStyle/>
          <a:p>
            <a:pPr algn="ctr" eaLnBrk="1" hangingPunct="1"/>
            <a:r>
              <a:rPr sz="2800" b="1" dirty="0">
                <a:latin typeface="Cambria" panose="02040503050406030204" pitchFamily="18" charset="0"/>
              </a:rPr>
              <a:t>Structural Diagrams</a:t>
            </a:r>
            <a:endParaRPr sz="2800" dirty="0">
              <a:latin typeface="Cambria" panose="02040503050406030204" pitchFamily="18" charset="0"/>
            </a:endParaRPr>
          </a:p>
        </p:txBody>
      </p:sp>
      <p:sp>
        <p:nvSpPr>
          <p:cNvPr id="39939" name="Content Placeholder 2"/>
          <p:cNvSpPr>
            <a:spLocks noGrp="1"/>
          </p:cNvSpPr>
          <p:nvPr>
            <p:ph idx="1"/>
          </p:nvPr>
        </p:nvSpPr>
        <p:spPr>
          <a:xfrm>
            <a:off x="228600" y="1600200"/>
            <a:ext cx="8686800" cy="4495800"/>
          </a:xfrm>
        </p:spPr>
        <p:txBody>
          <a:bodyPr vert="horz" wrap="square" lIns="91440" tIns="45720" rIns="91440" bIns="45720" anchor="t" anchorCtr="0"/>
          <a:lstStyle/>
          <a:p>
            <a:pPr algn="just" eaLnBrk="1" hangingPunct="1"/>
            <a:r>
              <a:rPr sz="2400" dirty="0">
                <a:latin typeface="Cambria" panose="02040503050406030204" pitchFamily="18" charset="0"/>
              </a:rPr>
              <a:t>They represent the static aspect of the system. These static aspects represent those parts of a diagram which forms the main structure and therefore stable</a:t>
            </a:r>
          </a:p>
          <a:p>
            <a:pPr eaLnBrk="1" hangingPunct="1">
              <a:buFont typeface="Wingdings" panose="05000000000000000000" pitchFamily="2" charset="2"/>
              <a:buNone/>
            </a:pPr>
            <a:endParaRPr sz="2400" dirty="0">
              <a:latin typeface="Cambria" panose="02040503050406030204" pitchFamily="18" charset="0"/>
            </a:endParaRPr>
          </a:p>
          <a:p>
            <a:pPr eaLnBrk="1" hangingPunct="1">
              <a:buFont typeface="Wingdings" panose="05000000000000000000" pitchFamily="2" charset="2"/>
              <a:buNone/>
            </a:pPr>
            <a:r>
              <a:rPr sz="2400" dirty="0">
                <a:latin typeface="Cambria" panose="02040503050406030204" pitchFamily="18" charset="0"/>
              </a:rPr>
              <a:t>The four structural diagrams are:</a:t>
            </a:r>
          </a:p>
          <a:p>
            <a:pPr eaLnBrk="1" hangingPunct="1"/>
            <a:r>
              <a:rPr sz="2400" dirty="0">
                <a:latin typeface="Cambria" panose="02040503050406030204" pitchFamily="18" charset="0"/>
              </a:rPr>
              <a:t>Class diagram</a:t>
            </a:r>
          </a:p>
          <a:p>
            <a:pPr eaLnBrk="1" hangingPunct="1"/>
            <a:r>
              <a:rPr sz="2400" dirty="0">
                <a:latin typeface="Cambria" panose="02040503050406030204" pitchFamily="18" charset="0"/>
              </a:rPr>
              <a:t>Object diagram</a:t>
            </a:r>
          </a:p>
          <a:p>
            <a:pPr eaLnBrk="1" hangingPunct="1"/>
            <a:r>
              <a:rPr sz="2400" dirty="0">
                <a:latin typeface="Cambria" panose="02040503050406030204" pitchFamily="18" charset="0"/>
              </a:rPr>
              <a:t>Component diagram</a:t>
            </a:r>
          </a:p>
          <a:p>
            <a:pPr eaLnBrk="1" hangingPunct="1"/>
            <a:r>
              <a:rPr sz="2400" dirty="0">
                <a:latin typeface="Cambria" panose="02040503050406030204" pitchFamily="18" charset="0"/>
              </a:rPr>
              <a:t>Deployment diagram</a:t>
            </a:r>
          </a:p>
          <a:p>
            <a:pPr eaLnBrk="1" hangingPunct="1"/>
            <a:endParaRPr sz="2800" dirty="0">
              <a:latin typeface="Cambria" panose="02040503050406030204" pitchFamily="18" charset="0"/>
            </a:endParaRPr>
          </a:p>
        </p:txBody>
      </p:sp>
      <p:pic>
        <p:nvPicPr>
          <p:cNvPr id="2" name="Picture 1">
            <a:extLst>
              <a:ext uri="{FF2B5EF4-FFF2-40B4-BE49-F238E27FC236}">
                <a16:creationId xmlns:a16="http://schemas.microsoft.com/office/drawing/2014/main" id="{F6A20135-A5AD-239F-D165-9C18FB1AAF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53B92673-6D15-D54C-D9A4-CCC400BC9DFE}"/>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B21D452-548B-C66D-2C84-6127DCCCAD9F}"/>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457200" y="381000"/>
            <a:ext cx="8229600" cy="762000"/>
          </a:xfrm>
        </p:spPr>
        <p:txBody>
          <a:bodyPr vert="horz" wrap="square" lIns="0" tIns="45720" rIns="0" bIns="0" anchor="b" anchorCtr="0"/>
          <a:lstStyle/>
          <a:p>
            <a:pPr algn="ctr" eaLnBrk="1" hangingPunct="1"/>
            <a:r>
              <a:rPr sz="2400" b="1" dirty="0">
                <a:latin typeface="Cambria" panose="02040503050406030204" pitchFamily="18" charset="0"/>
              </a:rPr>
              <a:t>Behavioral diagrams</a:t>
            </a:r>
          </a:p>
        </p:txBody>
      </p:sp>
      <p:sp>
        <p:nvSpPr>
          <p:cNvPr id="3" name="Content Placeholder 2"/>
          <p:cNvSpPr>
            <a:spLocks noGrp="1"/>
          </p:cNvSpPr>
          <p:nvPr>
            <p:ph idx="1"/>
          </p:nvPr>
        </p:nvSpPr>
        <p:spPr>
          <a:xfrm>
            <a:off x="457200" y="1371600"/>
            <a:ext cx="8229600" cy="4572000"/>
          </a:xfrm>
        </p:spPr>
        <p:txBody>
          <a:bodyPr vert="horz" wrap="square" lIns="91440" tIns="45720" rIns="91440" bIns="45720" numCol="1" anchor="t" anchorCtr="0" compatLnSpc="1">
            <a:normAutofit fontScale="925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Any system can have two aspects, static and dynamic.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  model is considered as complete when both the aspects are covered fully.</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It  basically capture the dynamic aspect of a system.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Dynamic aspect can be further described as the changing/moving parts of a system.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panose="05000000000000000000" pitchFamily="2" charset="2"/>
              <a:buNone/>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UML has the following five types of behavioral diagrams: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Use case diagram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Sequence diagram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Collaboration diagram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err="1">
                <a:ln>
                  <a:noFill/>
                </a:ln>
                <a:solidFill>
                  <a:schemeClr val="tx1"/>
                </a:solidFill>
                <a:effectLst/>
                <a:uLnTx/>
                <a:uFillTx/>
                <a:latin typeface="Cambria" panose="02040503050406030204" pitchFamily="18" charset="0"/>
                <a:ea typeface="+mn-ea"/>
                <a:cs typeface="+mn-cs"/>
              </a:rPr>
              <a:t>Statechart</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diagram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Activity diagram</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Char char=""/>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p:txBody>
      </p:sp>
      <p:pic>
        <p:nvPicPr>
          <p:cNvPr id="2" name="Picture 1">
            <a:extLst>
              <a:ext uri="{FF2B5EF4-FFF2-40B4-BE49-F238E27FC236}">
                <a16:creationId xmlns:a16="http://schemas.microsoft.com/office/drawing/2014/main" id="{A4094D6D-5A25-182B-B8D3-BB4C0059B9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4" name="Rectangle 3">
            <a:extLst>
              <a:ext uri="{FF2B5EF4-FFF2-40B4-BE49-F238E27FC236}">
                <a16:creationId xmlns:a16="http://schemas.microsoft.com/office/drawing/2014/main" id="{F1C1D654-3BB1-B70E-C40A-6F6C764FF98D}"/>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5E3FB08-44D7-C42C-4208-0BAC0B100E39}"/>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457200" y="704850"/>
            <a:ext cx="8229600" cy="742950"/>
          </a:xfrm>
        </p:spPr>
        <p:txBody>
          <a:bodyPr vert="horz" wrap="square" lIns="0" tIns="45720" rIns="0" bIns="0" anchor="b" anchorCtr="0"/>
          <a:lstStyle/>
          <a:p>
            <a:pPr eaLnBrk="1" hangingPunct="1"/>
            <a:r>
              <a:rPr sz="2800" b="1" dirty="0">
                <a:latin typeface="Cambria" panose="02040503050406030204" pitchFamily="18" charset="0"/>
              </a:rPr>
              <a:t>Classes</a:t>
            </a:r>
          </a:p>
        </p:txBody>
      </p:sp>
      <p:sp>
        <p:nvSpPr>
          <p:cNvPr id="47107" name="Rectangle 3"/>
          <p:cNvSpPr>
            <a:spLocks noGrp="1" noChangeArrowheads="1"/>
          </p:cNvSpPr>
          <p:nvPr>
            <p:ph idx="1"/>
          </p:nvPr>
        </p:nvSpPr>
        <p:spPr>
          <a:xfrm>
            <a:off x="609600" y="1981200"/>
            <a:ext cx="8229600" cy="3505200"/>
          </a:xfrm>
        </p:spPr>
        <p:txBody>
          <a:bodyPr vert="horz" wrap="square" lIns="91440" tIns="45720" rIns="91440" bIns="45720" numCol="1" anchor="t" anchorCtr="0" compatLnSpc="1">
            <a:normAutofit fontScale="92500" lnSpcReduction="20000"/>
          </a:bodyPr>
          <a:lstStyle/>
          <a:p>
            <a:pPr marL="274320" marR="0" lvl="0" indent="-274320" algn="l" defTabSz="914400" rtl="0" eaLnBrk="1" fontAlgn="auto" latinLnBrk="0" hangingPunct="1">
              <a:lnSpc>
                <a:spcPct val="9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Each class is represented by a rectangle subdivided into three compartments</a:t>
            </a:r>
          </a:p>
          <a:p>
            <a:pPr marL="640080" marR="0" lvl="1" indent="-247015" algn="l" defTabSz="914400" rtl="0" eaLnBrk="1" fontAlgn="auto" latinLnBrk="0" hangingPunct="1">
              <a:lnSpc>
                <a:spcPct val="9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Name</a:t>
            </a:r>
          </a:p>
          <a:p>
            <a:pPr marL="640080" marR="0" lvl="1" indent="-247015" algn="l" defTabSz="914400" rtl="0" eaLnBrk="1" fontAlgn="auto" latinLnBrk="0" hangingPunct="1">
              <a:lnSpc>
                <a:spcPct val="9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Attributes</a:t>
            </a:r>
          </a:p>
          <a:p>
            <a:pPr marL="640080" marR="0" lvl="1" indent="-247015" algn="l" defTabSz="914400" rtl="0" eaLnBrk="1" fontAlgn="auto" latinLnBrk="0" hangingPunct="1">
              <a:lnSpc>
                <a:spcPct val="9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Operations</a:t>
            </a:r>
          </a:p>
          <a:p>
            <a:pPr marL="274320" marR="0" lvl="0" indent="-274320" algn="l" defTabSz="914400" rtl="0" eaLnBrk="1" fontAlgn="auto" latinLnBrk="0" hangingPunct="1">
              <a:lnSpc>
                <a:spcPct val="9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Modifiers are used to indicate visibility of attributes and operations.</a:t>
            </a:r>
          </a:p>
          <a:p>
            <a:pPr marL="640080" marR="0" lvl="1" indent="-247015" algn="l" defTabSz="914400" rtl="0" eaLnBrk="1" fontAlgn="auto" latinLnBrk="0" hangingPunct="1">
              <a:lnSpc>
                <a:spcPct val="9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is used to denote </a:t>
            </a:r>
            <a:r>
              <a:rPr kumimoji="0" lang="en-US" sz="2400" b="0" i="1" u="none" strike="noStrike" kern="1200" cap="none" spc="0" normalizeH="0" baseline="0" noProof="0" dirty="0">
                <a:ln>
                  <a:noFill/>
                </a:ln>
                <a:solidFill>
                  <a:schemeClr val="tx1"/>
                </a:solidFill>
                <a:effectLst/>
                <a:uLnTx/>
                <a:uFillTx/>
                <a:latin typeface="Cambria" panose="02040503050406030204" pitchFamily="18" charset="0"/>
                <a:ea typeface="+mn-ea"/>
                <a:cs typeface="+mn-cs"/>
              </a:rPr>
              <a:t>Public</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visibility (everyone)</a:t>
            </a:r>
          </a:p>
          <a:p>
            <a:pPr marL="640080" marR="0" lvl="1" indent="-247015" algn="l" defTabSz="914400" rtl="0" eaLnBrk="1" fontAlgn="auto" latinLnBrk="0" hangingPunct="1">
              <a:lnSpc>
                <a:spcPct val="9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is used to denote </a:t>
            </a:r>
            <a:r>
              <a:rPr kumimoji="0" lang="en-US" sz="2400" b="0" i="1" u="none" strike="noStrike" kern="1200" cap="none" spc="0" normalizeH="0" baseline="0" noProof="0" dirty="0">
                <a:ln>
                  <a:noFill/>
                </a:ln>
                <a:solidFill>
                  <a:schemeClr val="tx1"/>
                </a:solidFill>
                <a:effectLst/>
                <a:uLnTx/>
                <a:uFillTx/>
                <a:latin typeface="Cambria" panose="02040503050406030204" pitchFamily="18" charset="0"/>
                <a:ea typeface="+mn-ea"/>
                <a:cs typeface="+mn-cs"/>
              </a:rPr>
              <a:t>Protected</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visibility (friends and derived)</a:t>
            </a:r>
          </a:p>
          <a:p>
            <a:pPr marL="640080" marR="0" lvl="1" indent="-247015" algn="l" defTabSz="914400" rtl="0" eaLnBrk="1" fontAlgn="auto" latinLnBrk="0" hangingPunct="1">
              <a:lnSpc>
                <a:spcPct val="90000"/>
              </a:lnSpc>
              <a:spcBef>
                <a:spcPct val="20000"/>
              </a:spcBef>
              <a:spcAft>
                <a:spcPts val="0"/>
              </a:spcAft>
              <a:buClr>
                <a:schemeClr val="accent1"/>
              </a:buClr>
              <a:buSzPct val="8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is used to denote </a:t>
            </a:r>
            <a:r>
              <a:rPr kumimoji="0" lang="en-US" sz="2400" b="0" i="1" u="none" strike="noStrike" kern="1200" cap="none" spc="0" normalizeH="0" baseline="0" noProof="0" dirty="0">
                <a:ln>
                  <a:noFill/>
                </a:ln>
                <a:solidFill>
                  <a:schemeClr val="tx1"/>
                </a:solidFill>
                <a:effectLst/>
                <a:uLnTx/>
                <a:uFillTx/>
                <a:latin typeface="Cambria" panose="02040503050406030204" pitchFamily="18" charset="0"/>
                <a:ea typeface="+mn-ea"/>
                <a:cs typeface="+mn-cs"/>
              </a:rPr>
              <a:t>Private</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visibility (no one)</a:t>
            </a:r>
          </a:p>
          <a:p>
            <a:pPr marL="274320" marR="0" lvl="0" indent="-274320" algn="l" defTabSz="914400" rtl="0" eaLnBrk="1" fontAlgn="auto" latinLnBrk="0" hangingPunct="1">
              <a:lnSpc>
                <a:spcPct val="90000"/>
              </a:lnSpc>
              <a:spcBef>
                <a:spcPct val="20000"/>
              </a:spcBef>
              <a:spcAft>
                <a:spcPts val="0"/>
              </a:spcAft>
              <a:buClr>
                <a:schemeClr val="accent3"/>
              </a:buClr>
              <a:buSzPct val="95000"/>
              <a:buFont typeface="Wingdings 2" panose="05020102010507070707"/>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By default, attributes are hidden and operations are visible.</a:t>
            </a:r>
          </a:p>
          <a:p>
            <a:pPr marL="274320" marR="0" lvl="0" indent="-274320" algn="l" defTabSz="914400" rtl="0" eaLnBrk="1" fontAlgn="auto" latinLnBrk="0" hangingPunct="1">
              <a:lnSpc>
                <a:spcPct val="90000"/>
              </a:lnSpc>
              <a:spcBef>
                <a:spcPct val="20000"/>
              </a:spcBef>
              <a:spcAft>
                <a:spcPts val="0"/>
              </a:spcAft>
              <a:buClr>
                <a:schemeClr val="accent3"/>
              </a:buClr>
              <a:buSzPct val="95000"/>
              <a:buFont typeface="Wingdings 2" panose="05020102010507070707"/>
              <a:buChar char=""/>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p:txBody>
      </p:sp>
      <p:pic>
        <p:nvPicPr>
          <p:cNvPr id="2" name="Picture 1">
            <a:extLst>
              <a:ext uri="{FF2B5EF4-FFF2-40B4-BE49-F238E27FC236}">
                <a16:creationId xmlns:a16="http://schemas.microsoft.com/office/drawing/2014/main" id="{EE0A2614-03D3-8226-49B0-C4EE69A90C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20AE3743-4F86-A06F-B26D-B09CC24AB57C}"/>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7A204D8-539F-AD82-D203-6FFD915EDF3F}"/>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vert="horz" wrap="square" lIns="0" tIns="45720" rIns="0" bIns="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br>
              <a:rPr kumimoji="0" lang="en-US" sz="2800" b="1" i="0" u="none" strike="noStrike" kern="1200" cap="none" spc="0" normalizeH="0" baseline="0" noProof="0" dirty="0">
                <a:ln>
                  <a:noFill/>
                </a:ln>
                <a:solidFill>
                  <a:schemeClr val="tx1"/>
                </a:solidFill>
                <a:effectLst/>
                <a:uLnTx/>
                <a:uFillTx/>
                <a:latin typeface="Arial" panose="020B0604020202020204" pitchFamily="34" charset="0"/>
                <a:ea typeface="+mj-ea"/>
                <a:cs typeface="+mj-cs"/>
              </a:rPr>
            </a:br>
            <a:br>
              <a:rPr kumimoji="0" lang="en-US" sz="2800" b="1" i="0" u="none" strike="noStrike" kern="1200" cap="none" spc="0" normalizeH="0" baseline="0" noProof="0" dirty="0">
                <a:ln>
                  <a:noFill/>
                </a:ln>
                <a:solidFill>
                  <a:schemeClr val="tx1"/>
                </a:solidFill>
                <a:effectLst/>
                <a:uLnTx/>
                <a:uFillTx/>
                <a:latin typeface="Arial" panose="020B0604020202020204" pitchFamily="34" charset="0"/>
                <a:ea typeface="+mj-ea"/>
                <a:cs typeface="+mj-cs"/>
              </a:rPr>
            </a:br>
            <a:r>
              <a:rPr kumimoji="0" lang="en-US" sz="2800" b="1" i="0" u="none" strike="noStrike" kern="1200" cap="none" spc="0" normalizeH="0" baseline="0" noProof="0" dirty="0">
                <a:ln>
                  <a:noFill/>
                </a:ln>
                <a:solidFill>
                  <a:schemeClr val="tx1"/>
                </a:solidFill>
                <a:effectLst/>
                <a:uLnTx/>
                <a:uFillTx/>
                <a:latin typeface="Cambria" panose="02040503050406030204" pitchFamily="18" charset="0"/>
                <a:ea typeface="+mj-ea"/>
                <a:cs typeface="+mj-cs"/>
              </a:rPr>
              <a:t>An example of Class  </a:t>
            </a:r>
            <a:br>
              <a:rPr kumimoji="0" lang="en-US" sz="2800" b="1" i="0" u="none" strike="noStrike" kern="1200" cap="none" spc="0" normalizeH="0" baseline="0" noProof="0" dirty="0">
                <a:ln>
                  <a:noFill/>
                </a:ln>
                <a:solidFill>
                  <a:schemeClr val="tx1"/>
                </a:solidFill>
                <a:effectLst/>
                <a:uLnTx/>
                <a:uFillTx/>
                <a:latin typeface="Cambria" panose="02040503050406030204" pitchFamily="18" charset="0"/>
                <a:ea typeface="+mj-ea"/>
                <a:cs typeface="+mj-cs"/>
              </a:rPr>
            </a:br>
            <a:r>
              <a:rPr kumimoji="0" lang="en-US" sz="2800" b="1" i="0" u="none" strike="noStrike" kern="1200" cap="none" spc="0" normalizeH="0" baseline="0" noProof="0" dirty="0">
                <a:ln>
                  <a:noFill/>
                </a:ln>
                <a:solidFill>
                  <a:schemeClr val="tx1"/>
                </a:solidFill>
                <a:effectLst/>
                <a:uLnTx/>
                <a:uFillTx/>
                <a:latin typeface="Arial" panose="020B0604020202020204" pitchFamily="34" charset="0"/>
                <a:ea typeface="+mj-ea"/>
                <a:cs typeface="+mj-cs"/>
              </a:rPr>
              <a:t> </a:t>
            </a:r>
            <a:br>
              <a:rPr kumimoji="0" lang="en-US" sz="5000" b="1" i="0" u="none" strike="noStrike" kern="1200" cap="none" spc="0" normalizeH="0" baseline="0" noProof="0" dirty="0">
                <a:ln>
                  <a:noFill/>
                </a:ln>
                <a:solidFill>
                  <a:schemeClr val="tx1"/>
                </a:solidFill>
                <a:effectLst/>
                <a:uLnTx/>
                <a:uFillTx/>
                <a:latin typeface="+mj-lt"/>
                <a:ea typeface="+mj-ea"/>
                <a:cs typeface="+mj-cs"/>
              </a:rPr>
            </a:br>
            <a:endParaRPr kumimoji="0" lang="en-US" sz="5000" b="1" i="0" u="none" strike="noStrike" kern="1200" cap="none" spc="0" normalizeH="0" baseline="0" noProof="0" dirty="0">
              <a:ln>
                <a:noFill/>
              </a:ln>
              <a:solidFill>
                <a:schemeClr val="tx1"/>
              </a:solidFill>
              <a:effectLst/>
              <a:uLnTx/>
              <a:uFillTx/>
              <a:latin typeface="+mj-lt"/>
              <a:ea typeface="+mj-ea"/>
              <a:cs typeface="+mj-cs"/>
            </a:endParaRPr>
          </a:p>
        </p:txBody>
      </p:sp>
      <p:grpSp>
        <p:nvGrpSpPr>
          <p:cNvPr id="43011" name="Group 18"/>
          <p:cNvGrpSpPr/>
          <p:nvPr/>
        </p:nvGrpSpPr>
        <p:grpSpPr>
          <a:xfrm>
            <a:off x="1981200" y="2251075"/>
            <a:ext cx="5734050" cy="3497263"/>
            <a:chOff x="1248" y="1418"/>
            <a:chExt cx="3612" cy="2203"/>
          </a:xfrm>
        </p:grpSpPr>
        <p:sp>
          <p:nvSpPr>
            <p:cNvPr id="43012" name="Rectangle 4"/>
            <p:cNvSpPr/>
            <p:nvPr/>
          </p:nvSpPr>
          <p:spPr>
            <a:xfrm>
              <a:off x="1248" y="2385"/>
              <a:ext cx="1968" cy="1071"/>
            </a:xfrm>
            <a:prstGeom prst="rect">
              <a:avLst/>
            </a:prstGeom>
            <a:noFill/>
            <a:ln w="19050" cap="flat" cmpd="sng">
              <a:solidFill>
                <a:schemeClr val="tx1"/>
              </a:solidFill>
              <a:prstDash val="solid"/>
              <a:miter/>
              <a:headEnd type="none" w="med" len="med"/>
              <a:tailEnd type="none" w="lg" len="lg"/>
            </a:ln>
          </p:spPr>
          <p:txBody>
            <a:bodyPr anchor="ctr" anchorCtr="0">
              <a:spAutoFit/>
            </a:bodyPr>
            <a:lstStyle/>
            <a:p>
              <a:endParaRPr dirty="0">
                <a:latin typeface="Tahoma" panose="020B0604030504040204" pitchFamily="34" charset="0"/>
              </a:endParaRPr>
            </a:p>
          </p:txBody>
        </p:sp>
        <p:sp>
          <p:nvSpPr>
            <p:cNvPr id="43013" name="Rectangle 5"/>
            <p:cNvSpPr/>
            <p:nvPr/>
          </p:nvSpPr>
          <p:spPr>
            <a:xfrm>
              <a:off x="1248" y="1809"/>
              <a:ext cx="1968" cy="576"/>
            </a:xfrm>
            <a:prstGeom prst="rect">
              <a:avLst/>
            </a:prstGeom>
            <a:solidFill>
              <a:srgbClr val="FF9900"/>
            </a:solidFill>
            <a:ln w="19050" cap="flat" cmpd="sng">
              <a:solidFill>
                <a:schemeClr val="tx1"/>
              </a:solidFill>
              <a:prstDash val="solid"/>
              <a:miter/>
              <a:headEnd type="none" w="med" len="med"/>
              <a:tailEnd type="none" w="lg" len="lg"/>
            </a:ln>
          </p:spPr>
          <p:txBody>
            <a:bodyPr anchor="ctr" anchorCtr="0">
              <a:spAutoFit/>
            </a:bodyPr>
            <a:lstStyle/>
            <a:p>
              <a:endParaRPr dirty="0">
                <a:latin typeface="Tahoma" panose="020B0604030504040204" pitchFamily="34" charset="0"/>
              </a:endParaRPr>
            </a:p>
          </p:txBody>
        </p:sp>
        <p:sp>
          <p:nvSpPr>
            <p:cNvPr id="43014" name="Rectangle 6"/>
            <p:cNvSpPr/>
            <p:nvPr/>
          </p:nvSpPr>
          <p:spPr>
            <a:xfrm>
              <a:off x="1248" y="1473"/>
              <a:ext cx="1968" cy="336"/>
            </a:xfrm>
            <a:prstGeom prst="rect">
              <a:avLst/>
            </a:prstGeom>
            <a:solidFill>
              <a:srgbClr val="FF7C80"/>
            </a:solidFill>
            <a:ln w="19050" cap="flat" cmpd="sng">
              <a:solidFill>
                <a:schemeClr val="tx1"/>
              </a:solidFill>
              <a:prstDash val="solid"/>
              <a:miter/>
              <a:headEnd type="none" w="med" len="med"/>
              <a:tailEnd type="none" w="lg" len="lg"/>
            </a:ln>
          </p:spPr>
          <p:txBody>
            <a:bodyPr wrap="none" anchor="ctr" anchorCtr="0">
              <a:spAutoFit/>
            </a:bodyPr>
            <a:lstStyle/>
            <a:p>
              <a:endParaRPr dirty="0">
                <a:latin typeface="Tahoma" panose="020B0604030504040204" pitchFamily="34" charset="0"/>
              </a:endParaRPr>
            </a:p>
          </p:txBody>
        </p:sp>
        <p:sp>
          <p:nvSpPr>
            <p:cNvPr id="43015" name="Text Box 7"/>
            <p:cNvSpPr txBox="1"/>
            <p:nvPr/>
          </p:nvSpPr>
          <p:spPr>
            <a:xfrm>
              <a:off x="1344" y="1521"/>
              <a:ext cx="1712" cy="300"/>
            </a:xfrm>
            <a:prstGeom prst="rect">
              <a:avLst/>
            </a:prstGeom>
            <a:noFill/>
            <a:ln w="19050">
              <a:noFill/>
            </a:ln>
          </p:spPr>
          <p:txBody>
            <a:bodyPr wrap="none">
              <a:spAutoFit/>
            </a:bodyPr>
            <a:lstStyle/>
            <a:p>
              <a:pPr marL="290830" indent="-290830" eaLnBrk="1" hangingPunct="1">
                <a:lnSpc>
                  <a:spcPct val="90000"/>
                </a:lnSpc>
                <a:spcBef>
                  <a:spcPct val="20000"/>
                </a:spcBef>
                <a:buClr>
                  <a:srgbClr val="CC0000"/>
                </a:buClr>
              </a:pPr>
              <a:r>
                <a:rPr sz="2800" dirty="0">
                  <a:latin typeface="Arial" panose="020B0604020202020204" pitchFamily="34" charset="0"/>
                </a:rPr>
                <a:t> Account_Name</a:t>
              </a:r>
            </a:p>
          </p:txBody>
        </p:sp>
        <p:sp>
          <p:nvSpPr>
            <p:cNvPr id="43016" name="Text Box 8"/>
            <p:cNvSpPr txBox="1"/>
            <p:nvPr/>
          </p:nvSpPr>
          <p:spPr>
            <a:xfrm>
              <a:off x="1380" y="1822"/>
              <a:ext cx="116" cy="300"/>
            </a:xfrm>
            <a:prstGeom prst="rect">
              <a:avLst/>
            </a:prstGeom>
            <a:noFill/>
            <a:ln w="19050">
              <a:noFill/>
            </a:ln>
          </p:spPr>
          <p:txBody>
            <a:bodyPr wrap="none">
              <a:spAutoFit/>
            </a:bodyPr>
            <a:lstStyle/>
            <a:p>
              <a:pPr marL="290830" indent="-290830" eaLnBrk="1" hangingPunct="1">
                <a:lnSpc>
                  <a:spcPct val="90000"/>
                </a:lnSpc>
                <a:spcBef>
                  <a:spcPct val="20000"/>
                </a:spcBef>
                <a:buClr>
                  <a:srgbClr val="CC0000"/>
                </a:buClr>
              </a:pPr>
              <a:endParaRPr sz="2800" dirty="0">
                <a:latin typeface="Arial" panose="020B0604020202020204" pitchFamily="34" charset="0"/>
              </a:endParaRPr>
            </a:p>
          </p:txBody>
        </p:sp>
        <p:sp>
          <p:nvSpPr>
            <p:cNvPr id="43017" name="Text Box 9"/>
            <p:cNvSpPr txBox="1"/>
            <p:nvPr/>
          </p:nvSpPr>
          <p:spPr>
            <a:xfrm>
              <a:off x="1296" y="1776"/>
              <a:ext cx="1950" cy="596"/>
            </a:xfrm>
            <a:prstGeom prst="rect">
              <a:avLst/>
            </a:prstGeom>
            <a:noFill/>
            <a:ln w="19050">
              <a:noFill/>
            </a:ln>
          </p:spPr>
          <p:txBody>
            <a:bodyPr wrap="none">
              <a:spAutoFit/>
            </a:bodyPr>
            <a:lstStyle/>
            <a:p>
              <a:pPr marL="290830" indent="-290830" eaLnBrk="1" hangingPunct="1">
                <a:lnSpc>
                  <a:spcPct val="90000"/>
                </a:lnSpc>
                <a:spcBef>
                  <a:spcPct val="20000"/>
                </a:spcBef>
                <a:buClr>
                  <a:srgbClr val="CC0000"/>
                </a:buClr>
              </a:pPr>
              <a:r>
                <a:rPr sz="2800" dirty="0">
                  <a:latin typeface="Arial" panose="020B0604020202020204" pitchFamily="34" charset="0"/>
                </a:rPr>
                <a:t>- Customer_Name</a:t>
              </a:r>
            </a:p>
            <a:p>
              <a:pPr marL="290830" indent="-290830" eaLnBrk="1" hangingPunct="1">
                <a:lnSpc>
                  <a:spcPct val="90000"/>
                </a:lnSpc>
                <a:spcBef>
                  <a:spcPct val="20000"/>
                </a:spcBef>
                <a:buClr>
                  <a:srgbClr val="CC0000"/>
                </a:buClr>
              </a:pPr>
              <a:r>
                <a:rPr sz="2800" dirty="0">
                  <a:latin typeface="Arial" panose="020B0604020202020204" pitchFamily="34" charset="0"/>
                </a:rPr>
                <a:t>- Balance</a:t>
              </a:r>
            </a:p>
          </p:txBody>
        </p:sp>
        <p:sp>
          <p:nvSpPr>
            <p:cNvPr id="43018" name="Text Box 10"/>
            <p:cNvSpPr txBox="1"/>
            <p:nvPr/>
          </p:nvSpPr>
          <p:spPr>
            <a:xfrm>
              <a:off x="1296" y="2433"/>
              <a:ext cx="1532" cy="1188"/>
            </a:xfrm>
            <a:prstGeom prst="rect">
              <a:avLst/>
            </a:prstGeom>
            <a:noFill/>
            <a:ln w="19050">
              <a:noFill/>
            </a:ln>
          </p:spPr>
          <p:txBody>
            <a:bodyPr>
              <a:spAutoFit/>
            </a:bodyPr>
            <a:lstStyle/>
            <a:p>
              <a:pPr marL="290830" indent="-290830" eaLnBrk="1" hangingPunct="1">
                <a:lnSpc>
                  <a:spcPct val="90000"/>
                </a:lnSpc>
                <a:spcBef>
                  <a:spcPct val="20000"/>
                </a:spcBef>
                <a:buClr>
                  <a:srgbClr val="CC0000"/>
                </a:buClr>
              </a:pPr>
              <a:r>
                <a:rPr sz="2800" dirty="0">
                  <a:latin typeface="Arial" panose="020B0604020202020204" pitchFamily="34" charset="0"/>
                </a:rPr>
                <a:t>+addFunds( )</a:t>
              </a:r>
            </a:p>
            <a:p>
              <a:pPr marL="290830" indent="-290830" eaLnBrk="1" hangingPunct="1">
                <a:lnSpc>
                  <a:spcPct val="90000"/>
                </a:lnSpc>
                <a:spcBef>
                  <a:spcPct val="20000"/>
                </a:spcBef>
                <a:buClr>
                  <a:srgbClr val="CC0000"/>
                </a:buClr>
              </a:pPr>
              <a:r>
                <a:rPr sz="2800" dirty="0">
                  <a:latin typeface="Arial" panose="020B0604020202020204" pitchFamily="34" charset="0"/>
                </a:rPr>
                <a:t>+withDraw( )</a:t>
              </a:r>
            </a:p>
            <a:p>
              <a:pPr marL="290830" indent="-290830" eaLnBrk="1" hangingPunct="1">
                <a:lnSpc>
                  <a:spcPct val="90000"/>
                </a:lnSpc>
                <a:spcBef>
                  <a:spcPct val="20000"/>
                </a:spcBef>
                <a:buClr>
                  <a:srgbClr val="CC0000"/>
                </a:buClr>
              </a:pPr>
              <a:r>
                <a:rPr sz="2800" dirty="0">
                  <a:latin typeface="Arial" panose="020B0604020202020204" pitchFamily="34" charset="0"/>
                </a:rPr>
                <a:t>+transfer( )</a:t>
              </a:r>
            </a:p>
            <a:p>
              <a:pPr marL="290830" indent="-290830" eaLnBrk="1" hangingPunct="1">
                <a:lnSpc>
                  <a:spcPct val="90000"/>
                </a:lnSpc>
                <a:spcBef>
                  <a:spcPct val="20000"/>
                </a:spcBef>
                <a:buClr>
                  <a:srgbClr val="CC0000"/>
                </a:buClr>
              </a:pPr>
              <a:endParaRPr sz="2800" dirty="0">
                <a:latin typeface="Arial" panose="020B0604020202020204" pitchFamily="34" charset="0"/>
              </a:endParaRPr>
            </a:p>
          </p:txBody>
        </p:sp>
        <p:sp>
          <p:nvSpPr>
            <p:cNvPr id="43019" name="Text Box 11"/>
            <p:cNvSpPr txBox="1"/>
            <p:nvPr/>
          </p:nvSpPr>
          <p:spPr>
            <a:xfrm>
              <a:off x="3783" y="1418"/>
              <a:ext cx="641" cy="277"/>
            </a:xfrm>
            <a:prstGeom prst="rect">
              <a:avLst/>
            </a:prstGeom>
            <a:solidFill>
              <a:schemeClr val="tx1"/>
            </a:solidFill>
            <a:ln w="19050" cap="flat" cmpd="sng">
              <a:solidFill>
                <a:schemeClr val="accent1"/>
              </a:solidFill>
              <a:prstDash val="solid"/>
              <a:miter/>
              <a:headEnd type="none" w="med" len="med"/>
              <a:tailEnd type="none" w="lg" len="lg"/>
            </a:ln>
          </p:spPr>
          <p:txBody>
            <a:bodyPr wrap="none">
              <a:spAutoFit/>
            </a:bodyPr>
            <a:lstStyle/>
            <a:p>
              <a:pPr marL="290830" indent="-290830" eaLnBrk="1" hangingPunct="1">
                <a:lnSpc>
                  <a:spcPct val="90000"/>
                </a:lnSpc>
                <a:spcBef>
                  <a:spcPct val="20000"/>
                </a:spcBef>
                <a:buClr>
                  <a:srgbClr val="CC0000"/>
                </a:buClr>
              </a:pPr>
              <a:r>
                <a:rPr sz="2400" dirty="0">
                  <a:solidFill>
                    <a:schemeClr val="accent1"/>
                  </a:solidFill>
                  <a:latin typeface="Arial" panose="020B0604020202020204" pitchFamily="34" charset="0"/>
                </a:rPr>
                <a:t>Name</a:t>
              </a:r>
            </a:p>
          </p:txBody>
        </p:sp>
        <p:sp>
          <p:nvSpPr>
            <p:cNvPr id="43020" name="Text Box 12"/>
            <p:cNvSpPr txBox="1"/>
            <p:nvPr/>
          </p:nvSpPr>
          <p:spPr>
            <a:xfrm>
              <a:off x="3792" y="1976"/>
              <a:ext cx="939" cy="277"/>
            </a:xfrm>
            <a:prstGeom prst="rect">
              <a:avLst/>
            </a:prstGeom>
            <a:solidFill>
              <a:schemeClr val="tx1"/>
            </a:solidFill>
            <a:ln w="19050" cap="flat" cmpd="sng">
              <a:solidFill>
                <a:srgbClr val="FF9900"/>
              </a:solidFill>
              <a:prstDash val="solid"/>
              <a:miter/>
              <a:headEnd type="none" w="med" len="med"/>
              <a:tailEnd type="none" w="lg" len="lg"/>
            </a:ln>
          </p:spPr>
          <p:txBody>
            <a:bodyPr wrap="none">
              <a:spAutoFit/>
            </a:bodyPr>
            <a:lstStyle/>
            <a:p>
              <a:pPr marL="290830" indent="-290830" eaLnBrk="1" hangingPunct="1">
                <a:lnSpc>
                  <a:spcPct val="90000"/>
                </a:lnSpc>
                <a:spcBef>
                  <a:spcPct val="20000"/>
                </a:spcBef>
                <a:buClr>
                  <a:srgbClr val="CC0000"/>
                </a:buClr>
              </a:pPr>
              <a:r>
                <a:rPr sz="2400" dirty="0">
                  <a:solidFill>
                    <a:schemeClr val="folHlink"/>
                  </a:solidFill>
                  <a:latin typeface="Arial" panose="020B0604020202020204" pitchFamily="34" charset="0"/>
                </a:rPr>
                <a:t>Attributes</a:t>
              </a:r>
            </a:p>
          </p:txBody>
        </p:sp>
        <p:sp>
          <p:nvSpPr>
            <p:cNvPr id="43021" name="Text Box 13"/>
            <p:cNvSpPr txBox="1"/>
            <p:nvPr/>
          </p:nvSpPr>
          <p:spPr>
            <a:xfrm>
              <a:off x="3792" y="2504"/>
              <a:ext cx="1068" cy="277"/>
            </a:xfrm>
            <a:prstGeom prst="rect">
              <a:avLst/>
            </a:prstGeom>
            <a:noFill/>
            <a:ln w="19050" cap="flat" cmpd="sng">
              <a:solidFill>
                <a:schemeClr val="tx1"/>
              </a:solidFill>
              <a:prstDash val="solid"/>
              <a:miter/>
              <a:headEnd type="none" w="med" len="med"/>
              <a:tailEnd type="none" w="lg" len="lg"/>
            </a:ln>
          </p:spPr>
          <p:txBody>
            <a:bodyPr wrap="none">
              <a:spAutoFit/>
            </a:bodyPr>
            <a:lstStyle/>
            <a:p>
              <a:pPr marL="290830" indent="-290830" eaLnBrk="1" hangingPunct="1">
                <a:lnSpc>
                  <a:spcPct val="90000"/>
                </a:lnSpc>
                <a:spcBef>
                  <a:spcPct val="20000"/>
                </a:spcBef>
                <a:buClr>
                  <a:srgbClr val="CC0000"/>
                </a:buClr>
              </a:pPr>
              <a:r>
                <a:rPr sz="2400" dirty="0">
                  <a:latin typeface="Arial" panose="020B0604020202020204" pitchFamily="34" charset="0"/>
                </a:rPr>
                <a:t>Operations</a:t>
              </a:r>
            </a:p>
          </p:txBody>
        </p:sp>
        <p:sp>
          <p:nvSpPr>
            <p:cNvPr id="43022" name="Line 14"/>
            <p:cNvSpPr/>
            <p:nvPr/>
          </p:nvSpPr>
          <p:spPr>
            <a:xfrm flipH="1">
              <a:off x="3216" y="1569"/>
              <a:ext cx="576" cy="96"/>
            </a:xfrm>
            <a:prstGeom prst="line">
              <a:avLst/>
            </a:prstGeom>
            <a:ln w="19050" cap="flat" cmpd="sng">
              <a:solidFill>
                <a:schemeClr val="accent1"/>
              </a:solidFill>
              <a:prstDash val="solid"/>
              <a:headEnd type="none" w="med" len="med"/>
              <a:tailEnd type="arrow" w="lg" len="lg"/>
            </a:ln>
          </p:spPr>
        </p:sp>
        <p:sp>
          <p:nvSpPr>
            <p:cNvPr id="43023" name="Line 15"/>
            <p:cNvSpPr/>
            <p:nvPr/>
          </p:nvSpPr>
          <p:spPr>
            <a:xfrm flipH="1">
              <a:off x="3216" y="2097"/>
              <a:ext cx="576" cy="96"/>
            </a:xfrm>
            <a:prstGeom prst="line">
              <a:avLst/>
            </a:prstGeom>
            <a:ln w="19050" cap="flat" cmpd="sng">
              <a:solidFill>
                <a:srgbClr val="FF9900"/>
              </a:solidFill>
              <a:prstDash val="solid"/>
              <a:headEnd type="none" w="med" len="med"/>
              <a:tailEnd type="arrow" w="lg" len="lg"/>
            </a:ln>
          </p:spPr>
        </p:sp>
        <p:sp>
          <p:nvSpPr>
            <p:cNvPr id="43024" name="Line 16"/>
            <p:cNvSpPr/>
            <p:nvPr/>
          </p:nvSpPr>
          <p:spPr>
            <a:xfrm flipH="1">
              <a:off x="3216" y="2625"/>
              <a:ext cx="576" cy="96"/>
            </a:xfrm>
            <a:prstGeom prst="line">
              <a:avLst/>
            </a:prstGeom>
            <a:ln w="19050" cap="flat" cmpd="sng">
              <a:solidFill>
                <a:schemeClr val="tx1"/>
              </a:solidFill>
              <a:prstDash val="solid"/>
              <a:headEnd type="none" w="med" len="med"/>
              <a:tailEnd type="arrow" w="lg" len="lg"/>
            </a:ln>
          </p:spPr>
        </p:sp>
        <p:sp>
          <p:nvSpPr>
            <p:cNvPr id="43025" name="Rectangle 17"/>
            <p:cNvSpPr/>
            <p:nvPr/>
          </p:nvSpPr>
          <p:spPr>
            <a:xfrm>
              <a:off x="1248" y="1425"/>
              <a:ext cx="2160" cy="384"/>
            </a:xfrm>
            <a:prstGeom prst="rect">
              <a:avLst/>
            </a:prstGeom>
            <a:noFill/>
            <a:ln w="19050">
              <a:noFill/>
            </a:ln>
          </p:spPr>
          <p:txBody>
            <a:bodyPr wrap="none" anchor="ctr" anchorCtr="0">
              <a:spAutoFit/>
            </a:bodyPr>
            <a:lstStyle/>
            <a:p>
              <a:endParaRPr dirty="0">
                <a:latin typeface="Tahoma" panose="020B0604030504040204" pitchFamily="34" charset="0"/>
              </a:endParaRPr>
            </a:p>
          </p:txBody>
        </p:sp>
      </p:grpSp>
      <p:pic>
        <p:nvPicPr>
          <p:cNvPr id="2" name="Picture 1">
            <a:extLst>
              <a:ext uri="{FF2B5EF4-FFF2-40B4-BE49-F238E27FC236}">
                <a16:creationId xmlns:a16="http://schemas.microsoft.com/office/drawing/2014/main" id="{90D854E3-FFBF-C78A-64B8-1C15444648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1E3149A5-A36F-755E-31D9-6282296F66E9}"/>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A8A90EF-690B-7C31-188F-C226ECBBB7A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457200" y="381000"/>
            <a:ext cx="8229600" cy="538609"/>
          </a:xfrm>
        </p:spPr>
        <p:txBody>
          <a:bodyPr vert="horz" wrap="square" lIns="0" tIns="45720" rIns="0" bIns="0" anchor="t" anchorCtr="0">
            <a:spAutoFit/>
          </a:bodyPr>
          <a:lstStyle/>
          <a:p>
            <a:pPr algn="ctr" eaLnBrk="1" hangingPunct="1">
              <a:spcBef>
                <a:spcPct val="50000"/>
              </a:spcBef>
            </a:pPr>
            <a:r>
              <a:rPr sz="3200" dirty="0">
                <a:latin typeface="Cambria" panose="02040503050406030204" pitchFamily="18" charset="0"/>
              </a:rPr>
              <a:t>OO Relationships</a:t>
            </a:r>
            <a:endParaRPr sz="3200" b="1" dirty="0">
              <a:latin typeface="Cambria" panose="02040503050406030204" pitchFamily="18" charset="0"/>
            </a:endParaRPr>
          </a:p>
        </p:txBody>
      </p:sp>
      <p:sp>
        <p:nvSpPr>
          <p:cNvPr id="44035" name="Rectangle 3"/>
          <p:cNvSpPr>
            <a:spLocks noGrp="1"/>
          </p:cNvSpPr>
          <p:nvPr>
            <p:ph idx="1"/>
          </p:nvPr>
        </p:nvSpPr>
        <p:spPr>
          <a:xfrm>
            <a:off x="533400" y="1066800"/>
            <a:ext cx="8229600" cy="4114800"/>
          </a:xfrm>
        </p:spPr>
        <p:txBody>
          <a:bodyPr vert="horz" wrap="square" lIns="91440" tIns="45720" rIns="91440" bIns="45720" anchor="t" anchorCtr="0"/>
          <a:lstStyle/>
          <a:p>
            <a:pPr eaLnBrk="1" hangingPunct="1"/>
            <a:r>
              <a:rPr sz="2400" dirty="0">
                <a:latin typeface="Cambria" panose="02040503050406030204" pitchFamily="18" charset="0"/>
              </a:rPr>
              <a:t>There are two kinds of Relationships</a:t>
            </a:r>
          </a:p>
          <a:p>
            <a:pPr lvl="1" eaLnBrk="1" hangingPunct="1"/>
            <a:r>
              <a:rPr dirty="0">
                <a:latin typeface="Cambria" panose="02040503050406030204" pitchFamily="18" charset="0"/>
              </a:rPr>
              <a:t>Generalization (parent-child relationship)</a:t>
            </a:r>
          </a:p>
          <a:p>
            <a:pPr lvl="1" eaLnBrk="1" hangingPunct="1"/>
            <a:r>
              <a:rPr dirty="0">
                <a:latin typeface="Cambria" panose="02040503050406030204" pitchFamily="18" charset="0"/>
              </a:rPr>
              <a:t>Association (student enrolls in course)</a:t>
            </a:r>
          </a:p>
          <a:p>
            <a:pPr eaLnBrk="1" hangingPunct="1"/>
            <a:r>
              <a:rPr sz="2400" dirty="0">
                <a:latin typeface="Cambria" panose="02040503050406030204" pitchFamily="18" charset="0"/>
              </a:rPr>
              <a:t>Associations can be further classified as</a:t>
            </a:r>
          </a:p>
          <a:p>
            <a:pPr lvl="1" eaLnBrk="1" hangingPunct="1"/>
            <a:r>
              <a:rPr dirty="0">
                <a:latin typeface="Cambria" panose="02040503050406030204" pitchFamily="18" charset="0"/>
              </a:rPr>
              <a:t>Aggregation</a:t>
            </a:r>
          </a:p>
          <a:p>
            <a:pPr lvl="1" eaLnBrk="1" hangingPunct="1"/>
            <a:r>
              <a:rPr dirty="0">
                <a:latin typeface="Cambria" panose="02040503050406030204" pitchFamily="18" charset="0"/>
              </a:rPr>
              <a:t>Composition</a:t>
            </a:r>
          </a:p>
        </p:txBody>
      </p:sp>
      <p:pic>
        <p:nvPicPr>
          <p:cNvPr id="2" name="Picture 1">
            <a:extLst>
              <a:ext uri="{FF2B5EF4-FFF2-40B4-BE49-F238E27FC236}">
                <a16:creationId xmlns:a16="http://schemas.microsoft.com/office/drawing/2014/main" id="{142CDAE6-63C6-5FC0-248F-530C7EDDBB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C5AE5001-1291-298D-6204-0352BB98AC39}"/>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9B84B82-7179-7BE7-D966-89AA0FED5B7A}"/>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AutoShape 1029"/>
          <p:cNvSpPr/>
          <p:nvPr/>
        </p:nvSpPr>
        <p:spPr>
          <a:xfrm>
            <a:off x="2616200" y="2222500"/>
            <a:ext cx="381000" cy="457200"/>
          </a:xfrm>
          <a:prstGeom prst="triangle">
            <a:avLst>
              <a:gd name="adj" fmla="val 50000"/>
            </a:avLst>
          </a:prstGeom>
          <a:noFill/>
          <a:ln w="12700" cap="sq" cmpd="sng">
            <a:solidFill>
              <a:schemeClr val="tx1"/>
            </a:solidFill>
            <a:prstDash val="solid"/>
            <a:miter/>
            <a:headEnd type="none" w="sm" len="sm"/>
            <a:tailEnd type="none" w="sm" len="sm"/>
          </a:ln>
        </p:spPr>
        <p:txBody>
          <a:bodyPr wrap="none" anchor="ctr" anchorCtr="0"/>
          <a:lstStyle/>
          <a:p>
            <a:endParaRPr dirty="0">
              <a:latin typeface="Tahoma" panose="020B0604030504040204" pitchFamily="34" charset="0"/>
            </a:endParaRPr>
          </a:p>
        </p:txBody>
      </p:sp>
      <p:sp>
        <p:nvSpPr>
          <p:cNvPr id="45059" name="Rectangle 1030"/>
          <p:cNvSpPr/>
          <p:nvPr/>
        </p:nvSpPr>
        <p:spPr>
          <a:xfrm>
            <a:off x="2044700" y="1739900"/>
            <a:ext cx="1752600" cy="457200"/>
          </a:xfrm>
          <a:prstGeom prst="rect">
            <a:avLst/>
          </a:prstGeom>
          <a:noFill/>
          <a:ln w="12700" cap="sq" cmpd="sng">
            <a:solidFill>
              <a:schemeClr val="tx1"/>
            </a:solidFill>
            <a:prstDash val="solid"/>
            <a:miter/>
            <a:headEnd type="none" w="sm" len="sm"/>
            <a:tailEnd type="none" w="sm" len="sm"/>
          </a:ln>
        </p:spPr>
        <p:txBody>
          <a:bodyPr wrap="none" anchor="ctr" anchorCtr="0"/>
          <a:lstStyle/>
          <a:p>
            <a:endParaRPr dirty="0">
              <a:latin typeface="Tahoma" panose="020B0604030504040204" pitchFamily="34" charset="0"/>
            </a:endParaRPr>
          </a:p>
        </p:txBody>
      </p:sp>
      <p:sp>
        <p:nvSpPr>
          <p:cNvPr id="45060" name="Line 1032"/>
          <p:cNvSpPr/>
          <p:nvPr/>
        </p:nvSpPr>
        <p:spPr>
          <a:xfrm>
            <a:off x="2044700" y="3263900"/>
            <a:ext cx="1752600" cy="0"/>
          </a:xfrm>
          <a:prstGeom prst="line">
            <a:avLst/>
          </a:prstGeom>
          <a:ln w="12700" cap="sq" cmpd="sng">
            <a:solidFill>
              <a:schemeClr val="tx1"/>
            </a:solidFill>
            <a:prstDash val="solid"/>
            <a:headEnd type="none" w="sm" len="sm"/>
            <a:tailEnd type="none" w="sm" len="sm"/>
          </a:ln>
        </p:spPr>
      </p:sp>
      <p:sp>
        <p:nvSpPr>
          <p:cNvPr id="45061" name="Line 1033"/>
          <p:cNvSpPr/>
          <p:nvPr/>
        </p:nvSpPr>
        <p:spPr>
          <a:xfrm>
            <a:off x="2044700" y="3263900"/>
            <a:ext cx="12700" cy="685800"/>
          </a:xfrm>
          <a:prstGeom prst="line">
            <a:avLst/>
          </a:prstGeom>
          <a:ln w="12700" cap="sq" cmpd="sng">
            <a:solidFill>
              <a:schemeClr val="tx1"/>
            </a:solidFill>
            <a:prstDash val="solid"/>
            <a:headEnd type="none" w="sm" len="sm"/>
            <a:tailEnd type="none" w="sm" len="sm"/>
          </a:ln>
        </p:spPr>
      </p:sp>
      <p:sp>
        <p:nvSpPr>
          <p:cNvPr id="45062" name="Rectangle 1034"/>
          <p:cNvSpPr/>
          <p:nvPr/>
        </p:nvSpPr>
        <p:spPr>
          <a:xfrm>
            <a:off x="1435100" y="3949700"/>
            <a:ext cx="1371600" cy="533400"/>
          </a:xfrm>
          <a:prstGeom prst="rect">
            <a:avLst/>
          </a:prstGeom>
          <a:noFill/>
          <a:ln w="12700" cap="sq" cmpd="sng">
            <a:solidFill>
              <a:schemeClr val="tx1"/>
            </a:solidFill>
            <a:prstDash val="solid"/>
            <a:miter/>
            <a:headEnd type="none" w="sm" len="sm"/>
            <a:tailEnd type="none" w="sm" len="sm"/>
          </a:ln>
        </p:spPr>
        <p:txBody>
          <a:bodyPr wrap="none" anchor="ctr" anchorCtr="0"/>
          <a:lstStyle/>
          <a:p>
            <a:endParaRPr dirty="0">
              <a:latin typeface="Tahoma" panose="020B0604030504040204" pitchFamily="34" charset="0"/>
            </a:endParaRPr>
          </a:p>
        </p:txBody>
      </p:sp>
      <p:sp>
        <p:nvSpPr>
          <p:cNvPr id="45063" name="Rectangle 1035"/>
          <p:cNvSpPr/>
          <p:nvPr/>
        </p:nvSpPr>
        <p:spPr>
          <a:xfrm>
            <a:off x="3124200" y="3937000"/>
            <a:ext cx="1524000" cy="533400"/>
          </a:xfrm>
          <a:prstGeom prst="rect">
            <a:avLst/>
          </a:prstGeom>
          <a:noFill/>
          <a:ln w="12700" cap="sq" cmpd="sng">
            <a:solidFill>
              <a:schemeClr val="tx1"/>
            </a:solidFill>
            <a:prstDash val="solid"/>
            <a:miter/>
            <a:headEnd type="none" w="sm" len="sm"/>
            <a:tailEnd type="none" w="sm" len="sm"/>
          </a:ln>
        </p:spPr>
        <p:txBody>
          <a:bodyPr wrap="none" anchor="ctr" anchorCtr="0"/>
          <a:lstStyle/>
          <a:p>
            <a:pPr algn="ctr" eaLnBrk="1" hangingPunct="1"/>
            <a:r>
              <a:rPr sz="2400" dirty="0">
                <a:latin typeface="Times New Roman" panose="02020603050405020304" pitchFamily="18" charset="0"/>
              </a:rPr>
              <a:t>Subtype2</a:t>
            </a:r>
          </a:p>
        </p:txBody>
      </p:sp>
      <p:sp>
        <p:nvSpPr>
          <p:cNvPr id="45064" name="Text Box 1037"/>
          <p:cNvSpPr txBox="1"/>
          <p:nvPr/>
        </p:nvSpPr>
        <p:spPr>
          <a:xfrm>
            <a:off x="2197100" y="1727200"/>
            <a:ext cx="1752600" cy="457200"/>
          </a:xfrm>
          <a:prstGeom prst="rect">
            <a:avLst/>
          </a:prstGeom>
          <a:noFill/>
          <a:ln w="12700">
            <a:noFill/>
          </a:ln>
        </p:spPr>
        <p:txBody>
          <a:bodyPr>
            <a:spAutoFit/>
          </a:bodyPr>
          <a:lstStyle/>
          <a:p>
            <a:pPr eaLnBrk="1" hangingPunct="1">
              <a:spcBef>
                <a:spcPct val="50000"/>
              </a:spcBef>
            </a:pPr>
            <a:r>
              <a:rPr sz="2400" dirty="0">
                <a:latin typeface="Times New Roman" panose="02020603050405020304" pitchFamily="18" charset="0"/>
              </a:rPr>
              <a:t>Supertype</a:t>
            </a:r>
          </a:p>
        </p:txBody>
      </p:sp>
      <p:sp>
        <p:nvSpPr>
          <p:cNvPr id="45065" name="Text Box 1038"/>
          <p:cNvSpPr txBox="1"/>
          <p:nvPr/>
        </p:nvSpPr>
        <p:spPr>
          <a:xfrm>
            <a:off x="1435100" y="3949700"/>
            <a:ext cx="1371600" cy="457200"/>
          </a:xfrm>
          <a:prstGeom prst="rect">
            <a:avLst/>
          </a:prstGeom>
          <a:noFill/>
          <a:ln w="12700">
            <a:noFill/>
          </a:ln>
        </p:spPr>
        <p:txBody>
          <a:bodyPr>
            <a:spAutoFit/>
          </a:bodyPr>
          <a:lstStyle/>
          <a:p>
            <a:pPr eaLnBrk="1" hangingPunct="1">
              <a:spcBef>
                <a:spcPct val="50000"/>
              </a:spcBef>
            </a:pPr>
            <a:r>
              <a:rPr sz="2400" dirty="0">
                <a:latin typeface="Times New Roman" panose="02020603050405020304" pitchFamily="18" charset="0"/>
              </a:rPr>
              <a:t>Subtype1</a:t>
            </a:r>
          </a:p>
        </p:txBody>
      </p:sp>
      <p:sp>
        <p:nvSpPr>
          <p:cNvPr id="45066" name="Rectangle 1041"/>
          <p:cNvSpPr/>
          <p:nvPr/>
        </p:nvSpPr>
        <p:spPr>
          <a:xfrm>
            <a:off x="1828800" y="511175"/>
            <a:ext cx="6224588" cy="579438"/>
          </a:xfrm>
          <a:prstGeom prst="rect">
            <a:avLst/>
          </a:prstGeom>
          <a:noFill/>
          <a:ln w="12700">
            <a:noFill/>
          </a:ln>
        </p:spPr>
        <p:txBody>
          <a:bodyPr>
            <a:spAutoFit/>
          </a:bodyPr>
          <a:lstStyle/>
          <a:p>
            <a:pPr eaLnBrk="1" hangingPunct="1">
              <a:spcBef>
                <a:spcPct val="50000"/>
              </a:spcBef>
            </a:pPr>
            <a:r>
              <a:rPr sz="2400" dirty="0">
                <a:latin typeface="Times New Roman" panose="02020603050405020304" pitchFamily="18" charset="0"/>
              </a:rPr>
              <a:t> </a:t>
            </a:r>
            <a:r>
              <a:rPr sz="2800" dirty="0">
                <a:solidFill>
                  <a:schemeClr val="tx2"/>
                </a:solidFill>
                <a:latin typeface="Times New Roman" panose="02020603050405020304" pitchFamily="18" charset="0"/>
              </a:rPr>
              <a:t>OO Relationships:</a:t>
            </a:r>
            <a:r>
              <a:rPr sz="3200" dirty="0">
                <a:solidFill>
                  <a:schemeClr val="tx2"/>
                </a:solidFill>
                <a:latin typeface="Times New Roman" panose="02020603050405020304" pitchFamily="18" charset="0"/>
              </a:rPr>
              <a:t> </a:t>
            </a:r>
            <a:r>
              <a:rPr sz="3200" b="1" dirty="0">
                <a:latin typeface="Times New Roman" panose="02020603050405020304" pitchFamily="18" charset="0"/>
              </a:rPr>
              <a:t>Generalization</a:t>
            </a:r>
          </a:p>
        </p:txBody>
      </p:sp>
      <p:sp>
        <p:nvSpPr>
          <p:cNvPr id="45067" name="Rectangle 1042"/>
          <p:cNvSpPr/>
          <p:nvPr/>
        </p:nvSpPr>
        <p:spPr>
          <a:xfrm>
            <a:off x="304800" y="4724400"/>
            <a:ext cx="4191000" cy="1768475"/>
          </a:xfrm>
          <a:prstGeom prst="rect">
            <a:avLst/>
          </a:prstGeom>
          <a:noFill/>
          <a:ln w="12700">
            <a:noFill/>
          </a:ln>
        </p:spPr>
        <p:txBody>
          <a:bodyPr>
            <a:spAutoFit/>
          </a:bodyPr>
          <a:lstStyle/>
          <a:p>
            <a:pPr>
              <a:spcBef>
                <a:spcPct val="50000"/>
              </a:spcBef>
            </a:pPr>
            <a:r>
              <a:rPr sz="2000" dirty="0">
                <a:latin typeface="Times New Roman" panose="02020603050405020304" pitchFamily="18" charset="0"/>
              </a:rPr>
              <a:t>- Generalization expresses a parent/child relationship among related classes.  </a:t>
            </a:r>
          </a:p>
          <a:p>
            <a:pPr>
              <a:spcBef>
                <a:spcPct val="50000"/>
              </a:spcBef>
            </a:pPr>
            <a:r>
              <a:rPr sz="2000" dirty="0">
                <a:latin typeface="Times New Roman" panose="02020603050405020304" pitchFamily="18" charset="0"/>
              </a:rPr>
              <a:t>- Used for abstracting details in several layers</a:t>
            </a:r>
          </a:p>
        </p:txBody>
      </p:sp>
      <p:sp>
        <p:nvSpPr>
          <p:cNvPr id="45068" name="AutoShape 1054"/>
          <p:cNvSpPr/>
          <p:nvPr/>
        </p:nvSpPr>
        <p:spPr>
          <a:xfrm>
            <a:off x="6781800" y="2171700"/>
            <a:ext cx="228600" cy="304800"/>
          </a:xfrm>
          <a:prstGeom prst="triangle">
            <a:avLst>
              <a:gd name="adj" fmla="val 50000"/>
            </a:avLst>
          </a:prstGeom>
          <a:noFill/>
          <a:ln w="12700" cap="sq" cmpd="sng">
            <a:solidFill>
              <a:schemeClr val="tx1"/>
            </a:solidFill>
            <a:prstDash val="solid"/>
            <a:miter/>
            <a:headEnd type="none" w="sm" len="sm"/>
            <a:tailEnd type="none" w="sm" len="sm"/>
          </a:ln>
        </p:spPr>
        <p:txBody>
          <a:bodyPr wrap="none" anchor="ctr" anchorCtr="0"/>
          <a:lstStyle/>
          <a:p>
            <a:endParaRPr dirty="0">
              <a:latin typeface="Tahoma" panose="020B0604030504040204" pitchFamily="34" charset="0"/>
            </a:endParaRPr>
          </a:p>
        </p:txBody>
      </p:sp>
      <p:sp>
        <p:nvSpPr>
          <p:cNvPr id="45069" name="Rectangle 1055"/>
          <p:cNvSpPr/>
          <p:nvPr/>
        </p:nvSpPr>
        <p:spPr>
          <a:xfrm>
            <a:off x="6083300" y="1752600"/>
            <a:ext cx="1536700" cy="381000"/>
          </a:xfrm>
          <a:prstGeom prst="rect">
            <a:avLst/>
          </a:prstGeom>
          <a:noFill/>
          <a:ln w="12700" cap="sq" cmpd="sng">
            <a:solidFill>
              <a:schemeClr val="tx1"/>
            </a:solidFill>
            <a:prstDash val="solid"/>
            <a:miter/>
            <a:headEnd type="none" w="sm" len="sm"/>
            <a:tailEnd type="none" w="sm" len="sm"/>
          </a:ln>
        </p:spPr>
        <p:txBody>
          <a:bodyPr wrap="none" anchor="ctr" anchorCtr="0"/>
          <a:lstStyle/>
          <a:p>
            <a:endParaRPr dirty="0">
              <a:latin typeface="Tahoma" panose="020B0604030504040204" pitchFamily="34" charset="0"/>
            </a:endParaRPr>
          </a:p>
        </p:txBody>
      </p:sp>
      <p:sp>
        <p:nvSpPr>
          <p:cNvPr id="45070" name="Line 1056"/>
          <p:cNvSpPr/>
          <p:nvPr/>
        </p:nvSpPr>
        <p:spPr>
          <a:xfrm>
            <a:off x="6896100" y="2501900"/>
            <a:ext cx="0" cy="304800"/>
          </a:xfrm>
          <a:prstGeom prst="line">
            <a:avLst/>
          </a:prstGeom>
          <a:ln w="12700" cap="sq" cmpd="sng">
            <a:solidFill>
              <a:schemeClr val="tx1"/>
            </a:solidFill>
            <a:prstDash val="solid"/>
            <a:headEnd type="none" w="sm" len="sm"/>
            <a:tailEnd type="none" w="sm" len="sm"/>
          </a:ln>
        </p:spPr>
      </p:sp>
      <p:sp>
        <p:nvSpPr>
          <p:cNvPr id="45071" name="Line 1057"/>
          <p:cNvSpPr/>
          <p:nvPr/>
        </p:nvSpPr>
        <p:spPr>
          <a:xfrm>
            <a:off x="5791200" y="2819400"/>
            <a:ext cx="2057400" cy="0"/>
          </a:xfrm>
          <a:prstGeom prst="line">
            <a:avLst/>
          </a:prstGeom>
          <a:ln w="12700" cap="sq" cmpd="sng">
            <a:solidFill>
              <a:schemeClr val="tx1"/>
            </a:solidFill>
            <a:prstDash val="solid"/>
            <a:headEnd type="none" w="sm" len="sm"/>
            <a:tailEnd type="none" w="sm" len="sm"/>
          </a:ln>
        </p:spPr>
      </p:sp>
      <p:sp>
        <p:nvSpPr>
          <p:cNvPr id="45072" name="Rectangle 1059"/>
          <p:cNvSpPr/>
          <p:nvPr/>
        </p:nvSpPr>
        <p:spPr>
          <a:xfrm>
            <a:off x="5130800" y="3302000"/>
            <a:ext cx="1447800" cy="508000"/>
          </a:xfrm>
          <a:prstGeom prst="rect">
            <a:avLst/>
          </a:prstGeom>
          <a:noFill/>
          <a:ln w="12700" cap="sq" cmpd="sng">
            <a:solidFill>
              <a:schemeClr val="tx1"/>
            </a:solidFill>
            <a:prstDash val="solid"/>
            <a:miter/>
            <a:headEnd type="none" w="sm" len="sm"/>
            <a:tailEnd type="none" w="sm" len="sm"/>
          </a:ln>
        </p:spPr>
        <p:txBody>
          <a:bodyPr wrap="none" anchor="ctr" anchorCtr="0"/>
          <a:lstStyle/>
          <a:p>
            <a:pPr algn="ctr" eaLnBrk="1" hangingPunct="1"/>
            <a:r>
              <a:rPr sz="1600" dirty="0">
                <a:latin typeface="Times New Roman" panose="02020603050405020304" pitchFamily="18" charset="0"/>
              </a:rPr>
              <a:t>Regular </a:t>
            </a:r>
          </a:p>
          <a:p>
            <a:pPr algn="ctr" eaLnBrk="1" hangingPunct="1"/>
            <a:r>
              <a:rPr sz="1600" dirty="0">
                <a:latin typeface="Times New Roman" panose="02020603050405020304" pitchFamily="18" charset="0"/>
              </a:rPr>
              <a:t>Customer</a:t>
            </a:r>
          </a:p>
        </p:txBody>
      </p:sp>
      <p:sp>
        <p:nvSpPr>
          <p:cNvPr id="45073" name="Rectangle 1060"/>
          <p:cNvSpPr/>
          <p:nvPr/>
        </p:nvSpPr>
        <p:spPr>
          <a:xfrm>
            <a:off x="7162800" y="3314700"/>
            <a:ext cx="1524000" cy="495300"/>
          </a:xfrm>
          <a:prstGeom prst="rect">
            <a:avLst/>
          </a:prstGeom>
          <a:noFill/>
          <a:ln w="12700" cap="sq" cmpd="sng">
            <a:solidFill>
              <a:schemeClr val="tx1"/>
            </a:solidFill>
            <a:prstDash val="solid"/>
            <a:miter/>
            <a:headEnd type="none" w="sm" len="sm"/>
            <a:tailEnd type="none" w="sm" len="sm"/>
          </a:ln>
        </p:spPr>
        <p:txBody>
          <a:bodyPr wrap="none" anchor="ctr" anchorCtr="0"/>
          <a:lstStyle/>
          <a:p>
            <a:pPr algn="ctr" eaLnBrk="1" hangingPunct="1"/>
            <a:r>
              <a:rPr sz="1600" dirty="0">
                <a:latin typeface="Times New Roman" panose="02020603050405020304" pitchFamily="18" charset="0"/>
              </a:rPr>
              <a:t>Loyalty</a:t>
            </a:r>
          </a:p>
          <a:p>
            <a:pPr algn="ctr" eaLnBrk="1" hangingPunct="1"/>
            <a:r>
              <a:rPr sz="1600" dirty="0">
                <a:latin typeface="Times New Roman" panose="02020603050405020304" pitchFamily="18" charset="0"/>
              </a:rPr>
              <a:t> Customer</a:t>
            </a:r>
          </a:p>
        </p:txBody>
      </p:sp>
      <p:sp>
        <p:nvSpPr>
          <p:cNvPr id="45074" name="Text Box 1062"/>
          <p:cNvSpPr txBox="1"/>
          <p:nvPr/>
        </p:nvSpPr>
        <p:spPr>
          <a:xfrm>
            <a:off x="6235700" y="1752600"/>
            <a:ext cx="1752600" cy="396875"/>
          </a:xfrm>
          <a:prstGeom prst="rect">
            <a:avLst/>
          </a:prstGeom>
          <a:noFill/>
          <a:ln w="12700">
            <a:noFill/>
          </a:ln>
        </p:spPr>
        <p:txBody>
          <a:bodyPr>
            <a:spAutoFit/>
          </a:bodyPr>
          <a:lstStyle/>
          <a:p>
            <a:pPr eaLnBrk="1" hangingPunct="1">
              <a:spcBef>
                <a:spcPct val="50000"/>
              </a:spcBef>
            </a:pPr>
            <a:r>
              <a:rPr sz="2000" dirty="0">
                <a:latin typeface="Times New Roman" panose="02020603050405020304" pitchFamily="18" charset="0"/>
              </a:rPr>
              <a:t>Customer</a:t>
            </a:r>
          </a:p>
        </p:txBody>
      </p:sp>
      <p:sp>
        <p:nvSpPr>
          <p:cNvPr id="45075" name="Text Box 1065"/>
          <p:cNvSpPr txBox="1"/>
          <p:nvPr/>
        </p:nvSpPr>
        <p:spPr>
          <a:xfrm>
            <a:off x="4800600" y="1739900"/>
            <a:ext cx="1143000" cy="336550"/>
          </a:xfrm>
          <a:prstGeom prst="rect">
            <a:avLst/>
          </a:prstGeom>
          <a:noFill/>
          <a:ln w="12700">
            <a:noFill/>
          </a:ln>
        </p:spPr>
        <p:txBody>
          <a:bodyPr>
            <a:spAutoFit/>
          </a:bodyPr>
          <a:lstStyle/>
          <a:p>
            <a:pPr eaLnBrk="1" hangingPunct="1">
              <a:spcBef>
                <a:spcPct val="50000"/>
              </a:spcBef>
            </a:pPr>
            <a:r>
              <a:rPr sz="1600" dirty="0">
                <a:latin typeface="Times New Roman" panose="02020603050405020304" pitchFamily="18" charset="0"/>
              </a:rPr>
              <a:t>  Example:</a:t>
            </a:r>
          </a:p>
        </p:txBody>
      </p:sp>
      <p:sp>
        <p:nvSpPr>
          <p:cNvPr id="45076" name="Line 1066"/>
          <p:cNvSpPr/>
          <p:nvPr/>
        </p:nvSpPr>
        <p:spPr>
          <a:xfrm>
            <a:off x="3810000" y="3263900"/>
            <a:ext cx="0" cy="685800"/>
          </a:xfrm>
          <a:prstGeom prst="line">
            <a:avLst/>
          </a:prstGeom>
          <a:ln w="12700" cap="sq" cmpd="sng">
            <a:solidFill>
              <a:schemeClr val="tx1"/>
            </a:solidFill>
            <a:prstDash val="solid"/>
            <a:headEnd type="none" w="sm" len="sm"/>
            <a:tailEnd type="none" w="sm" len="sm"/>
          </a:ln>
        </p:spPr>
      </p:sp>
      <p:sp>
        <p:nvSpPr>
          <p:cNvPr id="45077" name="Line 1077"/>
          <p:cNvSpPr/>
          <p:nvPr/>
        </p:nvSpPr>
        <p:spPr>
          <a:xfrm>
            <a:off x="5791200" y="2819400"/>
            <a:ext cx="0" cy="457200"/>
          </a:xfrm>
          <a:prstGeom prst="line">
            <a:avLst/>
          </a:prstGeom>
          <a:ln w="9525" cap="flat" cmpd="sng">
            <a:solidFill>
              <a:schemeClr val="tx1"/>
            </a:solidFill>
            <a:prstDash val="solid"/>
            <a:miter/>
            <a:headEnd type="none" w="med" len="med"/>
            <a:tailEnd type="none" w="med" len="med"/>
          </a:ln>
        </p:spPr>
      </p:sp>
      <p:sp>
        <p:nvSpPr>
          <p:cNvPr id="45078" name="Line 1078"/>
          <p:cNvSpPr/>
          <p:nvPr/>
        </p:nvSpPr>
        <p:spPr>
          <a:xfrm>
            <a:off x="7848600" y="2819400"/>
            <a:ext cx="0" cy="533400"/>
          </a:xfrm>
          <a:prstGeom prst="line">
            <a:avLst/>
          </a:prstGeom>
          <a:ln w="9525" cap="flat" cmpd="sng">
            <a:solidFill>
              <a:schemeClr val="tx1"/>
            </a:solidFill>
            <a:prstDash val="solid"/>
            <a:miter/>
            <a:headEnd type="none" w="med" len="med"/>
            <a:tailEnd type="none" w="med" len="med"/>
          </a:ln>
        </p:spPr>
      </p:sp>
      <p:sp>
        <p:nvSpPr>
          <p:cNvPr id="45079" name="Line 1082"/>
          <p:cNvSpPr/>
          <p:nvPr/>
        </p:nvSpPr>
        <p:spPr>
          <a:xfrm flipV="1">
            <a:off x="2819400" y="2667000"/>
            <a:ext cx="0" cy="609600"/>
          </a:xfrm>
          <a:prstGeom prst="line">
            <a:avLst/>
          </a:prstGeom>
          <a:ln w="9525" cap="flat" cmpd="sng">
            <a:solidFill>
              <a:schemeClr val="tx1"/>
            </a:solidFill>
            <a:prstDash val="solid"/>
            <a:miter/>
            <a:headEnd type="none" w="med" len="med"/>
            <a:tailEnd type="none" w="med" len="med"/>
          </a:ln>
        </p:spPr>
      </p:sp>
      <p:sp>
        <p:nvSpPr>
          <p:cNvPr id="45080" name="Rectangle 1085"/>
          <p:cNvSpPr/>
          <p:nvPr/>
        </p:nvSpPr>
        <p:spPr>
          <a:xfrm>
            <a:off x="6172200" y="4343400"/>
            <a:ext cx="1536700" cy="381000"/>
          </a:xfrm>
          <a:prstGeom prst="rect">
            <a:avLst/>
          </a:prstGeom>
          <a:noFill/>
          <a:ln w="12700" cap="sq" cmpd="sng">
            <a:solidFill>
              <a:schemeClr val="tx1"/>
            </a:solidFill>
            <a:prstDash val="solid"/>
            <a:miter/>
            <a:headEnd type="none" w="sm" len="sm"/>
            <a:tailEnd type="none" w="sm" len="sm"/>
          </a:ln>
        </p:spPr>
        <p:txBody>
          <a:bodyPr wrap="none" anchor="ctr" anchorCtr="0"/>
          <a:lstStyle/>
          <a:p>
            <a:endParaRPr dirty="0">
              <a:latin typeface="Tahoma" panose="020B0604030504040204" pitchFamily="34" charset="0"/>
            </a:endParaRPr>
          </a:p>
        </p:txBody>
      </p:sp>
      <p:sp>
        <p:nvSpPr>
          <p:cNvPr id="45081" name="Rectangle 1088"/>
          <p:cNvSpPr/>
          <p:nvPr/>
        </p:nvSpPr>
        <p:spPr>
          <a:xfrm>
            <a:off x="5219700" y="5892800"/>
            <a:ext cx="1447800" cy="508000"/>
          </a:xfrm>
          <a:prstGeom prst="rect">
            <a:avLst/>
          </a:prstGeom>
          <a:noFill/>
          <a:ln w="12700" cap="sq" cmpd="sng">
            <a:solidFill>
              <a:schemeClr val="tx1"/>
            </a:solidFill>
            <a:prstDash val="solid"/>
            <a:miter/>
            <a:headEnd type="none" w="sm" len="sm"/>
            <a:tailEnd type="none" w="sm" len="sm"/>
          </a:ln>
        </p:spPr>
        <p:txBody>
          <a:bodyPr wrap="none" anchor="ctr" anchorCtr="0"/>
          <a:lstStyle/>
          <a:p>
            <a:pPr algn="ctr" eaLnBrk="1" hangingPunct="1"/>
            <a:r>
              <a:rPr sz="1600" dirty="0">
                <a:latin typeface="Times New Roman" panose="02020603050405020304" pitchFamily="18" charset="0"/>
              </a:rPr>
              <a:t>Regular </a:t>
            </a:r>
          </a:p>
          <a:p>
            <a:pPr algn="ctr" eaLnBrk="1" hangingPunct="1"/>
            <a:r>
              <a:rPr sz="1600" dirty="0">
                <a:latin typeface="Times New Roman" panose="02020603050405020304" pitchFamily="18" charset="0"/>
              </a:rPr>
              <a:t>Customer</a:t>
            </a:r>
          </a:p>
        </p:txBody>
      </p:sp>
      <p:sp>
        <p:nvSpPr>
          <p:cNvPr id="45082" name="Rectangle 1089"/>
          <p:cNvSpPr/>
          <p:nvPr/>
        </p:nvSpPr>
        <p:spPr>
          <a:xfrm>
            <a:off x="7251700" y="5905500"/>
            <a:ext cx="1524000" cy="495300"/>
          </a:xfrm>
          <a:prstGeom prst="rect">
            <a:avLst/>
          </a:prstGeom>
          <a:noFill/>
          <a:ln w="12700" cap="sq" cmpd="sng">
            <a:solidFill>
              <a:schemeClr val="tx1"/>
            </a:solidFill>
            <a:prstDash val="solid"/>
            <a:miter/>
            <a:headEnd type="none" w="sm" len="sm"/>
            <a:tailEnd type="none" w="sm" len="sm"/>
          </a:ln>
        </p:spPr>
        <p:txBody>
          <a:bodyPr wrap="none" anchor="ctr" anchorCtr="0"/>
          <a:lstStyle/>
          <a:p>
            <a:pPr algn="ctr" eaLnBrk="1" hangingPunct="1"/>
            <a:r>
              <a:rPr sz="1600" dirty="0">
                <a:latin typeface="Times New Roman" panose="02020603050405020304" pitchFamily="18" charset="0"/>
              </a:rPr>
              <a:t>Loyalty</a:t>
            </a:r>
          </a:p>
          <a:p>
            <a:pPr algn="ctr" eaLnBrk="1" hangingPunct="1"/>
            <a:r>
              <a:rPr sz="1600" dirty="0">
                <a:latin typeface="Times New Roman" panose="02020603050405020304" pitchFamily="18" charset="0"/>
              </a:rPr>
              <a:t> Customer</a:t>
            </a:r>
          </a:p>
        </p:txBody>
      </p:sp>
      <p:sp>
        <p:nvSpPr>
          <p:cNvPr id="45083" name="Text Box 1090"/>
          <p:cNvSpPr txBox="1"/>
          <p:nvPr/>
        </p:nvSpPr>
        <p:spPr>
          <a:xfrm>
            <a:off x="6324600" y="4343400"/>
            <a:ext cx="1752600" cy="396875"/>
          </a:xfrm>
          <a:prstGeom prst="rect">
            <a:avLst/>
          </a:prstGeom>
          <a:noFill/>
          <a:ln w="12700">
            <a:noFill/>
          </a:ln>
        </p:spPr>
        <p:txBody>
          <a:bodyPr>
            <a:spAutoFit/>
          </a:bodyPr>
          <a:lstStyle/>
          <a:p>
            <a:pPr eaLnBrk="1" hangingPunct="1">
              <a:spcBef>
                <a:spcPct val="50000"/>
              </a:spcBef>
            </a:pPr>
            <a:r>
              <a:rPr sz="2000" dirty="0">
                <a:latin typeface="Times New Roman" panose="02020603050405020304" pitchFamily="18" charset="0"/>
              </a:rPr>
              <a:t>Customer</a:t>
            </a:r>
          </a:p>
        </p:txBody>
      </p:sp>
      <p:sp>
        <p:nvSpPr>
          <p:cNvPr id="45084" name="Text Box 1091"/>
          <p:cNvSpPr txBox="1"/>
          <p:nvPr/>
        </p:nvSpPr>
        <p:spPr>
          <a:xfrm>
            <a:off x="4889500" y="4330700"/>
            <a:ext cx="1143000" cy="336550"/>
          </a:xfrm>
          <a:prstGeom prst="rect">
            <a:avLst/>
          </a:prstGeom>
          <a:noFill/>
          <a:ln w="12700">
            <a:noFill/>
          </a:ln>
        </p:spPr>
        <p:txBody>
          <a:bodyPr>
            <a:spAutoFit/>
          </a:bodyPr>
          <a:lstStyle/>
          <a:p>
            <a:pPr eaLnBrk="1" hangingPunct="1">
              <a:spcBef>
                <a:spcPct val="50000"/>
              </a:spcBef>
            </a:pPr>
            <a:r>
              <a:rPr sz="1600" dirty="0">
                <a:latin typeface="Times New Roman" panose="02020603050405020304" pitchFamily="18" charset="0"/>
              </a:rPr>
              <a:t>  or:</a:t>
            </a:r>
          </a:p>
        </p:txBody>
      </p:sp>
      <p:sp>
        <p:nvSpPr>
          <p:cNvPr id="45085" name="Line 1094"/>
          <p:cNvSpPr/>
          <p:nvPr/>
        </p:nvSpPr>
        <p:spPr>
          <a:xfrm flipV="1">
            <a:off x="5905500" y="4953000"/>
            <a:ext cx="609600" cy="914400"/>
          </a:xfrm>
          <a:prstGeom prst="line">
            <a:avLst/>
          </a:prstGeom>
          <a:ln w="9525" cap="flat" cmpd="sng">
            <a:solidFill>
              <a:schemeClr val="tx1"/>
            </a:solidFill>
            <a:prstDash val="solid"/>
            <a:miter/>
            <a:headEnd type="none" w="med" len="med"/>
            <a:tailEnd type="none" w="med" len="med"/>
          </a:ln>
        </p:spPr>
      </p:sp>
      <p:sp>
        <p:nvSpPr>
          <p:cNvPr id="45086" name="Line 1095"/>
          <p:cNvSpPr/>
          <p:nvPr/>
        </p:nvSpPr>
        <p:spPr>
          <a:xfrm>
            <a:off x="6400800" y="4876800"/>
            <a:ext cx="228600" cy="152400"/>
          </a:xfrm>
          <a:prstGeom prst="line">
            <a:avLst/>
          </a:prstGeom>
          <a:ln w="9525" cap="flat" cmpd="sng">
            <a:solidFill>
              <a:schemeClr val="tx1"/>
            </a:solidFill>
            <a:prstDash val="solid"/>
            <a:miter/>
            <a:headEnd type="none" w="med" len="med"/>
            <a:tailEnd type="none" w="med" len="med"/>
          </a:ln>
        </p:spPr>
      </p:sp>
      <p:sp>
        <p:nvSpPr>
          <p:cNvPr id="45087" name="Line 1096"/>
          <p:cNvSpPr/>
          <p:nvPr/>
        </p:nvSpPr>
        <p:spPr>
          <a:xfrm flipV="1">
            <a:off x="6400800" y="4724400"/>
            <a:ext cx="304800" cy="152400"/>
          </a:xfrm>
          <a:prstGeom prst="line">
            <a:avLst/>
          </a:prstGeom>
          <a:ln w="9525" cap="flat" cmpd="sng">
            <a:solidFill>
              <a:schemeClr val="tx1"/>
            </a:solidFill>
            <a:prstDash val="solid"/>
            <a:miter/>
            <a:headEnd type="none" w="med" len="med"/>
            <a:tailEnd type="none" w="med" len="med"/>
          </a:ln>
        </p:spPr>
      </p:sp>
      <p:sp>
        <p:nvSpPr>
          <p:cNvPr id="45088" name="Line 1097"/>
          <p:cNvSpPr/>
          <p:nvPr/>
        </p:nvSpPr>
        <p:spPr>
          <a:xfrm flipH="1">
            <a:off x="6629400" y="4724400"/>
            <a:ext cx="76200" cy="304800"/>
          </a:xfrm>
          <a:prstGeom prst="line">
            <a:avLst/>
          </a:prstGeom>
          <a:ln w="9525" cap="flat" cmpd="sng">
            <a:solidFill>
              <a:schemeClr val="tx1"/>
            </a:solidFill>
            <a:prstDash val="solid"/>
            <a:miter/>
            <a:headEnd type="none" w="med" len="med"/>
            <a:tailEnd type="none" w="med" len="med"/>
          </a:ln>
        </p:spPr>
      </p:sp>
      <p:sp>
        <p:nvSpPr>
          <p:cNvPr id="45089" name="Line 1098"/>
          <p:cNvSpPr/>
          <p:nvPr/>
        </p:nvSpPr>
        <p:spPr>
          <a:xfrm flipH="1" flipV="1">
            <a:off x="7086600" y="4953000"/>
            <a:ext cx="914400" cy="914400"/>
          </a:xfrm>
          <a:prstGeom prst="line">
            <a:avLst/>
          </a:prstGeom>
          <a:ln w="9525" cap="flat" cmpd="sng">
            <a:solidFill>
              <a:schemeClr val="tx1"/>
            </a:solidFill>
            <a:prstDash val="solid"/>
            <a:miter/>
            <a:headEnd type="none" w="med" len="med"/>
            <a:tailEnd type="none" w="med" len="med"/>
          </a:ln>
        </p:spPr>
      </p:sp>
      <p:sp>
        <p:nvSpPr>
          <p:cNvPr id="45090" name="Line 1102"/>
          <p:cNvSpPr/>
          <p:nvPr/>
        </p:nvSpPr>
        <p:spPr>
          <a:xfrm>
            <a:off x="6858000" y="4724400"/>
            <a:ext cx="76200" cy="304800"/>
          </a:xfrm>
          <a:prstGeom prst="line">
            <a:avLst/>
          </a:prstGeom>
          <a:ln w="9525" cap="flat" cmpd="sng">
            <a:solidFill>
              <a:schemeClr val="tx1"/>
            </a:solidFill>
            <a:prstDash val="solid"/>
            <a:miter/>
            <a:headEnd type="none" w="med" len="med"/>
            <a:tailEnd type="none" w="med" len="med"/>
          </a:ln>
        </p:spPr>
      </p:sp>
      <p:sp>
        <p:nvSpPr>
          <p:cNvPr id="45091" name="Line 1103"/>
          <p:cNvSpPr/>
          <p:nvPr/>
        </p:nvSpPr>
        <p:spPr>
          <a:xfrm flipV="1">
            <a:off x="6934200" y="4876800"/>
            <a:ext cx="228600" cy="152400"/>
          </a:xfrm>
          <a:prstGeom prst="line">
            <a:avLst/>
          </a:prstGeom>
          <a:ln w="9525" cap="flat" cmpd="sng">
            <a:solidFill>
              <a:schemeClr val="tx1"/>
            </a:solidFill>
            <a:prstDash val="solid"/>
            <a:miter/>
            <a:headEnd type="none" w="med" len="med"/>
            <a:tailEnd type="none" w="med" len="med"/>
          </a:ln>
        </p:spPr>
      </p:sp>
      <p:sp>
        <p:nvSpPr>
          <p:cNvPr id="45092" name="Line 1104"/>
          <p:cNvSpPr/>
          <p:nvPr/>
        </p:nvSpPr>
        <p:spPr>
          <a:xfrm>
            <a:off x="6858000" y="4724400"/>
            <a:ext cx="304800" cy="152400"/>
          </a:xfrm>
          <a:prstGeom prst="line">
            <a:avLst/>
          </a:prstGeom>
          <a:ln w="9525" cap="flat" cmpd="sng">
            <a:solidFill>
              <a:schemeClr val="tx1"/>
            </a:solidFill>
            <a:prstDash val="solid"/>
            <a:miter/>
            <a:headEnd type="none" w="med" len="med"/>
            <a:tailEnd type="none" w="med" len="med"/>
          </a:ln>
        </p:spPr>
      </p:sp>
      <p:pic>
        <p:nvPicPr>
          <p:cNvPr id="2" name="Picture 1">
            <a:extLst>
              <a:ext uri="{FF2B5EF4-FFF2-40B4-BE49-F238E27FC236}">
                <a16:creationId xmlns:a16="http://schemas.microsoft.com/office/drawing/2014/main" id="{7D883266-9E5F-25CE-8BC7-203CB6ED17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35E107F2-BBAA-7FEB-F83F-E11C559E70A8}"/>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D756C12-C887-AB66-211E-EE8831A5337B}"/>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Grp="1"/>
          </p:cNvSpPr>
          <p:nvPr>
            <p:ph type="title"/>
          </p:nvPr>
        </p:nvSpPr>
        <p:spPr>
          <a:xfrm>
            <a:off x="457200" y="381000"/>
            <a:ext cx="8229600" cy="538609"/>
          </a:xfrm>
        </p:spPr>
        <p:txBody>
          <a:bodyPr vert="horz" wrap="square" lIns="0" tIns="45720" rIns="0" bIns="0" anchor="t" anchorCtr="0">
            <a:spAutoFit/>
          </a:bodyPr>
          <a:lstStyle/>
          <a:p>
            <a:pPr algn="ctr" eaLnBrk="1" hangingPunct="1">
              <a:spcBef>
                <a:spcPct val="50000"/>
              </a:spcBef>
            </a:pPr>
            <a:r>
              <a:rPr sz="2800" b="1" dirty="0">
                <a:latin typeface="Cambria" panose="02040503050406030204" pitchFamily="18" charset="0"/>
              </a:rPr>
              <a:t> OO Relationships: </a:t>
            </a:r>
            <a:r>
              <a:rPr sz="3200" b="1" dirty="0">
                <a:latin typeface="Cambria" panose="02040503050406030204" pitchFamily="18" charset="0"/>
              </a:rPr>
              <a:t>Association</a:t>
            </a:r>
          </a:p>
        </p:txBody>
      </p:sp>
      <p:sp>
        <p:nvSpPr>
          <p:cNvPr id="46083" name="Rectangle 3"/>
          <p:cNvSpPr>
            <a:spLocks noGrp="1"/>
          </p:cNvSpPr>
          <p:nvPr>
            <p:ph idx="1"/>
          </p:nvPr>
        </p:nvSpPr>
        <p:spPr>
          <a:xfrm>
            <a:off x="457200" y="1371600"/>
            <a:ext cx="8229600" cy="5029200"/>
          </a:xfrm>
        </p:spPr>
        <p:txBody>
          <a:bodyPr vert="horz" wrap="square" lIns="91440" tIns="45720" rIns="91440" bIns="45720" anchor="t" anchorCtr="0"/>
          <a:lstStyle/>
          <a:p>
            <a:pPr eaLnBrk="1" hangingPunct="1"/>
            <a:r>
              <a:rPr sz="2400" dirty="0">
                <a:latin typeface="Cambria" panose="02040503050406030204" pitchFamily="18" charset="0"/>
              </a:rPr>
              <a:t>Represent relationship between instances of classes</a:t>
            </a:r>
          </a:p>
          <a:p>
            <a:pPr lvl="1" eaLnBrk="1" hangingPunct="1"/>
            <a:r>
              <a:rPr dirty="0">
                <a:latin typeface="Cambria" panose="02040503050406030204" pitchFamily="18" charset="0"/>
              </a:rPr>
              <a:t>Student enrolls in a course</a:t>
            </a:r>
          </a:p>
          <a:p>
            <a:pPr lvl="1" eaLnBrk="1" hangingPunct="1"/>
            <a:r>
              <a:rPr dirty="0">
                <a:latin typeface="Cambria" panose="02040503050406030204" pitchFamily="18" charset="0"/>
              </a:rPr>
              <a:t>Courses have students</a:t>
            </a:r>
          </a:p>
          <a:p>
            <a:pPr lvl="1" eaLnBrk="1" hangingPunct="1"/>
            <a:r>
              <a:rPr dirty="0">
                <a:latin typeface="Cambria" panose="02040503050406030204" pitchFamily="18" charset="0"/>
              </a:rPr>
              <a:t>Courses have exams</a:t>
            </a:r>
          </a:p>
          <a:p>
            <a:pPr lvl="1" eaLnBrk="1" hangingPunct="1"/>
            <a:r>
              <a:rPr dirty="0">
                <a:latin typeface="Cambria" panose="02040503050406030204" pitchFamily="18" charset="0"/>
              </a:rPr>
              <a:t>Etc.</a:t>
            </a:r>
          </a:p>
          <a:p>
            <a:pPr eaLnBrk="1" hangingPunct="1"/>
            <a:r>
              <a:rPr sz="2400" dirty="0">
                <a:latin typeface="Cambria" panose="02040503050406030204" pitchFamily="18" charset="0"/>
              </a:rPr>
              <a:t>Association has two ends</a:t>
            </a:r>
          </a:p>
          <a:p>
            <a:pPr lvl="1" eaLnBrk="1" hangingPunct="1"/>
            <a:r>
              <a:rPr dirty="0">
                <a:latin typeface="Cambria" panose="02040503050406030204" pitchFamily="18" charset="0"/>
              </a:rPr>
              <a:t>Role names (e.g. enrolls)</a:t>
            </a:r>
          </a:p>
          <a:p>
            <a:pPr lvl="1" eaLnBrk="1" hangingPunct="1"/>
            <a:r>
              <a:rPr dirty="0">
                <a:latin typeface="Cambria" panose="02040503050406030204" pitchFamily="18" charset="0"/>
              </a:rPr>
              <a:t>Multiplicity (e.g. One course can have many students)</a:t>
            </a:r>
          </a:p>
          <a:p>
            <a:pPr lvl="1" eaLnBrk="1" hangingPunct="1"/>
            <a:r>
              <a:rPr dirty="0">
                <a:latin typeface="Cambria" panose="02040503050406030204" pitchFamily="18" charset="0"/>
              </a:rPr>
              <a:t>Navigability (unidirectional, bidirectional)</a:t>
            </a:r>
          </a:p>
        </p:txBody>
      </p:sp>
      <p:pic>
        <p:nvPicPr>
          <p:cNvPr id="2" name="Picture 1">
            <a:extLst>
              <a:ext uri="{FF2B5EF4-FFF2-40B4-BE49-F238E27FC236}">
                <a16:creationId xmlns:a16="http://schemas.microsoft.com/office/drawing/2014/main" id="{0C5FD914-C10C-C6FA-B658-776DD8B47A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4D35CBE5-65C1-6D4E-6DCD-45BDF2B7D020}"/>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D410906-E0F2-1622-4423-051553E739D4}"/>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p:txBody>
          <a:bodyPr vert="horz" wrap="square" lIns="0" tIns="45720" rIns="0" bIns="0" anchor="b" anchorCtr="0"/>
          <a:lstStyle/>
          <a:p>
            <a:pPr eaLnBrk="1" hangingPunct="1"/>
            <a:r>
              <a:rPr sz="3200" dirty="0">
                <a:latin typeface="Cambria" panose="02040503050406030204" pitchFamily="18" charset="0"/>
              </a:rPr>
              <a:t>Association: Multiplicity and Roles</a:t>
            </a:r>
          </a:p>
        </p:txBody>
      </p:sp>
      <p:sp>
        <p:nvSpPr>
          <p:cNvPr id="47107" name="Rectangle 4"/>
          <p:cNvSpPr/>
          <p:nvPr/>
        </p:nvSpPr>
        <p:spPr>
          <a:xfrm>
            <a:off x="1701800" y="2254250"/>
            <a:ext cx="1752600" cy="914400"/>
          </a:xfrm>
          <a:prstGeom prst="rect">
            <a:avLst/>
          </a:prstGeom>
          <a:noFill/>
          <a:ln w="9525" cap="flat" cmpd="sng">
            <a:solidFill>
              <a:schemeClr val="tx1"/>
            </a:solidFill>
            <a:prstDash val="solid"/>
            <a:miter/>
            <a:headEnd type="none" w="med" len="med"/>
            <a:tailEnd type="none" w="lg" len="lg"/>
          </a:ln>
        </p:spPr>
        <p:txBody>
          <a:bodyPr wrap="none" anchor="ctr" anchorCtr="0">
            <a:spAutoFit/>
          </a:bodyPr>
          <a:lstStyle/>
          <a:p>
            <a:endParaRPr dirty="0">
              <a:latin typeface="Tahoma" panose="020B0604030504040204" pitchFamily="34" charset="0"/>
            </a:endParaRPr>
          </a:p>
        </p:txBody>
      </p:sp>
      <p:sp>
        <p:nvSpPr>
          <p:cNvPr id="47108" name="Text Box 5"/>
          <p:cNvSpPr txBox="1"/>
          <p:nvPr/>
        </p:nvSpPr>
        <p:spPr>
          <a:xfrm>
            <a:off x="2006600" y="2514600"/>
            <a:ext cx="1074738" cy="336550"/>
          </a:xfrm>
          <a:prstGeom prst="rect">
            <a:avLst/>
          </a:prstGeom>
          <a:noFill/>
          <a:ln w="9525">
            <a:noFill/>
          </a:ln>
        </p:spPr>
        <p:txBody>
          <a:bodyPr wrap="none">
            <a:spAutoFit/>
          </a:bodyPr>
          <a:lstStyle/>
          <a:p>
            <a:pPr eaLnBrk="1" hangingPunct="1">
              <a:spcBef>
                <a:spcPct val="50000"/>
              </a:spcBef>
            </a:pPr>
            <a:r>
              <a:rPr sz="1600" dirty="0">
                <a:latin typeface="Arial" panose="020B0604020202020204" pitchFamily="34" charset="0"/>
              </a:rPr>
              <a:t>University</a:t>
            </a:r>
          </a:p>
        </p:txBody>
      </p:sp>
      <p:sp>
        <p:nvSpPr>
          <p:cNvPr id="47109" name="Rectangle 6"/>
          <p:cNvSpPr/>
          <p:nvPr/>
        </p:nvSpPr>
        <p:spPr>
          <a:xfrm>
            <a:off x="6518275" y="2254250"/>
            <a:ext cx="1752600" cy="914400"/>
          </a:xfrm>
          <a:prstGeom prst="rect">
            <a:avLst/>
          </a:prstGeom>
          <a:noFill/>
          <a:ln w="9525" cap="flat" cmpd="sng">
            <a:solidFill>
              <a:schemeClr val="tx1"/>
            </a:solidFill>
            <a:prstDash val="solid"/>
            <a:miter/>
            <a:headEnd type="none" w="med" len="med"/>
            <a:tailEnd type="none" w="lg" len="lg"/>
          </a:ln>
        </p:spPr>
        <p:txBody>
          <a:bodyPr wrap="none" anchor="ctr" anchorCtr="0">
            <a:spAutoFit/>
          </a:bodyPr>
          <a:lstStyle/>
          <a:p>
            <a:endParaRPr dirty="0">
              <a:latin typeface="Tahoma" panose="020B0604030504040204" pitchFamily="34" charset="0"/>
            </a:endParaRPr>
          </a:p>
        </p:txBody>
      </p:sp>
      <p:sp>
        <p:nvSpPr>
          <p:cNvPr id="47110" name="Text Box 7"/>
          <p:cNvSpPr txBox="1"/>
          <p:nvPr/>
        </p:nvSpPr>
        <p:spPr>
          <a:xfrm>
            <a:off x="6959600" y="2514600"/>
            <a:ext cx="827088" cy="336550"/>
          </a:xfrm>
          <a:prstGeom prst="rect">
            <a:avLst/>
          </a:prstGeom>
          <a:noFill/>
          <a:ln w="9525">
            <a:noFill/>
          </a:ln>
        </p:spPr>
        <p:txBody>
          <a:bodyPr wrap="none">
            <a:spAutoFit/>
          </a:bodyPr>
          <a:lstStyle/>
          <a:p>
            <a:pPr eaLnBrk="1" hangingPunct="1">
              <a:spcBef>
                <a:spcPct val="50000"/>
              </a:spcBef>
            </a:pPr>
            <a:r>
              <a:rPr sz="1600" dirty="0">
                <a:latin typeface="Arial" panose="020B0604020202020204" pitchFamily="34" charset="0"/>
              </a:rPr>
              <a:t>Person</a:t>
            </a:r>
          </a:p>
        </p:txBody>
      </p:sp>
      <p:sp>
        <p:nvSpPr>
          <p:cNvPr id="47111" name="Line 8"/>
          <p:cNvSpPr/>
          <p:nvPr/>
        </p:nvSpPr>
        <p:spPr>
          <a:xfrm>
            <a:off x="3454400" y="3016250"/>
            <a:ext cx="3048000" cy="0"/>
          </a:xfrm>
          <a:prstGeom prst="line">
            <a:avLst/>
          </a:prstGeom>
          <a:ln w="9525" cap="flat" cmpd="sng">
            <a:solidFill>
              <a:schemeClr val="tx1"/>
            </a:solidFill>
            <a:prstDash val="solid"/>
            <a:headEnd type="none" w="med" len="med"/>
            <a:tailEnd type="none" w="lg" len="lg"/>
          </a:ln>
        </p:spPr>
      </p:sp>
      <p:sp>
        <p:nvSpPr>
          <p:cNvPr id="47112" name="Line 9"/>
          <p:cNvSpPr/>
          <p:nvPr/>
        </p:nvSpPr>
        <p:spPr>
          <a:xfrm>
            <a:off x="3454400" y="2406650"/>
            <a:ext cx="3048000" cy="0"/>
          </a:xfrm>
          <a:prstGeom prst="line">
            <a:avLst/>
          </a:prstGeom>
          <a:ln w="9525" cap="flat" cmpd="sng">
            <a:solidFill>
              <a:schemeClr val="tx1"/>
            </a:solidFill>
            <a:prstDash val="solid"/>
            <a:headEnd type="none" w="med" len="med"/>
            <a:tailEnd type="none" w="lg" len="lg"/>
          </a:ln>
        </p:spPr>
      </p:sp>
      <p:sp>
        <p:nvSpPr>
          <p:cNvPr id="47113" name="Text Box 10"/>
          <p:cNvSpPr txBox="1"/>
          <p:nvPr/>
        </p:nvSpPr>
        <p:spPr>
          <a:xfrm>
            <a:off x="3438525" y="2009775"/>
            <a:ext cx="296863" cy="336550"/>
          </a:xfrm>
          <a:prstGeom prst="rect">
            <a:avLst/>
          </a:prstGeom>
          <a:noFill/>
          <a:ln w="9525">
            <a:noFill/>
          </a:ln>
        </p:spPr>
        <p:txBody>
          <a:bodyPr wrap="none">
            <a:spAutoFit/>
          </a:bodyPr>
          <a:lstStyle/>
          <a:p>
            <a:pPr eaLnBrk="1" hangingPunct="1">
              <a:spcBef>
                <a:spcPct val="50000"/>
              </a:spcBef>
            </a:pPr>
            <a:r>
              <a:rPr sz="1600" dirty="0">
                <a:solidFill>
                  <a:srgbClr val="FFFFFF"/>
                </a:solidFill>
                <a:latin typeface="Arial" panose="020B0604020202020204" pitchFamily="34" charset="0"/>
              </a:rPr>
              <a:t>1</a:t>
            </a:r>
          </a:p>
        </p:txBody>
      </p:sp>
      <p:sp>
        <p:nvSpPr>
          <p:cNvPr id="47114" name="Text Box 11"/>
          <p:cNvSpPr txBox="1"/>
          <p:nvPr/>
        </p:nvSpPr>
        <p:spPr>
          <a:xfrm>
            <a:off x="3530600" y="3168650"/>
            <a:ext cx="523875" cy="336550"/>
          </a:xfrm>
          <a:prstGeom prst="rect">
            <a:avLst/>
          </a:prstGeom>
          <a:noFill/>
          <a:ln w="9525">
            <a:noFill/>
          </a:ln>
        </p:spPr>
        <p:txBody>
          <a:bodyPr wrap="none">
            <a:spAutoFit/>
          </a:bodyPr>
          <a:lstStyle/>
          <a:p>
            <a:pPr eaLnBrk="1" hangingPunct="1">
              <a:spcBef>
                <a:spcPct val="50000"/>
              </a:spcBef>
            </a:pPr>
            <a:r>
              <a:rPr sz="1600" dirty="0">
                <a:solidFill>
                  <a:srgbClr val="FFFFFF"/>
                </a:solidFill>
                <a:latin typeface="Arial" panose="020B0604020202020204" pitchFamily="34" charset="0"/>
              </a:rPr>
              <a:t>0..1</a:t>
            </a:r>
          </a:p>
        </p:txBody>
      </p:sp>
      <p:sp>
        <p:nvSpPr>
          <p:cNvPr id="47115" name="Text Box 12"/>
          <p:cNvSpPr txBox="1"/>
          <p:nvPr/>
        </p:nvSpPr>
        <p:spPr>
          <a:xfrm>
            <a:off x="6121400" y="2025650"/>
            <a:ext cx="263525" cy="336550"/>
          </a:xfrm>
          <a:prstGeom prst="rect">
            <a:avLst/>
          </a:prstGeom>
          <a:noFill/>
          <a:ln w="9525">
            <a:noFill/>
          </a:ln>
        </p:spPr>
        <p:txBody>
          <a:bodyPr wrap="none">
            <a:spAutoFit/>
          </a:bodyPr>
          <a:lstStyle/>
          <a:p>
            <a:pPr eaLnBrk="1" hangingPunct="1">
              <a:spcBef>
                <a:spcPct val="50000"/>
              </a:spcBef>
            </a:pPr>
            <a:r>
              <a:rPr sz="1600" dirty="0">
                <a:solidFill>
                  <a:srgbClr val="FFFFFF"/>
                </a:solidFill>
                <a:latin typeface="Arial" panose="020B0604020202020204" pitchFamily="34" charset="0"/>
              </a:rPr>
              <a:t>*</a:t>
            </a:r>
          </a:p>
        </p:txBody>
      </p:sp>
      <p:sp>
        <p:nvSpPr>
          <p:cNvPr id="47116" name="Text Box 13"/>
          <p:cNvSpPr txBox="1"/>
          <p:nvPr/>
        </p:nvSpPr>
        <p:spPr>
          <a:xfrm>
            <a:off x="6121400" y="3168650"/>
            <a:ext cx="263525" cy="336550"/>
          </a:xfrm>
          <a:prstGeom prst="rect">
            <a:avLst/>
          </a:prstGeom>
          <a:noFill/>
          <a:ln w="9525">
            <a:noFill/>
          </a:ln>
        </p:spPr>
        <p:txBody>
          <a:bodyPr wrap="none">
            <a:spAutoFit/>
          </a:bodyPr>
          <a:lstStyle/>
          <a:p>
            <a:pPr eaLnBrk="1" hangingPunct="1">
              <a:spcBef>
                <a:spcPct val="50000"/>
              </a:spcBef>
            </a:pPr>
            <a:r>
              <a:rPr sz="1600" dirty="0">
                <a:solidFill>
                  <a:srgbClr val="FFFFFF"/>
                </a:solidFill>
                <a:latin typeface="Arial" panose="020B0604020202020204" pitchFamily="34" charset="0"/>
              </a:rPr>
              <a:t>*</a:t>
            </a:r>
          </a:p>
        </p:txBody>
      </p:sp>
      <p:sp>
        <p:nvSpPr>
          <p:cNvPr id="47117" name="Text Box 14"/>
          <p:cNvSpPr txBox="1"/>
          <p:nvPr/>
        </p:nvSpPr>
        <p:spPr>
          <a:xfrm>
            <a:off x="1016000" y="4038600"/>
            <a:ext cx="3352800" cy="2236788"/>
          </a:xfrm>
          <a:prstGeom prst="rect">
            <a:avLst/>
          </a:prstGeom>
          <a:noFill/>
          <a:ln w="9525" cap="flat" cmpd="sng">
            <a:solidFill>
              <a:schemeClr val="tx1"/>
            </a:solidFill>
            <a:prstDash val="solid"/>
            <a:miter/>
            <a:headEnd type="none" w="med" len="med"/>
            <a:tailEnd type="none" w="lg" len="lg"/>
          </a:ln>
        </p:spPr>
        <p:txBody>
          <a:bodyPr>
            <a:spAutoFit/>
          </a:bodyPr>
          <a:lstStyle/>
          <a:p>
            <a:pPr marL="457200" indent="-457200" algn="ctr" eaLnBrk="1" hangingPunct="1">
              <a:spcBef>
                <a:spcPct val="50000"/>
              </a:spcBef>
            </a:pPr>
            <a:r>
              <a:rPr sz="1400" b="1" dirty="0">
                <a:solidFill>
                  <a:schemeClr val="folHlink"/>
                </a:solidFill>
                <a:latin typeface="Arial" panose="020B0604020202020204" pitchFamily="34" charset="0"/>
              </a:rPr>
              <a:t>Multiplicity</a:t>
            </a:r>
          </a:p>
          <a:p>
            <a:pPr marL="457200" indent="-457200" eaLnBrk="1" hangingPunct="1">
              <a:spcBef>
                <a:spcPct val="50000"/>
              </a:spcBef>
            </a:pPr>
            <a:r>
              <a:rPr sz="1200" u="sng" dirty="0">
                <a:latin typeface="Arial" panose="020B0604020202020204" pitchFamily="34" charset="0"/>
              </a:rPr>
              <a:t>Symbol	Meaning</a:t>
            </a:r>
          </a:p>
          <a:p>
            <a:pPr marL="457200" indent="-457200" eaLnBrk="1" hangingPunct="1">
              <a:spcBef>
                <a:spcPct val="50000"/>
              </a:spcBef>
            </a:pPr>
            <a:r>
              <a:rPr sz="1200" dirty="0">
                <a:latin typeface="Arial" panose="020B0604020202020204" pitchFamily="34" charset="0"/>
              </a:rPr>
              <a:t>1		One and only one</a:t>
            </a:r>
          </a:p>
          <a:p>
            <a:pPr marL="457200" indent="-457200" eaLnBrk="1" hangingPunct="1">
              <a:spcBef>
                <a:spcPct val="50000"/>
              </a:spcBef>
            </a:pPr>
            <a:r>
              <a:rPr sz="1200" dirty="0">
                <a:latin typeface="Arial" panose="020B0604020202020204" pitchFamily="34" charset="0"/>
              </a:rPr>
              <a:t>0..1		Zero or one</a:t>
            </a:r>
          </a:p>
          <a:p>
            <a:pPr marL="457200" indent="-457200" eaLnBrk="1" hangingPunct="1">
              <a:spcBef>
                <a:spcPct val="50000"/>
              </a:spcBef>
            </a:pPr>
            <a:r>
              <a:rPr sz="1200" dirty="0">
                <a:latin typeface="Arial" panose="020B0604020202020204" pitchFamily="34" charset="0"/>
              </a:rPr>
              <a:t>M..N		From M to N (natural language)</a:t>
            </a:r>
          </a:p>
          <a:p>
            <a:pPr marL="457200" indent="-457200" eaLnBrk="1" hangingPunct="1">
              <a:spcBef>
                <a:spcPct val="50000"/>
              </a:spcBef>
            </a:pPr>
            <a:r>
              <a:rPr sz="1200" dirty="0">
                <a:latin typeface="Arial" panose="020B0604020202020204" pitchFamily="34" charset="0"/>
              </a:rPr>
              <a:t>*		From zero to any positive integer</a:t>
            </a:r>
          </a:p>
          <a:p>
            <a:pPr marL="457200" indent="-457200" eaLnBrk="1" hangingPunct="1">
              <a:spcBef>
                <a:spcPct val="50000"/>
              </a:spcBef>
            </a:pPr>
            <a:r>
              <a:rPr sz="1200" dirty="0">
                <a:latin typeface="Arial" panose="020B0604020202020204" pitchFamily="34" charset="0"/>
              </a:rPr>
              <a:t>0..*		From zero to any positive integer</a:t>
            </a:r>
          </a:p>
          <a:p>
            <a:pPr marL="457200" indent="-457200" eaLnBrk="1" hangingPunct="1">
              <a:spcBef>
                <a:spcPct val="50000"/>
              </a:spcBef>
            </a:pPr>
            <a:r>
              <a:rPr sz="1200" dirty="0">
                <a:latin typeface="Arial" panose="020B0604020202020204" pitchFamily="34" charset="0"/>
              </a:rPr>
              <a:t>1..*		From one to any positive integer</a:t>
            </a:r>
          </a:p>
        </p:txBody>
      </p:sp>
      <p:sp>
        <p:nvSpPr>
          <p:cNvPr id="47118" name="Text Box 15"/>
          <p:cNvSpPr txBox="1"/>
          <p:nvPr/>
        </p:nvSpPr>
        <p:spPr>
          <a:xfrm>
            <a:off x="5969000" y="3352800"/>
            <a:ext cx="862013" cy="336550"/>
          </a:xfrm>
          <a:prstGeom prst="rect">
            <a:avLst/>
          </a:prstGeom>
          <a:noFill/>
          <a:ln w="9525">
            <a:noFill/>
          </a:ln>
        </p:spPr>
        <p:txBody>
          <a:bodyPr wrap="none">
            <a:spAutoFit/>
          </a:bodyPr>
          <a:lstStyle/>
          <a:p>
            <a:pPr eaLnBrk="1" hangingPunct="1">
              <a:spcBef>
                <a:spcPct val="50000"/>
              </a:spcBef>
            </a:pPr>
            <a:r>
              <a:rPr sz="1600" dirty="0">
                <a:solidFill>
                  <a:schemeClr val="folHlink"/>
                </a:solidFill>
                <a:latin typeface="Arial" panose="020B0604020202020204" pitchFamily="34" charset="0"/>
              </a:rPr>
              <a:t>teacher</a:t>
            </a:r>
          </a:p>
        </p:txBody>
      </p:sp>
      <p:sp>
        <p:nvSpPr>
          <p:cNvPr id="47119" name="Text Box 16"/>
          <p:cNvSpPr txBox="1"/>
          <p:nvPr/>
        </p:nvSpPr>
        <p:spPr>
          <a:xfrm>
            <a:off x="3378200" y="3429000"/>
            <a:ext cx="1019175" cy="336550"/>
          </a:xfrm>
          <a:prstGeom prst="rect">
            <a:avLst/>
          </a:prstGeom>
          <a:noFill/>
          <a:ln w="9525">
            <a:noFill/>
          </a:ln>
        </p:spPr>
        <p:txBody>
          <a:bodyPr wrap="none">
            <a:spAutoFit/>
          </a:bodyPr>
          <a:lstStyle/>
          <a:p>
            <a:pPr eaLnBrk="1" hangingPunct="1">
              <a:spcBef>
                <a:spcPct val="50000"/>
              </a:spcBef>
            </a:pPr>
            <a:r>
              <a:rPr sz="1600" dirty="0">
                <a:solidFill>
                  <a:schemeClr val="folHlink"/>
                </a:solidFill>
                <a:latin typeface="Arial" panose="020B0604020202020204" pitchFamily="34" charset="0"/>
              </a:rPr>
              <a:t>employer</a:t>
            </a:r>
          </a:p>
        </p:txBody>
      </p:sp>
      <p:sp>
        <p:nvSpPr>
          <p:cNvPr id="47120" name="Text Box 17"/>
          <p:cNvSpPr txBox="1"/>
          <p:nvPr/>
        </p:nvSpPr>
        <p:spPr>
          <a:xfrm>
            <a:off x="6248400" y="3810000"/>
            <a:ext cx="600075" cy="336550"/>
          </a:xfrm>
          <a:prstGeom prst="rect">
            <a:avLst/>
          </a:prstGeom>
          <a:noFill/>
          <a:ln w="9525">
            <a:noFill/>
          </a:ln>
        </p:spPr>
        <p:txBody>
          <a:bodyPr wrap="none">
            <a:spAutoFit/>
          </a:bodyPr>
          <a:lstStyle/>
          <a:p>
            <a:pPr eaLnBrk="1" hangingPunct="1">
              <a:spcBef>
                <a:spcPct val="50000"/>
              </a:spcBef>
            </a:pPr>
            <a:r>
              <a:rPr sz="1600" i="1" dirty="0">
                <a:solidFill>
                  <a:schemeClr val="folHlink"/>
                </a:solidFill>
                <a:latin typeface="Arial" panose="020B0604020202020204" pitchFamily="34" charset="0"/>
              </a:rPr>
              <a:t>Role</a:t>
            </a:r>
          </a:p>
        </p:txBody>
      </p:sp>
      <p:sp>
        <p:nvSpPr>
          <p:cNvPr id="47121" name="Line 18"/>
          <p:cNvSpPr/>
          <p:nvPr/>
        </p:nvSpPr>
        <p:spPr>
          <a:xfrm flipH="1" flipV="1">
            <a:off x="6502400" y="3657600"/>
            <a:ext cx="457200" cy="381000"/>
          </a:xfrm>
          <a:prstGeom prst="line">
            <a:avLst/>
          </a:prstGeom>
          <a:ln w="9525" cap="flat" cmpd="sng">
            <a:solidFill>
              <a:schemeClr val="accent1"/>
            </a:solidFill>
            <a:prstDash val="solid"/>
            <a:headEnd type="none" w="med" len="med"/>
            <a:tailEnd type="triangle" w="lg" len="lg"/>
          </a:ln>
        </p:spPr>
      </p:sp>
      <p:sp>
        <p:nvSpPr>
          <p:cNvPr id="47122" name="Text Box 19"/>
          <p:cNvSpPr txBox="1"/>
          <p:nvPr/>
        </p:nvSpPr>
        <p:spPr>
          <a:xfrm>
            <a:off x="4953000" y="4495800"/>
            <a:ext cx="3657600" cy="1728788"/>
          </a:xfrm>
          <a:prstGeom prst="rect">
            <a:avLst/>
          </a:prstGeom>
          <a:noFill/>
          <a:ln w="9525" cap="flat" cmpd="sng">
            <a:solidFill>
              <a:schemeClr val="tx1"/>
            </a:solidFill>
            <a:prstDash val="solid"/>
            <a:miter/>
            <a:headEnd type="none" w="med" len="med"/>
            <a:tailEnd type="none" w="lg" len="lg"/>
          </a:ln>
        </p:spPr>
        <p:txBody>
          <a:bodyPr>
            <a:spAutoFit/>
          </a:bodyPr>
          <a:lstStyle/>
          <a:p>
            <a:pPr algn="ctr" eaLnBrk="1" hangingPunct="1">
              <a:spcBef>
                <a:spcPct val="50000"/>
              </a:spcBef>
            </a:pPr>
            <a:r>
              <a:rPr sz="1600" b="1" dirty="0">
                <a:solidFill>
                  <a:schemeClr val="folHlink"/>
                </a:solidFill>
                <a:latin typeface="Arial" panose="020B0604020202020204" pitchFamily="34" charset="0"/>
              </a:rPr>
              <a:t>Role</a:t>
            </a:r>
          </a:p>
          <a:p>
            <a:pPr eaLnBrk="1" hangingPunct="1">
              <a:spcBef>
                <a:spcPct val="50000"/>
              </a:spcBef>
            </a:pPr>
            <a:r>
              <a:rPr sz="1400" i="1" dirty="0">
                <a:latin typeface="Arial" panose="020B0604020202020204" pitchFamily="34" charset="0"/>
              </a:rPr>
              <a:t>“A given university groups many people; some act as students, others as teachers.  A given student belongs to a single university; a given teacher may or may not be working for the university at a particular time.”</a:t>
            </a:r>
          </a:p>
        </p:txBody>
      </p:sp>
      <p:sp>
        <p:nvSpPr>
          <p:cNvPr id="47123" name="Text Box 20"/>
          <p:cNvSpPr txBox="1"/>
          <p:nvPr/>
        </p:nvSpPr>
        <p:spPr>
          <a:xfrm>
            <a:off x="5867400" y="1676400"/>
            <a:ext cx="850900" cy="336550"/>
          </a:xfrm>
          <a:prstGeom prst="rect">
            <a:avLst/>
          </a:prstGeom>
          <a:noFill/>
          <a:ln w="9525">
            <a:noFill/>
          </a:ln>
        </p:spPr>
        <p:txBody>
          <a:bodyPr wrap="none">
            <a:spAutoFit/>
          </a:bodyPr>
          <a:lstStyle/>
          <a:p>
            <a:pPr eaLnBrk="1" hangingPunct="1">
              <a:spcBef>
                <a:spcPct val="50000"/>
              </a:spcBef>
            </a:pPr>
            <a:r>
              <a:rPr sz="1600" dirty="0">
                <a:solidFill>
                  <a:schemeClr val="folHlink"/>
                </a:solidFill>
                <a:latin typeface="Arial" panose="020B0604020202020204" pitchFamily="34" charset="0"/>
              </a:rPr>
              <a:t>student</a:t>
            </a:r>
          </a:p>
        </p:txBody>
      </p:sp>
      <p:pic>
        <p:nvPicPr>
          <p:cNvPr id="2" name="Picture 1">
            <a:extLst>
              <a:ext uri="{FF2B5EF4-FFF2-40B4-BE49-F238E27FC236}">
                <a16:creationId xmlns:a16="http://schemas.microsoft.com/office/drawing/2014/main" id="{7F9A2BB6-4CED-A59B-1471-072A2F1270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F413ECA0-2ED7-A2A9-A357-83FD39F3499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FCCAA0D-73A8-41C3-78CC-169D1E8D1B9D}"/>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a:xfrm>
            <a:off x="457200" y="381000"/>
            <a:ext cx="8229600" cy="1066800"/>
          </a:xfrm>
        </p:spPr>
        <p:txBody>
          <a:bodyPr vert="horz" wrap="square" lIns="0" tIns="45720" rIns="0" bIns="0" anchor="b" anchorCtr="0"/>
          <a:lstStyle/>
          <a:p>
            <a:pPr eaLnBrk="1" hangingPunct="1"/>
            <a:r>
              <a:rPr sz="3200" dirty="0">
                <a:latin typeface="Cambria" panose="02040503050406030204" pitchFamily="18" charset="0"/>
              </a:rPr>
              <a:t>Association: Model to Implementation</a:t>
            </a:r>
          </a:p>
        </p:txBody>
      </p:sp>
      <p:sp>
        <p:nvSpPr>
          <p:cNvPr id="48131" name="Rectangle 3"/>
          <p:cNvSpPr>
            <a:spLocks noGrp="1"/>
          </p:cNvSpPr>
          <p:nvPr>
            <p:ph idx="1"/>
          </p:nvPr>
        </p:nvSpPr>
        <p:spPr>
          <a:xfrm>
            <a:off x="457200" y="3124200"/>
            <a:ext cx="8153400" cy="2971800"/>
          </a:xfrm>
        </p:spPr>
        <p:txBody>
          <a:bodyPr vert="horz" wrap="square" lIns="91440" tIns="45720" rIns="91440" bIns="45720" anchor="t" anchorCtr="0">
            <a:normAutofit lnSpcReduction="10000"/>
          </a:bodyPr>
          <a:lstStyle/>
          <a:p>
            <a:pPr eaLnBrk="1" hangingPunct="1">
              <a:lnSpc>
                <a:spcPct val="90000"/>
              </a:lnSpc>
              <a:buFont typeface="Wingdings" panose="05000000000000000000" pitchFamily="2" charset="2"/>
              <a:buNone/>
            </a:pPr>
            <a:r>
              <a:rPr sz="2400" dirty="0"/>
              <a:t>Class Student {</a:t>
            </a:r>
          </a:p>
          <a:p>
            <a:pPr eaLnBrk="1" hangingPunct="1">
              <a:lnSpc>
                <a:spcPct val="90000"/>
              </a:lnSpc>
              <a:buFont typeface="Wingdings" panose="05000000000000000000" pitchFamily="2" charset="2"/>
              <a:buNone/>
            </a:pPr>
            <a:r>
              <a:rPr sz="2400" dirty="0"/>
              <a:t>    Course enrolls[4];</a:t>
            </a:r>
          </a:p>
          <a:p>
            <a:pPr eaLnBrk="1" hangingPunct="1">
              <a:lnSpc>
                <a:spcPct val="90000"/>
              </a:lnSpc>
              <a:buFont typeface="Wingdings" panose="05000000000000000000" pitchFamily="2" charset="2"/>
              <a:buNone/>
            </a:pPr>
            <a:r>
              <a:rPr sz="2400" dirty="0"/>
              <a:t>}</a:t>
            </a:r>
          </a:p>
          <a:p>
            <a:pPr eaLnBrk="1" hangingPunct="1">
              <a:lnSpc>
                <a:spcPct val="90000"/>
              </a:lnSpc>
              <a:buFont typeface="Wingdings" panose="05000000000000000000" pitchFamily="2" charset="2"/>
              <a:buNone/>
            </a:pPr>
            <a:endParaRPr sz="2400" dirty="0"/>
          </a:p>
          <a:p>
            <a:pPr eaLnBrk="1" hangingPunct="1">
              <a:lnSpc>
                <a:spcPct val="90000"/>
              </a:lnSpc>
              <a:buFont typeface="Wingdings" panose="05000000000000000000" pitchFamily="2" charset="2"/>
              <a:buNone/>
            </a:pPr>
            <a:r>
              <a:rPr sz="2400" dirty="0"/>
              <a:t>Class Course {</a:t>
            </a:r>
          </a:p>
          <a:p>
            <a:pPr eaLnBrk="1" hangingPunct="1">
              <a:lnSpc>
                <a:spcPct val="90000"/>
              </a:lnSpc>
              <a:buFont typeface="Wingdings" panose="05000000000000000000" pitchFamily="2" charset="2"/>
              <a:buNone/>
            </a:pPr>
            <a:r>
              <a:rPr sz="2400" dirty="0"/>
              <a:t>	Student have[];</a:t>
            </a:r>
          </a:p>
          <a:p>
            <a:pPr eaLnBrk="1" hangingPunct="1">
              <a:lnSpc>
                <a:spcPct val="90000"/>
              </a:lnSpc>
              <a:buFont typeface="Wingdings" panose="05000000000000000000" pitchFamily="2" charset="2"/>
              <a:buNone/>
            </a:pPr>
            <a:r>
              <a:rPr sz="2400" dirty="0"/>
              <a:t>}</a:t>
            </a:r>
          </a:p>
          <a:p>
            <a:pPr eaLnBrk="1" hangingPunct="1">
              <a:lnSpc>
                <a:spcPct val="90000"/>
              </a:lnSpc>
              <a:buFont typeface="Wingdings" panose="05000000000000000000" pitchFamily="2" charset="2"/>
              <a:buNone/>
            </a:pPr>
            <a:endParaRPr sz="2400" dirty="0"/>
          </a:p>
        </p:txBody>
      </p:sp>
      <p:sp>
        <p:nvSpPr>
          <p:cNvPr id="48132" name="Text Box 14"/>
          <p:cNvSpPr txBox="1"/>
          <p:nvPr/>
        </p:nvSpPr>
        <p:spPr>
          <a:xfrm>
            <a:off x="5546725" y="2012950"/>
            <a:ext cx="1006475" cy="366713"/>
          </a:xfrm>
          <a:prstGeom prst="rect">
            <a:avLst/>
          </a:prstGeom>
          <a:noFill/>
          <a:ln w="9525">
            <a:noFill/>
          </a:ln>
        </p:spPr>
        <p:txBody>
          <a:bodyPr>
            <a:spAutoFit/>
          </a:bodyPr>
          <a:lstStyle/>
          <a:p>
            <a:endParaRPr dirty="0">
              <a:latin typeface="Tahoma" panose="020B0604030504040204" pitchFamily="34" charset="0"/>
            </a:endParaRPr>
          </a:p>
        </p:txBody>
      </p:sp>
      <p:sp>
        <p:nvSpPr>
          <p:cNvPr id="48133" name="Text Box 15"/>
          <p:cNvSpPr txBox="1"/>
          <p:nvPr/>
        </p:nvSpPr>
        <p:spPr>
          <a:xfrm>
            <a:off x="1757363" y="1830388"/>
            <a:ext cx="1238250" cy="469900"/>
          </a:xfrm>
          <a:prstGeom prst="rect">
            <a:avLst/>
          </a:prstGeom>
          <a:noFill/>
          <a:ln w="12700" cap="flat" cmpd="sng">
            <a:solidFill>
              <a:schemeClr val="folHlink"/>
            </a:solidFill>
            <a:prstDash val="solid"/>
            <a:miter/>
            <a:headEnd type="none" w="med" len="med"/>
            <a:tailEnd type="none" w="med" len="med"/>
          </a:ln>
        </p:spPr>
        <p:txBody>
          <a:bodyPr wrap="none">
            <a:spAutoFit/>
          </a:bodyPr>
          <a:lstStyle/>
          <a:p>
            <a:r>
              <a:rPr sz="2400" dirty="0">
                <a:latin typeface="Tahoma" panose="020B0604030504040204" pitchFamily="34" charset="0"/>
              </a:rPr>
              <a:t>Student</a:t>
            </a:r>
          </a:p>
        </p:txBody>
      </p:sp>
      <p:sp>
        <p:nvSpPr>
          <p:cNvPr id="48134" name="Text Box 16"/>
          <p:cNvSpPr txBox="1"/>
          <p:nvPr/>
        </p:nvSpPr>
        <p:spPr>
          <a:xfrm>
            <a:off x="4983163" y="1801813"/>
            <a:ext cx="1120775" cy="469900"/>
          </a:xfrm>
          <a:prstGeom prst="rect">
            <a:avLst/>
          </a:prstGeom>
          <a:noFill/>
          <a:ln w="12700" cap="flat" cmpd="sng">
            <a:solidFill>
              <a:schemeClr val="folHlink"/>
            </a:solidFill>
            <a:prstDash val="solid"/>
            <a:miter/>
            <a:headEnd type="none" w="med" len="med"/>
            <a:tailEnd type="none" w="med" len="med"/>
          </a:ln>
        </p:spPr>
        <p:txBody>
          <a:bodyPr wrap="none">
            <a:spAutoFit/>
          </a:bodyPr>
          <a:lstStyle/>
          <a:p>
            <a:r>
              <a:rPr sz="2400" dirty="0">
                <a:latin typeface="Tahoma" panose="020B0604030504040204" pitchFamily="34" charset="0"/>
              </a:rPr>
              <a:t>Course</a:t>
            </a:r>
          </a:p>
        </p:txBody>
      </p:sp>
      <p:sp>
        <p:nvSpPr>
          <p:cNvPr id="48135" name="Line 17"/>
          <p:cNvSpPr/>
          <p:nvPr/>
        </p:nvSpPr>
        <p:spPr>
          <a:xfrm>
            <a:off x="3005138" y="2057400"/>
            <a:ext cx="1981200" cy="0"/>
          </a:xfrm>
          <a:prstGeom prst="line">
            <a:avLst/>
          </a:prstGeom>
          <a:ln w="9525" cap="flat" cmpd="sng">
            <a:solidFill>
              <a:schemeClr val="tx1"/>
            </a:solidFill>
            <a:prstDash val="solid"/>
            <a:miter/>
            <a:headEnd type="none" w="med" len="med"/>
            <a:tailEnd type="none" w="med" len="med"/>
          </a:ln>
        </p:spPr>
      </p:sp>
      <p:sp>
        <p:nvSpPr>
          <p:cNvPr id="48136" name="Text Box 18"/>
          <p:cNvSpPr txBox="1"/>
          <p:nvPr/>
        </p:nvSpPr>
        <p:spPr>
          <a:xfrm>
            <a:off x="4191000" y="2209800"/>
            <a:ext cx="844550" cy="366713"/>
          </a:xfrm>
          <a:prstGeom prst="rect">
            <a:avLst/>
          </a:prstGeom>
          <a:noFill/>
          <a:ln w="9525">
            <a:noFill/>
          </a:ln>
        </p:spPr>
        <p:txBody>
          <a:bodyPr wrap="none">
            <a:spAutoFit/>
          </a:bodyPr>
          <a:lstStyle/>
          <a:p>
            <a:r>
              <a:rPr dirty="0">
                <a:solidFill>
                  <a:schemeClr val="folHlink"/>
                </a:solidFill>
                <a:latin typeface="Tahoma" panose="020B0604030504040204" pitchFamily="34" charset="0"/>
              </a:rPr>
              <a:t>enrolls</a:t>
            </a:r>
          </a:p>
        </p:txBody>
      </p:sp>
      <p:sp>
        <p:nvSpPr>
          <p:cNvPr id="48137" name="Text Box 19"/>
          <p:cNvSpPr txBox="1"/>
          <p:nvPr/>
        </p:nvSpPr>
        <p:spPr>
          <a:xfrm>
            <a:off x="2971800" y="2209800"/>
            <a:ext cx="533400" cy="366713"/>
          </a:xfrm>
          <a:prstGeom prst="rect">
            <a:avLst/>
          </a:prstGeom>
          <a:noFill/>
          <a:ln w="9525">
            <a:noFill/>
          </a:ln>
        </p:spPr>
        <p:txBody>
          <a:bodyPr wrap="none">
            <a:spAutoFit/>
          </a:bodyPr>
          <a:lstStyle/>
          <a:p>
            <a:r>
              <a:rPr dirty="0">
                <a:solidFill>
                  <a:schemeClr val="folHlink"/>
                </a:solidFill>
                <a:latin typeface="Tahoma" panose="020B0604030504040204" pitchFamily="34" charset="0"/>
              </a:rPr>
              <a:t>has</a:t>
            </a:r>
          </a:p>
        </p:txBody>
      </p:sp>
      <p:sp>
        <p:nvSpPr>
          <p:cNvPr id="48138" name="Text Box 20"/>
          <p:cNvSpPr txBox="1"/>
          <p:nvPr/>
        </p:nvSpPr>
        <p:spPr>
          <a:xfrm>
            <a:off x="2955925" y="1555750"/>
            <a:ext cx="309563" cy="366713"/>
          </a:xfrm>
          <a:prstGeom prst="rect">
            <a:avLst/>
          </a:prstGeom>
          <a:noFill/>
          <a:ln w="9525">
            <a:noFill/>
          </a:ln>
        </p:spPr>
        <p:txBody>
          <a:bodyPr wrap="none">
            <a:spAutoFit/>
          </a:bodyPr>
          <a:lstStyle/>
          <a:p>
            <a:r>
              <a:rPr dirty="0">
                <a:latin typeface="Tahoma" panose="020B0604030504040204" pitchFamily="34" charset="0"/>
              </a:rPr>
              <a:t>*</a:t>
            </a:r>
          </a:p>
        </p:txBody>
      </p:sp>
      <p:sp>
        <p:nvSpPr>
          <p:cNvPr id="48139" name="Text Box 21"/>
          <p:cNvSpPr txBox="1"/>
          <p:nvPr/>
        </p:nvSpPr>
        <p:spPr>
          <a:xfrm>
            <a:off x="4632325" y="1631950"/>
            <a:ext cx="309563" cy="366713"/>
          </a:xfrm>
          <a:prstGeom prst="rect">
            <a:avLst/>
          </a:prstGeom>
          <a:noFill/>
          <a:ln w="9525">
            <a:noFill/>
          </a:ln>
        </p:spPr>
        <p:txBody>
          <a:bodyPr wrap="none">
            <a:spAutoFit/>
          </a:bodyPr>
          <a:lstStyle/>
          <a:p>
            <a:r>
              <a:rPr dirty="0">
                <a:latin typeface="Tahoma" panose="020B0604030504040204" pitchFamily="34" charset="0"/>
              </a:rPr>
              <a:t>4</a:t>
            </a:r>
          </a:p>
        </p:txBody>
      </p:sp>
      <p:pic>
        <p:nvPicPr>
          <p:cNvPr id="2" name="Picture 1">
            <a:extLst>
              <a:ext uri="{FF2B5EF4-FFF2-40B4-BE49-F238E27FC236}">
                <a16:creationId xmlns:a16="http://schemas.microsoft.com/office/drawing/2014/main" id="{3E0A26C4-68C0-436F-05CF-1512D31ADD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EF1D30DE-9B75-6942-E237-98E6887A0FE6}"/>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167ADD9-C3D0-7A5A-1679-6F057D8639FD}"/>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28"/>
          <p:cNvSpPr/>
          <p:nvPr/>
        </p:nvSpPr>
        <p:spPr>
          <a:xfrm>
            <a:off x="685800" y="304800"/>
            <a:ext cx="7772400" cy="533400"/>
          </a:xfrm>
          <a:prstGeom prst="rect">
            <a:avLst/>
          </a:prstGeom>
          <a:noFill/>
          <a:ln w="9525">
            <a:noFill/>
          </a:ln>
        </p:spPr>
        <p:txBody>
          <a:bodyPr lIns="92075" tIns="46038" rIns="92075" bIns="46038" anchor="ctr" anchorCtr="0"/>
          <a:lstStyle/>
          <a:p>
            <a:pPr algn="ctr" eaLnBrk="1" hangingPunct="1"/>
            <a:r>
              <a:rPr sz="2800" b="1" dirty="0">
                <a:solidFill>
                  <a:schemeClr val="tx2"/>
                </a:solidFill>
                <a:latin typeface="Cambria" panose="02040503050406030204" pitchFamily="18" charset="0"/>
              </a:rPr>
              <a:t>OO Relationships:</a:t>
            </a:r>
            <a:r>
              <a:rPr sz="3200" b="1" dirty="0">
                <a:solidFill>
                  <a:schemeClr val="tx2"/>
                </a:solidFill>
                <a:latin typeface="Cambria" panose="02040503050406030204" pitchFamily="18" charset="0"/>
              </a:rPr>
              <a:t> </a:t>
            </a:r>
            <a:r>
              <a:rPr sz="3200" b="1" dirty="0">
                <a:latin typeface="Cambria" panose="02040503050406030204" pitchFamily="18" charset="0"/>
              </a:rPr>
              <a:t>Composition</a:t>
            </a:r>
          </a:p>
        </p:txBody>
      </p:sp>
      <p:sp>
        <p:nvSpPr>
          <p:cNvPr id="49155" name="Rectangle 1029"/>
          <p:cNvSpPr/>
          <p:nvPr/>
        </p:nvSpPr>
        <p:spPr>
          <a:xfrm>
            <a:off x="2005013" y="1360488"/>
            <a:ext cx="1143000" cy="3810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Class W</a:t>
            </a:r>
          </a:p>
        </p:txBody>
      </p:sp>
      <p:sp>
        <p:nvSpPr>
          <p:cNvPr id="49156" name="Rectangle 1030"/>
          <p:cNvSpPr/>
          <p:nvPr/>
        </p:nvSpPr>
        <p:spPr>
          <a:xfrm>
            <a:off x="1277938" y="2525713"/>
            <a:ext cx="1143000" cy="434975"/>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Class</a:t>
            </a:r>
            <a:r>
              <a:rPr sz="1400" b="1" dirty="0">
                <a:latin typeface="Times New Roman" panose="02020603050405020304" pitchFamily="18" charset="0"/>
              </a:rPr>
              <a:t> </a:t>
            </a:r>
            <a:r>
              <a:rPr sz="1400" b="1" dirty="0">
                <a:solidFill>
                  <a:srgbClr val="000000"/>
                </a:solidFill>
                <a:latin typeface="Times New Roman" panose="02020603050405020304" pitchFamily="18" charset="0"/>
              </a:rPr>
              <a:t>P</a:t>
            </a:r>
            <a:r>
              <a:rPr sz="1400" b="1" baseline="-25000" dirty="0">
                <a:solidFill>
                  <a:srgbClr val="000000"/>
                </a:solidFill>
                <a:latin typeface="Times New Roman" panose="02020603050405020304" pitchFamily="18" charset="0"/>
              </a:rPr>
              <a:t>1</a:t>
            </a:r>
          </a:p>
        </p:txBody>
      </p:sp>
      <p:sp>
        <p:nvSpPr>
          <p:cNvPr id="49157" name="Rectangle 1031"/>
          <p:cNvSpPr/>
          <p:nvPr/>
        </p:nvSpPr>
        <p:spPr>
          <a:xfrm>
            <a:off x="2743200" y="2514600"/>
            <a:ext cx="1143000" cy="446088"/>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Class</a:t>
            </a:r>
            <a:r>
              <a:rPr sz="1400" b="1" dirty="0">
                <a:latin typeface="Times New Roman" panose="02020603050405020304" pitchFamily="18" charset="0"/>
              </a:rPr>
              <a:t> </a:t>
            </a:r>
            <a:r>
              <a:rPr sz="1400" b="1" dirty="0">
                <a:solidFill>
                  <a:srgbClr val="000000"/>
                </a:solidFill>
                <a:latin typeface="Times New Roman" panose="02020603050405020304" pitchFamily="18" charset="0"/>
              </a:rPr>
              <a:t>P</a:t>
            </a:r>
            <a:r>
              <a:rPr sz="1400" b="1" baseline="-25000" dirty="0">
                <a:solidFill>
                  <a:srgbClr val="000000"/>
                </a:solidFill>
                <a:latin typeface="Times New Roman" panose="02020603050405020304" pitchFamily="18" charset="0"/>
              </a:rPr>
              <a:t>2 </a:t>
            </a:r>
          </a:p>
        </p:txBody>
      </p:sp>
      <p:sp>
        <p:nvSpPr>
          <p:cNvPr id="49158" name="Freeform 1032"/>
          <p:cNvSpPr/>
          <p:nvPr/>
        </p:nvSpPr>
        <p:spPr>
          <a:xfrm>
            <a:off x="1852613" y="2198688"/>
            <a:ext cx="1447800" cy="304800"/>
          </a:xfrm>
          <a:custGeom>
            <a:avLst/>
            <a:gdLst>
              <a:gd name="txL" fmla="*/ 0 w 1824"/>
              <a:gd name="txT" fmla="*/ 0 h 96"/>
              <a:gd name="txR" fmla="*/ 1824 w 1824"/>
              <a:gd name="txB" fmla="*/ 96 h 96"/>
            </a:gdLst>
            <a:ahLst/>
            <a:cxnLst>
              <a:cxn ang="0">
                <a:pos x="0" y="967740000"/>
              </a:cxn>
              <a:cxn ang="0">
                <a:pos x="0" y="0"/>
              </a:cxn>
              <a:cxn ang="0">
                <a:pos x="1149191250" y="0"/>
              </a:cxn>
              <a:cxn ang="0">
                <a:pos x="1149191250" y="967740000"/>
              </a:cxn>
            </a:cxnLst>
            <a:rect l="txL" t="txT" r="txR" b="txB"/>
            <a:pathLst>
              <a:path w="1824" h="96">
                <a:moveTo>
                  <a:pt x="0" y="96"/>
                </a:moveTo>
                <a:lnTo>
                  <a:pt x="0" y="0"/>
                </a:lnTo>
                <a:lnTo>
                  <a:pt x="1824" y="0"/>
                </a:lnTo>
                <a:lnTo>
                  <a:pt x="1824" y="96"/>
                </a:lnTo>
              </a:path>
            </a:pathLst>
          </a:custGeom>
          <a:noFill/>
          <a:ln w="9525" cap="flat" cmpd="sng">
            <a:solidFill>
              <a:schemeClr val="tx1">
                <a:alpha val="100000"/>
              </a:schemeClr>
            </a:solidFill>
            <a:prstDash val="solid"/>
            <a:round/>
            <a:headEnd type="none" w="med" len="med"/>
            <a:tailEnd type="none" w="med" len="med"/>
          </a:ln>
        </p:spPr>
        <p:txBody>
          <a:bodyPr/>
          <a:lstStyle/>
          <a:p>
            <a:endParaRPr lang="en-US"/>
          </a:p>
        </p:txBody>
      </p:sp>
      <p:grpSp>
        <p:nvGrpSpPr>
          <p:cNvPr id="49159" name="Group 1033"/>
          <p:cNvGrpSpPr/>
          <p:nvPr/>
        </p:nvGrpSpPr>
        <p:grpSpPr>
          <a:xfrm>
            <a:off x="2457450" y="1739900"/>
            <a:ext cx="228600" cy="444500"/>
            <a:chOff x="4480" y="1304"/>
            <a:chExt cx="144" cy="280"/>
          </a:xfrm>
        </p:grpSpPr>
        <p:sp>
          <p:nvSpPr>
            <p:cNvPr id="49174" name="Line 1034"/>
            <p:cNvSpPr/>
            <p:nvPr/>
          </p:nvSpPr>
          <p:spPr>
            <a:xfrm>
              <a:off x="4552" y="1488"/>
              <a:ext cx="4" cy="96"/>
            </a:xfrm>
            <a:prstGeom prst="line">
              <a:avLst/>
            </a:prstGeom>
            <a:ln w="9525" cap="flat" cmpd="sng">
              <a:solidFill>
                <a:schemeClr val="tx1"/>
              </a:solidFill>
              <a:prstDash val="solid"/>
              <a:headEnd type="none" w="med" len="med"/>
              <a:tailEnd type="none" w="med" len="med"/>
            </a:ln>
          </p:spPr>
        </p:sp>
        <p:sp>
          <p:nvSpPr>
            <p:cNvPr id="49175" name="AutoShape 1035"/>
            <p:cNvSpPr/>
            <p:nvPr/>
          </p:nvSpPr>
          <p:spPr>
            <a:xfrm>
              <a:off x="4480" y="1304"/>
              <a:ext cx="144" cy="192"/>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dirty="0">
                <a:latin typeface="Tahoma" panose="020B0604030504040204" pitchFamily="34" charset="0"/>
              </a:endParaRPr>
            </a:p>
          </p:txBody>
        </p:sp>
      </p:grpSp>
      <p:sp>
        <p:nvSpPr>
          <p:cNvPr id="49160" name="Text Box 1037"/>
          <p:cNvSpPr txBox="1"/>
          <p:nvPr/>
        </p:nvSpPr>
        <p:spPr>
          <a:xfrm>
            <a:off x="3962400" y="914400"/>
            <a:ext cx="5370513" cy="4832350"/>
          </a:xfrm>
          <a:prstGeom prst="rect">
            <a:avLst/>
          </a:prstGeom>
          <a:noFill/>
          <a:ln w="12700">
            <a:noFill/>
          </a:ln>
        </p:spPr>
        <p:txBody>
          <a:bodyPr wrap="none">
            <a:spAutoFit/>
          </a:bodyPr>
          <a:lstStyle/>
          <a:p>
            <a:r>
              <a:rPr sz="1400" b="1" dirty="0">
                <a:solidFill>
                  <a:srgbClr val="FF0000"/>
                </a:solidFill>
                <a:latin typeface="Cambria" panose="02040503050406030204" pitchFamily="18" charset="0"/>
              </a:rPr>
              <a:t>Composition: </a:t>
            </a:r>
            <a:r>
              <a:rPr sz="1400" b="1" dirty="0">
                <a:latin typeface="Cambria" panose="02040503050406030204" pitchFamily="18" charset="0"/>
              </a:rPr>
              <a:t>expresses a relationship among instances </a:t>
            </a:r>
          </a:p>
          <a:p>
            <a:r>
              <a:rPr sz="1400" b="1" dirty="0">
                <a:latin typeface="Cambria" panose="02040503050406030204" pitchFamily="18" charset="0"/>
              </a:rPr>
              <a:t>of related classes.  It is a specific </a:t>
            </a:r>
            <a:r>
              <a:rPr sz="1400" b="1" dirty="0">
                <a:solidFill>
                  <a:schemeClr val="folHlink"/>
                </a:solidFill>
                <a:latin typeface="Cambria" panose="02040503050406030204" pitchFamily="18" charset="0"/>
              </a:rPr>
              <a:t>kind of Whole-Part</a:t>
            </a:r>
            <a:r>
              <a:rPr sz="1400" b="1" dirty="0">
                <a:latin typeface="Cambria" panose="02040503050406030204" pitchFamily="18" charset="0"/>
              </a:rPr>
              <a:t> </a:t>
            </a:r>
            <a:br>
              <a:rPr sz="1400" b="1" dirty="0">
                <a:latin typeface="Cambria" panose="02040503050406030204" pitchFamily="18" charset="0"/>
              </a:rPr>
            </a:br>
            <a:r>
              <a:rPr sz="1400" b="1" dirty="0">
                <a:latin typeface="Cambria" panose="02040503050406030204" pitchFamily="18" charset="0"/>
              </a:rPr>
              <a:t>relationship.   </a:t>
            </a:r>
          </a:p>
          <a:p>
            <a:endParaRPr sz="1400" b="1" dirty="0">
              <a:latin typeface="Cambria" panose="02040503050406030204" pitchFamily="18" charset="0"/>
            </a:endParaRPr>
          </a:p>
          <a:p>
            <a:r>
              <a:rPr sz="1400" b="1" dirty="0">
                <a:latin typeface="Cambria" panose="02040503050406030204" pitchFamily="18" charset="0"/>
              </a:rPr>
              <a:t>It expresses a relationship where an instance of the </a:t>
            </a:r>
            <a:br>
              <a:rPr sz="1400" b="1" dirty="0">
                <a:latin typeface="Cambria" panose="02040503050406030204" pitchFamily="18" charset="0"/>
              </a:rPr>
            </a:br>
            <a:r>
              <a:rPr sz="1400" b="1" dirty="0">
                <a:latin typeface="Cambria" panose="02040503050406030204" pitchFamily="18" charset="0"/>
              </a:rPr>
              <a:t>Whole-class has the responsibility to </a:t>
            </a:r>
            <a:r>
              <a:rPr sz="1400" b="1" dirty="0">
                <a:solidFill>
                  <a:schemeClr val="folHlink"/>
                </a:solidFill>
                <a:latin typeface="Cambria" panose="02040503050406030204" pitchFamily="18" charset="0"/>
              </a:rPr>
              <a:t>create and initialize</a:t>
            </a:r>
            <a:br>
              <a:rPr sz="1400" b="1" dirty="0">
                <a:solidFill>
                  <a:schemeClr val="folHlink"/>
                </a:solidFill>
                <a:latin typeface="Cambria" panose="02040503050406030204" pitchFamily="18" charset="0"/>
              </a:rPr>
            </a:br>
            <a:r>
              <a:rPr sz="1400" b="1" dirty="0">
                <a:solidFill>
                  <a:schemeClr val="folHlink"/>
                </a:solidFill>
                <a:latin typeface="Cambria" panose="02040503050406030204" pitchFamily="18" charset="0"/>
              </a:rPr>
              <a:t> instances</a:t>
            </a:r>
            <a:r>
              <a:rPr sz="1400" b="1" dirty="0">
                <a:latin typeface="Cambria" panose="02040503050406030204" pitchFamily="18" charset="0"/>
              </a:rPr>
              <a:t> of each Part-class.  </a:t>
            </a:r>
            <a:br>
              <a:rPr sz="1400" b="1" dirty="0">
                <a:latin typeface="Cambria" panose="02040503050406030204" pitchFamily="18" charset="0"/>
              </a:rPr>
            </a:br>
            <a:br>
              <a:rPr sz="1400" b="1" dirty="0">
                <a:latin typeface="Cambria" panose="02040503050406030204" pitchFamily="18" charset="0"/>
              </a:rPr>
            </a:br>
            <a:r>
              <a:rPr sz="1400" b="1" dirty="0">
                <a:latin typeface="Cambria" panose="02040503050406030204" pitchFamily="18" charset="0"/>
              </a:rPr>
              <a:t>It may also be used to express a relationship where instances</a:t>
            </a:r>
            <a:br>
              <a:rPr sz="1400" b="1" dirty="0">
                <a:latin typeface="Cambria" panose="02040503050406030204" pitchFamily="18" charset="0"/>
              </a:rPr>
            </a:br>
            <a:r>
              <a:rPr sz="1400" b="1" dirty="0">
                <a:latin typeface="Cambria" panose="02040503050406030204" pitchFamily="18" charset="0"/>
              </a:rPr>
              <a:t>of the Part-classes have </a:t>
            </a:r>
            <a:r>
              <a:rPr sz="1400" b="1" dirty="0">
                <a:solidFill>
                  <a:schemeClr val="folHlink"/>
                </a:solidFill>
                <a:latin typeface="Cambria" panose="02040503050406030204" pitchFamily="18" charset="0"/>
              </a:rPr>
              <a:t>privileged access or visibility</a:t>
            </a:r>
            <a:r>
              <a:rPr sz="1400" b="1" dirty="0">
                <a:latin typeface="Cambria" panose="02040503050406030204" pitchFamily="18" charset="0"/>
              </a:rPr>
              <a:t> to</a:t>
            </a:r>
            <a:br>
              <a:rPr sz="1400" b="1" dirty="0">
                <a:latin typeface="Cambria" panose="02040503050406030204" pitchFamily="18" charset="0"/>
              </a:rPr>
            </a:br>
            <a:r>
              <a:rPr sz="1400" b="1" dirty="0">
                <a:latin typeface="Cambria" panose="02040503050406030204" pitchFamily="18" charset="0"/>
              </a:rPr>
              <a:t>certain attributes and/or behaviors defined by the</a:t>
            </a:r>
            <a:br>
              <a:rPr sz="1400" b="1" dirty="0">
                <a:latin typeface="Cambria" panose="02040503050406030204" pitchFamily="18" charset="0"/>
              </a:rPr>
            </a:br>
            <a:r>
              <a:rPr sz="1400" b="1" dirty="0">
                <a:latin typeface="Cambria" panose="02040503050406030204" pitchFamily="18" charset="0"/>
              </a:rPr>
              <a:t>Whole-class.  </a:t>
            </a:r>
            <a:br>
              <a:rPr sz="1400" b="1" dirty="0">
                <a:latin typeface="Cambria" panose="02040503050406030204" pitchFamily="18" charset="0"/>
              </a:rPr>
            </a:br>
            <a:br>
              <a:rPr sz="1400" b="1" dirty="0">
                <a:latin typeface="Cambria" panose="02040503050406030204" pitchFamily="18" charset="0"/>
              </a:rPr>
            </a:br>
            <a:r>
              <a:rPr sz="1400" b="1" dirty="0">
                <a:latin typeface="Cambria" panose="02040503050406030204" pitchFamily="18" charset="0"/>
              </a:rPr>
              <a:t>Composition should also be used to express relationship where</a:t>
            </a:r>
            <a:br>
              <a:rPr sz="1400" b="1" dirty="0">
                <a:latin typeface="Cambria" panose="02040503050406030204" pitchFamily="18" charset="0"/>
              </a:rPr>
            </a:br>
            <a:r>
              <a:rPr sz="1400" b="1" dirty="0">
                <a:latin typeface="Cambria" panose="02040503050406030204" pitchFamily="18" charset="0"/>
              </a:rPr>
              <a:t> </a:t>
            </a:r>
            <a:r>
              <a:rPr sz="1400" b="1" dirty="0">
                <a:solidFill>
                  <a:schemeClr val="folHlink"/>
                </a:solidFill>
                <a:latin typeface="Cambria" panose="02040503050406030204" pitchFamily="18" charset="0"/>
              </a:rPr>
              <a:t>instances of the Whole-class have exclusive access to and </a:t>
            </a:r>
            <a:br>
              <a:rPr sz="1400" b="1" dirty="0">
                <a:solidFill>
                  <a:schemeClr val="folHlink"/>
                </a:solidFill>
                <a:latin typeface="Cambria" panose="02040503050406030204" pitchFamily="18" charset="0"/>
              </a:rPr>
            </a:br>
            <a:r>
              <a:rPr sz="1400" b="1" dirty="0">
                <a:solidFill>
                  <a:schemeClr val="folHlink"/>
                </a:solidFill>
                <a:latin typeface="Cambria" panose="02040503050406030204" pitchFamily="18" charset="0"/>
              </a:rPr>
              <a:t>control of instances of the Part-classes</a:t>
            </a:r>
            <a:r>
              <a:rPr sz="1400" b="1" dirty="0">
                <a:latin typeface="Cambria" panose="02040503050406030204" pitchFamily="18" charset="0"/>
              </a:rPr>
              <a:t>.</a:t>
            </a:r>
          </a:p>
          <a:p>
            <a:endParaRPr sz="1400" b="1" dirty="0">
              <a:latin typeface="Cambria" panose="02040503050406030204" pitchFamily="18" charset="0"/>
            </a:endParaRPr>
          </a:p>
          <a:p>
            <a:r>
              <a:rPr sz="1400" b="1" dirty="0">
                <a:latin typeface="Cambria" panose="02040503050406030204" pitchFamily="18" charset="0"/>
              </a:rPr>
              <a:t>Composition should be used to express a relationship where</a:t>
            </a:r>
            <a:br>
              <a:rPr sz="1400" b="1" dirty="0">
                <a:latin typeface="Cambria" panose="02040503050406030204" pitchFamily="18" charset="0"/>
              </a:rPr>
            </a:br>
            <a:r>
              <a:rPr sz="1400" b="1" dirty="0">
                <a:latin typeface="Cambria" panose="02040503050406030204" pitchFamily="18" charset="0"/>
              </a:rPr>
              <a:t>the behavior of Part instances is undefined without being</a:t>
            </a:r>
            <a:br>
              <a:rPr sz="1400" b="1" dirty="0">
                <a:latin typeface="Cambria" panose="02040503050406030204" pitchFamily="18" charset="0"/>
              </a:rPr>
            </a:br>
            <a:r>
              <a:rPr sz="1400" b="1" dirty="0">
                <a:latin typeface="Cambria" panose="02040503050406030204" pitchFamily="18" charset="0"/>
              </a:rPr>
              <a:t>related to an instance of the Whole.  And, conversely,  the</a:t>
            </a:r>
          </a:p>
          <a:p>
            <a:r>
              <a:rPr sz="1400" b="1" dirty="0">
                <a:latin typeface="Cambria" panose="02040503050406030204" pitchFamily="18" charset="0"/>
              </a:rPr>
              <a:t>behavior of the Whole is ill-defined or incomplete if one or </a:t>
            </a:r>
            <a:br>
              <a:rPr sz="1400" b="1" dirty="0">
                <a:latin typeface="Cambria" panose="02040503050406030204" pitchFamily="18" charset="0"/>
              </a:rPr>
            </a:br>
            <a:r>
              <a:rPr sz="1400" b="1" dirty="0">
                <a:latin typeface="Cambria" panose="02040503050406030204" pitchFamily="18" charset="0"/>
              </a:rPr>
              <a:t>more of the Part instances are undefined</a:t>
            </a:r>
            <a:r>
              <a:rPr sz="1400" b="1" dirty="0">
                <a:latin typeface="Times New Roman" panose="02020603050405020304" pitchFamily="18" charset="0"/>
              </a:rPr>
              <a:t>.</a:t>
            </a:r>
          </a:p>
        </p:txBody>
      </p:sp>
      <p:sp>
        <p:nvSpPr>
          <p:cNvPr id="49161" name="Text Box 1038"/>
          <p:cNvSpPr txBox="1"/>
          <p:nvPr/>
        </p:nvSpPr>
        <p:spPr>
          <a:xfrm>
            <a:off x="1508125" y="1077913"/>
            <a:ext cx="1128713" cy="304800"/>
          </a:xfrm>
          <a:prstGeom prst="rect">
            <a:avLst/>
          </a:prstGeom>
          <a:noFill/>
          <a:ln w="12700">
            <a:noFill/>
          </a:ln>
        </p:spPr>
        <p:txBody>
          <a:bodyPr wrap="none">
            <a:spAutoFit/>
          </a:bodyPr>
          <a:lstStyle/>
          <a:p>
            <a:r>
              <a:rPr sz="1400" b="1" dirty="0">
                <a:latin typeface="Times New Roman" panose="02020603050405020304" pitchFamily="18" charset="0"/>
              </a:rPr>
              <a:t>Whole Class</a:t>
            </a:r>
          </a:p>
        </p:txBody>
      </p:sp>
      <p:sp>
        <p:nvSpPr>
          <p:cNvPr id="49162" name="Text Box 1039"/>
          <p:cNvSpPr txBox="1"/>
          <p:nvPr/>
        </p:nvSpPr>
        <p:spPr>
          <a:xfrm>
            <a:off x="2081213" y="3341688"/>
            <a:ext cx="1119187" cy="304800"/>
          </a:xfrm>
          <a:prstGeom prst="rect">
            <a:avLst/>
          </a:prstGeom>
          <a:noFill/>
          <a:ln w="12700">
            <a:noFill/>
          </a:ln>
        </p:spPr>
        <p:txBody>
          <a:bodyPr wrap="none">
            <a:spAutoFit/>
          </a:bodyPr>
          <a:lstStyle/>
          <a:p>
            <a:r>
              <a:rPr sz="1400" b="1" dirty="0">
                <a:latin typeface="Times New Roman" panose="02020603050405020304" pitchFamily="18" charset="0"/>
              </a:rPr>
              <a:t>Part Classes</a:t>
            </a:r>
          </a:p>
        </p:txBody>
      </p:sp>
      <p:sp>
        <p:nvSpPr>
          <p:cNvPr id="49163" name="AutoShape 1040"/>
          <p:cNvSpPr/>
          <p:nvPr/>
        </p:nvSpPr>
        <p:spPr>
          <a:xfrm rot="-5400000">
            <a:off x="2500313" y="2312988"/>
            <a:ext cx="228600" cy="1828800"/>
          </a:xfrm>
          <a:prstGeom prst="leftBrace">
            <a:avLst>
              <a:gd name="adj1" fmla="val 66666"/>
              <a:gd name="adj2" fmla="val 50000"/>
            </a:avLst>
          </a:prstGeom>
          <a:noFill/>
          <a:ln w="12700" cap="flat" cmpd="sng">
            <a:solidFill>
              <a:schemeClr val="tx1"/>
            </a:solidFill>
            <a:prstDash val="solid"/>
            <a:headEnd type="none" w="sm" len="sm"/>
            <a:tailEnd type="none" w="sm" len="sm"/>
          </a:ln>
        </p:spPr>
        <p:txBody>
          <a:bodyPr wrap="none" anchor="ctr" anchorCtr="0"/>
          <a:lstStyle/>
          <a:p>
            <a:endParaRPr dirty="0">
              <a:latin typeface="Tahoma" panose="020B0604030504040204" pitchFamily="34" charset="0"/>
            </a:endParaRPr>
          </a:p>
        </p:txBody>
      </p:sp>
      <p:grpSp>
        <p:nvGrpSpPr>
          <p:cNvPr id="49164" name="Group 1041"/>
          <p:cNvGrpSpPr/>
          <p:nvPr/>
        </p:nvGrpSpPr>
        <p:grpSpPr>
          <a:xfrm>
            <a:off x="1319213" y="4408488"/>
            <a:ext cx="2608262" cy="1600200"/>
            <a:chOff x="742" y="2640"/>
            <a:chExt cx="1643" cy="1008"/>
          </a:xfrm>
        </p:grpSpPr>
        <p:sp>
          <p:nvSpPr>
            <p:cNvPr id="49167" name="Rectangle 1042"/>
            <p:cNvSpPr/>
            <p:nvPr/>
          </p:nvSpPr>
          <p:spPr>
            <a:xfrm>
              <a:off x="1200" y="2640"/>
              <a:ext cx="720" cy="24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Automobile</a:t>
              </a:r>
            </a:p>
          </p:txBody>
        </p:sp>
        <p:sp>
          <p:nvSpPr>
            <p:cNvPr id="49168" name="Rectangle 1043"/>
            <p:cNvSpPr/>
            <p:nvPr/>
          </p:nvSpPr>
          <p:spPr>
            <a:xfrm>
              <a:off x="742" y="3374"/>
              <a:ext cx="720" cy="27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Engine</a:t>
              </a:r>
              <a:endParaRPr sz="1400" b="1" baseline="-25000" dirty="0">
                <a:solidFill>
                  <a:srgbClr val="000000"/>
                </a:solidFill>
                <a:latin typeface="Times New Roman" panose="02020603050405020304" pitchFamily="18" charset="0"/>
              </a:endParaRPr>
            </a:p>
          </p:txBody>
        </p:sp>
        <p:sp>
          <p:nvSpPr>
            <p:cNvPr id="49169" name="Rectangle 1044"/>
            <p:cNvSpPr/>
            <p:nvPr/>
          </p:nvSpPr>
          <p:spPr>
            <a:xfrm>
              <a:off x="1665" y="3367"/>
              <a:ext cx="720" cy="281"/>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Transmission</a:t>
              </a:r>
              <a:r>
                <a:rPr sz="1400" b="1" baseline="-25000" dirty="0">
                  <a:latin typeface="Times New Roman" panose="02020603050405020304" pitchFamily="18" charset="0"/>
                </a:rPr>
                <a:t> </a:t>
              </a:r>
            </a:p>
          </p:txBody>
        </p:sp>
        <p:sp>
          <p:nvSpPr>
            <p:cNvPr id="49170" name="Freeform 1045"/>
            <p:cNvSpPr/>
            <p:nvPr/>
          </p:nvSpPr>
          <p:spPr>
            <a:xfrm>
              <a:off x="1104" y="3168"/>
              <a:ext cx="912" cy="192"/>
            </a:xfrm>
            <a:custGeom>
              <a:avLst/>
              <a:gdLst>
                <a:gd name="txL" fmla="*/ 0 w 1824"/>
                <a:gd name="txT" fmla="*/ 0 h 96"/>
                <a:gd name="txR" fmla="*/ 1824 w 1824"/>
                <a:gd name="txB" fmla="*/ 96 h 96"/>
              </a:gdLst>
              <a:ahLst/>
              <a:cxnLst>
                <a:cxn ang="0">
                  <a:pos x="0" y="384"/>
                </a:cxn>
                <a:cxn ang="0">
                  <a:pos x="0" y="0"/>
                </a:cxn>
                <a:cxn ang="0">
                  <a:pos x="456" y="0"/>
                </a:cxn>
                <a:cxn ang="0">
                  <a:pos x="456" y="384"/>
                </a:cxn>
              </a:cxnLst>
              <a:rect l="txL" t="txT" r="txR" b="txB"/>
              <a:pathLst>
                <a:path w="1824" h="96">
                  <a:moveTo>
                    <a:pt x="0" y="96"/>
                  </a:moveTo>
                  <a:lnTo>
                    <a:pt x="0" y="0"/>
                  </a:lnTo>
                  <a:lnTo>
                    <a:pt x="1824" y="0"/>
                  </a:lnTo>
                  <a:lnTo>
                    <a:pt x="1824" y="96"/>
                  </a:lnTo>
                </a:path>
              </a:pathLst>
            </a:custGeom>
            <a:noFill/>
            <a:ln w="9525" cap="flat" cmpd="sng">
              <a:solidFill>
                <a:schemeClr val="tx1">
                  <a:alpha val="100000"/>
                </a:schemeClr>
              </a:solidFill>
              <a:prstDash val="solid"/>
              <a:round/>
              <a:headEnd type="none" w="med" len="med"/>
              <a:tailEnd type="none" w="med" len="med"/>
            </a:ln>
          </p:spPr>
          <p:txBody>
            <a:bodyPr/>
            <a:lstStyle/>
            <a:p>
              <a:endParaRPr lang="en-US"/>
            </a:p>
          </p:txBody>
        </p:sp>
        <p:grpSp>
          <p:nvGrpSpPr>
            <p:cNvPr id="49171" name="Group 1046"/>
            <p:cNvGrpSpPr/>
            <p:nvPr/>
          </p:nvGrpSpPr>
          <p:grpSpPr>
            <a:xfrm>
              <a:off x="1473" y="2887"/>
              <a:ext cx="144" cy="288"/>
              <a:chOff x="2640" y="2880"/>
              <a:chExt cx="144" cy="288"/>
            </a:xfrm>
          </p:grpSpPr>
          <p:sp>
            <p:nvSpPr>
              <p:cNvPr id="49172" name="Line 1047"/>
              <p:cNvSpPr/>
              <p:nvPr/>
            </p:nvSpPr>
            <p:spPr>
              <a:xfrm flipH="1">
                <a:off x="2712" y="3048"/>
                <a:ext cx="0" cy="120"/>
              </a:xfrm>
              <a:prstGeom prst="line">
                <a:avLst/>
              </a:prstGeom>
              <a:ln w="9525" cap="flat" cmpd="sng">
                <a:solidFill>
                  <a:schemeClr val="tx1"/>
                </a:solidFill>
                <a:prstDash val="solid"/>
                <a:headEnd type="none" w="med" len="med"/>
                <a:tailEnd type="none" w="med" len="med"/>
              </a:ln>
            </p:spPr>
          </p:sp>
          <p:sp>
            <p:nvSpPr>
              <p:cNvPr id="49173" name="AutoShape 1048"/>
              <p:cNvSpPr/>
              <p:nvPr/>
            </p:nvSpPr>
            <p:spPr>
              <a:xfrm>
                <a:off x="2640" y="2880"/>
                <a:ext cx="144" cy="192"/>
              </a:xfrm>
              <a:prstGeom prst="diamond">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dirty="0">
                  <a:latin typeface="Tahoma" panose="020B0604030504040204" pitchFamily="34" charset="0"/>
                </a:endParaRPr>
              </a:p>
            </p:txBody>
          </p:sp>
        </p:grpSp>
      </p:grpSp>
      <p:sp>
        <p:nvSpPr>
          <p:cNvPr id="49165" name="Text Box 1049"/>
          <p:cNvSpPr txBox="1"/>
          <p:nvPr/>
        </p:nvSpPr>
        <p:spPr>
          <a:xfrm>
            <a:off x="1371600" y="3962400"/>
            <a:ext cx="855663" cy="304800"/>
          </a:xfrm>
          <a:prstGeom prst="rect">
            <a:avLst/>
          </a:prstGeom>
          <a:noFill/>
          <a:ln w="12700">
            <a:noFill/>
          </a:ln>
        </p:spPr>
        <p:txBody>
          <a:bodyPr wrap="none">
            <a:spAutoFit/>
          </a:bodyPr>
          <a:lstStyle/>
          <a:p>
            <a:r>
              <a:rPr sz="1400" b="1" dirty="0">
                <a:solidFill>
                  <a:srgbClr val="0000FF"/>
                </a:solidFill>
                <a:latin typeface="Times New Roman" panose="02020603050405020304" pitchFamily="18" charset="0"/>
              </a:rPr>
              <a:t>Example</a:t>
            </a:r>
          </a:p>
        </p:txBody>
      </p:sp>
      <p:sp>
        <p:nvSpPr>
          <p:cNvPr id="49166" name="Text Box 1051"/>
          <p:cNvSpPr txBox="1"/>
          <p:nvPr/>
        </p:nvSpPr>
        <p:spPr>
          <a:xfrm>
            <a:off x="3413125" y="6172200"/>
            <a:ext cx="2687638" cy="336550"/>
          </a:xfrm>
          <a:prstGeom prst="rect">
            <a:avLst/>
          </a:prstGeom>
          <a:noFill/>
          <a:ln w="9525">
            <a:noFill/>
          </a:ln>
        </p:spPr>
        <p:txBody>
          <a:bodyPr>
            <a:spAutoFit/>
          </a:bodyPr>
          <a:lstStyle/>
          <a:p>
            <a:pPr eaLnBrk="1" hangingPunct="1"/>
            <a:r>
              <a:rPr sz="1600" dirty="0">
                <a:latin typeface="Times New Roman" panose="02020603050405020304" pitchFamily="18" charset="0"/>
              </a:rPr>
              <a:t>[From Dr.David A. Workman]</a:t>
            </a:r>
          </a:p>
        </p:txBody>
      </p:sp>
      <p:pic>
        <p:nvPicPr>
          <p:cNvPr id="2" name="Picture 1">
            <a:extLst>
              <a:ext uri="{FF2B5EF4-FFF2-40B4-BE49-F238E27FC236}">
                <a16:creationId xmlns:a16="http://schemas.microsoft.com/office/drawing/2014/main" id="{10F4EDB0-A847-7B91-2717-09C5F3D82A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05BC04FF-DEC0-780C-302E-78008178DD80}"/>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9928359-B54A-3EE6-3A80-68340BD6793A}"/>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noChangeArrowheads="1"/>
          </p:cNvSpPr>
          <p:nvPr>
            <p:ph type="title"/>
          </p:nvPr>
        </p:nvSpPr>
        <p:spPr>
          <a:xfrm>
            <a:off x="1123950" y="457200"/>
            <a:ext cx="7772400" cy="533400"/>
          </a:xfrm>
        </p:spPr>
        <p:txBody>
          <a:bodyPr vert="horz" wrap="square" lIns="92075" tIns="46038" rIns="92075" bIns="46038" numCol="1" anchor="b" anchorCtr="0" compatLnSpc="1">
            <a:normAutofit fontScale="90000"/>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2800" b="0" i="0" u="none" strike="noStrike" kern="1200" cap="none" spc="0" normalizeH="0" baseline="0" noProof="0">
                <a:ln>
                  <a:noFill/>
                </a:ln>
                <a:solidFill>
                  <a:schemeClr val="tx2"/>
                </a:solidFill>
                <a:effectLst/>
                <a:uLnTx/>
                <a:uFillTx/>
                <a:latin typeface="Times New Roman" panose="02020603050405020304" pitchFamily="18" charset="0"/>
                <a:ea typeface="+mj-ea"/>
                <a:cs typeface="+mj-cs"/>
              </a:rPr>
              <a:t>OO Relationships: </a:t>
            </a:r>
            <a:r>
              <a:rPr kumimoji="0" lang="en-US" sz="3200" b="1" i="0" u="none" strike="noStrike" kern="1200" cap="none" spc="0" normalizeH="0" baseline="0" noProof="0">
                <a:ln>
                  <a:noFill/>
                </a:ln>
                <a:solidFill>
                  <a:schemeClr val="tx2"/>
                </a:solidFill>
                <a:effectLst/>
                <a:uLnTx/>
                <a:uFillTx/>
                <a:latin typeface="Times New Roman" panose="02020603050405020304" pitchFamily="18" charset="0"/>
                <a:ea typeface="+mj-ea"/>
                <a:cs typeface="+mj-cs"/>
              </a:rPr>
              <a:t>Aggregation</a:t>
            </a:r>
          </a:p>
        </p:txBody>
      </p:sp>
      <p:sp>
        <p:nvSpPr>
          <p:cNvPr id="50179" name="Rectangle 5"/>
          <p:cNvSpPr/>
          <p:nvPr/>
        </p:nvSpPr>
        <p:spPr>
          <a:xfrm>
            <a:off x="2362200" y="1524000"/>
            <a:ext cx="1143000" cy="3810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Class</a:t>
            </a:r>
            <a:r>
              <a:rPr sz="1400" b="1" dirty="0">
                <a:latin typeface="Times New Roman" panose="02020603050405020304" pitchFamily="18" charset="0"/>
              </a:rPr>
              <a:t> </a:t>
            </a:r>
            <a:r>
              <a:rPr sz="1400" b="1" dirty="0">
                <a:solidFill>
                  <a:srgbClr val="000000"/>
                </a:solidFill>
                <a:latin typeface="Times New Roman" panose="02020603050405020304" pitchFamily="18" charset="0"/>
              </a:rPr>
              <a:t>C</a:t>
            </a:r>
          </a:p>
        </p:txBody>
      </p:sp>
      <p:sp>
        <p:nvSpPr>
          <p:cNvPr id="50180" name="Rectangle 6"/>
          <p:cNvSpPr/>
          <p:nvPr/>
        </p:nvSpPr>
        <p:spPr>
          <a:xfrm>
            <a:off x="1635125" y="2689225"/>
            <a:ext cx="1143000" cy="434975"/>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Class E</a:t>
            </a:r>
            <a:r>
              <a:rPr sz="1400" b="1" baseline="-25000" dirty="0">
                <a:solidFill>
                  <a:srgbClr val="000000"/>
                </a:solidFill>
                <a:latin typeface="Times New Roman" panose="02020603050405020304" pitchFamily="18" charset="0"/>
              </a:rPr>
              <a:t>1</a:t>
            </a:r>
          </a:p>
        </p:txBody>
      </p:sp>
      <p:sp>
        <p:nvSpPr>
          <p:cNvPr id="50181" name="Rectangle 7"/>
          <p:cNvSpPr/>
          <p:nvPr/>
        </p:nvSpPr>
        <p:spPr>
          <a:xfrm>
            <a:off x="3100388" y="2678113"/>
            <a:ext cx="1143000" cy="446087"/>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Class E</a:t>
            </a:r>
            <a:r>
              <a:rPr sz="1400" b="1" baseline="-25000" dirty="0">
                <a:solidFill>
                  <a:srgbClr val="000000"/>
                </a:solidFill>
                <a:latin typeface="Times New Roman" panose="02020603050405020304" pitchFamily="18" charset="0"/>
              </a:rPr>
              <a:t>2</a:t>
            </a:r>
            <a:r>
              <a:rPr sz="1400" b="1" baseline="-25000" dirty="0">
                <a:latin typeface="Times New Roman" panose="02020603050405020304" pitchFamily="18" charset="0"/>
              </a:rPr>
              <a:t> </a:t>
            </a:r>
          </a:p>
        </p:txBody>
      </p:sp>
      <p:sp>
        <p:nvSpPr>
          <p:cNvPr id="50182" name="Freeform 8"/>
          <p:cNvSpPr/>
          <p:nvPr/>
        </p:nvSpPr>
        <p:spPr>
          <a:xfrm>
            <a:off x="2209800" y="2362200"/>
            <a:ext cx="1447800" cy="304800"/>
          </a:xfrm>
          <a:custGeom>
            <a:avLst/>
            <a:gdLst>
              <a:gd name="txL" fmla="*/ 0 w 1824"/>
              <a:gd name="txT" fmla="*/ 0 h 96"/>
              <a:gd name="txR" fmla="*/ 1824 w 1824"/>
              <a:gd name="txB" fmla="*/ 96 h 96"/>
            </a:gdLst>
            <a:ahLst/>
            <a:cxnLst>
              <a:cxn ang="0">
                <a:pos x="0" y="967740000"/>
              </a:cxn>
              <a:cxn ang="0">
                <a:pos x="0" y="0"/>
              </a:cxn>
              <a:cxn ang="0">
                <a:pos x="1149191250" y="0"/>
              </a:cxn>
              <a:cxn ang="0">
                <a:pos x="1149191250" y="967740000"/>
              </a:cxn>
            </a:cxnLst>
            <a:rect l="txL" t="txT" r="txR" b="txB"/>
            <a:pathLst>
              <a:path w="1824" h="96">
                <a:moveTo>
                  <a:pt x="0" y="96"/>
                </a:moveTo>
                <a:lnTo>
                  <a:pt x="0" y="0"/>
                </a:lnTo>
                <a:lnTo>
                  <a:pt x="1824" y="0"/>
                </a:lnTo>
                <a:lnTo>
                  <a:pt x="1824" y="96"/>
                </a:lnTo>
              </a:path>
            </a:pathLst>
          </a:custGeom>
          <a:noFill/>
          <a:ln w="9525" cap="flat" cmpd="sng">
            <a:solidFill>
              <a:schemeClr val="tx1">
                <a:alpha val="100000"/>
              </a:schemeClr>
            </a:solidFill>
            <a:prstDash val="solid"/>
            <a:round/>
            <a:headEnd type="none" w="med" len="med"/>
            <a:tailEnd type="none" w="med" len="med"/>
          </a:ln>
        </p:spPr>
        <p:txBody>
          <a:bodyPr/>
          <a:lstStyle/>
          <a:p>
            <a:endParaRPr lang="en-US"/>
          </a:p>
        </p:txBody>
      </p:sp>
      <p:grpSp>
        <p:nvGrpSpPr>
          <p:cNvPr id="50183" name="Group 9"/>
          <p:cNvGrpSpPr/>
          <p:nvPr/>
        </p:nvGrpSpPr>
        <p:grpSpPr>
          <a:xfrm>
            <a:off x="2814638" y="1903413"/>
            <a:ext cx="228600" cy="444500"/>
            <a:chOff x="4480" y="1304"/>
            <a:chExt cx="144" cy="280"/>
          </a:xfrm>
        </p:grpSpPr>
        <p:sp>
          <p:nvSpPr>
            <p:cNvPr id="50198" name="Line 10"/>
            <p:cNvSpPr/>
            <p:nvPr/>
          </p:nvSpPr>
          <p:spPr>
            <a:xfrm>
              <a:off x="4552" y="1488"/>
              <a:ext cx="4" cy="96"/>
            </a:xfrm>
            <a:prstGeom prst="line">
              <a:avLst/>
            </a:prstGeom>
            <a:ln w="9525" cap="flat" cmpd="sng">
              <a:solidFill>
                <a:schemeClr val="tx1"/>
              </a:solidFill>
              <a:prstDash val="solid"/>
              <a:headEnd type="none" w="med" len="med"/>
              <a:tailEnd type="none" w="med" len="med"/>
            </a:ln>
          </p:spPr>
        </p:sp>
        <p:sp>
          <p:nvSpPr>
            <p:cNvPr id="50199" name="AutoShape 11"/>
            <p:cNvSpPr/>
            <p:nvPr/>
          </p:nvSpPr>
          <p:spPr>
            <a:xfrm>
              <a:off x="4480" y="1304"/>
              <a:ext cx="144" cy="192"/>
            </a:xfrm>
            <a:prstGeom prst="diamond">
              <a:avLst/>
            </a:prstGeom>
            <a:noFill/>
            <a:ln w="9525" cap="flat" cmpd="sng">
              <a:solidFill>
                <a:schemeClr val="tx1"/>
              </a:solidFill>
              <a:prstDash val="solid"/>
              <a:miter/>
              <a:headEnd type="none" w="med" len="med"/>
              <a:tailEnd type="none" w="med" len="med"/>
            </a:ln>
          </p:spPr>
          <p:txBody>
            <a:bodyPr wrap="none" anchor="ctr" anchorCtr="0"/>
            <a:lstStyle/>
            <a:p>
              <a:endParaRPr dirty="0">
                <a:latin typeface="Tahoma" panose="020B0604030504040204" pitchFamily="34" charset="0"/>
              </a:endParaRPr>
            </a:p>
          </p:txBody>
        </p:sp>
      </p:grpSp>
      <p:sp>
        <p:nvSpPr>
          <p:cNvPr id="50184" name="Text Box 12"/>
          <p:cNvSpPr txBox="1"/>
          <p:nvPr/>
        </p:nvSpPr>
        <p:spPr>
          <a:xfrm>
            <a:off x="1295400" y="1981200"/>
            <a:ext cx="1558925" cy="304800"/>
          </a:xfrm>
          <a:prstGeom prst="rect">
            <a:avLst/>
          </a:prstGeom>
          <a:noFill/>
          <a:ln w="12700">
            <a:noFill/>
          </a:ln>
        </p:spPr>
        <p:txBody>
          <a:bodyPr wrap="none">
            <a:spAutoFit/>
          </a:bodyPr>
          <a:lstStyle/>
          <a:p>
            <a:r>
              <a:rPr sz="1400" b="1" dirty="0">
                <a:solidFill>
                  <a:srgbClr val="FF0000"/>
                </a:solidFill>
                <a:latin typeface="Times New Roman" panose="02020603050405020304" pitchFamily="18" charset="0"/>
              </a:rPr>
              <a:t>AGGREGATION</a:t>
            </a:r>
          </a:p>
        </p:txBody>
      </p:sp>
      <p:sp>
        <p:nvSpPr>
          <p:cNvPr id="50185" name="Text Box 13"/>
          <p:cNvSpPr txBox="1"/>
          <p:nvPr/>
        </p:nvSpPr>
        <p:spPr>
          <a:xfrm>
            <a:off x="4248150" y="1524000"/>
            <a:ext cx="4667250" cy="3708400"/>
          </a:xfrm>
          <a:prstGeom prst="rect">
            <a:avLst/>
          </a:prstGeom>
          <a:noFill/>
          <a:ln w="12700">
            <a:noFill/>
          </a:ln>
        </p:spPr>
        <p:txBody>
          <a:bodyPr>
            <a:spAutoFit/>
          </a:bodyPr>
          <a:lstStyle/>
          <a:p>
            <a:r>
              <a:rPr sz="1400" b="1" dirty="0">
                <a:solidFill>
                  <a:srgbClr val="FF0000"/>
                </a:solidFill>
                <a:latin typeface="Times New Roman" panose="02020603050405020304" pitchFamily="18" charset="0"/>
              </a:rPr>
              <a:t>Aggregation: </a:t>
            </a:r>
            <a:r>
              <a:rPr sz="1400" b="1" dirty="0">
                <a:latin typeface="Times New Roman" panose="02020603050405020304" pitchFamily="18" charset="0"/>
              </a:rPr>
              <a:t>expresses a relationship among instances </a:t>
            </a:r>
          </a:p>
          <a:p>
            <a:r>
              <a:rPr sz="1400" b="1" dirty="0">
                <a:latin typeface="Times New Roman" panose="02020603050405020304" pitchFamily="18" charset="0"/>
              </a:rPr>
              <a:t>of related classes.  It is a specific </a:t>
            </a:r>
            <a:r>
              <a:rPr sz="1400" b="1" dirty="0">
                <a:solidFill>
                  <a:schemeClr val="folHlink"/>
                </a:solidFill>
                <a:latin typeface="Times New Roman" panose="02020603050405020304" pitchFamily="18" charset="0"/>
              </a:rPr>
              <a:t>kind of Container-Containee</a:t>
            </a:r>
            <a:r>
              <a:rPr sz="1400" b="1" dirty="0">
                <a:latin typeface="Times New Roman" panose="02020603050405020304" pitchFamily="18" charset="0"/>
              </a:rPr>
              <a:t> </a:t>
            </a:r>
            <a:br>
              <a:rPr sz="1400" b="1" dirty="0">
                <a:latin typeface="Times New Roman" panose="02020603050405020304" pitchFamily="18" charset="0"/>
              </a:rPr>
            </a:br>
            <a:r>
              <a:rPr sz="1400" b="1" dirty="0">
                <a:latin typeface="Times New Roman" panose="02020603050405020304" pitchFamily="18" charset="0"/>
              </a:rPr>
              <a:t>relationship.   </a:t>
            </a:r>
          </a:p>
          <a:p>
            <a:endParaRPr sz="1400" b="1" dirty="0">
              <a:latin typeface="Times New Roman" panose="02020603050405020304" pitchFamily="18" charset="0"/>
            </a:endParaRPr>
          </a:p>
          <a:p>
            <a:r>
              <a:rPr sz="1400" b="1" dirty="0">
                <a:latin typeface="Times New Roman" panose="02020603050405020304" pitchFamily="18" charset="0"/>
              </a:rPr>
              <a:t>It expresses a relationship where an instance of the </a:t>
            </a:r>
            <a:br>
              <a:rPr sz="1400" b="1" dirty="0">
                <a:latin typeface="Times New Roman" panose="02020603050405020304" pitchFamily="18" charset="0"/>
              </a:rPr>
            </a:br>
            <a:r>
              <a:rPr sz="1400" b="1" dirty="0">
                <a:latin typeface="Times New Roman" panose="02020603050405020304" pitchFamily="18" charset="0"/>
              </a:rPr>
              <a:t>Container-class has the responsibility to </a:t>
            </a:r>
            <a:r>
              <a:rPr sz="1400" b="1" dirty="0">
                <a:solidFill>
                  <a:schemeClr val="folHlink"/>
                </a:solidFill>
                <a:latin typeface="Times New Roman" panose="02020603050405020304" pitchFamily="18" charset="0"/>
              </a:rPr>
              <a:t>hold and maintain</a:t>
            </a:r>
            <a:br>
              <a:rPr sz="1400" b="1" dirty="0">
                <a:solidFill>
                  <a:schemeClr val="folHlink"/>
                </a:solidFill>
                <a:latin typeface="Times New Roman" panose="02020603050405020304" pitchFamily="18" charset="0"/>
              </a:rPr>
            </a:br>
            <a:r>
              <a:rPr sz="1400" b="1" dirty="0">
                <a:solidFill>
                  <a:schemeClr val="folHlink"/>
                </a:solidFill>
                <a:latin typeface="Times New Roman" panose="02020603050405020304" pitchFamily="18" charset="0"/>
              </a:rPr>
              <a:t> instances</a:t>
            </a:r>
            <a:r>
              <a:rPr sz="1400" b="1" dirty="0">
                <a:latin typeface="Times New Roman" panose="02020603050405020304" pitchFamily="18" charset="0"/>
              </a:rPr>
              <a:t> of each Containee-class that have been created</a:t>
            </a:r>
            <a:br>
              <a:rPr sz="1400" b="1" dirty="0">
                <a:latin typeface="Times New Roman" panose="02020603050405020304" pitchFamily="18" charset="0"/>
              </a:rPr>
            </a:br>
            <a:r>
              <a:rPr sz="1400" b="1" dirty="0">
                <a:latin typeface="Times New Roman" panose="02020603050405020304" pitchFamily="18" charset="0"/>
              </a:rPr>
              <a:t>outside the auspices of the Container-class.  </a:t>
            </a:r>
            <a:br>
              <a:rPr sz="1400" b="1" dirty="0">
                <a:latin typeface="Times New Roman" panose="02020603050405020304" pitchFamily="18" charset="0"/>
              </a:rPr>
            </a:br>
            <a:br>
              <a:rPr sz="1400" b="1" dirty="0">
                <a:latin typeface="Times New Roman" panose="02020603050405020304" pitchFamily="18" charset="0"/>
              </a:rPr>
            </a:br>
            <a:r>
              <a:rPr sz="1400" b="1" dirty="0">
                <a:latin typeface="Times New Roman" panose="02020603050405020304" pitchFamily="18" charset="0"/>
              </a:rPr>
              <a:t>Aggregation should be used to express a more informal</a:t>
            </a:r>
            <a:br>
              <a:rPr sz="1400" b="1" dirty="0">
                <a:latin typeface="Times New Roman" panose="02020603050405020304" pitchFamily="18" charset="0"/>
              </a:rPr>
            </a:br>
            <a:r>
              <a:rPr sz="1400" b="1" dirty="0">
                <a:latin typeface="Times New Roman" panose="02020603050405020304" pitchFamily="18" charset="0"/>
              </a:rPr>
              <a:t>relationship than composition expresses.  That is, it is an</a:t>
            </a:r>
            <a:br>
              <a:rPr sz="1400" b="1" dirty="0">
                <a:latin typeface="Times New Roman" panose="02020603050405020304" pitchFamily="18" charset="0"/>
              </a:rPr>
            </a:br>
            <a:r>
              <a:rPr sz="1400" b="1" dirty="0">
                <a:latin typeface="Times New Roman" panose="02020603050405020304" pitchFamily="18" charset="0"/>
              </a:rPr>
              <a:t>appropriate relationship where the </a:t>
            </a:r>
            <a:r>
              <a:rPr sz="1400" b="1" dirty="0">
                <a:solidFill>
                  <a:schemeClr val="folHlink"/>
                </a:solidFill>
                <a:latin typeface="Times New Roman" panose="02020603050405020304" pitchFamily="18" charset="0"/>
              </a:rPr>
              <a:t>Container and its </a:t>
            </a:r>
            <a:br>
              <a:rPr sz="1400" b="1" dirty="0">
                <a:solidFill>
                  <a:schemeClr val="folHlink"/>
                </a:solidFill>
                <a:latin typeface="Times New Roman" panose="02020603050405020304" pitchFamily="18" charset="0"/>
              </a:rPr>
            </a:br>
            <a:r>
              <a:rPr sz="1400" b="1" dirty="0">
                <a:solidFill>
                  <a:schemeClr val="folHlink"/>
                </a:solidFill>
                <a:latin typeface="Times New Roman" panose="02020603050405020304" pitchFamily="18" charset="0"/>
              </a:rPr>
              <a:t>Containees</a:t>
            </a:r>
            <a:r>
              <a:rPr sz="1400" b="1" dirty="0">
                <a:solidFill>
                  <a:srgbClr val="0000FF"/>
                </a:solidFill>
                <a:latin typeface="Times New Roman" panose="02020603050405020304" pitchFamily="18" charset="0"/>
              </a:rPr>
              <a:t> </a:t>
            </a:r>
            <a:r>
              <a:rPr sz="1400" b="1" dirty="0">
                <a:solidFill>
                  <a:srgbClr val="FFFFFF"/>
                </a:solidFill>
                <a:latin typeface="Times New Roman" panose="02020603050405020304" pitchFamily="18" charset="0"/>
              </a:rPr>
              <a:t>can be manipulated independently.</a:t>
            </a:r>
            <a:br>
              <a:rPr sz="1400" b="1" dirty="0">
                <a:latin typeface="Times New Roman" panose="02020603050405020304" pitchFamily="18" charset="0"/>
              </a:rPr>
            </a:br>
            <a:endParaRPr sz="1400" b="1" dirty="0">
              <a:latin typeface="Times New Roman" panose="02020603050405020304" pitchFamily="18" charset="0"/>
            </a:endParaRPr>
          </a:p>
          <a:p>
            <a:r>
              <a:rPr sz="1400" b="1" dirty="0">
                <a:latin typeface="Times New Roman" panose="02020603050405020304" pitchFamily="18" charset="0"/>
              </a:rPr>
              <a:t>Aggregation is appropriate when </a:t>
            </a:r>
            <a:r>
              <a:rPr sz="1400" b="1" dirty="0">
                <a:solidFill>
                  <a:schemeClr val="folHlink"/>
                </a:solidFill>
                <a:latin typeface="Times New Roman" panose="02020603050405020304" pitchFamily="18" charset="0"/>
              </a:rPr>
              <a:t>Container and Containees</a:t>
            </a:r>
            <a:r>
              <a:rPr sz="1400" b="1" dirty="0">
                <a:latin typeface="Times New Roman" panose="02020603050405020304" pitchFamily="18" charset="0"/>
              </a:rPr>
              <a:t> have no special access privileges to each other.</a:t>
            </a:r>
          </a:p>
        </p:txBody>
      </p:sp>
      <p:sp>
        <p:nvSpPr>
          <p:cNvPr id="50186" name="Text Box 14"/>
          <p:cNvSpPr txBox="1"/>
          <p:nvPr/>
        </p:nvSpPr>
        <p:spPr>
          <a:xfrm>
            <a:off x="2209800" y="1219200"/>
            <a:ext cx="1404938" cy="304800"/>
          </a:xfrm>
          <a:prstGeom prst="rect">
            <a:avLst/>
          </a:prstGeom>
          <a:noFill/>
          <a:ln w="12700">
            <a:noFill/>
          </a:ln>
        </p:spPr>
        <p:txBody>
          <a:bodyPr wrap="none">
            <a:spAutoFit/>
          </a:bodyPr>
          <a:lstStyle/>
          <a:p>
            <a:r>
              <a:rPr sz="1400" b="1" dirty="0">
                <a:latin typeface="Times New Roman" panose="02020603050405020304" pitchFamily="18" charset="0"/>
              </a:rPr>
              <a:t>Container Class</a:t>
            </a:r>
          </a:p>
        </p:txBody>
      </p:sp>
      <p:sp>
        <p:nvSpPr>
          <p:cNvPr id="50187" name="Text Box 15"/>
          <p:cNvSpPr txBox="1"/>
          <p:nvPr/>
        </p:nvSpPr>
        <p:spPr>
          <a:xfrm>
            <a:off x="2209800" y="3505200"/>
            <a:ext cx="1554163" cy="304800"/>
          </a:xfrm>
          <a:prstGeom prst="rect">
            <a:avLst/>
          </a:prstGeom>
          <a:noFill/>
          <a:ln w="12700">
            <a:noFill/>
          </a:ln>
        </p:spPr>
        <p:txBody>
          <a:bodyPr wrap="none">
            <a:spAutoFit/>
          </a:bodyPr>
          <a:lstStyle/>
          <a:p>
            <a:r>
              <a:rPr sz="1400" b="1" dirty="0">
                <a:latin typeface="Times New Roman" panose="02020603050405020304" pitchFamily="18" charset="0"/>
              </a:rPr>
              <a:t>Containee Classes</a:t>
            </a:r>
          </a:p>
        </p:txBody>
      </p:sp>
      <p:sp>
        <p:nvSpPr>
          <p:cNvPr id="50188" name="AutoShape 16"/>
          <p:cNvSpPr/>
          <p:nvPr/>
        </p:nvSpPr>
        <p:spPr>
          <a:xfrm rot="-5400000">
            <a:off x="2857500" y="2476500"/>
            <a:ext cx="228600" cy="1828800"/>
          </a:xfrm>
          <a:prstGeom prst="leftBrace">
            <a:avLst>
              <a:gd name="adj1" fmla="val 66666"/>
              <a:gd name="adj2" fmla="val 50000"/>
            </a:avLst>
          </a:prstGeom>
          <a:noFill/>
          <a:ln w="12700" cap="flat" cmpd="sng">
            <a:solidFill>
              <a:schemeClr val="tx1"/>
            </a:solidFill>
            <a:prstDash val="solid"/>
            <a:headEnd type="none" w="sm" len="sm"/>
            <a:tailEnd type="none" w="sm" len="sm"/>
          </a:ln>
        </p:spPr>
        <p:txBody>
          <a:bodyPr wrap="none" anchor="ctr" anchorCtr="0"/>
          <a:lstStyle/>
          <a:p>
            <a:endParaRPr dirty="0">
              <a:latin typeface="Tahoma" panose="020B0604030504040204" pitchFamily="34" charset="0"/>
            </a:endParaRPr>
          </a:p>
        </p:txBody>
      </p:sp>
      <p:sp>
        <p:nvSpPr>
          <p:cNvPr id="50189" name="Rectangle 17"/>
          <p:cNvSpPr/>
          <p:nvPr/>
        </p:nvSpPr>
        <p:spPr>
          <a:xfrm>
            <a:off x="2403475" y="4572000"/>
            <a:ext cx="1143000" cy="3810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Bag</a:t>
            </a:r>
          </a:p>
        </p:txBody>
      </p:sp>
      <p:sp>
        <p:nvSpPr>
          <p:cNvPr id="50190" name="Rectangle 18"/>
          <p:cNvSpPr/>
          <p:nvPr/>
        </p:nvSpPr>
        <p:spPr>
          <a:xfrm>
            <a:off x="1676400" y="5737225"/>
            <a:ext cx="1143000" cy="434975"/>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Apples</a:t>
            </a:r>
            <a:endParaRPr sz="1400" b="1" baseline="-25000" dirty="0">
              <a:solidFill>
                <a:srgbClr val="000000"/>
              </a:solidFill>
              <a:latin typeface="Times New Roman" panose="02020603050405020304" pitchFamily="18" charset="0"/>
            </a:endParaRPr>
          </a:p>
        </p:txBody>
      </p:sp>
      <p:sp>
        <p:nvSpPr>
          <p:cNvPr id="50191" name="Rectangle 19"/>
          <p:cNvSpPr/>
          <p:nvPr/>
        </p:nvSpPr>
        <p:spPr>
          <a:xfrm>
            <a:off x="3141663" y="5726113"/>
            <a:ext cx="1143000" cy="446087"/>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p>
            <a:pPr algn="ctr"/>
            <a:r>
              <a:rPr sz="1400" b="1" dirty="0">
                <a:solidFill>
                  <a:srgbClr val="000000"/>
                </a:solidFill>
                <a:latin typeface="Times New Roman" panose="02020603050405020304" pitchFamily="18" charset="0"/>
              </a:rPr>
              <a:t>Milk</a:t>
            </a:r>
            <a:r>
              <a:rPr sz="1400" b="1" baseline="-25000" dirty="0">
                <a:latin typeface="Times New Roman" panose="02020603050405020304" pitchFamily="18" charset="0"/>
              </a:rPr>
              <a:t> </a:t>
            </a:r>
          </a:p>
        </p:txBody>
      </p:sp>
      <p:sp>
        <p:nvSpPr>
          <p:cNvPr id="50192" name="Freeform 20"/>
          <p:cNvSpPr/>
          <p:nvPr/>
        </p:nvSpPr>
        <p:spPr>
          <a:xfrm>
            <a:off x="2251075" y="5410200"/>
            <a:ext cx="1447800" cy="304800"/>
          </a:xfrm>
          <a:custGeom>
            <a:avLst/>
            <a:gdLst>
              <a:gd name="txL" fmla="*/ 0 w 1824"/>
              <a:gd name="txT" fmla="*/ 0 h 96"/>
              <a:gd name="txR" fmla="*/ 1824 w 1824"/>
              <a:gd name="txB" fmla="*/ 96 h 96"/>
            </a:gdLst>
            <a:ahLst/>
            <a:cxnLst>
              <a:cxn ang="0">
                <a:pos x="0" y="967740000"/>
              </a:cxn>
              <a:cxn ang="0">
                <a:pos x="0" y="0"/>
              </a:cxn>
              <a:cxn ang="0">
                <a:pos x="1149191250" y="0"/>
              </a:cxn>
              <a:cxn ang="0">
                <a:pos x="1149191250" y="967740000"/>
              </a:cxn>
            </a:cxnLst>
            <a:rect l="txL" t="txT" r="txR" b="txB"/>
            <a:pathLst>
              <a:path w="1824" h="96">
                <a:moveTo>
                  <a:pt x="0" y="96"/>
                </a:moveTo>
                <a:lnTo>
                  <a:pt x="0" y="0"/>
                </a:lnTo>
                <a:lnTo>
                  <a:pt x="1824" y="0"/>
                </a:lnTo>
                <a:lnTo>
                  <a:pt x="1824" y="96"/>
                </a:lnTo>
              </a:path>
            </a:pathLst>
          </a:custGeom>
          <a:noFill/>
          <a:ln w="9525" cap="flat" cmpd="sng">
            <a:solidFill>
              <a:schemeClr val="tx1">
                <a:alpha val="100000"/>
              </a:schemeClr>
            </a:solidFill>
            <a:prstDash val="solid"/>
            <a:round/>
            <a:headEnd type="none" w="med" len="med"/>
            <a:tailEnd type="none" w="med" len="med"/>
          </a:ln>
        </p:spPr>
        <p:txBody>
          <a:bodyPr/>
          <a:lstStyle/>
          <a:p>
            <a:endParaRPr lang="en-US"/>
          </a:p>
        </p:txBody>
      </p:sp>
      <p:grpSp>
        <p:nvGrpSpPr>
          <p:cNvPr id="50193" name="Group 21"/>
          <p:cNvGrpSpPr/>
          <p:nvPr/>
        </p:nvGrpSpPr>
        <p:grpSpPr>
          <a:xfrm>
            <a:off x="2836863" y="4964113"/>
            <a:ext cx="228600" cy="457200"/>
            <a:chOff x="2640" y="2880"/>
            <a:chExt cx="144" cy="288"/>
          </a:xfrm>
        </p:grpSpPr>
        <p:sp>
          <p:nvSpPr>
            <p:cNvPr id="50196" name="Line 22"/>
            <p:cNvSpPr/>
            <p:nvPr/>
          </p:nvSpPr>
          <p:spPr>
            <a:xfrm flipH="1">
              <a:off x="2712" y="3048"/>
              <a:ext cx="0" cy="120"/>
            </a:xfrm>
            <a:prstGeom prst="line">
              <a:avLst/>
            </a:prstGeom>
            <a:ln w="9525" cap="flat" cmpd="sng">
              <a:solidFill>
                <a:schemeClr val="tx1"/>
              </a:solidFill>
              <a:prstDash val="solid"/>
              <a:headEnd type="none" w="med" len="med"/>
              <a:tailEnd type="none" w="med" len="med"/>
            </a:ln>
          </p:spPr>
        </p:sp>
        <p:sp>
          <p:nvSpPr>
            <p:cNvPr id="50197" name="AutoShape 23"/>
            <p:cNvSpPr/>
            <p:nvPr/>
          </p:nvSpPr>
          <p:spPr>
            <a:xfrm>
              <a:off x="2640" y="2880"/>
              <a:ext cx="144" cy="192"/>
            </a:xfrm>
            <a:prstGeom prst="diamond">
              <a:avLst/>
            </a:prstGeom>
            <a:noFill/>
            <a:ln w="9525" cap="flat" cmpd="sng">
              <a:solidFill>
                <a:schemeClr val="tx1"/>
              </a:solidFill>
              <a:prstDash val="solid"/>
              <a:miter/>
              <a:headEnd type="none" w="med" len="med"/>
              <a:tailEnd type="none" w="med" len="med"/>
            </a:ln>
          </p:spPr>
          <p:txBody>
            <a:bodyPr wrap="none" anchor="ctr" anchorCtr="0"/>
            <a:lstStyle/>
            <a:p>
              <a:endParaRPr dirty="0">
                <a:latin typeface="Tahoma" panose="020B0604030504040204" pitchFamily="34" charset="0"/>
              </a:endParaRPr>
            </a:p>
          </p:txBody>
        </p:sp>
      </p:grpSp>
      <p:sp>
        <p:nvSpPr>
          <p:cNvPr id="50194" name="Text Box 24"/>
          <p:cNvSpPr txBox="1"/>
          <p:nvPr/>
        </p:nvSpPr>
        <p:spPr>
          <a:xfrm>
            <a:off x="1371600" y="4495800"/>
            <a:ext cx="855663" cy="304800"/>
          </a:xfrm>
          <a:prstGeom prst="rect">
            <a:avLst/>
          </a:prstGeom>
          <a:noFill/>
          <a:ln w="12700">
            <a:noFill/>
          </a:ln>
        </p:spPr>
        <p:txBody>
          <a:bodyPr wrap="none">
            <a:spAutoFit/>
          </a:bodyPr>
          <a:lstStyle/>
          <a:p>
            <a:r>
              <a:rPr sz="1400" b="1" dirty="0">
                <a:solidFill>
                  <a:srgbClr val="0000FF"/>
                </a:solidFill>
                <a:latin typeface="Times New Roman" panose="02020603050405020304" pitchFamily="18" charset="0"/>
              </a:rPr>
              <a:t>Example</a:t>
            </a:r>
          </a:p>
        </p:txBody>
      </p:sp>
      <p:sp>
        <p:nvSpPr>
          <p:cNvPr id="50195" name="Text Box 25"/>
          <p:cNvSpPr txBox="1"/>
          <p:nvPr/>
        </p:nvSpPr>
        <p:spPr>
          <a:xfrm>
            <a:off x="3413125" y="6248400"/>
            <a:ext cx="2687638" cy="336550"/>
          </a:xfrm>
          <a:prstGeom prst="rect">
            <a:avLst/>
          </a:prstGeom>
          <a:noFill/>
          <a:ln w="9525">
            <a:noFill/>
          </a:ln>
        </p:spPr>
        <p:txBody>
          <a:bodyPr>
            <a:spAutoFit/>
          </a:bodyPr>
          <a:lstStyle/>
          <a:p>
            <a:pPr eaLnBrk="1" hangingPunct="1"/>
            <a:r>
              <a:rPr sz="1600" dirty="0">
                <a:latin typeface="Times New Roman" panose="02020603050405020304" pitchFamily="18" charset="0"/>
              </a:rPr>
              <a:t>[From Dr.David A. Workman]</a:t>
            </a:r>
          </a:p>
        </p:txBody>
      </p:sp>
      <p:pic>
        <p:nvPicPr>
          <p:cNvPr id="2" name="Picture 1">
            <a:extLst>
              <a:ext uri="{FF2B5EF4-FFF2-40B4-BE49-F238E27FC236}">
                <a16:creationId xmlns:a16="http://schemas.microsoft.com/office/drawing/2014/main" id="{FA08F918-2A9C-E0E8-856D-7D6A7DCE80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2956CAB8-0349-456C-4D88-99AC69E8DE7E}"/>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69D7F76-99F8-9215-BD00-1E5125B40A03}"/>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746125"/>
            <a:ext cx="8229600" cy="1006475"/>
          </a:xfrm>
        </p:spPr>
        <p:txBody>
          <a:bodyPr vert="horz" wrap="square" lIns="0" tIns="45720" rIns="0" bIns="0" numCol="1" anchor="b" anchorCtr="0" compatLnSpc="1">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br>
              <a:rPr kumimoji="0" lang="en-US" sz="3200" b="1" i="0" u="none" strike="noStrike" kern="1200" cap="none" spc="0" normalizeH="0" baseline="0" noProof="0" dirty="0">
                <a:ln>
                  <a:noFill/>
                </a:ln>
                <a:solidFill>
                  <a:schemeClr val="tx2"/>
                </a:solidFill>
                <a:effectLst/>
                <a:uLnTx/>
                <a:uFillTx/>
                <a:latin typeface="+mj-lt"/>
                <a:ea typeface="+mj-ea"/>
                <a:cs typeface="+mj-cs"/>
              </a:rPr>
            </a:br>
            <a:r>
              <a:rPr kumimoji="0" lang="en-US" sz="3200" b="1" i="0" u="none" strike="noStrike" kern="1200" cap="none" spc="0" normalizeH="0" baseline="0" noProof="0" dirty="0">
                <a:ln>
                  <a:noFill/>
                </a:ln>
                <a:solidFill>
                  <a:schemeClr val="tx2"/>
                </a:solidFill>
                <a:effectLst/>
                <a:uLnTx/>
                <a:uFillTx/>
                <a:latin typeface="Cambria" panose="02040503050406030204" pitchFamily="18" charset="0"/>
                <a:ea typeface="+mj-ea"/>
                <a:cs typeface="+mj-cs"/>
              </a:rPr>
              <a:t>Aggregation vs. Composition</a:t>
            </a:r>
            <a:br>
              <a:rPr kumimoji="0" lang="en-US" sz="5000" b="1" i="0" u="none" strike="noStrike" kern="1200" cap="none" spc="0" normalizeH="0" baseline="0" noProof="0" dirty="0">
                <a:ln>
                  <a:noFill/>
                </a:ln>
                <a:solidFill>
                  <a:schemeClr val="tx2"/>
                </a:solidFill>
                <a:effectLst/>
                <a:uLnTx/>
                <a:uFillTx/>
                <a:latin typeface="+mj-lt"/>
                <a:ea typeface="+mj-ea"/>
                <a:cs typeface="+mj-cs"/>
              </a:rPr>
            </a:br>
            <a:endParaRPr kumimoji="0" lang="en-US" sz="5000" b="1" i="0" u="none" strike="noStrike" kern="1200" cap="none" spc="0" normalizeH="0" baseline="0" noProof="0" dirty="0">
              <a:ln>
                <a:noFill/>
              </a:ln>
              <a:solidFill>
                <a:schemeClr val="tx2"/>
              </a:solidFill>
              <a:effectLst/>
              <a:uLnTx/>
              <a:uFillTx/>
              <a:latin typeface="+mj-lt"/>
              <a:ea typeface="+mj-ea"/>
              <a:cs typeface="+mj-cs"/>
            </a:endParaRPr>
          </a:p>
        </p:txBody>
      </p:sp>
      <p:sp>
        <p:nvSpPr>
          <p:cNvPr id="56324" name="Rectangle 4"/>
          <p:cNvSpPr>
            <a:spLocks noChangeArrowheads="1"/>
          </p:cNvSpPr>
          <p:nvPr/>
        </p:nvSpPr>
        <p:spPr bwMode="auto">
          <a:xfrm>
            <a:off x="0" y="1676400"/>
            <a:ext cx="8839200" cy="4462463"/>
          </a:xfrm>
          <a:prstGeom prst="rect">
            <a:avLst/>
          </a:prstGeom>
          <a:noFill/>
          <a:ln w="9525">
            <a:noFill/>
            <a:miter lim="800000"/>
          </a:ln>
          <a:effectLst/>
        </p:spPr>
        <p:txBody>
          <a:bodyPr>
            <a:spAutoFit/>
          </a:bodyPr>
          <a:lstStyle/>
          <a:p>
            <a:pPr marL="457200" marR="0" lvl="1" indent="0" algn="l" defTabSz="914400" rtl="0" eaLnBrk="0" fontAlgn="base" latinLnBrk="0" hangingPunct="0">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Cambria" panose="02040503050406030204" pitchFamily="18" charset="0"/>
                <a:ea typeface="+mn-ea"/>
                <a:cs typeface="+mn-cs"/>
              </a:rPr>
              <a:t>Composition</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is really a strong form of </a:t>
            </a:r>
            <a:r>
              <a:rPr kumimoji="0" lang="en-US" sz="24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aggregation</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a:t>
            </a:r>
          </a:p>
          <a:p>
            <a:pPr marL="914400" marR="0" lvl="2" indent="0" algn="l" defTabSz="914400" rtl="0" eaLnBrk="0" fontAlgn="base" latinLnBrk="0" hangingPunct="0">
              <a:lnSpc>
                <a:spcPct val="100000"/>
              </a:lnSpc>
              <a:spcBef>
                <a:spcPct val="0"/>
              </a:spcBef>
              <a:spcAft>
                <a:spcPct val="0"/>
              </a:spcAft>
              <a:buClrTx/>
              <a:buSzTx/>
              <a:buFontTx/>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components have only one owner </a:t>
            </a:r>
          </a:p>
          <a:p>
            <a:pPr marL="914400" marR="0" lvl="2" indent="0" algn="l" defTabSz="914400" rtl="0" eaLnBrk="0" fontAlgn="base" latinLnBrk="0" hangingPunct="0">
              <a:lnSpc>
                <a:spcPct val="100000"/>
              </a:lnSpc>
              <a:spcBef>
                <a:spcPct val="0"/>
              </a:spcBef>
              <a:spcAft>
                <a:spcPct val="0"/>
              </a:spcAft>
              <a:buClrTx/>
              <a:buSzTx/>
              <a:buFontTx/>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components cannot exist independent of their owner </a:t>
            </a:r>
          </a:p>
          <a:p>
            <a:pPr marL="914400" marR="0" lvl="2" indent="0" algn="l" defTabSz="914400" rtl="0" eaLnBrk="0" fontAlgn="base" latinLnBrk="0" hangingPunct="0">
              <a:lnSpc>
                <a:spcPct val="100000"/>
              </a:lnSpc>
              <a:spcBef>
                <a:spcPct val="0"/>
              </a:spcBef>
              <a:spcAft>
                <a:spcPct val="0"/>
              </a:spcAft>
              <a:buClrTx/>
              <a:buSzTx/>
              <a:buFontTx/>
              <a:buChar char="•"/>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components live or die with their owner </a:t>
            </a:r>
          </a:p>
          <a:p>
            <a:pPr marL="914400" marR="0" lvl="2" indent="0" algn="l"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e.g. Each car has an engine that can not be shared with other cars.</a:t>
            </a:r>
          </a:p>
          <a:p>
            <a:pPr marL="914400" marR="0" lvl="2" indent="0" algn="l" defTabSz="914400" rtl="0" eaLnBrk="0" fontAlgn="base" latinLnBrk="0" hangingPunct="0">
              <a:lnSpc>
                <a:spcPct val="100000"/>
              </a:lnSpc>
              <a:spcBef>
                <a:spcPct val="0"/>
              </a:spcBef>
              <a:spcAft>
                <a:spcPct val="0"/>
              </a:spcAft>
              <a:buClrTx/>
              <a:buSzTx/>
              <a:buFontTx/>
              <a:buChar char="•"/>
              <a:defRPr/>
            </a:pPr>
            <a:endPar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Char char="•"/>
              <a:defRPr/>
            </a:pPr>
            <a:r>
              <a:rPr kumimoji="0" lang="en-US" sz="2400" b="1"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Aggregations</a:t>
            </a: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may form "part of" the aggregate, but may not be essential to it. They may also exist independent of the aggregate. </a:t>
            </a:r>
          </a:p>
          <a:p>
            <a:pPr marL="457200" marR="0" lvl="1" indent="0" algn="l" defTabSz="914400" rtl="0" eaLnBrk="0" fontAlgn="base" latinLnBrk="0" hangingPunct="0">
              <a:lnSpc>
                <a:spcPct val="100000"/>
              </a:lnSpc>
              <a:spcBef>
                <a:spcPct val="0"/>
              </a:spcBef>
              <a:spcAft>
                <a:spcPct val="0"/>
              </a:spcAft>
              <a:buClrTx/>
              <a:buSzTx/>
              <a:buFontTx/>
              <a:buNone/>
              <a:defRPr/>
            </a:pPr>
            <a:r>
              <a:rPr kumimoji="0" lang="en-US" sz="2400" b="0" i="0" u="none" strike="noStrike" kern="1200" cap="none" spc="0" normalizeH="0" baseline="0" noProof="0" dirty="0">
                <a:ln>
                  <a:noFill/>
                </a:ln>
                <a:solidFill>
                  <a:schemeClr val="tx1"/>
                </a:solidFill>
                <a:effectLst/>
                <a:uLnTx/>
                <a:uFillTx/>
                <a:latin typeface="Cambria" panose="02040503050406030204" pitchFamily="18" charset="0"/>
                <a:ea typeface="+mn-ea"/>
                <a:cs typeface="+mn-cs"/>
              </a:rPr>
              <a:t>  e.g. Apples may exist independent of the bag.</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p:txBody>
      </p:sp>
      <p:pic>
        <p:nvPicPr>
          <p:cNvPr id="2" name="Picture 1">
            <a:extLst>
              <a:ext uri="{FF2B5EF4-FFF2-40B4-BE49-F238E27FC236}">
                <a16:creationId xmlns:a16="http://schemas.microsoft.com/office/drawing/2014/main" id="{FE0BE57E-D34C-1F1D-EA02-1A659D14D7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A81CA9A1-67CE-93C0-E8C6-B20C1D6171A7}"/>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C803552-082E-5325-E8E3-E8B37264BBA7}"/>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1140"/>
            <a:ext cx="8229600" cy="915670"/>
          </a:xfrm>
        </p:spPr>
        <p:txBody>
          <a:bodyPr>
            <a:normAutofit fontScale="90000"/>
          </a:bodyPr>
          <a:lstStyle/>
          <a:p>
            <a:pPr algn="ctr"/>
            <a:r>
              <a:rPr lang="en-IN" altLang="en-US" sz="3200"/>
              <a:t>Diffenrence between Generalization and Specialization</a:t>
            </a:r>
          </a:p>
        </p:txBody>
      </p:sp>
      <p:pic>
        <p:nvPicPr>
          <p:cNvPr id="12" name="Content Placeholder 11"/>
          <p:cNvPicPr>
            <a:picLocks noGrp="1" noChangeAspect="1"/>
          </p:cNvPicPr>
          <p:nvPr>
            <p:ph idx="1"/>
          </p:nvPr>
        </p:nvPicPr>
        <p:blipFill>
          <a:blip r:embed="rId2"/>
          <a:stretch>
            <a:fillRect/>
          </a:stretch>
        </p:blipFill>
        <p:spPr>
          <a:xfrm>
            <a:off x="381000" y="1828800"/>
            <a:ext cx="8076565" cy="4519930"/>
          </a:xfrm>
          <a:prstGeom prst="rect">
            <a:avLst/>
          </a:prstGeom>
        </p:spPr>
      </p:pic>
      <p:pic>
        <p:nvPicPr>
          <p:cNvPr id="3" name="Picture 2">
            <a:extLst>
              <a:ext uri="{FF2B5EF4-FFF2-40B4-BE49-F238E27FC236}">
                <a16:creationId xmlns:a16="http://schemas.microsoft.com/office/drawing/2014/main" id="{A92AFD54-83D2-A322-CE5D-8BE3ADFF81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4" name="Rectangle 3">
            <a:extLst>
              <a:ext uri="{FF2B5EF4-FFF2-40B4-BE49-F238E27FC236}">
                <a16:creationId xmlns:a16="http://schemas.microsoft.com/office/drawing/2014/main" id="{2C3423A1-6348-815F-03BB-FA92B0EA3042}"/>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98D8DEA-8593-58AC-289F-E3006F403E98}"/>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50"/>
            <a:ext cx="8229600" cy="937260"/>
          </a:xfrm>
        </p:spPr>
        <p:txBody>
          <a:bodyPr>
            <a:normAutofit fontScale="90000"/>
          </a:bodyPr>
          <a:lstStyle/>
          <a:p>
            <a:pPr algn="ctr"/>
            <a:r>
              <a:rPr lang="en-IN" altLang="en-US" sz="3200" dirty="0" err="1">
                <a:sym typeface="+mn-ea"/>
              </a:rPr>
              <a:t>Diffenrence</a:t>
            </a:r>
            <a:r>
              <a:rPr lang="en-IN" altLang="en-US" sz="3200" dirty="0">
                <a:sym typeface="+mn-ea"/>
              </a:rPr>
              <a:t> between Generalization and Specialization</a:t>
            </a:r>
            <a:endParaRPr lang="en-US" sz="3200" dirty="0"/>
          </a:p>
        </p:txBody>
      </p:sp>
      <p:pic>
        <p:nvPicPr>
          <p:cNvPr id="6" name="Content Placeholder 5"/>
          <p:cNvPicPr>
            <a:picLocks noGrp="1" noChangeAspect="1"/>
          </p:cNvPicPr>
          <p:nvPr>
            <p:ph idx="1"/>
          </p:nvPr>
        </p:nvPicPr>
        <p:blipFill>
          <a:blip r:embed="rId2"/>
          <a:stretch>
            <a:fillRect/>
          </a:stretch>
        </p:blipFill>
        <p:spPr>
          <a:xfrm>
            <a:off x="522605" y="1303020"/>
            <a:ext cx="7954645" cy="5150485"/>
          </a:xfrm>
          <a:prstGeom prst="rect">
            <a:avLst/>
          </a:prstGeom>
        </p:spPr>
      </p:pic>
      <p:pic>
        <p:nvPicPr>
          <p:cNvPr id="3" name="Picture 2">
            <a:extLst>
              <a:ext uri="{FF2B5EF4-FFF2-40B4-BE49-F238E27FC236}">
                <a16:creationId xmlns:a16="http://schemas.microsoft.com/office/drawing/2014/main" id="{302F5493-005E-B9ED-CE99-8E915DEBDD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4" name="Rectangle 3">
            <a:extLst>
              <a:ext uri="{FF2B5EF4-FFF2-40B4-BE49-F238E27FC236}">
                <a16:creationId xmlns:a16="http://schemas.microsoft.com/office/drawing/2014/main" id="{9FC15B23-681C-A40D-8F85-B12911C30D69}"/>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C822A4C-11BC-F89E-5FDC-769D5543CFF8}"/>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8945"/>
            <a:ext cx="8229600" cy="971550"/>
          </a:xfrm>
        </p:spPr>
        <p:txBody>
          <a:bodyPr/>
          <a:lstStyle/>
          <a:p>
            <a:pPr algn="ctr"/>
            <a:r>
              <a:rPr lang="en-US"/>
              <a:t>Three Aspects of UML</a:t>
            </a:r>
          </a:p>
        </p:txBody>
      </p:sp>
      <p:pic>
        <p:nvPicPr>
          <p:cNvPr id="4" name="Content Placeholder 3"/>
          <p:cNvPicPr>
            <a:picLocks noGrp="1" noChangeAspect="1"/>
          </p:cNvPicPr>
          <p:nvPr>
            <p:ph idx="1"/>
          </p:nvPr>
        </p:nvPicPr>
        <p:blipFill>
          <a:blip r:embed="rId2"/>
          <a:stretch>
            <a:fillRect/>
          </a:stretch>
        </p:blipFill>
        <p:spPr>
          <a:xfrm>
            <a:off x="4445" y="1493520"/>
            <a:ext cx="9052560" cy="5116830"/>
          </a:xfrm>
          <a:prstGeom prst="rect">
            <a:avLst/>
          </a:prstGeom>
        </p:spPr>
      </p:pic>
      <p:pic>
        <p:nvPicPr>
          <p:cNvPr id="3" name="Picture 2">
            <a:extLst>
              <a:ext uri="{FF2B5EF4-FFF2-40B4-BE49-F238E27FC236}">
                <a16:creationId xmlns:a16="http://schemas.microsoft.com/office/drawing/2014/main" id="{8E3A2A75-D2F3-898C-1B6A-2B25D95B07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CFAD26F5-A56C-AEE5-7C62-45B4E8A47372}"/>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F27B8F9-9692-C39D-9D32-A72747E723B9}"/>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850"/>
            <a:ext cx="8229600" cy="331470"/>
          </a:xfrm>
        </p:spPr>
        <p:txBody>
          <a:bodyPr>
            <a:normAutofit fontScale="90000"/>
          </a:bodyPr>
          <a:lstStyle/>
          <a:p>
            <a:pPr algn="ctr"/>
            <a:r>
              <a:rPr lang="en-US" dirty="0">
                <a:sym typeface="+mn-ea"/>
              </a:rPr>
              <a:t>Three Aspects of UML</a:t>
            </a:r>
            <a:endParaRPr lang="en-US" dirty="0"/>
          </a:p>
        </p:txBody>
      </p:sp>
      <p:sp>
        <p:nvSpPr>
          <p:cNvPr id="3" name="Content Placeholder 2"/>
          <p:cNvSpPr>
            <a:spLocks noGrp="1"/>
          </p:cNvSpPr>
          <p:nvPr>
            <p:ph idx="1"/>
          </p:nvPr>
        </p:nvSpPr>
        <p:spPr>
          <a:xfrm>
            <a:off x="457200" y="1102360"/>
            <a:ext cx="8229600" cy="5222240"/>
          </a:xfrm>
        </p:spPr>
        <p:txBody>
          <a:bodyPr/>
          <a:lstStyle/>
          <a:p>
            <a:pPr marL="0" indent="0">
              <a:buNone/>
            </a:pPr>
            <a:r>
              <a:rPr lang="en-US" dirty="0"/>
              <a:t>1. Language:</a:t>
            </a:r>
            <a:r>
              <a:rPr lang="en-IN" altLang="en-US" dirty="0"/>
              <a:t> </a:t>
            </a:r>
            <a:endParaRPr lang="en-US" dirty="0"/>
          </a:p>
          <a:p>
            <a:r>
              <a:rPr lang="en-US" dirty="0"/>
              <a:t>It enables us to communicate about a subject which includes the requirements and the system.</a:t>
            </a:r>
          </a:p>
          <a:p>
            <a:r>
              <a:rPr lang="en-US" dirty="0"/>
              <a:t>It is difficult to communicate and collaborate for a team to successfully develop a system without a language.</a:t>
            </a:r>
          </a:p>
          <a:p>
            <a:endParaRPr lang="en-US" dirty="0"/>
          </a:p>
          <a:p>
            <a:pPr marL="0" indent="0">
              <a:buNone/>
            </a:pPr>
            <a:r>
              <a:rPr lang="en-US" dirty="0"/>
              <a:t>2. Model:</a:t>
            </a:r>
          </a:p>
          <a:p>
            <a:r>
              <a:rPr lang="en-US" dirty="0"/>
              <a:t>It is a representation of a subject.</a:t>
            </a:r>
          </a:p>
          <a:p>
            <a:r>
              <a:rPr lang="en-US" dirty="0"/>
              <a:t>It captures a set of ideas (known as abstractions) about its subject.</a:t>
            </a:r>
          </a:p>
          <a:p>
            <a:endParaRPr lang="en-US" dirty="0"/>
          </a:p>
        </p:txBody>
      </p:sp>
      <p:pic>
        <p:nvPicPr>
          <p:cNvPr id="4" name="Picture 3">
            <a:extLst>
              <a:ext uri="{FF2B5EF4-FFF2-40B4-BE49-F238E27FC236}">
                <a16:creationId xmlns:a16="http://schemas.microsoft.com/office/drawing/2014/main" id="{186B266C-6566-8ED6-FA18-B4A98B82E7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1D768F22-1772-ED30-030E-493D82EF10EA}"/>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04878E2-8DB5-1FEE-31F8-90F3A22CB1CC}"/>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0705"/>
            <a:ext cx="8229600" cy="794385"/>
          </a:xfrm>
        </p:spPr>
        <p:txBody>
          <a:bodyPr/>
          <a:lstStyle/>
          <a:p>
            <a:pPr algn="ctr"/>
            <a:r>
              <a:rPr lang="en-US" dirty="0">
                <a:sym typeface="+mn-ea"/>
              </a:rPr>
              <a:t>Three Aspects of UML</a:t>
            </a:r>
            <a:endParaRPr lang="en-US" dirty="0"/>
          </a:p>
        </p:txBody>
      </p:sp>
      <p:sp>
        <p:nvSpPr>
          <p:cNvPr id="3" name="Content Placeholder 2"/>
          <p:cNvSpPr>
            <a:spLocks noGrp="1"/>
          </p:cNvSpPr>
          <p:nvPr>
            <p:ph idx="1"/>
          </p:nvPr>
        </p:nvSpPr>
        <p:spPr/>
        <p:txBody>
          <a:bodyPr/>
          <a:lstStyle/>
          <a:p>
            <a:pPr marL="0" indent="0">
              <a:buNone/>
            </a:pPr>
            <a:r>
              <a:rPr lang="en-US" dirty="0">
                <a:sym typeface="+mn-ea"/>
              </a:rPr>
              <a:t>3. Unified:</a:t>
            </a:r>
            <a:endParaRPr lang="en-US" dirty="0"/>
          </a:p>
          <a:p>
            <a:r>
              <a:rPr lang="en-US" dirty="0">
                <a:sym typeface="+mn-ea"/>
              </a:rPr>
              <a:t>It is to bring together the information systems and technology industry’s best engineering practices.</a:t>
            </a:r>
            <a:endParaRPr lang="en-US" dirty="0"/>
          </a:p>
          <a:p>
            <a:r>
              <a:rPr lang="en-US" dirty="0">
                <a:sym typeface="+mn-ea"/>
              </a:rPr>
              <a:t>These practices involve applying techniques that allow us to successfully develop systems.</a:t>
            </a:r>
            <a:endParaRPr lang="en-US" dirty="0"/>
          </a:p>
          <a:p>
            <a:endParaRPr lang="en-US" dirty="0"/>
          </a:p>
        </p:txBody>
      </p:sp>
      <p:pic>
        <p:nvPicPr>
          <p:cNvPr id="4" name="Picture 3">
            <a:extLst>
              <a:ext uri="{FF2B5EF4-FFF2-40B4-BE49-F238E27FC236}">
                <a16:creationId xmlns:a16="http://schemas.microsoft.com/office/drawing/2014/main" id="{9C852297-FC26-D254-390E-9533B82657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F186F8A1-C6C5-B671-C693-EF362E8A94D7}"/>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D86C67B-0153-C712-B4A5-E7899F8BA827}"/>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6530"/>
            <a:ext cx="8229600" cy="1082040"/>
          </a:xfrm>
        </p:spPr>
        <p:txBody>
          <a:bodyPr/>
          <a:lstStyle/>
          <a:p>
            <a:pPr algn="ctr"/>
            <a:r>
              <a:rPr lang="en-US" dirty="0"/>
              <a:t>A Conceptual Model</a:t>
            </a:r>
            <a:r>
              <a:rPr lang="en-IN" altLang="en-US" dirty="0"/>
              <a:t> of UML</a:t>
            </a:r>
          </a:p>
        </p:txBody>
      </p:sp>
      <p:sp>
        <p:nvSpPr>
          <p:cNvPr id="3" name="Content Placeholder 2"/>
          <p:cNvSpPr>
            <a:spLocks noGrp="1"/>
          </p:cNvSpPr>
          <p:nvPr>
            <p:ph idx="1"/>
          </p:nvPr>
        </p:nvSpPr>
        <p:spPr>
          <a:xfrm>
            <a:off x="457200" y="1489710"/>
            <a:ext cx="8229600" cy="4834890"/>
          </a:xfrm>
        </p:spPr>
        <p:txBody>
          <a:bodyPr/>
          <a:lstStyle/>
          <a:p>
            <a:pPr marL="0" indent="0">
              <a:buNone/>
            </a:pPr>
            <a:r>
              <a:rPr lang="en-US" dirty="0"/>
              <a:t>A conceptual model of the language underlines the three major elements:</a:t>
            </a:r>
          </a:p>
          <a:p>
            <a:endParaRPr lang="en-US" dirty="0"/>
          </a:p>
          <a:p>
            <a:r>
              <a:rPr lang="en-US" dirty="0"/>
              <a:t>• The Building Blocks</a:t>
            </a:r>
          </a:p>
          <a:p>
            <a:r>
              <a:rPr lang="en-US" dirty="0"/>
              <a:t>• The Rules</a:t>
            </a:r>
          </a:p>
          <a:p>
            <a:r>
              <a:rPr lang="en-US" dirty="0"/>
              <a:t>• Some Common Mechanisms</a:t>
            </a:r>
          </a:p>
        </p:txBody>
      </p:sp>
      <p:pic>
        <p:nvPicPr>
          <p:cNvPr id="4" name="Picture 3">
            <a:extLst>
              <a:ext uri="{FF2B5EF4-FFF2-40B4-BE49-F238E27FC236}">
                <a16:creationId xmlns:a16="http://schemas.microsoft.com/office/drawing/2014/main" id="{6DB87DD6-E19E-B329-C00C-320E4CDFAA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8999"/>
            <a:ext cx="914400" cy="894258"/>
          </a:xfrm>
          <a:prstGeom prst="rect">
            <a:avLst/>
          </a:prstGeom>
        </p:spPr>
      </p:pic>
      <p:sp>
        <p:nvSpPr>
          <p:cNvPr id="5" name="Rectangle 4">
            <a:extLst>
              <a:ext uri="{FF2B5EF4-FFF2-40B4-BE49-F238E27FC236}">
                <a16:creationId xmlns:a16="http://schemas.microsoft.com/office/drawing/2014/main" id="{C692AC2D-408B-A670-F2FA-781297263957}"/>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183F381-C1BB-85B4-8A12-4A6A243829D3}"/>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7340"/>
            <a:ext cx="8229600" cy="295275"/>
          </a:xfrm>
        </p:spPr>
        <p:txBody>
          <a:bodyPr>
            <a:normAutofit fontScale="90000"/>
          </a:bodyPr>
          <a:lstStyle/>
          <a:p>
            <a:r>
              <a:rPr lang="en-IN" altLang="en-US"/>
              <a:t>.</a:t>
            </a:r>
          </a:p>
        </p:txBody>
      </p:sp>
      <p:pic>
        <p:nvPicPr>
          <p:cNvPr id="4" name="Content Placeholder 3"/>
          <p:cNvPicPr>
            <a:picLocks noGrp="1" noChangeAspect="1"/>
          </p:cNvPicPr>
          <p:nvPr>
            <p:ph idx="1"/>
          </p:nvPr>
        </p:nvPicPr>
        <p:blipFill>
          <a:blip r:embed="rId2"/>
          <a:stretch>
            <a:fillRect/>
          </a:stretch>
        </p:blipFill>
        <p:spPr>
          <a:xfrm>
            <a:off x="0" y="307975"/>
            <a:ext cx="9126220" cy="6280785"/>
          </a:xfrm>
          <a:prstGeom prst="rect">
            <a:avLst/>
          </a:prstGeom>
        </p:spPr>
      </p:pic>
      <p:pic>
        <p:nvPicPr>
          <p:cNvPr id="3" name="Picture 2">
            <a:extLst>
              <a:ext uri="{FF2B5EF4-FFF2-40B4-BE49-F238E27FC236}">
                <a16:creationId xmlns:a16="http://schemas.microsoft.com/office/drawing/2014/main" id="{C08B6AAD-2338-0870-F0EC-FB9D566412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C66D26C6-3A20-7FC0-A38D-103068A2367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71E8E98-C536-5AA5-A4F7-E22CBBEFAB86}"/>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7340"/>
            <a:ext cx="8229600" cy="820420"/>
          </a:xfrm>
        </p:spPr>
        <p:txBody>
          <a:bodyPr/>
          <a:lstStyle/>
          <a:p>
            <a:pPr algn="ctr"/>
            <a:r>
              <a:rPr lang="en-US" dirty="0"/>
              <a:t>Conceptual Model of the UML</a:t>
            </a:r>
          </a:p>
        </p:txBody>
      </p:sp>
      <p:sp>
        <p:nvSpPr>
          <p:cNvPr id="3" name="Content Placeholder 2"/>
          <p:cNvSpPr>
            <a:spLocks noGrp="1"/>
          </p:cNvSpPr>
          <p:nvPr>
            <p:ph idx="1"/>
          </p:nvPr>
        </p:nvSpPr>
        <p:spPr>
          <a:xfrm>
            <a:off x="220980" y="1301750"/>
            <a:ext cx="8465820" cy="5022850"/>
          </a:xfrm>
        </p:spPr>
        <p:txBody>
          <a:bodyPr/>
          <a:lstStyle/>
          <a:p>
            <a:pPr marL="0" indent="0">
              <a:buNone/>
            </a:pPr>
            <a:r>
              <a:rPr lang="en-US" dirty="0"/>
              <a:t>The vocabulary of the UML encompasses three kinds of building blocks:</a:t>
            </a:r>
          </a:p>
          <a:p>
            <a:endParaRPr lang="en-US" dirty="0"/>
          </a:p>
          <a:p>
            <a:pPr marL="0" indent="0">
              <a:buNone/>
            </a:pPr>
            <a:r>
              <a:rPr lang="en-US" dirty="0"/>
              <a:t>Things: Things are the abstractions that are first-class citizens in a model; relationships tie these things together; diagrams group interesting collections of things. There are 4 kinds of things in the UML:</a:t>
            </a:r>
          </a:p>
          <a:p>
            <a:r>
              <a:rPr lang="en-US" dirty="0"/>
              <a:t>1. Structural things </a:t>
            </a:r>
          </a:p>
          <a:p>
            <a:r>
              <a:rPr lang="en-US" dirty="0"/>
              <a:t>2. Behavioral things </a:t>
            </a:r>
          </a:p>
          <a:p>
            <a:r>
              <a:rPr lang="en-US" dirty="0"/>
              <a:t>3. Grouping things </a:t>
            </a:r>
          </a:p>
        </p:txBody>
      </p:sp>
      <p:pic>
        <p:nvPicPr>
          <p:cNvPr id="4" name="Picture 3">
            <a:extLst>
              <a:ext uri="{FF2B5EF4-FFF2-40B4-BE49-F238E27FC236}">
                <a16:creationId xmlns:a16="http://schemas.microsoft.com/office/drawing/2014/main" id="{7EFF7373-F5F3-FE30-8604-03944F3613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18999"/>
            <a:ext cx="720674" cy="704800"/>
          </a:xfrm>
          <a:prstGeom prst="rect">
            <a:avLst/>
          </a:prstGeom>
        </p:spPr>
      </p:pic>
      <p:sp>
        <p:nvSpPr>
          <p:cNvPr id="5" name="Rectangle 4">
            <a:extLst>
              <a:ext uri="{FF2B5EF4-FFF2-40B4-BE49-F238E27FC236}">
                <a16:creationId xmlns:a16="http://schemas.microsoft.com/office/drawing/2014/main" id="{41557A3A-F382-6267-9DFE-403A77A4E8B5}"/>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5AD88DD-71CE-B6A1-25EA-E8CF07668B1C}"/>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5450"/>
            <a:ext cx="8229600" cy="939800"/>
          </a:xfrm>
        </p:spPr>
        <p:txBody>
          <a:bodyPr/>
          <a:lstStyle/>
          <a:p>
            <a:pPr algn="ctr"/>
            <a:r>
              <a:rPr lang="en-IN" altLang="en-US">
                <a:sym typeface="+mn-ea"/>
              </a:rPr>
              <a:t>B</a:t>
            </a:r>
            <a:r>
              <a:rPr lang="en-US">
                <a:sym typeface="+mn-ea"/>
              </a:rPr>
              <a:t>uilding </a:t>
            </a:r>
            <a:r>
              <a:rPr lang="en-IN" altLang="en-US">
                <a:sym typeface="+mn-ea"/>
              </a:rPr>
              <a:t>B</a:t>
            </a:r>
            <a:r>
              <a:rPr lang="en-US">
                <a:sym typeface="+mn-ea"/>
              </a:rPr>
              <a:t>locks</a:t>
            </a:r>
            <a:endParaRPr lang="en-US"/>
          </a:p>
        </p:txBody>
      </p:sp>
      <p:sp>
        <p:nvSpPr>
          <p:cNvPr id="3" name="Content Placeholder 2"/>
          <p:cNvSpPr>
            <a:spLocks noGrp="1"/>
          </p:cNvSpPr>
          <p:nvPr>
            <p:ph idx="1"/>
          </p:nvPr>
        </p:nvSpPr>
        <p:spPr/>
        <p:txBody>
          <a:bodyPr/>
          <a:lstStyle/>
          <a:p>
            <a:r>
              <a:rPr lang="en-US"/>
              <a:t>Relationships: There are 4 kinds of relationships in the UML:</a:t>
            </a:r>
          </a:p>
          <a:p>
            <a:r>
              <a:rPr lang="en-US"/>
              <a:t>1. Dependency </a:t>
            </a:r>
          </a:p>
          <a:p>
            <a:r>
              <a:rPr lang="en-US"/>
              <a:t>2. Association </a:t>
            </a:r>
          </a:p>
          <a:p>
            <a:r>
              <a:rPr lang="en-US"/>
              <a:t>3. Generalization </a:t>
            </a:r>
          </a:p>
          <a:p>
            <a:r>
              <a:rPr lang="en-US"/>
              <a:t>4. Realization </a:t>
            </a:r>
          </a:p>
        </p:txBody>
      </p:sp>
      <p:pic>
        <p:nvPicPr>
          <p:cNvPr id="4" name="Picture 3">
            <a:extLst>
              <a:ext uri="{FF2B5EF4-FFF2-40B4-BE49-F238E27FC236}">
                <a16:creationId xmlns:a16="http://schemas.microsoft.com/office/drawing/2014/main" id="{C5698690-F63B-65B9-D46B-EE502BBFFD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5CCC36BC-983D-26EB-EC15-B0FE4EF80B0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A74802B-B14C-D983-72E3-DC342559DDD0}"/>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8610"/>
            <a:ext cx="8229600" cy="611505"/>
          </a:xfrm>
        </p:spPr>
        <p:txBody>
          <a:bodyPr/>
          <a:lstStyle/>
          <a:p>
            <a:pPr algn="ctr"/>
            <a:r>
              <a:rPr lang="en-IN" altLang="en-US">
                <a:sym typeface="+mn-ea"/>
              </a:rPr>
              <a:t>B</a:t>
            </a:r>
            <a:r>
              <a:rPr lang="en-US">
                <a:sym typeface="+mn-ea"/>
              </a:rPr>
              <a:t>uilding </a:t>
            </a:r>
            <a:r>
              <a:rPr lang="en-IN" altLang="en-US">
                <a:sym typeface="+mn-ea"/>
              </a:rPr>
              <a:t>B</a:t>
            </a:r>
            <a:r>
              <a:rPr lang="en-US">
                <a:sym typeface="+mn-ea"/>
              </a:rPr>
              <a:t>locks</a:t>
            </a:r>
            <a:endParaRPr lang="en-US"/>
          </a:p>
        </p:txBody>
      </p:sp>
      <p:sp>
        <p:nvSpPr>
          <p:cNvPr id="3" name="Content Placeholder 2"/>
          <p:cNvSpPr>
            <a:spLocks noGrp="1"/>
          </p:cNvSpPr>
          <p:nvPr>
            <p:ph idx="1"/>
          </p:nvPr>
        </p:nvSpPr>
        <p:spPr>
          <a:xfrm>
            <a:off x="43815" y="976630"/>
            <a:ext cx="8970645" cy="5662295"/>
          </a:xfrm>
        </p:spPr>
        <p:txBody>
          <a:bodyPr/>
          <a:lstStyle/>
          <a:p>
            <a:pPr marL="0" indent="0">
              <a:buNone/>
            </a:pPr>
            <a:r>
              <a:rPr lang="en-US"/>
              <a:t>Diagrams: It is the graphical presentation of a set of elements. It is rendered as a connected graph of vertices (things) and arcs (relationships).</a:t>
            </a:r>
          </a:p>
          <a:p>
            <a:r>
              <a:rPr lang="en-US"/>
              <a:t>1. Class diagram </a:t>
            </a:r>
          </a:p>
          <a:p>
            <a:r>
              <a:rPr lang="en-US"/>
              <a:t>2. Object diagram </a:t>
            </a:r>
          </a:p>
          <a:p>
            <a:r>
              <a:rPr lang="en-US"/>
              <a:t>3. Use case diagram </a:t>
            </a:r>
          </a:p>
          <a:p>
            <a:r>
              <a:rPr lang="en-US"/>
              <a:t>4. Sequence diagram </a:t>
            </a:r>
          </a:p>
          <a:p>
            <a:r>
              <a:rPr lang="en-US"/>
              <a:t>5. Collaboration diagram </a:t>
            </a:r>
          </a:p>
          <a:p>
            <a:r>
              <a:rPr lang="en-US"/>
              <a:t>6. Statechart diagram </a:t>
            </a:r>
          </a:p>
          <a:p>
            <a:r>
              <a:rPr lang="en-US"/>
              <a:t>7. Activity diagram </a:t>
            </a:r>
          </a:p>
          <a:p>
            <a:r>
              <a:rPr lang="en-US"/>
              <a:t>8. Component diagram </a:t>
            </a:r>
          </a:p>
          <a:p>
            <a:r>
              <a:rPr lang="en-US"/>
              <a:t>9. Deployment diagram </a:t>
            </a:r>
          </a:p>
        </p:txBody>
      </p:sp>
      <p:pic>
        <p:nvPicPr>
          <p:cNvPr id="4" name="Picture 3">
            <a:extLst>
              <a:ext uri="{FF2B5EF4-FFF2-40B4-BE49-F238E27FC236}">
                <a16:creationId xmlns:a16="http://schemas.microsoft.com/office/drawing/2014/main" id="{BC23ECC7-7051-FC8E-F062-0F4D866623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D281B274-DA1A-1A1E-ADE5-25AA6DF1482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012CE75-2412-2416-7E91-956B6096BA4A}"/>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457200" y="71120"/>
            <a:ext cx="8229600" cy="842010"/>
          </a:xfrm>
        </p:spPr>
        <p:txBody>
          <a:bodyPr vert="horz" wrap="square" lIns="0" tIns="45720" rIns="0" bIns="0" anchor="b" anchorCtr="0"/>
          <a:lstStyle/>
          <a:p>
            <a:pPr algn="ctr" eaLnBrk="1" hangingPunct="1">
              <a:buNone/>
            </a:pPr>
            <a:r>
              <a:rPr lang="en-IN" u="sng" dirty="0"/>
              <a:t>UML Architecture</a:t>
            </a:r>
          </a:p>
        </p:txBody>
      </p:sp>
      <p:sp>
        <p:nvSpPr>
          <p:cNvPr id="52227" name="Content Placeholder 2"/>
          <p:cNvSpPr>
            <a:spLocks noGrp="1"/>
          </p:cNvSpPr>
          <p:nvPr>
            <p:ph idx="1"/>
          </p:nvPr>
        </p:nvSpPr>
        <p:spPr>
          <a:xfrm>
            <a:off x="-635" y="979805"/>
            <a:ext cx="9144635" cy="5344795"/>
          </a:xfrm>
        </p:spPr>
        <p:txBody>
          <a:bodyPr vert="horz" wrap="square" lIns="91440" tIns="45720" rIns="91440" bIns="45720" anchor="t" anchorCtr="0"/>
          <a:lstStyle/>
          <a:p>
            <a:pPr eaLnBrk="1" hangingPunct="1"/>
            <a:r>
              <a:rPr dirty="0"/>
              <a:t>Software architecture provides a basic design of a complete software system. </a:t>
            </a:r>
          </a:p>
          <a:p>
            <a:pPr eaLnBrk="1" hangingPunct="1"/>
            <a:r>
              <a:rPr dirty="0"/>
              <a:t>It defines the elements included in the system, the functions each element has, and how each element relates to one another. </a:t>
            </a:r>
          </a:p>
          <a:p>
            <a:pPr eaLnBrk="1" hangingPunct="1"/>
            <a:r>
              <a:rPr dirty="0"/>
              <a:t>In short, it is a big picture or overall structure of the whole system, how everything works together.</a:t>
            </a:r>
          </a:p>
          <a:p>
            <a:pPr eaLnBrk="1" hangingPunct="1"/>
            <a:r>
              <a:rPr dirty="0"/>
              <a:t>To form an architecture, the software architect will take several factors into consideration:</a:t>
            </a:r>
          </a:p>
          <a:p>
            <a:pPr lvl="1" eaLnBrk="1" hangingPunct="1"/>
            <a:r>
              <a:rPr dirty="0"/>
              <a:t>What will the system be used for?</a:t>
            </a:r>
          </a:p>
          <a:p>
            <a:pPr lvl="1" eaLnBrk="1" hangingPunct="1"/>
            <a:r>
              <a:rPr dirty="0"/>
              <a:t>Who will be using the system?</a:t>
            </a:r>
          </a:p>
          <a:p>
            <a:pPr lvl="1" eaLnBrk="1" hangingPunct="1"/>
            <a:r>
              <a:rPr dirty="0"/>
              <a:t>What quality matters to them?</a:t>
            </a:r>
          </a:p>
          <a:p>
            <a:pPr lvl="1" eaLnBrk="1" hangingPunct="1"/>
            <a:r>
              <a:rPr dirty="0"/>
              <a:t>Where will the system run?</a:t>
            </a:r>
          </a:p>
        </p:txBody>
      </p:sp>
      <p:pic>
        <p:nvPicPr>
          <p:cNvPr id="2" name="Picture 1">
            <a:extLst>
              <a:ext uri="{FF2B5EF4-FFF2-40B4-BE49-F238E27FC236}">
                <a16:creationId xmlns:a16="http://schemas.microsoft.com/office/drawing/2014/main" id="{4F78EA25-A968-8FBF-DA0C-B1038842D2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3" name="Rectangle 2">
            <a:extLst>
              <a:ext uri="{FF2B5EF4-FFF2-40B4-BE49-F238E27FC236}">
                <a16:creationId xmlns:a16="http://schemas.microsoft.com/office/drawing/2014/main" id="{58405BCE-AC49-073F-30BB-EB7B33ED4C4A}"/>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868161B-1A93-7EF8-284A-BECF2672B9F2}"/>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345"/>
            <a:ext cx="8229600" cy="863600"/>
          </a:xfrm>
        </p:spPr>
        <p:txBody>
          <a:bodyPr/>
          <a:lstStyle/>
          <a:p>
            <a:pPr algn="ctr"/>
            <a:r>
              <a:rPr lang="en-IN" u="sng" dirty="0">
                <a:sym typeface="+mn-ea"/>
              </a:rPr>
              <a:t>UML Architecture</a:t>
            </a:r>
            <a:endParaRPr lang="en-US"/>
          </a:p>
        </p:txBody>
      </p:sp>
      <p:sp>
        <p:nvSpPr>
          <p:cNvPr id="3" name="Content Placeholder 2"/>
          <p:cNvSpPr>
            <a:spLocks noGrp="1"/>
          </p:cNvSpPr>
          <p:nvPr>
            <p:ph sz="half" idx="1"/>
          </p:nvPr>
        </p:nvSpPr>
        <p:spPr>
          <a:xfrm>
            <a:off x="100330" y="1582420"/>
            <a:ext cx="4074795" cy="4772660"/>
          </a:xfrm>
        </p:spPr>
        <p:txBody>
          <a:bodyPr/>
          <a:lstStyle/>
          <a:p>
            <a:r>
              <a:rPr lang="en-IN" altLang="en-US"/>
              <a:t>It is </a:t>
            </a:r>
            <a:r>
              <a:rPr lang="en-US"/>
              <a:t>understood as a collection of five views:</a:t>
            </a:r>
          </a:p>
          <a:p>
            <a:pPr marL="393700" lvl="1" indent="0">
              <a:buNone/>
            </a:pPr>
            <a:r>
              <a:rPr lang="en-US"/>
              <a:t>1.Use case view</a:t>
            </a:r>
          </a:p>
          <a:p>
            <a:pPr marL="393700" lvl="1" indent="0">
              <a:buNone/>
            </a:pPr>
            <a:r>
              <a:rPr lang="en-US"/>
              <a:t>2.Design view</a:t>
            </a:r>
          </a:p>
          <a:p>
            <a:pPr marL="393700" lvl="1" indent="0">
              <a:buNone/>
            </a:pPr>
            <a:r>
              <a:rPr lang="en-US"/>
              <a:t>3.Implementation view</a:t>
            </a:r>
          </a:p>
          <a:p>
            <a:pPr marL="393700" lvl="1" indent="0">
              <a:buNone/>
            </a:pPr>
            <a:r>
              <a:rPr lang="en-US"/>
              <a:t>4.Process view</a:t>
            </a:r>
          </a:p>
          <a:p>
            <a:pPr marL="393700" lvl="1" indent="0">
              <a:buNone/>
            </a:pPr>
            <a:r>
              <a:rPr lang="en-US"/>
              <a:t>5.Development view</a:t>
            </a:r>
          </a:p>
        </p:txBody>
      </p:sp>
      <p:pic>
        <p:nvPicPr>
          <p:cNvPr id="4" name="Picture 1" descr="IMG_256"/>
          <p:cNvPicPr>
            <a:picLocks noGrp="1" noChangeAspect="1"/>
          </p:cNvPicPr>
          <p:nvPr>
            <p:ph sz="half" idx="2"/>
          </p:nvPr>
        </p:nvPicPr>
        <p:blipFill>
          <a:blip r:embed="rId2"/>
          <a:stretch>
            <a:fillRect/>
          </a:stretch>
        </p:blipFill>
        <p:spPr>
          <a:xfrm>
            <a:off x="3857625" y="1920240"/>
            <a:ext cx="5154930" cy="3811270"/>
          </a:xfrm>
          <a:prstGeom prst="rect">
            <a:avLst/>
          </a:prstGeom>
          <a:noFill/>
          <a:ln w="9525">
            <a:noFill/>
          </a:ln>
        </p:spPr>
      </p:pic>
      <p:pic>
        <p:nvPicPr>
          <p:cNvPr id="5" name="Picture 4">
            <a:extLst>
              <a:ext uri="{FF2B5EF4-FFF2-40B4-BE49-F238E27FC236}">
                <a16:creationId xmlns:a16="http://schemas.microsoft.com/office/drawing/2014/main" id="{A157C594-2E77-50FA-B5ED-744C3C88B1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6" name="Rectangle 5">
            <a:extLst>
              <a:ext uri="{FF2B5EF4-FFF2-40B4-BE49-F238E27FC236}">
                <a16:creationId xmlns:a16="http://schemas.microsoft.com/office/drawing/2014/main" id="{27E48D0D-9729-3C53-2FBC-BF77F5B141C3}"/>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E45DB5B-668B-AEB0-2652-1E2C6BCCC7FE}"/>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ym typeface="+mn-ea"/>
              </a:rPr>
              <a:t>Use case view</a:t>
            </a:r>
            <a:endParaRPr lang="en-US" dirty="0"/>
          </a:p>
        </p:txBody>
      </p:sp>
      <p:sp>
        <p:nvSpPr>
          <p:cNvPr id="3" name="Content Placeholder 2"/>
          <p:cNvSpPr>
            <a:spLocks noGrp="1"/>
          </p:cNvSpPr>
          <p:nvPr>
            <p:ph idx="1"/>
          </p:nvPr>
        </p:nvSpPr>
        <p:spPr/>
        <p:txBody>
          <a:bodyPr/>
          <a:lstStyle/>
          <a:p>
            <a:r>
              <a:rPr lang="en-US"/>
              <a:t>It is a view that shows the functionality of the system as perceived by external actors.</a:t>
            </a:r>
          </a:p>
          <a:p>
            <a:r>
              <a:rPr lang="en-US"/>
              <a:t>It reveals the requirements of the system.</a:t>
            </a:r>
          </a:p>
          <a:p>
            <a:r>
              <a:rPr lang="en-US"/>
              <a:t>With UML, it is easy to capture the static aspects of this view in the use case diagrams, whereas it?s dynamic aspects are captured in interaction diagrams, state chart diagrams, and activity diagrams.</a:t>
            </a:r>
          </a:p>
        </p:txBody>
      </p:sp>
      <p:pic>
        <p:nvPicPr>
          <p:cNvPr id="4" name="Picture 3">
            <a:extLst>
              <a:ext uri="{FF2B5EF4-FFF2-40B4-BE49-F238E27FC236}">
                <a16:creationId xmlns:a16="http://schemas.microsoft.com/office/drawing/2014/main" id="{58D9986D-591D-A4F7-B685-A451E7053B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61A77EC0-58CA-02EE-5AA4-1F57734DB4FA}"/>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42AD98-344D-7757-4202-BCD576E0D9E0}"/>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ym typeface="+mn-ea"/>
              </a:rPr>
              <a:t>Design View</a:t>
            </a:r>
            <a:endParaRPr lang="en-US" dirty="0"/>
          </a:p>
        </p:txBody>
      </p:sp>
      <p:sp>
        <p:nvSpPr>
          <p:cNvPr id="3" name="Content Placeholder 2"/>
          <p:cNvSpPr>
            <a:spLocks noGrp="1"/>
          </p:cNvSpPr>
          <p:nvPr>
            <p:ph idx="1"/>
          </p:nvPr>
        </p:nvSpPr>
        <p:spPr/>
        <p:txBody>
          <a:bodyPr/>
          <a:lstStyle/>
          <a:p>
            <a:r>
              <a:rPr lang="en-US"/>
              <a:t>It is a view that shows how the functionality is designed inside the system in terms of static structure and dynamic behavior.</a:t>
            </a:r>
          </a:p>
          <a:p>
            <a:r>
              <a:rPr lang="en-US"/>
              <a:t>It captures the vocabulary of the problem space and solution space.</a:t>
            </a:r>
          </a:p>
          <a:p>
            <a:r>
              <a:rPr lang="en-US"/>
              <a:t>With UML, it represents the static aspects of this view in class and object diagrams, whereas its dynamic aspects are captured in interaction diagrams, state chart diagrams, and activity diagrams.</a:t>
            </a:r>
          </a:p>
        </p:txBody>
      </p:sp>
      <p:pic>
        <p:nvPicPr>
          <p:cNvPr id="4" name="Picture 3">
            <a:extLst>
              <a:ext uri="{FF2B5EF4-FFF2-40B4-BE49-F238E27FC236}">
                <a16:creationId xmlns:a16="http://schemas.microsoft.com/office/drawing/2014/main" id="{54B715E0-C095-07F4-1A8F-056C4687F5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065BC08D-2335-EA8F-1B8C-E8F5BC6439DB}"/>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D660CDE-6E63-E578-6D05-C20D04AE7B93}"/>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ym typeface="+mn-ea"/>
              </a:rPr>
              <a:t>Implementation View</a:t>
            </a:r>
            <a:endParaRPr lang="en-US" dirty="0"/>
          </a:p>
        </p:txBody>
      </p:sp>
      <p:sp>
        <p:nvSpPr>
          <p:cNvPr id="3" name="Content Placeholder 2"/>
          <p:cNvSpPr>
            <a:spLocks noGrp="1"/>
          </p:cNvSpPr>
          <p:nvPr>
            <p:ph idx="1"/>
          </p:nvPr>
        </p:nvSpPr>
        <p:spPr/>
        <p:txBody>
          <a:bodyPr/>
          <a:lstStyle/>
          <a:p>
            <a:r>
              <a:rPr lang="en-US"/>
              <a:t>It is the view that represents the organization of the core components and files.</a:t>
            </a:r>
          </a:p>
          <a:p>
            <a:r>
              <a:rPr lang="en-US"/>
              <a:t>It primarily addresses the configuration management of the system?s releases.</a:t>
            </a:r>
          </a:p>
          <a:p>
            <a:r>
              <a:rPr lang="en-US"/>
              <a:t>With UML, its static aspects are expressed in component diagrams, and the dynamic aspects are captured in interaction diagrams, state chart diagrams, and activity diagrams.</a:t>
            </a:r>
          </a:p>
        </p:txBody>
      </p:sp>
      <p:pic>
        <p:nvPicPr>
          <p:cNvPr id="4" name="Picture 3">
            <a:extLst>
              <a:ext uri="{FF2B5EF4-FFF2-40B4-BE49-F238E27FC236}">
                <a16:creationId xmlns:a16="http://schemas.microsoft.com/office/drawing/2014/main" id="{C7F40FA1-2621-2A82-7B2C-324149B79B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1F7954C4-345A-C2DF-46A8-01438B6884F1}"/>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C56B6D9-6F93-2DEC-3232-EFAEEC7AFF83}"/>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ym typeface="+mn-ea"/>
              </a:rPr>
              <a:t>Process View</a:t>
            </a:r>
            <a:endParaRPr lang="en-US" dirty="0"/>
          </a:p>
        </p:txBody>
      </p:sp>
      <p:sp>
        <p:nvSpPr>
          <p:cNvPr id="3" name="Content Placeholder 2"/>
          <p:cNvSpPr>
            <a:spLocks noGrp="1"/>
          </p:cNvSpPr>
          <p:nvPr>
            <p:ph idx="1"/>
          </p:nvPr>
        </p:nvSpPr>
        <p:spPr/>
        <p:txBody>
          <a:bodyPr/>
          <a:lstStyle/>
          <a:p>
            <a:r>
              <a:rPr lang="en-US"/>
              <a:t>It is the view that demonstrates the concurrency of the system.</a:t>
            </a:r>
          </a:p>
          <a:p>
            <a:r>
              <a:rPr lang="en-US"/>
              <a:t>It incorporates the threads and processes that make concurrent system and synchronized mechanisms.</a:t>
            </a:r>
          </a:p>
          <a:p>
            <a:r>
              <a:rPr lang="en-US"/>
              <a:t>It primarily addresses the system's scalability, throughput, and performance.</a:t>
            </a:r>
          </a:p>
          <a:p>
            <a:r>
              <a:rPr lang="en-US"/>
              <a:t>Its static and dynamic aspects are expressed the same way as the design view but focus more on the active classes that represent these threads and processes.</a:t>
            </a:r>
          </a:p>
        </p:txBody>
      </p:sp>
      <p:pic>
        <p:nvPicPr>
          <p:cNvPr id="4" name="Picture 3">
            <a:extLst>
              <a:ext uri="{FF2B5EF4-FFF2-40B4-BE49-F238E27FC236}">
                <a16:creationId xmlns:a16="http://schemas.microsoft.com/office/drawing/2014/main" id="{15E040AB-45E1-CE6E-0EB1-45863FBD2A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944B09FC-4978-A2A3-671F-B09EFB7DEC39}"/>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30C479C-7C97-F0E3-0244-0222C5BC3BDC}"/>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ym typeface="+mn-ea"/>
              </a:rPr>
              <a:t>Deployment View</a:t>
            </a:r>
            <a:endParaRPr lang="en-US" dirty="0"/>
          </a:p>
        </p:txBody>
      </p:sp>
      <p:sp>
        <p:nvSpPr>
          <p:cNvPr id="3" name="Content Placeholder 2"/>
          <p:cNvSpPr>
            <a:spLocks noGrp="1"/>
          </p:cNvSpPr>
          <p:nvPr>
            <p:ph idx="1"/>
          </p:nvPr>
        </p:nvSpPr>
        <p:spPr/>
        <p:txBody>
          <a:bodyPr/>
          <a:lstStyle/>
          <a:p>
            <a:r>
              <a:rPr lang="en-US"/>
              <a:t>It is the view that shows the deployment of the system in terms of physical architecture.</a:t>
            </a:r>
          </a:p>
          <a:p>
            <a:r>
              <a:rPr lang="en-US"/>
              <a:t>It includes the nodes, which form the system hardware topology where the system will be executed.</a:t>
            </a:r>
          </a:p>
          <a:p>
            <a:r>
              <a:rPr lang="en-US"/>
              <a:t>It primarily addresses the distribution, delivery, and installation of the parts that build the physical system.</a:t>
            </a:r>
          </a:p>
        </p:txBody>
      </p:sp>
      <p:pic>
        <p:nvPicPr>
          <p:cNvPr id="4" name="Picture 3">
            <a:extLst>
              <a:ext uri="{FF2B5EF4-FFF2-40B4-BE49-F238E27FC236}">
                <a16:creationId xmlns:a16="http://schemas.microsoft.com/office/drawing/2014/main" id="{CFFFB491-5608-25DE-9737-904157B3DE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CF8A4439-68C1-9598-9786-87D64BD596B5}"/>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EB01477-817D-E897-3B0D-C47FB868CDE4}"/>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9668F-7E73-DA0E-FD48-2CAFE9330338}"/>
              </a:ext>
            </a:extLst>
          </p:cNvPr>
          <p:cNvSpPr>
            <a:spLocks noGrp="1"/>
          </p:cNvSpPr>
          <p:nvPr>
            <p:ph type="title"/>
          </p:nvPr>
        </p:nvSpPr>
        <p:spPr/>
        <p:txBody>
          <a:bodyPr/>
          <a:lstStyle/>
          <a:p>
            <a:pPr algn="ctr"/>
            <a:r>
              <a:rPr lang="en-IN" dirty="0"/>
              <a:t>Summary and Final Thoughts</a:t>
            </a:r>
          </a:p>
        </p:txBody>
      </p:sp>
      <p:sp>
        <p:nvSpPr>
          <p:cNvPr id="3" name="Content Placeholder 2">
            <a:extLst>
              <a:ext uri="{FF2B5EF4-FFF2-40B4-BE49-F238E27FC236}">
                <a16:creationId xmlns:a16="http://schemas.microsoft.com/office/drawing/2014/main" id="{0331A9B0-55A4-5B69-3E9B-D36E9EB43071}"/>
              </a:ext>
            </a:extLst>
          </p:cNvPr>
          <p:cNvSpPr>
            <a:spLocks noGrp="1"/>
          </p:cNvSpPr>
          <p:nvPr>
            <p:ph idx="1"/>
          </p:nvPr>
        </p:nvSpPr>
        <p:spPr/>
        <p:txBody>
          <a:bodyPr/>
          <a:lstStyle/>
          <a:p>
            <a:r>
              <a:rPr lang="en-US" sz="2400" dirty="0"/>
              <a:t>Object-Oriented Programming (OOP) simplifies real-world problem modeling through classes and objects.</a:t>
            </a:r>
          </a:p>
          <a:p>
            <a:r>
              <a:rPr lang="en-US" sz="2400" dirty="0"/>
              <a:t>Core concepts like encapsulation, polymorphism, and inheritance promote code reusability and security.</a:t>
            </a:r>
          </a:p>
          <a:p>
            <a:r>
              <a:rPr lang="en-US" sz="2400" dirty="0"/>
              <a:t>Modeling is essential for clear software design and effective communication among stakeholders.</a:t>
            </a:r>
          </a:p>
          <a:p>
            <a:r>
              <a:rPr lang="en-US" sz="2400" dirty="0"/>
              <a:t>UML provides standardized diagrams to visualize system structure and behavior.</a:t>
            </a:r>
          </a:p>
          <a:p>
            <a:r>
              <a:rPr lang="en-US" sz="2400" dirty="0"/>
              <a:t>A solid foundation in OOP and UML supports scalable, maintainable, and efficient software development.</a:t>
            </a:r>
          </a:p>
          <a:p>
            <a:endParaRPr lang="en-IN" dirty="0"/>
          </a:p>
        </p:txBody>
      </p:sp>
      <p:pic>
        <p:nvPicPr>
          <p:cNvPr id="6" name="Picture 5">
            <a:extLst>
              <a:ext uri="{FF2B5EF4-FFF2-40B4-BE49-F238E27FC236}">
                <a16:creationId xmlns:a16="http://schemas.microsoft.com/office/drawing/2014/main" id="{6A065C90-E59C-2424-674E-ED88E42815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7" name="Rectangle 6">
            <a:extLst>
              <a:ext uri="{FF2B5EF4-FFF2-40B4-BE49-F238E27FC236}">
                <a16:creationId xmlns:a16="http://schemas.microsoft.com/office/drawing/2014/main" id="{30D21A1A-BEC4-4FF2-45EF-657128423C71}"/>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1E33EF5-9E1C-2EE1-C2AA-1F333E25E663}"/>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49715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3CF20-3D79-AC1F-6993-027705228073}"/>
              </a:ext>
            </a:extLst>
          </p:cNvPr>
          <p:cNvSpPr>
            <a:spLocks noGrp="1"/>
          </p:cNvSpPr>
          <p:nvPr>
            <p:ph type="title"/>
          </p:nvPr>
        </p:nvSpPr>
        <p:spPr>
          <a:xfrm>
            <a:off x="457200" y="152400"/>
            <a:ext cx="8229600" cy="2057400"/>
          </a:xfrm>
        </p:spPr>
        <p:txBody>
          <a:bodyPr/>
          <a:lstStyle/>
          <a:p>
            <a:pPr algn="ctr"/>
            <a:r>
              <a:rPr lang="en-US" sz="3200" dirty="0"/>
              <a:t>REFERENCES FOR FURTHER LEARNING OF THE SESSION</a:t>
            </a:r>
            <a:br>
              <a:rPr lang="en-US" sz="5400" dirty="0">
                <a:solidFill>
                  <a:schemeClr val="bg1"/>
                </a:solidFill>
                <a:latin typeface="Poppins" panose="00000500000000000000" pitchFamily="2" charset="0"/>
                <a:cs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2A7898E6-E53B-4233-8D04-B70B7C6865EC}"/>
              </a:ext>
            </a:extLst>
          </p:cNvPr>
          <p:cNvSpPr>
            <a:spLocks noGrp="1"/>
          </p:cNvSpPr>
          <p:nvPr>
            <p:ph idx="1"/>
          </p:nvPr>
        </p:nvSpPr>
        <p:spPr/>
        <p:txBody>
          <a:bodyPr/>
          <a:lstStyle/>
          <a:p>
            <a:r>
              <a:rPr lang="en-US" dirty="0"/>
              <a:t>Books:</a:t>
            </a:r>
          </a:p>
          <a:p>
            <a:pPr lvl="1"/>
            <a:r>
              <a:rPr lang="en-US" dirty="0"/>
              <a:t> Grady Booch – Object-Oriented Analysis and Design</a:t>
            </a:r>
          </a:p>
          <a:p>
            <a:pPr lvl="1"/>
            <a:r>
              <a:rPr lang="en-US" dirty="0"/>
              <a:t> Herbert Schildt – Java: The Complete Reference</a:t>
            </a:r>
          </a:p>
          <a:p>
            <a:pPr lvl="1"/>
            <a:r>
              <a:rPr lang="en-US" dirty="0"/>
              <a:t> Robert C. Martin – Clean Code</a:t>
            </a:r>
          </a:p>
          <a:p>
            <a:r>
              <a:rPr lang="en-US" dirty="0"/>
              <a:t>Web Links:</a:t>
            </a:r>
          </a:p>
          <a:p>
            <a:pPr lvl="1"/>
            <a:r>
              <a:rPr lang="en-US" dirty="0"/>
              <a:t> https://www.geeksforgeeks.org/</a:t>
            </a:r>
          </a:p>
          <a:p>
            <a:pPr lvl="1"/>
            <a:r>
              <a:rPr lang="en-US" dirty="0"/>
              <a:t> https://stackoverflow.com/</a:t>
            </a:r>
          </a:p>
          <a:p>
            <a:pPr lvl="1"/>
            <a:r>
              <a:rPr lang="en-US" dirty="0"/>
              <a:t> https://docs.oracle.com/javase/</a:t>
            </a:r>
          </a:p>
          <a:p>
            <a:endParaRPr lang="en-IN" dirty="0"/>
          </a:p>
        </p:txBody>
      </p:sp>
      <p:pic>
        <p:nvPicPr>
          <p:cNvPr id="4" name="Picture 3">
            <a:extLst>
              <a:ext uri="{FF2B5EF4-FFF2-40B4-BE49-F238E27FC236}">
                <a16:creationId xmlns:a16="http://schemas.microsoft.com/office/drawing/2014/main" id="{F7EFB500-AC37-2930-5808-7312E61F4F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00"/>
            <a:ext cx="990599" cy="968779"/>
          </a:xfrm>
          <a:prstGeom prst="rect">
            <a:avLst/>
          </a:prstGeom>
        </p:spPr>
      </p:pic>
      <p:sp>
        <p:nvSpPr>
          <p:cNvPr id="5" name="Rectangle 4">
            <a:extLst>
              <a:ext uri="{FF2B5EF4-FFF2-40B4-BE49-F238E27FC236}">
                <a16:creationId xmlns:a16="http://schemas.microsoft.com/office/drawing/2014/main" id="{D2C1450B-1F1C-A205-44CB-42FA470DD1A3}"/>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CE2B6F1-B63D-5BC0-F282-257D1042A3A8}"/>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27775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8E79A-FC76-DB63-05ED-BE8377148231}"/>
              </a:ext>
            </a:extLst>
          </p:cNvPr>
          <p:cNvSpPr>
            <a:spLocks noGrp="1"/>
          </p:cNvSpPr>
          <p:nvPr>
            <p:ph type="title"/>
          </p:nvPr>
        </p:nvSpPr>
        <p:spPr/>
        <p:txBody>
          <a:bodyPr/>
          <a:lstStyle/>
          <a:p>
            <a:pPr algn="ctr"/>
            <a:r>
              <a:rPr lang="en-US" dirty="0"/>
              <a:t>Course Outcomes</a:t>
            </a:r>
            <a:endParaRPr lang="en-IN" dirty="0"/>
          </a:p>
        </p:txBody>
      </p:sp>
      <p:graphicFrame>
        <p:nvGraphicFramePr>
          <p:cNvPr id="4" name="Content Placeholder 3">
            <a:extLst>
              <a:ext uri="{FF2B5EF4-FFF2-40B4-BE49-F238E27FC236}">
                <a16:creationId xmlns:a16="http://schemas.microsoft.com/office/drawing/2014/main" id="{B4B020BC-A723-1D68-F2B4-50D1727EFA5B}"/>
              </a:ext>
            </a:extLst>
          </p:cNvPr>
          <p:cNvGraphicFramePr>
            <a:graphicFrameLocks noGrp="1"/>
          </p:cNvGraphicFramePr>
          <p:nvPr>
            <p:ph idx="1"/>
            <p:extLst>
              <p:ext uri="{D42A27DB-BD31-4B8C-83A1-F6EECF244321}">
                <p14:modId xmlns:p14="http://schemas.microsoft.com/office/powerpoint/2010/main" val="309211552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C29C6A6B-1843-F9B4-F102-94D5DF62A6F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206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a:t>
            </a:r>
          </a:p>
        </p:txBody>
      </p:sp>
      <p:sp>
        <p:nvSpPr>
          <p:cNvPr id="3" name="Content Placeholder 2"/>
          <p:cNvSpPr>
            <a:spLocks noGrp="1"/>
          </p:cNvSpPr>
          <p:nvPr>
            <p:ph idx="1"/>
          </p:nvPr>
        </p:nvSpPr>
        <p:spPr/>
        <p:txBody>
          <a:bodyPr/>
          <a:lstStyle/>
          <a:p>
            <a:pPr marL="0" indent="0" algn="ctr">
              <a:buNone/>
            </a:pPr>
            <a:endParaRPr lang="en-IN" altLang="en-US" sz="4800" dirty="0">
              <a:ln w="22225">
                <a:solidFill>
                  <a:schemeClr val="accent2"/>
                </a:solidFill>
                <a:prstDash val="solid"/>
              </a:ln>
              <a:solidFill>
                <a:schemeClr val="accent2">
                  <a:lumMod val="40000"/>
                  <a:lumOff val="60000"/>
                </a:schemeClr>
              </a:solidFill>
              <a:effectLst/>
            </a:endParaRPr>
          </a:p>
          <a:p>
            <a:pPr marL="0" indent="0" algn="ctr">
              <a:buNone/>
            </a:pPr>
            <a:r>
              <a:rPr lang="en-IN" altLang="en-US" sz="6000" dirty="0">
                <a:ln w="22225">
                  <a:solidFill>
                    <a:schemeClr val="accent2"/>
                  </a:solidFill>
                  <a:prstDash val="solid"/>
                </a:ln>
                <a:solidFill>
                  <a:schemeClr val="accent2">
                    <a:lumMod val="40000"/>
                    <a:lumOff val="60000"/>
                  </a:schemeClr>
                </a:solidFill>
                <a:effectLst/>
              </a:rPr>
              <a:t>THANK YOU</a:t>
            </a:r>
          </a:p>
        </p:txBody>
      </p:sp>
      <p:sp>
        <p:nvSpPr>
          <p:cNvPr id="4" name="Rectangle 3">
            <a:extLst>
              <a:ext uri="{FF2B5EF4-FFF2-40B4-BE49-F238E27FC236}">
                <a16:creationId xmlns:a16="http://schemas.microsoft.com/office/drawing/2014/main" id="{99600396-A872-C617-1C76-6C0A3FB17AEE}"/>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34A5DFA-9E9D-1D24-8434-5E1C6E720191}"/>
              </a:ext>
            </a:extLst>
          </p:cNvPr>
          <p:cNvSpPr/>
          <p:nvPr/>
        </p:nvSpPr>
        <p:spPr>
          <a:xfrm>
            <a:off x="0" y="0"/>
            <a:ext cx="121158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3">
            <a:extLst>
              <a:ext uri="{FF2B5EF4-FFF2-40B4-BE49-F238E27FC236}">
                <a16:creationId xmlns:a16="http://schemas.microsoft.com/office/drawing/2014/main" id="{6C8B0BC3-BDBC-254B-850F-1C3E44385B6F}"/>
              </a:ext>
            </a:extLst>
          </p:cNvPr>
          <p:cNvSpPr/>
          <p:nvPr/>
        </p:nvSpPr>
        <p:spPr>
          <a:xfrm>
            <a:off x="914401" y="1744394"/>
            <a:ext cx="8077200" cy="3727937"/>
          </a:xfrm>
          <a:prstGeom prst="roundRect">
            <a:avLst/>
          </a:prstGeom>
          <a:solidFill>
            <a:schemeClr val="accent2">
              <a:lumMod val="50000"/>
            </a:schemeClr>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a:p>
            <a:pPr algn="ctr"/>
            <a:r>
              <a:rPr lang="en-US">
                <a:solidFill>
                  <a:schemeClr val="bg1"/>
                </a:solidFill>
                <a:latin typeface="Poppins" pitchFamily="2" charset="77"/>
                <a:cs typeface="Poppins" pitchFamily="2" charset="77"/>
              </a:rPr>
              <a:t>THANK YOU</a:t>
            </a: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a:p>
            <a:pPr algn="ctr"/>
            <a:r>
              <a:rPr lang="en-US">
                <a:solidFill>
                  <a:schemeClr val="bg1"/>
                </a:solidFill>
                <a:latin typeface="Poppins" pitchFamily="2" charset="77"/>
                <a:cs typeface="Poppins" pitchFamily="2" charset="77"/>
              </a:rPr>
              <a:t>Team </a:t>
            </a:r>
            <a:r>
              <a:rPr lang="en-US" dirty="0">
                <a:solidFill>
                  <a:schemeClr val="bg1"/>
                </a:solidFill>
                <a:latin typeface="Poppins" pitchFamily="2" charset="77"/>
                <a:cs typeface="Poppins" pitchFamily="2" charset="77"/>
              </a:rPr>
              <a:t>– </a:t>
            </a:r>
            <a:r>
              <a:rPr lang="en-IN">
                <a:solidFill>
                  <a:schemeClr val="bg1"/>
                </a:solidFill>
                <a:latin typeface="Poppins" pitchFamily="2" charset="77"/>
                <a:cs typeface="Poppins" pitchFamily="2" charset="77"/>
              </a:rPr>
              <a:t>Object-Oriented Principles</a:t>
            </a: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p:txBody>
      </p:sp>
      <p:pic>
        <p:nvPicPr>
          <p:cNvPr id="8" name="Picture 7">
            <a:extLst>
              <a:ext uri="{FF2B5EF4-FFF2-40B4-BE49-F238E27FC236}">
                <a16:creationId xmlns:a16="http://schemas.microsoft.com/office/drawing/2014/main" id="{8C4E02E0-6612-0547-79B3-C29D16F7C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800" y="2590800"/>
            <a:ext cx="2514600" cy="1539081"/>
          </a:xfrm>
          <a:prstGeom prst="rect">
            <a:avLst/>
          </a:prstGeom>
          <a:solidFill>
            <a:schemeClr val="accent4">
              <a:lumMod val="40000"/>
              <a:lumOff val="60000"/>
            </a:schemeClr>
          </a:solidFill>
        </p:spPr>
      </p:pic>
    </p:spTree>
  </p:cSld>
  <p:clrMapOvr>
    <a:masterClrMapping/>
  </p:clrMapOvr>
</p:sld>
</file>

<file path=ppt/theme/theme1.xml><?xml version="1.0" encoding="utf-8"?>
<a:theme xmlns:a="http://schemas.openxmlformats.org/drawingml/2006/main" name="Radial">
  <a:themeElements>
    <a:clrScheme name="">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989E5"/>
      </a:accent6>
      <a:hlink>
        <a:srgbClr val="996666"/>
      </a:hlink>
      <a:folHlink>
        <a:srgbClr val="6666CC"/>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989E5"/>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789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FFFFFF"/>
        </a:dk2>
        <a:lt2>
          <a:srgbClr val="CC6600"/>
        </a:lt2>
        <a:accent1>
          <a:srgbClr val="FF6600"/>
        </a:accent1>
        <a:accent2>
          <a:srgbClr val="33CCCC"/>
        </a:accent2>
        <a:accent3>
          <a:srgbClr val="C1AAAA"/>
        </a:accent3>
        <a:accent4>
          <a:srgbClr val="DCDCDC"/>
        </a:accent4>
        <a:accent5>
          <a:srgbClr val="FFB9AA"/>
        </a:accent5>
        <a:accent6>
          <a:srgbClr val="2DB7B7"/>
        </a:accent6>
        <a:hlink>
          <a:srgbClr val="99FF33"/>
        </a:hlink>
        <a:folHlink>
          <a:srgbClr val="CC3300"/>
        </a:folHlink>
      </a:clrScheme>
      <a:clrMap bg1="lt1" tx1="dk1" bg2="lt2" tx2="dk2" accent1="accent1" accent2="accent2" accent3="accent3" accent4="accent4" accent5="accent5" accent6="accent6" hlink="hlink" folHlink="folHlink"/>
    </a:extraClrScheme>
    <a:extraClrScheme>
      <a:clrScheme name="">
        <a:dk1>
          <a:srgbClr val="FFFFFF"/>
        </a:dk1>
        <a:lt1>
          <a:srgbClr val="431A01"/>
        </a:lt1>
        <a:dk2>
          <a:srgbClr val="FFFFFF"/>
        </a:dk2>
        <a:lt2>
          <a:srgbClr val="993300"/>
        </a:lt2>
        <a:accent1>
          <a:srgbClr val="FFCC00"/>
        </a:accent1>
        <a:accent2>
          <a:srgbClr val="FF9966"/>
        </a:accent2>
        <a:accent3>
          <a:srgbClr val="B0AAAA"/>
        </a:accent3>
        <a:accent4>
          <a:srgbClr val="DCDCDC"/>
        </a:accent4>
        <a:accent5>
          <a:srgbClr val="FFE2AA"/>
        </a:accent5>
        <a:accent6>
          <a:srgbClr val="E5895B"/>
        </a:accent6>
        <a:hlink>
          <a:srgbClr val="FF6600"/>
        </a:hlink>
        <a:folHlink>
          <a:srgbClr val="CC3300"/>
        </a:folHlink>
      </a:clrScheme>
      <a:clrMap bg1="lt1" tx1="dk1" bg2="lt2" tx2="dk2" accent1="accent1" accent2="accent2" accent3="accent3" accent4="accent4" accent5="accent5" accent6="accent6" hlink="hlink" folHlink="folHlink"/>
    </a:extraClrScheme>
    <a:extraClrScheme>
      <a:clrScheme name="">
        <a:dk1>
          <a:srgbClr val="FFFFFF"/>
        </a:dk1>
        <a:lt1>
          <a:srgbClr val="260000"/>
        </a:lt1>
        <a:dk2>
          <a:srgbClr val="FFFFFF"/>
        </a:dk2>
        <a:lt2>
          <a:srgbClr val="75878B"/>
        </a:lt2>
        <a:accent1>
          <a:srgbClr val="0099CC"/>
        </a:accent1>
        <a:accent2>
          <a:srgbClr val="FF3300"/>
        </a:accent2>
        <a:accent3>
          <a:srgbClr val="ABAAAA"/>
        </a:accent3>
        <a:accent4>
          <a:srgbClr val="DCDCDC"/>
        </a:accent4>
        <a:accent5>
          <a:srgbClr val="AACAE2"/>
        </a:accent5>
        <a:accent6>
          <a:srgbClr val="E52D00"/>
        </a:accent6>
        <a:hlink>
          <a:srgbClr val="FFCC00"/>
        </a:hlink>
        <a:folHlink>
          <a:srgbClr val="CC0000"/>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FFFFFF"/>
        </a:dk2>
        <a:lt2>
          <a:srgbClr val="666699"/>
        </a:lt2>
        <a:accent1>
          <a:srgbClr val="9966FF"/>
        </a:accent1>
        <a:accent2>
          <a:srgbClr val="99CCFF"/>
        </a:accent2>
        <a:accent3>
          <a:srgbClr val="AAAAAA"/>
        </a:accent3>
        <a:accent4>
          <a:srgbClr val="DCDCDC"/>
        </a:accent4>
        <a:accent5>
          <a:srgbClr val="CAB9FF"/>
        </a:accent5>
        <a:accent6>
          <a:srgbClr val="89B7E5"/>
        </a:accent6>
        <a:hlink>
          <a:srgbClr val="FFFFCC"/>
        </a:hlink>
        <a:folHlink>
          <a:srgbClr val="6600CC"/>
        </a:folHlink>
      </a:clrScheme>
      <a:clrMap bg1="lt1" tx1="dk1" bg2="lt2" tx2="dk2" accent1="accent1" accent2="accent2" accent3="accent3" accent4="accent4" accent5="accent5" accent6="accent6" hlink="hlink" folHlink="folHlink"/>
    </a:extraClrScheme>
    <a:extraClrScheme>
      <a:clrScheme name="">
        <a:dk1>
          <a:srgbClr val="FFFFFF"/>
        </a:dk1>
        <a:lt1>
          <a:srgbClr val="2A2A40"/>
        </a:lt1>
        <a:dk2>
          <a:srgbClr val="FFFFFF"/>
        </a:dk2>
        <a:lt2>
          <a:srgbClr val="666699"/>
        </a:lt2>
        <a:accent1>
          <a:srgbClr val="006699"/>
        </a:accent1>
        <a:accent2>
          <a:srgbClr val="CC9900"/>
        </a:accent2>
        <a:accent3>
          <a:srgbClr val="ACACB0"/>
        </a:accent3>
        <a:accent4>
          <a:srgbClr val="DCDCDC"/>
        </a:accent4>
        <a:accent5>
          <a:srgbClr val="AAB9CA"/>
        </a:accent5>
        <a:accent6>
          <a:srgbClr val="B78900"/>
        </a:accent6>
        <a:hlink>
          <a:srgbClr val="CC6600"/>
        </a:hlink>
        <a:folHlink>
          <a:srgbClr val="6C948A"/>
        </a:folHlink>
      </a:clrScheme>
      <a:clrMap bg1="lt1" tx1="dk1" bg2="lt2" tx2="dk2" accent1="accent1" accent2="accent2" accent3="accent3" accent4="accent4" accent5="accent5" accent6="accent6" hlink="hlink" folHlink="folHlink"/>
    </a:extraClrScheme>
    <a:extraClrScheme>
      <a:clrScheme name="">
        <a:dk1>
          <a:srgbClr val="FFFFFF"/>
        </a:dk1>
        <a:lt1>
          <a:srgbClr val="2B335B"/>
        </a:lt1>
        <a:dk2>
          <a:srgbClr val="FFFFFF"/>
        </a:dk2>
        <a:lt2>
          <a:srgbClr val="BECBD8"/>
        </a:lt2>
        <a:accent1>
          <a:srgbClr val="0099CC"/>
        </a:accent1>
        <a:accent2>
          <a:srgbClr val="B5DBE3"/>
        </a:accent2>
        <a:accent3>
          <a:srgbClr val="ACADB6"/>
        </a:accent3>
        <a:accent4>
          <a:srgbClr val="DCDCDC"/>
        </a:accent4>
        <a:accent5>
          <a:srgbClr val="AACAE2"/>
        </a:accent5>
        <a:accent6>
          <a:srgbClr val="A2C4CB"/>
        </a:accent6>
        <a:hlink>
          <a:srgbClr val="FFCC00"/>
        </a:hlink>
        <a:folHlink>
          <a:srgbClr val="58648C"/>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FFFFFF"/>
        </a:dk2>
        <a:lt2>
          <a:srgbClr val="3333FF"/>
        </a:lt2>
        <a:accent1>
          <a:srgbClr val="339966"/>
        </a:accent1>
        <a:accent2>
          <a:srgbClr val="9999FF"/>
        </a:accent2>
        <a:accent3>
          <a:srgbClr val="AAAACA"/>
        </a:accent3>
        <a:accent4>
          <a:srgbClr val="DCDCDC"/>
        </a:accent4>
        <a:accent5>
          <a:srgbClr val="ADCAB9"/>
        </a:accent5>
        <a:accent6>
          <a:srgbClr val="8989E5"/>
        </a:accent6>
        <a:hlink>
          <a:srgbClr val="FFFF99"/>
        </a:hlink>
        <a:folHlink>
          <a:srgbClr val="17A0D1"/>
        </a:folHlink>
      </a:clrScheme>
      <a:clrMap bg1="lt1" tx1="dk1" bg2="lt2" tx2="dk2" accent1="accent1" accent2="accent2" accent3="accent3" accent4="accent4" accent5="accent5" accent6="accent6" hlink="hlink" folHlink="folHlink"/>
    </a:extraClrScheme>
    <a:extraClrScheme>
      <a:clrScheme name="">
        <a:dk1>
          <a:srgbClr val="FFFFFF"/>
        </a:dk1>
        <a:lt1>
          <a:srgbClr val="354418"/>
        </a:lt1>
        <a:dk2>
          <a:srgbClr val="FFFFFF"/>
        </a:dk2>
        <a:lt2>
          <a:srgbClr val="808000"/>
        </a:lt2>
        <a:accent1>
          <a:srgbClr val="60897C"/>
        </a:accent1>
        <a:accent2>
          <a:srgbClr val="99CC00"/>
        </a:accent2>
        <a:accent3>
          <a:srgbClr val="AEB0AA"/>
        </a:accent3>
        <a:accent4>
          <a:srgbClr val="DCDCDC"/>
        </a:accent4>
        <a:accent5>
          <a:srgbClr val="B7C4BF"/>
        </a:accent5>
        <a:accent6>
          <a:srgbClr val="89B700"/>
        </a:accent6>
        <a:hlink>
          <a:srgbClr val="CCCC00"/>
        </a:hlink>
        <a:folHlink>
          <a:srgbClr val="66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5654</Words>
  <Application>Microsoft Office PowerPoint</Application>
  <PresentationFormat>On-screen Show (4:3)</PresentationFormat>
  <Paragraphs>969</Paragraphs>
  <Slides>96</Slides>
  <Notes>20</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96</vt:i4>
      </vt:variant>
    </vt:vector>
  </HeadingPairs>
  <TitlesOfParts>
    <vt:vector size="111" baseType="lpstr">
      <vt:lpstr>Arial</vt:lpstr>
      <vt:lpstr>Arial Black</vt:lpstr>
      <vt:lpstr>Calibri</vt:lpstr>
      <vt:lpstr>Calibri Light</vt:lpstr>
      <vt:lpstr>Cambria</vt:lpstr>
      <vt:lpstr>Poppins</vt:lpstr>
      <vt:lpstr>Tahoma</vt:lpstr>
      <vt:lpstr>Times New Roman</vt:lpstr>
      <vt:lpstr>Times-Bold</vt:lpstr>
      <vt:lpstr>Times-Roman</vt:lpstr>
      <vt:lpstr>Wingdings</vt:lpstr>
      <vt:lpstr>Wingdings 2</vt:lpstr>
      <vt:lpstr>Radial</vt:lpstr>
      <vt:lpstr>Office Theme</vt:lpstr>
      <vt:lpstr>Paintbrush Picture</vt:lpstr>
      <vt:lpstr>PowerPoint Presentation</vt:lpstr>
      <vt:lpstr>UNIT-1 OBJECTIVES </vt:lpstr>
      <vt:lpstr>WHY OBJECT-ORIENTED PRINCIPLES </vt:lpstr>
      <vt:lpstr>UNIT-1 OVERVIEW  </vt:lpstr>
      <vt:lpstr>Why Object-Oriented? </vt:lpstr>
      <vt:lpstr>Why Object-Oriented? </vt:lpstr>
      <vt:lpstr>Why Object-Oriented? </vt:lpstr>
      <vt:lpstr>Why Object-Oriented?  – Consider Human Growth &amp; Concept Formation</vt:lpstr>
      <vt:lpstr>Why Object-Oriented? - concepts and objects</vt:lpstr>
      <vt:lpstr>PowerPoint Presentation</vt:lpstr>
      <vt:lpstr>Why Object-Oriented -&gt;                  What is a model and why?</vt:lpstr>
      <vt:lpstr> What is Object-Orientation?  - What is Object?</vt:lpstr>
      <vt:lpstr>PowerPoint Presentation</vt:lpstr>
      <vt:lpstr>PowerPoint Presentation</vt:lpstr>
      <vt:lpstr>What is Object-Orientation? - Class</vt:lpstr>
      <vt:lpstr>PowerPoint Presentation</vt:lpstr>
      <vt:lpstr>PowerPoint Presentation</vt:lpstr>
      <vt:lpstr>PowerPoint Presentation</vt:lpstr>
      <vt:lpstr>PowerPoint Presentation</vt:lpstr>
      <vt:lpstr>PowerPoint Presentation</vt:lpstr>
      <vt:lpstr>What is Object-Orientation  - Abstract Class vs. Concrete Class</vt:lpstr>
      <vt:lpstr>What is Object-Orientation? -State</vt:lpstr>
      <vt:lpstr>What is Object-Orientation? -State transition impossible?</vt:lpstr>
      <vt:lpstr> What is Object-Oriented Application? </vt:lpstr>
      <vt:lpstr>What is OOAD?</vt:lpstr>
      <vt:lpstr>PowerPoint Presentation</vt:lpstr>
      <vt:lpstr>How to do OOAD - notation vs. process</vt:lpstr>
      <vt:lpstr>PowerPoint Presentation</vt:lpstr>
      <vt:lpstr>Specifications are important too</vt:lpstr>
      <vt:lpstr>How to Do OOAD  – OMT as Object-Oriented Methodology</vt:lpstr>
      <vt:lpstr>PowerPoint Presentation</vt:lpstr>
      <vt:lpstr>Introduction to OOAD - Summary</vt:lpstr>
      <vt:lpstr>PowerPoint Presentation</vt:lpstr>
      <vt:lpstr>How to Do OOAD  - OO Development Processes</vt:lpstr>
      <vt:lpstr>How to Do OOAD  – One Good Way: Use (OO) Design Patterns </vt:lpstr>
      <vt:lpstr>Why Object-Oriented - Who’s Behind Object-Orientation w. Diff. Concerns</vt:lpstr>
      <vt:lpstr>Why Object-Oriented  – A New Paradigm with Evolving Object Orientation</vt:lpstr>
      <vt:lpstr>Object Oriented Modeling</vt:lpstr>
      <vt:lpstr>What is UML?</vt:lpstr>
      <vt:lpstr>Why UML for Modeling</vt:lpstr>
      <vt:lpstr>History of UML</vt:lpstr>
      <vt:lpstr>Conceptual model of UML</vt:lpstr>
      <vt:lpstr>Object oriented concepts</vt:lpstr>
      <vt:lpstr>Object oriented concepts</vt:lpstr>
      <vt:lpstr>Example: A “Rabbit” object</vt:lpstr>
      <vt:lpstr>Concept: Classes form a hierarchy</vt:lpstr>
      <vt:lpstr>Fundamental concepts of object oriented world</vt:lpstr>
      <vt:lpstr>Kinds of access</vt:lpstr>
      <vt:lpstr>OO Analysis and Design </vt:lpstr>
      <vt:lpstr>Building blocks of UML</vt:lpstr>
      <vt:lpstr>Things</vt:lpstr>
      <vt:lpstr>Structural things</vt:lpstr>
      <vt:lpstr>Structural things</vt:lpstr>
      <vt:lpstr>Behavioral things</vt:lpstr>
      <vt:lpstr>Grouping things</vt:lpstr>
      <vt:lpstr>Annotational things</vt:lpstr>
      <vt:lpstr>Relationships</vt:lpstr>
      <vt:lpstr>Relationships</vt:lpstr>
      <vt:lpstr>PowerPoint Presentation</vt:lpstr>
      <vt:lpstr>PowerPoint Presentation</vt:lpstr>
      <vt:lpstr>Notations</vt:lpstr>
      <vt:lpstr>Notations</vt:lpstr>
      <vt:lpstr> Types of UML Diagrams </vt:lpstr>
      <vt:lpstr>Structural Diagrams</vt:lpstr>
      <vt:lpstr>Behavioral diagrams</vt:lpstr>
      <vt:lpstr>Classes</vt:lpstr>
      <vt:lpstr>  An example of Class     </vt:lpstr>
      <vt:lpstr>OO Relationships</vt:lpstr>
      <vt:lpstr>PowerPoint Presentation</vt:lpstr>
      <vt:lpstr> OO Relationships: Association</vt:lpstr>
      <vt:lpstr>Association: Multiplicity and Roles</vt:lpstr>
      <vt:lpstr>Association: Model to Implementation</vt:lpstr>
      <vt:lpstr>PowerPoint Presentation</vt:lpstr>
      <vt:lpstr>OO Relationships: Aggregation</vt:lpstr>
      <vt:lpstr> Aggregation vs. Composition </vt:lpstr>
      <vt:lpstr>Diffenrence between Generalization and Specialization</vt:lpstr>
      <vt:lpstr>Diffenrence between Generalization and Specialization</vt:lpstr>
      <vt:lpstr>Three Aspects of UML</vt:lpstr>
      <vt:lpstr>Three Aspects of UML</vt:lpstr>
      <vt:lpstr>Three Aspects of UML</vt:lpstr>
      <vt:lpstr>A Conceptual Model of UML</vt:lpstr>
      <vt:lpstr>.</vt:lpstr>
      <vt:lpstr>Conceptual Model of the UML</vt:lpstr>
      <vt:lpstr>Building Blocks</vt:lpstr>
      <vt:lpstr>Building Blocks</vt:lpstr>
      <vt:lpstr>UML Architecture</vt:lpstr>
      <vt:lpstr>UML Architecture</vt:lpstr>
      <vt:lpstr>Use case view</vt:lpstr>
      <vt:lpstr>Design View</vt:lpstr>
      <vt:lpstr>Implementation View</vt:lpstr>
      <vt:lpstr>Process View</vt:lpstr>
      <vt:lpstr>Deployment View</vt:lpstr>
      <vt:lpstr>Summary and Final Thoughts</vt:lpstr>
      <vt:lpstr>REFERENCES FOR FURTHER LEARNING OF THE SESSION </vt:lpstr>
      <vt:lpstr>Course Outcomes</vt:lpstr>
      <vt:lpstr>.</vt:lpstr>
    </vt:vector>
  </TitlesOfParts>
  <Company>The University of Texas at Dallas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Introduction to OOAD</dc:title>
  <dc:creator>Lawrence Chung</dc:creator>
  <cp:lastModifiedBy>Shruti Sharma</cp:lastModifiedBy>
  <cp:revision>77</cp:revision>
  <dcterms:created xsi:type="dcterms:W3CDTF">2002-05-17T04:26:00Z</dcterms:created>
  <dcterms:modified xsi:type="dcterms:W3CDTF">2026-07-13T08:34:20Z</dcterms:modified>
</cp:coreProperties>
</file>